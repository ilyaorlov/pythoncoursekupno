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8"/>
  </p:notesMasterIdLst>
  <p:sldIdLst>
    <p:sldId id="256" r:id="rId2"/>
    <p:sldId id="257" r:id="rId3"/>
    <p:sldId id="616" r:id="rId4"/>
    <p:sldId id="752" r:id="rId5"/>
    <p:sldId id="753" r:id="rId6"/>
    <p:sldId id="748" r:id="rId7"/>
  </p:sldIdLst>
  <p:sldSz cx="9144000" cy="5143500" type="screen16x9"/>
  <p:notesSz cx="6858000" cy="9144000"/>
  <p:embeddedFontLst>
    <p:embeddedFont>
      <p:font typeface="DM Sans" panose="020B0604020202020204" charset="0"/>
      <p:regular r:id="rId9"/>
      <p:bold r:id="rId10"/>
      <p:italic r:id="rId11"/>
      <p:boldItalic r:id="rId12"/>
    </p:embeddedFont>
    <p:embeddedFont>
      <p:font typeface="proxima nova bold" panose="02000506030000020004" charset="0"/>
      <p:bold r:id="rId13"/>
    </p:embeddedFont>
    <p:embeddedFont>
      <p:font typeface="proxima nova rg" panose="02000506030000020004" charset="0"/>
      <p:regular r:id="rId14"/>
      <p:bold r:id="rId15"/>
      <p:italic r:id="rId16"/>
      <p:boldItalic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  <p:embeddedFont>
      <p:font typeface="Viga" panose="020B0604020202020204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  <p15:guide id="6" orient="horz" pos="439">
          <p15:clr>
            <a:srgbClr val="A4A3A4"/>
          </p15:clr>
        </p15:guide>
        <p15:guide id="7" orient="horz" pos="1726">
          <p15:clr>
            <a:srgbClr val="A4A3A4"/>
          </p15:clr>
        </p15:guide>
        <p15:guide id="8" pos="5352">
          <p15:clr>
            <a:srgbClr val="A4A3A4"/>
          </p15:clr>
        </p15:guide>
        <p15:guide id="9" pos="3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16"/>
      </p:cViewPr>
      <p:guideLst>
        <p:guide orient="horz" pos="461"/>
        <p:guide pos="2880"/>
        <p:guide pos="456"/>
        <p:guide orient="horz" pos="1732"/>
        <p:guide orient="horz" pos="2664"/>
        <p:guide orient="horz" pos="439"/>
        <p:guide orient="horz" pos="1726"/>
        <p:guide pos="5352"/>
        <p:guide pos="3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71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Титульный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DE2822-D671-4B42-BC7A-4E2C5D798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5611" y="4417514"/>
            <a:ext cx="1148171" cy="59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49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7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4" y="207546"/>
            <a:ext cx="7665179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b="1" dirty="0">
                <a:latin typeface="+mj-lt"/>
              </a:rPr>
              <a:t>Э</a:t>
            </a:r>
            <a:r>
              <a:rPr lang="ru-RU" sz="4800" dirty="0">
                <a:latin typeface="+mj-lt"/>
              </a:rPr>
              <a:t>кзамен №2</a:t>
            </a:r>
            <a:endParaRPr sz="4800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6625" y="1829344"/>
            <a:ext cx="7869676" cy="1212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4000" b="1" dirty="0">
                <a:solidFill>
                  <a:schemeClr val="accent3"/>
                </a:solidFill>
                <a:latin typeface="+mj-lt"/>
              </a:rPr>
              <a:t>О</a:t>
            </a:r>
            <a:r>
              <a:rPr lang="ru-RU" sz="4000" dirty="0">
                <a:solidFill>
                  <a:schemeClr val="accent3"/>
                </a:solidFill>
                <a:latin typeface="+mj-lt"/>
              </a:rPr>
              <a:t>бщий курс</a:t>
            </a:r>
            <a:r>
              <a:rPr lang="en-US" sz="4000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ru-RU" sz="4000" dirty="0">
                <a:solidFill>
                  <a:schemeClr val="accent3"/>
                </a:solidFill>
                <a:latin typeface="+mj-lt"/>
              </a:rPr>
              <a:t>и прикладное применение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90954" y="3288622"/>
            <a:ext cx="60811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chemeClr val="tx1"/>
                </a:solidFill>
                <a:latin typeface="+mn-lt"/>
              </a:rPr>
              <a:t>Теория</a:t>
            </a:r>
          </a:p>
          <a:p>
            <a:pPr marL="285750" indent="-28575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chemeClr val="tx1"/>
                </a:solidFill>
                <a:latin typeface="+mn-lt"/>
              </a:rPr>
              <a:t>Практика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5575"/>
            <a:ext cx="9144000" cy="525463"/>
          </a:xfrm>
          <a:prstGeom prst="rect">
            <a:avLst/>
          </a:prstGeom>
        </p:spPr>
        <p:txBody>
          <a:bodyPr anchorCtr="1">
            <a:noAutofit/>
          </a:bodyPr>
          <a:lstStyle/>
          <a:p>
            <a:pPr algn="ctr">
              <a:buClr>
                <a:srgbClr val="000000"/>
              </a:buClr>
              <a:buFont typeface="Arial"/>
              <a:defRPr/>
            </a:pPr>
            <a:r>
              <a:rPr lang="ru-RU" altLang="ru-RU" sz="3200" b="1" kern="1200" dirty="0">
                <a:solidFill>
                  <a:schemeClr val="accent1"/>
                </a:solidFill>
                <a:latin typeface="+mn-lt"/>
                <a:cs typeface="Arial"/>
                <a:sym typeface="Arial"/>
              </a:rPr>
              <a:t>Теория</a:t>
            </a:r>
          </a:p>
        </p:txBody>
      </p:sp>
      <p:sp>
        <p:nvSpPr>
          <p:cNvPr id="187" name="Текст 1">
            <a:extLst>
              <a:ext uri="{FF2B5EF4-FFF2-40B4-BE49-F238E27FC236}">
                <a16:creationId xmlns:a16="http://schemas.microsoft.com/office/drawing/2014/main" id="{63FF95F2-79DE-4EE8-B982-DE9D06878972}"/>
              </a:ext>
            </a:extLst>
          </p:cNvPr>
          <p:cNvSpPr txBox="1">
            <a:spLocks/>
          </p:cNvSpPr>
          <p:nvPr/>
        </p:nvSpPr>
        <p:spPr>
          <a:xfrm>
            <a:off x="7865611" y="4705109"/>
            <a:ext cx="1136600" cy="3081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395320F-BA3B-42CB-9DF4-77B0337CE910}" type="slidenum">
              <a:rPr lang="ru-RU" sz="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474" y="741241"/>
            <a:ext cx="8563265" cy="427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В каких объектах используется ключевое слово yield? (1 балл)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Зачем нужны декораторы? (1 балл)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Что такое GIL? (1 балл)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Что выведет следующий код? (1 балл)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900" dirty="0">
              <a:solidFill>
                <a:srgbClr val="002060"/>
              </a:solidFill>
              <a:latin typeface="+mn-lt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default_argument_value 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+mn-cs"/>
              </a:rPr>
              <a:t>5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kern="1200" dirty="0">
              <a:solidFill>
                <a:srgbClr val="00000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+mn-cs"/>
              </a:rPr>
              <a:t>def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Courier New" panose="02070309020205020404" pitchFamily="49" charset="0"/>
                <a:ea typeface="+mn-ea"/>
                <a:cs typeface="+mn-cs"/>
              </a:rPr>
              <a:t>function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argument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default_argument_value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argument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default_argument_value 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+mn-cs"/>
              </a:rPr>
              <a:t>6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function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()</a:t>
            </a:r>
            <a:endParaRPr lang="en-US" sz="1050" kern="1200" dirty="0">
              <a:solidFill>
                <a:srgbClr val="000000"/>
              </a:solidFill>
              <a:latin typeface="Verdana" panose="020B0604030504040204" pitchFamily="34" charset="0"/>
              <a:ea typeface="+mn-ea"/>
              <a:cs typeface="+mn-cs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900" dirty="0">
              <a:solidFill>
                <a:srgbClr val="002060"/>
              </a:solidFill>
              <a:latin typeface="+mn-lt"/>
            </a:endParaRP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 startAt="5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Какое выражение из перечисленных ниже является объявлением кортежа (tuple)? (1 балл)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ru-RU" altLang="ru-RU" sz="105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the_tuple_1 </a:t>
            </a:r>
            <a:r>
              <a:rPr lang="en-US" sz="105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the_tuple_2 </a:t>
            </a:r>
            <a:r>
              <a:rPr lang="en-US" sz="105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the_tuple_3 </a:t>
            </a:r>
            <a:r>
              <a:rPr lang="en-US" sz="105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05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the_tuple_4 </a:t>
            </a:r>
            <a:r>
              <a:rPr lang="en-US" sz="105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05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5140765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5575"/>
            <a:ext cx="9144000" cy="525463"/>
          </a:xfrm>
          <a:prstGeom prst="rect">
            <a:avLst/>
          </a:prstGeom>
        </p:spPr>
        <p:txBody>
          <a:bodyPr anchorCtr="1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ru-RU" altLang="ru-RU" sz="3200" b="1" kern="1200" dirty="0">
                <a:solidFill>
                  <a:schemeClr val="accent1"/>
                </a:solidFill>
                <a:latin typeface="+mn-lt"/>
                <a:cs typeface="Arial"/>
              </a:rPr>
              <a:t>Теория</a:t>
            </a:r>
          </a:p>
        </p:txBody>
      </p:sp>
      <p:sp>
        <p:nvSpPr>
          <p:cNvPr id="187" name="Текст 1">
            <a:extLst>
              <a:ext uri="{FF2B5EF4-FFF2-40B4-BE49-F238E27FC236}">
                <a16:creationId xmlns:a16="http://schemas.microsoft.com/office/drawing/2014/main" id="{63FF95F2-79DE-4EE8-B982-DE9D06878972}"/>
              </a:ext>
            </a:extLst>
          </p:cNvPr>
          <p:cNvSpPr txBox="1">
            <a:spLocks/>
          </p:cNvSpPr>
          <p:nvPr/>
        </p:nvSpPr>
        <p:spPr>
          <a:xfrm>
            <a:off x="7865611" y="4705109"/>
            <a:ext cx="1136600" cy="3081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395320F-BA3B-42CB-9DF4-77B0337CE910}" type="slidenum">
              <a:rPr lang="ru-RU" sz="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474" y="741241"/>
            <a:ext cx="8563265" cy="427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270000" indent="-270000" algn="just">
              <a:spcBef>
                <a:spcPct val="0"/>
              </a:spcBef>
              <a:buClr>
                <a:srgbClr val="0070C0"/>
              </a:buClr>
              <a:buFont typeface="+mj-lt"/>
              <a:buAutoNum type="arabicPeriod" startAt="6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Что выведет следующий код и почему? (2 балла)</a:t>
            </a:r>
          </a:p>
          <a:p>
            <a:pPr marL="270000" indent="-270000" algn="just">
              <a:spcBef>
                <a:spcPct val="0"/>
              </a:spcBef>
              <a:buFont typeface="+mj-lt"/>
              <a:buAutoNum type="arabicPeriod" startAt="6"/>
            </a:pPr>
            <a:endParaRPr lang="ru-RU" altLang="ru-RU" dirty="0">
              <a:solidFill>
                <a:schemeClr val="tx1"/>
              </a:solidFill>
              <a:latin typeface="+mn-lt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a 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[]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+mn-cs"/>
              </a:rPr>
              <a:t>for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i </a:t>
            </a: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+mn-cs"/>
              </a:rPr>
              <a:t>in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+mn-cs"/>
              </a:rPr>
              <a:t>2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+mn-cs"/>
              </a:rPr>
              <a:t>3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+mn-cs"/>
              </a:rPr>
              <a:t>4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+mn-cs"/>
              </a:rPr>
              <a:t>5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]: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a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append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+mn-cs"/>
              </a:rPr>
              <a:t>lambda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: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i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+mn-cs"/>
              </a:rPr>
              <a:t>for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fn </a:t>
            </a: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+mn-cs"/>
              </a:rPr>
              <a:t>in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a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: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+mn-cs"/>
              </a:rPr>
              <a:t>fn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ea typeface="+mn-ea"/>
                <a:cs typeface="+mn-cs"/>
              </a:rPr>
              <a:t>())</a:t>
            </a:r>
            <a:endParaRPr lang="ru-RU" sz="1050" b="1" kern="1200" dirty="0">
              <a:solidFill>
                <a:srgbClr val="00008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marL="270000" indent="-270000" algn="just">
              <a:spcBef>
                <a:spcPct val="0"/>
              </a:spcBef>
              <a:buFont typeface="+mj-lt"/>
              <a:buAutoNum type="arabicPeriod" startAt="6"/>
            </a:pPr>
            <a:endParaRPr lang="ru-RU" altLang="ru-RU" sz="105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0000" indent="-270000" algn="just">
              <a:spcBef>
                <a:spcPct val="0"/>
              </a:spcBef>
              <a:buClr>
                <a:srgbClr val="0070C0"/>
              </a:buClr>
              <a:buFont typeface="+mj-lt"/>
              <a:buAutoNum type="arabicPeriod" startAt="7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Что выведет следующий код и почему? (2 балла)</a:t>
            </a:r>
          </a:p>
          <a:p>
            <a:pPr marL="270000" indent="-270000" algn="just">
              <a:spcBef>
                <a:spcPct val="0"/>
              </a:spcBef>
              <a:buFont typeface="+mj-lt"/>
              <a:buAutoNum type="arabicPeriod" startAt="7"/>
            </a:pPr>
            <a:endParaRPr lang="ru-RU" altLang="ru-RU" sz="105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Child1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Child2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Child1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Child2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Child1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Child1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Child2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kern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Child1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Child2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050" b="1" kern="12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9654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5575"/>
            <a:ext cx="9144000" cy="525463"/>
          </a:xfrm>
          <a:prstGeom prst="rect">
            <a:avLst/>
          </a:prstGeom>
        </p:spPr>
        <p:txBody>
          <a:bodyPr anchorCtr="1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ru-RU" altLang="ru-RU" sz="3200" b="1" kern="1200" dirty="0">
                <a:solidFill>
                  <a:schemeClr val="accent1"/>
                </a:solidFill>
                <a:latin typeface="+mn-lt"/>
                <a:cs typeface="Arial"/>
              </a:rPr>
              <a:t>Теория</a:t>
            </a:r>
          </a:p>
        </p:txBody>
      </p:sp>
      <p:sp>
        <p:nvSpPr>
          <p:cNvPr id="187" name="Текст 1">
            <a:extLst>
              <a:ext uri="{FF2B5EF4-FFF2-40B4-BE49-F238E27FC236}">
                <a16:creationId xmlns:a16="http://schemas.microsoft.com/office/drawing/2014/main" id="{63FF95F2-79DE-4EE8-B982-DE9D06878972}"/>
              </a:ext>
            </a:extLst>
          </p:cNvPr>
          <p:cNvSpPr txBox="1">
            <a:spLocks/>
          </p:cNvSpPr>
          <p:nvPr/>
        </p:nvSpPr>
        <p:spPr>
          <a:xfrm>
            <a:off x="7865611" y="4705109"/>
            <a:ext cx="1136600" cy="3081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395320F-BA3B-42CB-9DF4-77B0337CE910}" type="slidenum">
              <a:rPr lang="ru-RU" sz="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474" y="741241"/>
            <a:ext cx="8563265" cy="427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 startAt="8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Перечислите не менее 3-х способов межпроцессного взаимодействия. (1 балл)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 startAt="8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Для каких типов задач, допускающих распараллеливание, использование потоков Python будет иметь смысл? (1 балл)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 startAt="8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Какой объект Python можно использовать для создания сетевого соединения? Какими параметрами инициализировать этот объект для соединения по IPv4 на сетевом уровне и по UDP на транспортном уровне? (</a:t>
            </a:r>
            <a:r>
              <a:rPr lang="en-US" altLang="ru-RU" dirty="0">
                <a:solidFill>
                  <a:schemeClr val="tx1"/>
                </a:solidFill>
                <a:latin typeface="+mn-lt"/>
              </a:rPr>
              <a:t>2</a:t>
            </a:r>
            <a:r>
              <a:rPr lang="ru-RU" altLang="ru-RU">
                <a:solidFill>
                  <a:schemeClr val="tx1"/>
                </a:solidFill>
                <a:latin typeface="+mn-lt"/>
              </a:rPr>
              <a:t> балла) </a:t>
            </a:r>
            <a:endParaRPr lang="ru-RU" altLang="ru-RU" dirty="0">
              <a:solidFill>
                <a:schemeClr val="tx1"/>
              </a:solidFill>
              <a:latin typeface="+mn-lt"/>
            </a:endParaRP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 startAt="8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В каких целях применяется объектно-реляционное преобразование (ORM)? (1 балл)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129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5575"/>
            <a:ext cx="9144000" cy="525463"/>
          </a:xfrm>
          <a:prstGeom prst="rect">
            <a:avLst/>
          </a:prstGeom>
        </p:spPr>
        <p:txBody>
          <a:bodyPr anchorCtr="1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ru-RU" altLang="ru-RU" sz="3200" b="1" kern="1200" dirty="0">
                <a:solidFill>
                  <a:schemeClr val="accent1"/>
                </a:solidFill>
                <a:latin typeface="+mn-lt"/>
                <a:cs typeface="Arial"/>
              </a:rPr>
              <a:t>Практика</a:t>
            </a:r>
          </a:p>
        </p:txBody>
      </p:sp>
      <p:sp>
        <p:nvSpPr>
          <p:cNvPr id="187" name="Текст 1">
            <a:extLst>
              <a:ext uri="{FF2B5EF4-FFF2-40B4-BE49-F238E27FC236}">
                <a16:creationId xmlns:a16="http://schemas.microsoft.com/office/drawing/2014/main" id="{63FF95F2-79DE-4EE8-B982-DE9D06878972}"/>
              </a:ext>
            </a:extLst>
          </p:cNvPr>
          <p:cNvSpPr txBox="1">
            <a:spLocks/>
          </p:cNvSpPr>
          <p:nvPr/>
        </p:nvSpPr>
        <p:spPr>
          <a:xfrm>
            <a:off x="7865611" y="4705109"/>
            <a:ext cx="1136600" cy="3081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395320F-BA3B-42CB-9DF4-77B0337CE910}" type="slidenum">
              <a:rPr lang="ru-RU" sz="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90" y="741241"/>
            <a:ext cx="8860422" cy="427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Напишите класс Scheduler (планировщик задач). Класс имеет метод добавления функции и периода, через который эта функция должна запускаться. Также должен быть прописан метод run, который будет работать в течении определенного времени, которое указывается при создании вашего планировщика в __init__ (или вечно, если это время равно None), и запускать все функции в соответствии с их периодом запуска, а результат функций, если он есть, выводить на экран. (5 баллов)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Напишите свой класс-итератор, который при итерации генерирует простые числа (столько, сколько задали при создании экземпляра класса). (5 баллов)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Напишите unit-тест для класса из задания 2, сформируйте coverage report в формате html и оцените степень покрытия исходного кода тестами. (3 балла) 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Напишите эхо-сервер, работающий по TCP, и unit-тест к нему. Сервер должен просто возвращать обратно то, что передает ему клиент. (5 баллов)</a:t>
            </a:r>
          </a:p>
          <a:p>
            <a:pPr marL="360000" indent="-3600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Напишите серверный скрипт, работающий с базой данный sqlite. Скрипт должен создавать одну таблицу (пример можно взять из лекции 11) перед тем, как начать прослушивание сокета, затем принимать запросы от клиентов и возвращать записи из этой таблицы по ID в этих запросах. Напишите клиентский скрипт, который будет подключаться к серверу, отправлять id и выводить строку, которую вернет сервер. (8 баллов)</a:t>
            </a:r>
          </a:p>
          <a:p>
            <a:pPr marL="270000" indent="-270000" algn="just">
              <a:spcBef>
                <a:spcPts val="600"/>
              </a:spcBef>
              <a:spcAft>
                <a:spcPts val="450"/>
              </a:spcAft>
              <a:buFont typeface="+mj-lt"/>
              <a:buAutoNum type="arabicPeriod"/>
            </a:pPr>
            <a:endParaRPr lang="ru-RU" altLang="ru-RU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7523421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Другая 6">
    <a:dk1>
      <a:srgbClr val="000000"/>
    </a:dk1>
    <a:lt1>
      <a:srgbClr val="FFFFFF"/>
    </a:lt1>
    <a:dk2>
      <a:srgbClr val="595959"/>
    </a:dk2>
    <a:lt2>
      <a:srgbClr val="1F1C51"/>
    </a:lt2>
    <a:accent1>
      <a:srgbClr val="4482CC"/>
    </a:accent1>
    <a:accent2>
      <a:srgbClr val="ACFFD9"/>
    </a:accent2>
    <a:accent3>
      <a:srgbClr val="4482CC"/>
    </a:accent3>
    <a:accent4>
      <a:srgbClr val="CC7C58"/>
    </a:accent4>
    <a:accent5>
      <a:srgbClr val="2525A5"/>
    </a:accent5>
    <a:accent6>
      <a:srgbClr val="8BE3FF"/>
    </a:accent6>
    <a:hlink>
      <a:srgbClr val="8BE3FF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</TotalTime>
  <Words>580</Words>
  <Application>Microsoft Office PowerPoint</Application>
  <PresentationFormat>Экран (16:9)</PresentationFormat>
  <Paragraphs>63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5" baseType="lpstr">
      <vt:lpstr>proxima nova rg</vt:lpstr>
      <vt:lpstr>Viga</vt:lpstr>
      <vt:lpstr>Verdana</vt:lpstr>
      <vt:lpstr>Courier New</vt:lpstr>
      <vt:lpstr>Times New Roman</vt:lpstr>
      <vt:lpstr>proxima nova bold</vt:lpstr>
      <vt:lpstr>DM Sans</vt:lpstr>
      <vt:lpstr>Arial</vt:lpstr>
      <vt:lpstr>Cyber Security Business Plan</vt:lpstr>
      <vt:lpstr>Программирование на языке Python</vt:lpstr>
      <vt:lpstr>Экзамен №2</vt:lpstr>
      <vt:lpstr>Теория</vt:lpstr>
      <vt:lpstr>Теория</vt:lpstr>
      <vt:lpstr>Теория</vt:lpstr>
      <vt:lpstr>Практика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82</cp:revision>
  <dcterms:modified xsi:type="dcterms:W3CDTF">2021-10-14T18:38:12Z</dcterms:modified>
</cp:coreProperties>
</file>