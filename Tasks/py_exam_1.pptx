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56" r:id="rId2"/>
    <p:sldId id="257" r:id="rId3"/>
    <p:sldId id="384" r:id="rId4"/>
    <p:sldId id="385" r:id="rId5"/>
    <p:sldId id="386" r:id="rId6"/>
    <p:sldId id="296" r:id="rId7"/>
    <p:sldId id="383" r:id="rId8"/>
    <p:sldId id="387" r:id="rId9"/>
    <p:sldId id="388" r:id="rId10"/>
  </p:sldIdLst>
  <p:sldSz cx="9144000" cy="5143500" type="screen16x9"/>
  <p:notesSz cx="6858000" cy="9144000"/>
  <p:embeddedFontLst>
    <p:embeddedFont>
      <p:font typeface="DM Sans" panose="020B0604020202020204" charset="0"/>
      <p:regular r:id="rId12"/>
      <p:bold r:id="rId13"/>
      <p:italic r:id="rId14"/>
      <p:boldItalic r:id="rId15"/>
    </p:embeddedFont>
    <p:embeddedFont>
      <p:font typeface="proxima nova bold" panose="02000506030000020004" charset="0"/>
      <p:bold r:id="rId16"/>
    </p:embeddedFont>
    <p:embeddedFont>
      <p:font typeface="proxima nova rg" panose="02000506030000020004" charset="0"/>
      <p:regular r:id="rId17"/>
      <p:bold r:id="rId18"/>
      <p:italic r:id="rId19"/>
      <p:boldItalic r:id="rId20"/>
    </p:embeddedFont>
    <p:embeddedFont>
      <p:font typeface="Viga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1">
          <p15:clr>
            <a:srgbClr val="9AA0A6"/>
          </p15:clr>
        </p15:guide>
        <p15:guide id="2" pos="2880">
          <p15:clr>
            <a:srgbClr val="9AA0A6"/>
          </p15:clr>
        </p15:guide>
        <p15:guide id="3" pos="456">
          <p15:clr>
            <a:srgbClr val="9AA0A6"/>
          </p15:clr>
        </p15:guide>
        <p15:guide id="4" orient="horz" pos="1732">
          <p15:clr>
            <a:srgbClr val="9AA0A6"/>
          </p15:clr>
        </p15:guide>
        <p15:guide id="5" orient="horz" pos="2664">
          <p15:clr>
            <a:srgbClr val="9AA0A6"/>
          </p15:clr>
        </p15:guide>
        <p15:guide id="6" orient="horz" pos="439">
          <p15:clr>
            <a:srgbClr val="A4A3A4"/>
          </p15:clr>
        </p15:guide>
        <p15:guide id="7" orient="horz" pos="1726">
          <p15:clr>
            <a:srgbClr val="A4A3A4"/>
          </p15:clr>
        </p15:guide>
        <p15:guide id="8" pos="5352">
          <p15:clr>
            <a:srgbClr val="A4A3A4"/>
          </p15:clr>
        </p15:guide>
        <p15:guide id="9" pos="35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658367-1752-4BCB-99D9-0009F8CEB734}">
  <a:tblStyle styleId="{D5658367-1752-4BCB-99D9-0009F8CEB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96"/>
      </p:cViewPr>
      <p:guideLst>
        <p:guide orient="horz" pos="461"/>
        <p:guide pos="2880"/>
        <p:guide pos="456"/>
        <p:guide orient="horz" pos="1732"/>
        <p:guide orient="horz" pos="2664"/>
        <p:guide orient="horz" pos="439"/>
        <p:guide orient="horz" pos="1726"/>
        <p:guide pos="5352"/>
        <p:guide pos="3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423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71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world.ru/osnovy/peregruzka-operatorov.html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" y="0"/>
            <a:ext cx="9142096" cy="5143500"/>
          </a:xfrm>
          <a:prstGeom prst="rect">
            <a:avLst/>
          </a:prstGeom>
        </p:spPr>
      </p:pic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481264" y="1202058"/>
            <a:ext cx="5498622" cy="28909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4400" dirty="0">
                <a:solidFill>
                  <a:schemeClr val="bg1"/>
                </a:solidFill>
                <a:latin typeface="+mj-lt"/>
              </a:rPr>
              <a:t>Программирование на языке</a:t>
            </a:r>
            <a:br>
              <a:rPr lang="ru-RU" sz="4400" dirty="0">
                <a:solidFill>
                  <a:schemeClr val="bg1"/>
                </a:solidFill>
                <a:latin typeface="+mj-lt"/>
              </a:rPr>
            </a:br>
            <a:r>
              <a:rPr lang="en-US" sz="9600" dirty="0">
                <a:solidFill>
                  <a:schemeClr val="accent2"/>
                </a:solidFill>
                <a:latin typeface="+mj-lt"/>
              </a:rPr>
              <a:t>Python</a:t>
            </a:r>
            <a:endParaRPr sz="96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3" y="356490"/>
            <a:ext cx="1741715" cy="5902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626624" y="207546"/>
            <a:ext cx="7665179" cy="822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800" b="1" dirty="0">
                <a:latin typeface="+mj-lt"/>
              </a:rPr>
              <a:t>Э</a:t>
            </a:r>
            <a:r>
              <a:rPr lang="ru-RU" sz="4800" dirty="0">
                <a:latin typeface="+mj-lt"/>
              </a:rPr>
              <a:t>кзамен №1</a:t>
            </a:r>
            <a:endParaRPr sz="4800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6625" y="1829344"/>
            <a:ext cx="7869676" cy="65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4000" b="1" dirty="0">
                <a:solidFill>
                  <a:schemeClr val="accent3"/>
                </a:solidFill>
                <a:latin typeface="+mj-lt"/>
              </a:rPr>
              <a:t>О</a:t>
            </a:r>
            <a:r>
              <a:rPr lang="ru-RU" sz="4000" dirty="0">
                <a:solidFill>
                  <a:schemeClr val="accent3"/>
                </a:solidFill>
                <a:latin typeface="+mj-lt"/>
              </a:rPr>
              <a:t>бщий курс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90954" y="2681400"/>
            <a:ext cx="60811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solidFill>
                  <a:schemeClr val="tx1"/>
                </a:solidFill>
                <a:latin typeface="+mn-lt"/>
              </a:rPr>
              <a:t>Теория</a:t>
            </a:r>
          </a:p>
          <a:p>
            <a:pPr marL="285750" indent="-28575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solidFill>
                  <a:schemeClr val="tx1"/>
                </a:solidFill>
                <a:latin typeface="+mn-lt"/>
              </a:rPr>
              <a:t>Практика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496925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Теория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758595" y="1259416"/>
            <a:ext cx="7773845" cy="3650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Каким будет результат деления 7//-3?</a:t>
            </a: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Какие типы являются изменяемыми из tuple, list,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dictionary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set?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Допустимо ли такое выражение: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1 &lt;= a &lt; 10 and 1 &lt;= b &lt;20</a:t>
            </a: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Что будет в результате в переменной a?</a:t>
            </a:r>
          </a:p>
          <a:p>
            <a:pPr lvl="1"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</a:rPr>
              <a:t>a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=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[[]]*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3 </a:t>
            </a:r>
            <a:endParaRPr lang="ru-RU" sz="1800" dirty="0">
              <a:solidFill>
                <a:schemeClr val="tx1"/>
              </a:solidFill>
              <a:latin typeface="+mn-lt"/>
            </a:endParaRPr>
          </a:p>
          <a:p>
            <a:pPr lvl="1"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[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0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].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append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3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)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endParaRPr lang="ru-RU" sz="1800" dirty="0">
              <a:solidFill>
                <a:schemeClr val="tx1"/>
              </a:solidFill>
              <a:latin typeface="+mn-lt"/>
            </a:endParaRPr>
          </a:p>
          <a:p>
            <a:pPr lvl="1"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[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1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]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=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1</a:t>
            </a:r>
            <a:endParaRPr lang="ru-RU" sz="1800" dirty="0">
              <a:solidFill>
                <a:schemeClr val="tx1"/>
              </a:solidFill>
              <a:latin typeface="+mn-lt"/>
            </a:endParaRPr>
          </a:p>
          <a:p>
            <a:pPr>
              <a:buNone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457200" lvl="0" indent="-457200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5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Что такое функциональный объект (функтор) и как его создать?</a:t>
            </a:r>
          </a:p>
          <a:p>
            <a:pPr>
              <a:buNone/>
            </a:pP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7716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345671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Теория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506970" y="779896"/>
            <a:ext cx="8130060" cy="407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Font typeface="+mj-lt"/>
              <a:buAutoNum type="arabicPeriod" startAt="5"/>
            </a:pPr>
            <a:endParaRPr lang="ru-RU" sz="1600" dirty="0">
              <a:solidFill>
                <a:srgbClr val="002060"/>
              </a:solidFill>
              <a:latin typeface="+mn-lt"/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rabicPeriod" startAt="6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Что выведется на стандартный ввод/вывод при выполнении следующего кода: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 startAt="6"/>
            </a:pPr>
            <a:endParaRPr lang="ru-RU" sz="400" dirty="0">
              <a:solidFill>
                <a:schemeClr val="tx1"/>
              </a:solidFill>
              <a:latin typeface="+mn-lt"/>
            </a:endParaRPr>
          </a:p>
          <a:p>
            <a:pPr>
              <a:buNone/>
            </a:pPr>
            <a:r>
              <a:rPr lang="en-US" sz="1050" b="1" dirty="0">
                <a:solidFill>
                  <a:srgbClr val="0000FF"/>
                </a:solidFill>
                <a:latin typeface="+mn-lt"/>
              </a:rPr>
              <a:t>     class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00"/>
                </a:solidFill>
                <a:latin typeface="+mn-lt"/>
              </a:rPr>
              <a:t>TheClass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ru-RU" sz="10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dirty="0">
                <a:solidFill>
                  <a:srgbClr val="000000"/>
                </a:solidFill>
                <a:latin typeface="+mn-lt"/>
              </a:rPr>
              <a:t>    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FF"/>
                </a:solidFill>
                <a:latin typeface="+mn-lt"/>
              </a:rPr>
              <a:t>__call__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n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*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**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kwargs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ru-RU" sz="105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        n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+=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    </a:t>
            </a:r>
            <a:r>
              <a:rPr lang="ru-RU" sz="105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].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extend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((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ru-RU" sz="105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        kwargs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'the_list'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].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remove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 marL="228600" indent="-228600">
              <a:buFont typeface="+mj-lt"/>
              <a:buAutoNum type="arabicPeriod" startAt="5"/>
            </a:pP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value_n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list_of_args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the_class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TheClass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the_class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value_n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list_of_args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the_list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list_of_args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b="1" dirty="0">
                <a:solidFill>
                  <a:srgbClr val="0000FF"/>
                </a:solidFill>
                <a:latin typeface="+mn-lt"/>
              </a:rPr>
              <a:t>     print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value_n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list_of_args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endParaRPr lang="ru-RU" sz="1050" b="1" dirty="0">
              <a:solidFill>
                <a:srgbClr val="000080"/>
              </a:solidFill>
              <a:latin typeface="+mn-lt"/>
            </a:endParaRPr>
          </a:p>
          <a:p>
            <a:pPr marL="228600" indent="-228600">
              <a:buFont typeface="+mj-lt"/>
              <a:buAutoNum type="arabicPeriod" startAt="5"/>
            </a:pPr>
            <a:endParaRPr lang="en-US" sz="1050" dirty="0"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7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Можно ли писать else в try-except блоках?</a:t>
            </a: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 startAt="7"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7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Как добавить новый атрибут в объект класса и как предотвратить такую возможность? </a:t>
            </a:r>
          </a:p>
        </p:txBody>
      </p:sp>
    </p:spTree>
    <p:extLst>
      <p:ext uri="{BB962C8B-B14F-4D97-AF65-F5344CB8AC3E}">
        <p14:creationId xmlns:p14="http://schemas.microsoft.com/office/powerpoint/2010/main" val="309896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345671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Теория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539552" y="1026676"/>
            <a:ext cx="80648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+mn-lt"/>
              </a:rPr>
              <a:t>MyClass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__slots__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'a'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'b'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'c'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__init__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'value a'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b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'value b'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'value c'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'value d'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__str__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", "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([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b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])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"__main__"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try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my_object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MyClass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my_object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'value d'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my_object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    except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Exception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as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f"Error! Message: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"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en-US" sz="1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9521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352600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323528" y="1079821"/>
            <a:ext cx="849630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Написать реализацию встроенной функции len: функция принимает список, возвращает его длину.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3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балла)</a:t>
            </a: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endParaRPr lang="ru-RU" sz="10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Написать реализацию функции reversed: функция принимает список, возвращает </a:t>
            </a:r>
            <a:r>
              <a:rPr lang="ru-RU" sz="1600" b="1" u="sng" dirty="0">
                <a:solidFill>
                  <a:schemeClr val="tx1"/>
                </a:solidFill>
                <a:latin typeface="+mn-lt"/>
              </a:rPr>
              <a:t>его же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располагая элементы в обратном порядке.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3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балла)</a:t>
            </a: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endParaRPr lang="ru-RU" sz="10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*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Написать реализацию функции range: она может принимать от одного до трех аргументов, при этом аргументами должны быть целые числа (int). range(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старт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стоп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шаг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) - так выглядит стандартный вызов функции range() в Python. По умолчанию старт равняется нулю, шаг - единице. Возвращает список целых чисел в форме [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старт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старт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+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шаг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старт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+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шаг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* 2...]. Если шаг положительное число, последним элементом списка будет наибольшее (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старт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+ i *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шаг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) меньшее числа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стоп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 Если шаг отрицательное число, то последний элемент будет наименьшее (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старт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+ i *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шаг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) большее числа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стоп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Предусмотреть случаи ошибочных аргументов (например,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шаг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== 0).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(5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баллов)</a:t>
            </a:r>
          </a:p>
        </p:txBody>
      </p:sp>
    </p:spTree>
    <p:extLst>
      <p:ext uri="{BB962C8B-B14F-4D97-AF65-F5344CB8AC3E}">
        <p14:creationId xmlns:p14="http://schemas.microsoft.com/office/powerpoint/2010/main" val="417042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393850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395537" y="1126913"/>
            <a:ext cx="8478588" cy="3582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4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Написать функцию to_title: принимает строку, ищет пробелы, первые буквы после них и после начала строки делает заглавными. (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3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балла)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ru-RU" dirty="0">
              <a:solidFill>
                <a:srgbClr val="002060"/>
              </a:solidFill>
              <a:latin typeface="+mn-lt"/>
            </a:endParaRPr>
          </a:p>
          <a:p>
            <a:pPr lvl="1">
              <a:buNone/>
            </a:pPr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to_title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'orlov Ilya evgenyevich'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1">
              <a:buNone/>
            </a:pPr>
            <a:r>
              <a:rPr lang="en-US" sz="1050" dirty="0">
                <a:solidFill>
                  <a:srgbClr val="808080"/>
                </a:solidFill>
                <a:latin typeface="+mn-lt"/>
              </a:rPr>
              <a:t>'Orlov Ilya Evgenyevich'</a:t>
            </a:r>
            <a:endParaRPr lang="en-US" sz="1050" dirty="0"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 startAt="4"/>
            </a:pPr>
            <a:endParaRPr lang="ru-RU" dirty="0">
              <a:solidFill>
                <a:srgbClr val="002060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5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Написать функцию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c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ount_symbol: считает сколько раз символ встречается в строке. (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3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балла)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 startAt="5"/>
            </a:pPr>
            <a:endParaRPr lang="en-US" dirty="0">
              <a:solidFill>
                <a:srgbClr val="002060"/>
              </a:solidFill>
              <a:latin typeface="+mn-lt"/>
            </a:endParaRPr>
          </a:p>
          <a:p>
            <a:pPr lvl="1">
              <a:buNone/>
            </a:pPr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count_symbol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"Hi, Elvis, I am here!"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"i"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1">
              <a:buNone/>
            </a:pPr>
            <a:r>
              <a:rPr lang="en-US" sz="1050" dirty="0">
                <a:solidFill>
                  <a:srgbClr val="FF0000"/>
                </a:solidFill>
                <a:latin typeface="+mn-lt"/>
              </a:rPr>
              <a:t>2</a:t>
            </a:r>
            <a:endParaRPr lang="en-US" sz="1050" dirty="0"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 startAt="5"/>
            </a:pPr>
            <a:endParaRPr lang="en-US" dirty="0">
              <a:solidFill>
                <a:srgbClr val="002060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5"/>
            </a:pPr>
            <a:r>
              <a:rPr lang="en-US" dirty="0">
                <a:solidFill>
                  <a:schemeClr val="tx1"/>
                </a:solidFill>
                <a:latin typeface="+mn-lt"/>
              </a:rPr>
              <a:t>*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Написать реализацию функции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format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(5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баллов, с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re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– 7 баллов)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 startAt="5"/>
            </a:pPr>
            <a:endParaRPr lang="en-US" dirty="0">
              <a:solidFill>
                <a:srgbClr val="002060"/>
              </a:solidFill>
              <a:latin typeface="+mn-lt"/>
            </a:endParaRPr>
          </a:p>
          <a:p>
            <a:pPr lvl="1">
              <a:buNone/>
            </a:pPr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myformat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'{1}, {0}, {2}', 'a', 'b', 'c'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) </a:t>
            </a:r>
          </a:p>
          <a:p>
            <a:pPr lvl="1">
              <a:buNone/>
            </a:pPr>
            <a:r>
              <a:rPr lang="en-US" sz="1050" dirty="0">
                <a:solidFill>
                  <a:srgbClr val="808080"/>
                </a:solidFill>
                <a:latin typeface="+mn-lt"/>
              </a:rPr>
              <a:t>'b, a, c'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1">
              <a:buNone/>
            </a:pPr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myformat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'coordinates: {}, {}'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'37.4N'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'18.3W'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1">
              <a:buNone/>
            </a:pPr>
            <a:r>
              <a:rPr lang="en-US" sz="1050" dirty="0">
                <a:solidFill>
                  <a:srgbClr val="808080"/>
                </a:solidFill>
                <a:latin typeface="+mn-lt"/>
              </a:rPr>
              <a:t>'coordinates: 37.4N, 18.3W'</a:t>
            </a:r>
            <a:endParaRPr lang="en-US" sz="105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449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620729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323528" y="1444410"/>
            <a:ext cx="8229206" cy="283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7"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Написать функцию copyfile: функция принимает два аргумента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имена файлов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source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и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destination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, открывает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source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, читает его, открывает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destination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, пишет в него. Если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source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не найден или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destination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уже существует, то выбрасываются соответствующие исключения. Нужно проверить выполнение функции как для правильных аргументов, так </a:t>
            </a:r>
          </a:p>
          <a:p>
            <a:pPr indent="447675"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и для приводящих к исключениям. (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3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балла)</a:t>
            </a:r>
          </a:p>
          <a:p>
            <a:pPr marL="457200" indent="-457200" eaLnBrk="1" hangingPunct="1">
              <a:spcBef>
                <a:spcPct val="0"/>
              </a:spcBef>
              <a:buFont typeface="+mj-lt"/>
              <a:buAutoNum type="arabicPeriod" startAt="7"/>
            </a:pPr>
            <a:endParaRPr lang="ru-RU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8"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* Написать функцию copydir - копирование директории </a:t>
            </a:r>
          </a:p>
          <a:p>
            <a:pPr marL="447675"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с использованием copyfile, а также проверки на существование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source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indent="447675" eaLnBrk="1" hangingPunct="1">
              <a:spcBef>
                <a:spcPct val="0"/>
              </a:spcBef>
              <a:buNone/>
              <a:tabLst>
                <a:tab pos="447675" algn="l"/>
              </a:tabLst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и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destination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(5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баллов)</a:t>
            </a:r>
          </a:p>
        </p:txBody>
      </p:sp>
    </p:spTree>
    <p:extLst>
      <p:ext uri="{BB962C8B-B14F-4D97-AF65-F5344CB8AC3E}">
        <p14:creationId xmlns:p14="http://schemas.microsoft.com/office/powerpoint/2010/main" val="972121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325096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323528" y="1004400"/>
            <a:ext cx="84963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9"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Создайте класс User, в котором будут следующие поля: name (имя), age (возраст), методы setName, getName, setAge, getAge. </a:t>
            </a:r>
          </a:p>
          <a:p>
            <a:pPr marL="457200"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Создайте класс Worker, который наследуется от класса User и имеет дополнительное поле salary (зарплата), а также методы getSalary и setSalary. </a:t>
            </a:r>
          </a:p>
          <a:p>
            <a:pPr marL="457200"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Создайте объект этого класса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name=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'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John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',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age=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25,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salary=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1000. </a:t>
            </a:r>
          </a:p>
          <a:p>
            <a:pPr marL="457200"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Создайте второй объект этого класса '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Jack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',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age=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26,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salary=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2000. </a:t>
            </a:r>
          </a:p>
          <a:p>
            <a:pPr marL="457200"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Найдите сумму зарплат объектов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John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и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Jack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 (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3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балла)</a:t>
            </a:r>
          </a:p>
          <a:p>
            <a:pPr marL="457200" eaLnBrk="1" hangingPunct="1">
              <a:spcBef>
                <a:spcPct val="0"/>
              </a:spcBef>
              <a:buNone/>
            </a:pPr>
            <a:endParaRPr lang="ru-RU" sz="1000" dirty="0">
              <a:solidFill>
                <a:schemeClr val="tx1"/>
              </a:solidFill>
              <a:latin typeface="+mn-lt"/>
            </a:endParaRP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10"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*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Создайте класс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Money (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деньги) для работы с денежными суммами. Число должно быть представлено двумя полями: для рублей и для копеек. Дробная часть (копейки) при выводе на экран должна быть отделена от целой части запятой. Необходимо реализовать сложение, вычитание, деление сумм и операции сравнения. Также нужно добавить атрибут текущий курс по доллару и метод перевода по текущему курсу в доллары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для справки по перегрузке операторов -  </a:t>
            </a:r>
            <a:r>
              <a:rPr lang="en-US" sz="1600" dirty="0">
                <a:solidFill>
                  <a:schemeClr val="tx2"/>
                </a:solidFill>
                <a:latin typeface="+mn-lt"/>
                <a:hlinkClick r:id="rId2"/>
              </a:rPr>
              <a:t>https://pythonworld.ru/osnovy/peregruzka-operatorov.html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)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(7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баллов)</a:t>
            </a:r>
          </a:p>
        </p:txBody>
      </p:sp>
    </p:spTree>
    <p:extLst>
      <p:ext uri="{BB962C8B-B14F-4D97-AF65-F5344CB8AC3E}">
        <p14:creationId xmlns:p14="http://schemas.microsoft.com/office/powerpoint/2010/main" val="3032500569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Другая 6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4482CC"/>
      </a:accent1>
      <a:accent2>
        <a:srgbClr val="ACFFD9"/>
      </a:accent2>
      <a:accent3>
        <a:srgbClr val="4482CC"/>
      </a:accent3>
      <a:accent4>
        <a:srgbClr val="CC7C58"/>
      </a:accent4>
      <a:accent5>
        <a:srgbClr val="2525A5"/>
      </a:accent5>
      <a:accent6>
        <a:srgbClr val="8BE3FF"/>
      </a:accent6>
      <a:hlink>
        <a:srgbClr val="8BE3FF"/>
      </a:hlink>
      <a:folHlink>
        <a:srgbClr val="0097A7"/>
      </a:folHlink>
    </a:clrScheme>
    <a:fontScheme name="Другая 13">
      <a:majorFont>
        <a:latin typeface="proxima nova bold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955</Words>
  <Application>Microsoft Office PowerPoint</Application>
  <PresentationFormat>Экран (16:9)</PresentationFormat>
  <Paragraphs>96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proxima nova rg</vt:lpstr>
      <vt:lpstr>Viga</vt:lpstr>
      <vt:lpstr>proxima nova bold</vt:lpstr>
      <vt:lpstr>DM Sans</vt:lpstr>
      <vt:lpstr>Arial</vt:lpstr>
      <vt:lpstr>Cyber Security Business Plan</vt:lpstr>
      <vt:lpstr>Программирование на языке Python</vt:lpstr>
      <vt:lpstr>Экзамен №1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Python</dc:title>
  <dc:creator>Ksenia</dc:creator>
  <cp:lastModifiedBy>Ilya Orlov</cp:lastModifiedBy>
  <cp:revision>79</cp:revision>
  <dcterms:modified xsi:type="dcterms:W3CDTF">2021-10-14T18:37:38Z</dcterms:modified>
</cp:coreProperties>
</file>