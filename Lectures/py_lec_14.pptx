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2"/>
  </p:notesMasterIdLst>
  <p:sldIdLst>
    <p:sldId id="256" r:id="rId2"/>
    <p:sldId id="257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1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  <p:sldId id="439" r:id="rId25"/>
    <p:sldId id="440" r:id="rId26"/>
    <p:sldId id="441" r:id="rId27"/>
    <p:sldId id="442" r:id="rId28"/>
    <p:sldId id="443" r:id="rId29"/>
    <p:sldId id="296" r:id="rId30"/>
    <p:sldId id="444" r:id="rId31"/>
  </p:sldIdLst>
  <p:sldSz cx="9144000" cy="5143500" type="screen16x9"/>
  <p:notesSz cx="6858000" cy="9144000"/>
  <p:embeddedFontLst>
    <p:embeddedFont>
      <p:font typeface="DM Sans" panose="020B0604020202020204" charset="0"/>
      <p:regular r:id="rId33"/>
      <p:bold r:id="rId34"/>
      <p:italic r:id="rId35"/>
      <p:boldItalic r:id="rId36"/>
    </p:embeddedFont>
    <p:embeddedFont>
      <p:font typeface="proxima nova bold" panose="02000506030000020004" charset="0"/>
      <p:bold r:id="rId37"/>
    </p:embeddedFont>
    <p:embeddedFont>
      <p:font typeface="proxima nova rg" panose="02000506030000020004" charset="0"/>
      <p:regular r:id="rId38"/>
      <p:bold r:id="rId39"/>
      <p:italic r:id="rId40"/>
      <p:boldItalic r:id="rId41"/>
    </p:embeddedFont>
    <p:embeddedFont>
      <p:font typeface="Viga" panose="020B0604020202020204" charset="0"/>
      <p:regular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8" userDrawn="1">
          <p15:clr>
            <a:srgbClr val="9AA0A6"/>
          </p15:clr>
        </p15:guide>
        <p15:guide id="2" pos="2880" userDrawn="1">
          <p15:clr>
            <a:srgbClr val="9AA0A6"/>
          </p15:clr>
        </p15:guide>
        <p15:guide id="3" pos="431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169" userDrawn="1">
          <p15:clr>
            <a:srgbClr val="A4A3A4"/>
          </p15:clr>
        </p15:guide>
        <p15:guide id="7" orient="horz" pos="2981" userDrawn="1">
          <p15:clr>
            <a:srgbClr val="A4A3A4"/>
          </p15:clr>
        </p15:guide>
        <p15:guide id="8" pos="53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02" y="82"/>
      </p:cViewPr>
      <p:guideLst>
        <p:guide orient="horz" pos="418"/>
        <p:guide pos="2880"/>
        <p:guide pos="431"/>
        <p:guide orient="horz" pos="2663"/>
        <p:guide orient="horz" pos="169"/>
        <p:guide orient="horz" pos="2981"/>
        <p:guide pos="53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600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7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127.0.0.1:8000/" TargetMode="External"/><Relationship Id="rId4" Type="http://schemas.openxmlformats.org/officeDocument/2006/relationships/hyperlink" Target="http://127.0.0.1:8000/coolapp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admin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582020" y="58998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№14</a:t>
            </a:r>
            <a:endParaRPr sz="48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07798-86CC-4875-B9D1-442E241DE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1" r="13701"/>
          <a:stretch/>
        </p:blipFill>
        <p:spPr bwMode="auto">
          <a:xfrm>
            <a:off x="4585020" y="1579026"/>
            <a:ext cx="4558980" cy="2635734"/>
          </a:xfrm>
          <a:prstGeom prst="rect">
            <a:avLst/>
          </a:prstGeom>
          <a:noFill/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AF2CF66-F53D-4AE0-9179-EAA9839348CB}"/>
              </a:ext>
            </a:extLst>
          </p:cNvPr>
          <p:cNvGrpSpPr/>
          <p:nvPr/>
        </p:nvGrpSpPr>
        <p:grpSpPr>
          <a:xfrm>
            <a:off x="567152" y="890099"/>
            <a:ext cx="7869676" cy="4013588"/>
            <a:chOff x="567152" y="852929"/>
            <a:chExt cx="7869676" cy="4013588"/>
          </a:xfrm>
        </p:grpSpPr>
        <p:sp>
          <p:nvSpPr>
            <p:cNvPr id="3" name="Прямоугольник 2"/>
            <p:cNvSpPr/>
            <p:nvPr/>
          </p:nvSpPr>
          <p:spPr>
            <a:xfrm>
              <a:off x="567152" y="852929"/>
              <a:ext cx="7869676" cy="6018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3600" dirty="0">
                  <a:solidFill>
                    <a:schemeClr val="accent3"/>
                  </a:solidFill>
                  <a:latin typeface="+mj-lt"/>
                </a:rPr>
                <a:t>Django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A105A91-CACA-43AF-9D6A-244DFC946689}"/>
                </a:ext>
              </a:extLst>
            </p:cNvPr>
            <p:cNvSpPr txBox="1"/>
            <p:nvPr/>
          </p:nvSpPr>
          <p:spPr>
            <a:xfrm>
              <a:off x="567152" y="1462893"/>
              <a:ext cx="4572000" cy="3403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Общая информация </a:t>
              </a: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Принципы и методики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Архитектурная концепция</a:t>
              </a: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Как работает интернет-сайт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Проект веб-сайта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Запуск прототипа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Приложения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Представления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Представления и шаблоны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Миграции</a:t>
              </a:r>
              <a:endParaRPr lang="en-US" altLang="ru-RU" sz="1400" dirty="0">
                <a:solidFill>
                  <a:schemeClr val="tx1"/>
                </a:solidFill>
                <a:latin typeface="+mn-lt"/>
              </a:endParaRP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Модели</a:t>
              </a: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Модели и базы данных</a:t>
              </a: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Superuser</a:t>
              </a:r>
            </a:p>
            <a:p>
              <a:pPr marL="285750" indent="-285750" eaLnBrk="1" hangingPunct="1">
                <a:lnSpc>
                  <a:spcPct val="110000"/>
                </a:lnSpc>
                <a:spcBef>
                  <a:spcPct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r>
                <a:rPr lang="en-US" altLang="ru-RU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altLang="ru-RU" sz="1400" dirty="0">
                  <a:solidFill>
                    <a:schemeClr val="tx1"/>
                  </a:solidFill>
                  <a:latin typeface="+mn-lt"/>
                </a:rPr>
                <a:t>Практика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EBB30C-3C2D-4891-A287-35F034E68C09}"/>
              </a:ext>
            </a:extLst>
          </p:cNvPr>
          <p:cNvSpPr/>
          <p:nvPr/>
        </p:nvSpPr>
        <p:spPr>
          <a:xfrm>
            <a:off x="0" y="982038"/>
            <a:ext cx="9144000" cy="915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Общая информация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600982-4369-46D3-8C8B-C589DDF26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2141756"/>
            <a:ext cx="364793" cy="36479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3B9C155-B8C4-4446-9817-755FC32F1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" y="3708342"/>
            <a:ext cx="364793" cy="3647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85B1FF-54DF-4BE7-B674-04B84D8F32F5}"/>
              </a:ext>
            </a:extLst>
          </p:cNvPr>
          <p:cNvSpPr txBox="1"/>
          <p:nvPr/>
        </p:nvSpPr>
        <p:spPr>
          <a:xfrm>
            <a:off x="577549" y="1070699"/>
            <a:ext cx="79717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1"/>
                </a:solidFill>
                <a:latin typeface="+mn-lt"/>
              </a:rPr>
              <a:t>Django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джанго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 - бесплатный и свободный фреймворк для веб-приложений, написанный на Python. Фактически, это набор компонентов, которые помогают разрабатывать веб-сайты быстро и просто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73FBF4-9449-475F-9521-316612AE2458}"/>
              </a:ext>
            </a:extLst>
          </p:cNvPr>
          <p:cNvSpPr txBox="1"/>
          <p:nvPr/>
        </p:nvSpPr>
        <p:spPr>
          <a:xfrm>
            <a:off x="1256371" y="1957703"/>
            <a:ext cx="72928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Каждый раз при разработке веб-сайтов требуются похожие компоненты: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способ аутентификации пользователей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вход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выход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регистрация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панель управления сайтом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формы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инструменты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для загрузки файлов и т. д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7CAF6-EBDE-4E55-A1FF-032C17E44CF2}"/>
              </a:ext>
            </a:extLst>
          </p:cNvPr>
          <p:cNvSpPr txBox="1"/>
          <p:nvPr/>
        </p:nvSpPr>
        <p:spPr>
          <a:xfrm>
            <a:off x="1256370" y="2795555"/>
            <a:ext cx="72928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Как раз для решения таких однотипных проблем при веб-разработке и были созданы специальные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веб-фреймворки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другие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), которые предлагают готовые шаблоны для использования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0A45B8-ECFE-4B77-863A-E59E38BD6FE8}"/>
              </a:ext>
            </a:extLst>
          </p:cNvPr>
          <p:cNvSpPr txBox="1"/>
          <p:nvPr/>
        </p:nvSpPr>
        <p:spPr>
          <a:xfrm>
            <a:off x="1256370" y="3629129"/>
            <a:ext cx="7292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Веб-фреймворк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используется в таких крупных и известных интернет-проектах, как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Instagram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Mozilla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Pinterest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YouTube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Google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и др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95C9C-C3A0-4773-BDAA-FBD52A7995FD}"/>
              </a:ext>
            </a:extLst>
          </p:cNvPr>
          <p:cNvSpPr txBox="1"/>
          <p:nvPr/>
        </p:nvSpPr>
        <p:spPr>
          <a:xfrm>
            <a:off x="1256369" y="4247259"/>
            <a:ext cx="729289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Также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используется в качестве веб-компонента в различных проектах, таких как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Graphite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— система построения графиков и наблюдения,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FreeNAS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— свободная реализация системы хранения и обмена файлами и др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3A1C489-B85F-4229-95A7-455D4E895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" y="2982490"/>
            <a:ext cx="364793" cy="36479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6263CDD-8355-4E50-8CDA-6AFB39A49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" y="4434194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4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55246" y="109037"/>
            <a:ext cx="84475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Принципы и методики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Django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600B8-B57E-40E3-8038-30F3606AD2BF}"/>
              </a:ext>
            </a:extLst>
          </p:cNvPr>
          <p:cNvSpPr txBox="1"/>
          <p:nvPr/>
        </p:nvSpPr>
        <p:spPr>
          <a:xfrm>
            <a:off x="1297259" y="1006132"/>
            <a:ext cx="72817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поощряет свободное связывание и строгое разделение частей приложения Если следовать этой философии, то легко вносить изменения в одну конкретную часть приложения без ущерба для остальных частей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C4EF9F-2887-4ED6-AC4E-903FAD303E1A}"/>
              </a:ext>
            </a:extLst>
          </p:cNvPr>
          <p:cNvSpPr txBox="1"/>
          <p:nvPr/>
        </p:nvSpPr>
        <p:spPr>
          <a:xfrm>
            <a:off x="1297259" y="2095474"/>
            <a:ext cx="72817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Сайт на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строится из одного или нескольких приложений, которые рекомендуется делать отчуждаемыми и подключаемыми. Это одно из существенных архитектурных отличий этого фреймворка от некоторых других (например,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Ruby on Rails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). Один из основных принципов фреймворка —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DRY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Don't repeat yourself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3F3070-B0C6-48A8-BFD1-9E2D57199003}"/>
              </a:ext>
            </a:extLst>
          </p:cNvPr>
          <p:cNvSpPr txBox="1"/>
          <p:nvPr/>
        </p:nvSpPr>
        <p:spPr>
          <a:xfrm>
            <a:off x="1297258" y="3400259"/>
            <a:ext cx="7199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Также, в отличие от других фреймворков, обработчики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в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конфигурируются явно при помощи регулярных выражений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563D700-0ADF-4F88-9761-18FAB4BE881F}"/>
              </a:ext>
            </a:extLst>
          </p:cNvPr>
          <p:cNvSpPr/>
          <p:nvPr/>
        </p:nvSpPr>
        <p:spPr>
          <a:xfrm>
            <a:off x="0" y="4228852"/>
            <a:ext cx="9144000" cy="915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0D5CCC-A50E-446A-827D-DAFB8C7A8A79}"/>
              </a:ext>
            </a:extLst>
          </p:cNvPr>
          <p:cNvSpPr txBox="1"/>
          <p:nvPr/>
        </p:nvSpPr>
        <p:spPr>
          <a:xfrm>
            <a:off x="587433" y="4425235"/>
            <a:ext cx="7969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Для работы с базой данных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использует собственный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ORM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в котором модель данных описывается классами Python, и по ней генерируется схема базы данных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63ECC69-6832-4229-B174-AFF8E7CEB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193067"/>
            <a:ext cx="364793" cy="36479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F99BC17-4C3D-4DCE-AEF3-0BB1EEBEF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2390131"/>
            <a:ext cx="364793" cy="36479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C7CB100-E77A-4F82-B47A-2B9AB5F66A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27" y="3479472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1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A7C0CF2-1E4A-405B-BA63-8AF5FB7EB1B5}"/>
              </a:ext>
            </a:extLst>
          </p:cNvPr>
          <p:cNvSpPr/>
          <p:nvPr/>
        </p:nvSpPr>
        <p:spPr>
          <a:xfrm>
            <a:off x="0" y="1256599"/>
            <a:ext cx="4571999" cy="3154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Архитектурная концепция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55104-BD5C-4A71-82CF-E154B53F88B6}"/>
              </a:ext>
            </a:extLst>
          </p:cNvPr>
          <p:cNvSpPr txBox="1"/>
          <p:nvPr/>
        </p:nvSpPr>
        <p:spPr>
          <a:xfrm>
            <a:off x="577549" y="1679698"/>
            <a:ext cx="37356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Три аспекта —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логика доступа к данным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бизнес-логика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и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логика отображения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— совместно составляют концепцию, которую называют шаблоном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Модель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–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Представление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–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Контроллер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(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Mode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l –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View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 –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Controller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MVC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) архитектуры программного обеспечения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012C5E-2D34-4768-AF14-A17DBBECD6DE}"/>
              </a:ext>
            </a:extLst>
          </p:cNvPr>
          <p:cNvSpPr txBox="1"/>
          <p:nvPr/>
        </p:nvSpPr>
        <p:spPr>
          <a:xfrm>
            <a:off x="4773422" y="1310366"/>
            <a:ext cx="37930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В этой концепции термин «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Модель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» относится к логике доступа к данным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термин «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Представление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» – к той части системы, которая определяет, что показать и как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Термин «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Контроллер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» –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 управляющей части системы, которая определяет какое представление надо использовать,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в зависимости от пользовательского ввода, по необходимости получая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доступ к модели</a:t>
            </a:r>
          </a:p>
        </p:txBody>
      </p:sp>
    </p:spTree>
    <p:extLst>
      <p:ext uri="{BB962C8B-B14F-4D97-AF65-F5344CB8AC3E}">
        <p14:creationId xmlns:p14="http://schemas.microsoft.com/office/powerpoint/2010/main" val="3884624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0A7678-DCAC-4103-A68A-1F93968F942B}"/>
              </a:ext>
            </a:extLst>
          </p:cNvPr>
          <p:cNvSpPr/>
          <p:nvPr/>
        </p:nvSpPr>
        <p:spPr>
          <a:xfrm>
            <a:off x="0" y="4013368"/>
            <a:ext cx="9144000" cy="11286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02E0F6B-C9DB-4764-908D-629E545576F4}"/>
              </a:ext>
            </a:extLst>
          </p:cNvPr>
          <p:cNvSpPr/>
          <p:nvPr/>
        </p:nvSpPr>
        <p:spPr>
          <a:xfrm>
            <a:off x="0" y="948607"/>
            <a:ext cx="9144000" cy="819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Архитектурная концепция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28A58-DFD0-4261-9C90-049C4CF3BEF1}"/>
              </a:ext>
            </a:extLst>
          </p:cNvPr>
          <p:cNvSpPr txBox="1"/>
          <p:nvPr/>
        </p:nvSpPr>
        <p:spPr>
          <a:xfrm>
            <a:off x="577549" y="1096700"/>
            <a:ext cx="81129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следует модели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MVC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достаточно близко, т.е., может быть назван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MVC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совместимой средой разработки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5B03E-E39E-45C3-9C05-A40364B6EFEF}"/>
              </a:ext>
            </a:extLst>
          </p:cNvPr>
          <p:cNvSpPr txBox="1"/>
          <p:nvPr/>
        </p:nvSpPr>
        <p:spPr>
          <a:xfrm>
            <a:off x="577548" y="1845534"/>
            <a:ext cx="6280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Вот примерно как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M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используются в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398AA-98B9-4555-92E6-73A4EFA1ECDA}"/>
              </a:ext>
            </a:extLst>
          </p:cNvPr>
          <p:cNvSpPr txBox="1"/>
          <p:nvPr/>
        </p:nvSpPr>
        <p:spPr>
          <a:xfrm>
            <a:off x="1196899" y="2238598"/>
            <a:ext cx="7404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accent1"/>
                </a:solidFill>
                <a:latin typeface="+mn-lt"/>
              </a:rPr>
              <a:t>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- доступ к данным, обрабатывается слоем работы с базой данных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3E4136-017A-4205-8F0E-B25C23F83E39}"/>
              </a:ext>
            </a:extLst>
          </p:cNvPr>
          <p:cNvSpPr txBox="1"/>
          <p:nvPr/>
        </p:nvSpPr>
        <p:spPr>
          <a:xfrm>
            <a:off x="1196898" y="2594492"/>
            <a:ext cx="7404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accent1"/>
                </a:solidFill>
                <a:latin typeface="+mn-lt"/>
              </a:rPr>
              <a:t>V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- определяет какие данные получать и как их отображать, обрабатывается представлениями и шаблонами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BF19D-F8E3-438D-8316-851BFD095313}"/>
              </a:ext>
            </a:extLst>
          </p:cNvPr>
          <p:cNvSpPr txBox="1"/>
          <p:nvPr/>
        </p:nvSpPr>
        <p:spPr>
          <a:xfrm>
            <a:off x="1196899" y="3164112"/>
            <a:ext cx="74044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accent1"/>
                </a:solidFill>
                <a:latin typeface="+mn-lt"/>
              </a:rPr>
              <a:t>C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- выбирает представление в зависимости от пользовательского ввода, обрабатывается самой средой разработки, следуя созданной разработчиком схеме URL, и вызывает соответствующую функцию Python для указанного URL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ABD010-B562-4077-AE3E-4E9BFD632971}"/>
              </a:ext>
            </a:extLst>
          </p:cNvPr>
          <p:cNvSpPr txBox="1"/>
          <p:nvPr/>
        </p:nvSpPr>
        <p:spPr>
          <a:xfrm>
            <a:off x="577548" y="4100651"/>
            <a:ext cx="8023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Контроллер классической модели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MVC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примерно соответствует уровню, который в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называется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Представление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), а презентационная логика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Представления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реализуется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уровнем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Шаблонов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Template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). Из-за этого архитектуру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часто называют «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Модель-Шаблон-Представление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»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MTV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59DEFAF-4F17-4F1C-81B6-EC98CEB83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2203859"/>
            <a:ext cx="364793" cy="36479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9D451EE-7C63-4BD3-AB77-CCC0F663A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2672468"/>
            <a:ext cx="364793" cy="36479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5608D67-27BE-4984-98E3-F5812E12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3354221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3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Как работает интернет-сайт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203C5E9A-AAE7-4175-8E5A-9BAEA2AF1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070" y="975477"/>
            <a:ext cx="5709859" cy="39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1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CC1B846-1068-4B9C-8618-CA6905E6C55A}"/>
              </a:ext>
            </a:extLst>
          </p:cNvPr>
          <p:cNvSpPr/>
          <p:nvPr/>
        </p:nvSpPr>
        <p:spPr>
          <a:xfrm>
            <a:off x="0" y="2795588"/>
            <a:ext cx="9144000" cy="819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7CA712D-B192-4DB6-AC2D-65B98B4CAC2A}"/>
              </a:ext>
            </a:extLst>
          </p:cNvPr>
          <p:cNvSpPr/>
          <p:nvPr/>
        </p:nvSpPr>
        <p:spPr>
          <a:xfrm>
            <a:off x="0" y="1369778"/>
            <a:ext cx="9144000" cy="8194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Как работает интернет-сайт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810E98-1075-473E-A2B0-3BB413818968}"/>
              </a:ext>
            </a:extLst>
          </p:cNvPr>
          <p:cNvSpPr txBox="1"/>
          <p:nvPr/>
        </p:nvSpPr>
        <p:spPr>
          <a:xfrm>
            <a:off x="577549" y="848321"/>
            <a:ext cx="79187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Веб-сайт фактически представляет собой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группу файлов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сохраненных на жестком диске. Эти файлы содержат компьютерный код, называемый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321F1-AB70-4E37-987D-5FF0E75A8E40}"/>
              </a:ext>
            </a:extLst>
          </p:cNvPr>
          <p:cNvSpPr txBox="1"/>
          <p:nvPr/>
        </p:nvSpPr>
        <p:spPr>
          <a:xfrm>
            <a:off x="577549" y="1517871"/>
            <a:ext cx="79187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tx1"/>
                </a:solidFill>
                <a:latin typeface="+mn-lt"/>
              </a:rPr>
              <a:t>HTML-файл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как любой другой тип файла, необходимо хранить на жестком диске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Веб-сервера обслуживают обращения к этим файлам по протоколу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HTTP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8D4C8-C9E3-4A72-B5B2-78FC5D53F316}"/>
              </a:ext>
            </a:extLst>
          </p:cNvPr>
          <p:cNvSpPr txBox="1"/>
          <p:nvPr/>
        </p:nvSpPr>
        <p:spPr>
          <a:xfrm>
            <a:off x="577549" y="2261553"/>
            <a:ext cx="80237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Простейшая аналогия -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почта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Если нужно получить ответ от кого-то (например, от сайта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google.com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), то нужно послать письмо с запросом. Тогда в ответ придет письмо с ответом (контентом сайта)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85F1F-7F64-4621-B040-F4E076077646}"/>
              </a:ext>
            </a:extLst>
          </p:cNvPr>
          <p:cNvSpPr txBox="1"/>
          <p:nvPr/>
        </p:nvSpPr>
        <p:spPr>
          <a:xfrm>
            <a:off x="577549" y="2943681"/>
            <a:ext cx="7988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Вместо адресов с названием улицы, города, почтового индекса и названия страны используются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IP-адреса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192059-6577-4C3D-94C2-58A70A8A3FB0}"/>
              </a:ext>
            </a:extLst>
          </p:cNvPr>
          <p:cNvSpPr txBox="1"/>
          <p:nvPr/>
        </p:nvSpPr>
        <p:spPr>
          <a:xfrm>
            <a:off x="577549" y="3734577"/>
            <a:ext cx="8023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Компьютер сначала отправляет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DNS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Domain Name System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) запрос, чтоб перевести имя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google.com </a:t>
            </a:r>
          </a:p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в 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IP-адрес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. Это работает примерно как в случае старых телефонных книг, где можно по имени человека, </a:t>
            </a:r>
          </a:p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с которым нужно связаться, найти его номер телефона и адрес. В роли таких книг выступают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DNS-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сервера, которые возвращают компьютеру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IP-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адрес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, соответствующий имени в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DNS-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запросе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. Компьютер отправляет на это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IP-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адрес 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HTTP</a:t>
            </a:r>
            <a:r>
              <a:rPr lang="ru-RU" sz="1200" b="1" dirty="0">
                <a:solidFill>
                  <a:schemeClr val="tx1"/>
                </a:solidFill>
                <a:latin typeface="+mn-lt"/>
              </a:rPr>
              <a:t>-запрос</a:t>
            </a:r>
            <a:r>
              <a:rPr lang="ru-RU" sz="1200" dirty="0">
                <a:solidFill>
                  <a:schemeClr val="tx1"/>
                </a:solidFill>
                <a:latin typeface="+mn-lt"/>
              </a:rPr>
              <a:t>. Запрос приходит на веб-сервер и передается на обработку установленной </a:t>
            </a:r>
          </a:p>
          <a:p>
            <a:r>
              <a:rPr lang="ru-RU" sz="1200" dirty="0">
                <a:solidFill>
                  <a:schemeClr val="tx1"/>
                </a:solidFill>
                <a:latin typeface="+mn-lt"/>
              </a:rPr>
              <a:t>на сервере системе</a:t>
            </a:r>
          </a:p>
        </p:txBody>
      </p:sp>
    </p:spTree>
    <p:extLst>
      <p:ext uri="{BB962C8B-B14F-4D97-AF65-F5344CB8AC3E}">
        <p14:creationId xmlns:p14="http://schemas.microsoft.com/office/powerpoint/2010/main" val="961058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Проект веб-сайта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7E8BDB09-F5D3-4627-8D30-76EA812D2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1025501"/>
            <a:ext cx="791875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Задача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back-end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разработчика состоит в создании системы на веб-сервере, которая будет обрабатывать поступающие запросы. Фреймворк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позволяет упростить эту задачу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устанавливается при помощи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pip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ECBCC60-9CB2-41B6-BF44-5D60AD7E53C9}"/>
              </a:ext>
            </a:extLst>
          </p:cNvPr>
          <p:cNvSpPr/>
          <p:nvPr/>
        </p:nvSpPr>
        <p:spPr>
          <a:xfrm>
            <a:off x="684213" y="2191338"/>
            <a:ext cx="4550255" cy="9541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// устанавливаем </a:t>
            </a:r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Django</a:t>
            </a:r>
            <a:endParaRPr lang="ru-RU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pip3 install django</a:t>
            </a: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// </a:t>
            </a:r>
            <a:r>
              <a:rPr lang="ru-RU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проверяем версию</a:t>
            </a: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python3 -c "import django; print(django.get_version())"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523D9711-CE31-4733-95C8-781FA161C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49" y="3388090"/>
            <a:ext cx="83529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включает несколько утилит, позволяющих создать каркас будущего сайта: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AFE561D-9DEF-4225-88A9-CAAC3C92A3F6}"/>
              </a:ext>
            </a:extLst>
          </p:cNvPr>
          <p:cNvSpPr/>
          <p:nvPr/>
        </p:nvSpPr>
        <p:spPr>
          <a:xfrm>
            <a:off x="684213" y="3845308"/>
            <a:ext cx="3146958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// создаем проект в текущей директории</a:t>
            </a:r>
          </a:p>
          <a:p>
            <a:r>
              <a:rPr lang="ru-RU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django-admin startproject coolsite</a:t>
            </a:r>
          </a:p>
        </p:txBody>
      </p:sp>
    </p:spTree>
    <p:extLst>
      <p:ext uri="{BB962C8B-B14F-4D97-AF65-F5344CB8AC3E}">
        <p14:creationId xmlns:p14="http://schemas.microsoft.com/office/powerpoint/2010/main" val="3015996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Проект веб-сайта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B66E87C4-8D75-424B-A7F9-2A95D7E2A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0" y="826440"/>
            <a:ext cx="83529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Команда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startproject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создает систему директорий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8A5F7BE-C8B3-4A9B-9FEC-952AD7E36D8B}"/>
              </a:ext>
            </a:extLst>
          </p:cNvPr>
          <p:cNvSpPr/>
          <p:nvPr/>
        </p:nvSpPr>
        <p:spPr>
          <a:xfrm>
            <a:off x="674187" y="1217032"/>
            <a:ext cx="1407368" cy="13849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cool_site/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manage.py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coolsite/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    __init__.py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    settings.py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    urls.py</a:t>
            </a:r>
          </a:p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    wsgi.py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D6066A-D02F-46A6-92FC-899DFDAA709D}"/>
              </a:ext>
            </a:extLst>
          </p:cNvPr>
          <p:cNvSpPr txBox="1"/>
          <p:nvPr/>
        </p:nvSpPr>
        <p:spPr>
          <a:xfrm>
            <a:off x="684213" y="2675849"/>
            <a:ext cx="78120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accent1"/>
                </a:solidFill>
                <a:latin typeface="+mn-lt"/>
              </a:rPr>
              <a:t>manage.py</a:t>
            </a:r>
            <a:r>
              <a:rPr lang="ru-RU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–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c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крипт, позволяющий взаимодействовать с проектом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каталог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coolsite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- это пакет Python нашего проекта; его название – это название пакета Python, которое будет использоваться для импорта чего-либо из проекта (например,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coolsite.urls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E5070-6F2E-4C6E-A604-7B2612BE77F6}"/>
              </a:ext>
            </a:extLst>
          </p:cNvPr>
          <p:cNvSpPr txBox="1"/>
          <p:nvPr/>
        </p:nvSpPr>
        <p:spPr>
          <a:xfrm>
            <a:off x="684213" y="3773002"/>
            <a:ext cx="78120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accent1"/>
                </a:solidFill>
                <a:latin typeface="+mn-lt"/>
              </a:rPr>
              <a:t>coolsite/settings.py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–</a:t>
            </a:r>
            <a:r>
              <a:rPr lang="ru-RU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настройки/конфигурация проекта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65BF29-B46E-40F9-9DBE-F691859ABE0D}"/>
              </a:ext>
            </a:extLst>
          </p:cNvPr>
          <p:cNvSpPr txBox="1"/>
          <p:nvPr/>
        </p:nvSpPr>
        <p:spPr>
          <a:xfrm>
            <a:off x="674187" y="4223825"/>
            <a:ext cx="83529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accent1"/>
                </a:solidFill>
                <a:latin typeface="+mn-lt"/>
              </a:rPr>
              <a:t>coolsite/urls.py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– конфигурация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URL-ов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для нашего проекта; это контент всех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Django-сайтов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EBF49D-2299-43DB-996D-4BFF183386CC}"/>
              </a:ext>
            </a:extLst>
          </p:cNvPr>
          <p:cNvSpPr txBox="1"/>
          <p:nvPr/>
        </p:nvSpPr>
        <p:spPr>
          <a:xfrm>
            <a:off x="691170" y="4674648"/>
            <a:ext cx="778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chemeClr val="accent1"/>
                </a:solidFill>
                <a:latin typeface="+mn-lt"/>
              </a:rPr>
              <a:t>coolsite/wsgi.py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–</a:t>
            </a:r>
            <a:r>
              <a:rPr lang="ru-RU" sz="1400" b="1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точка входа в проект для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WSGI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-с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овместимых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веб-серверов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07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8023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Настройка часового пояса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C7C4B-57E8-4B24-9446-30CCA0CC1881}"/>
              </a:ext>
            </a:extLst>
          </p:cNvPr>
          <p:cNvSpPr txBox="1"/>
          <p:nvPr/>
        </p:nvSpPr>
        <p:spPr>
          <a:xfrm>
            <a:off x="577549" y="923082"/>
            <a:ext cx="7843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Для начала установим корректный часовой пояс на сайте</a:t>
            </a:r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A071F08F-9994-458C-87B6-AD906DD146DF}"/>
              </a:ext>
            </a:extLst>
          </p:cNvPr>
          <p:cNvGrpSpPr/>
          <p:nvPr/>
        </p:nvGrpSpPr>
        <p:grpSpPr>
          <a:xfrm>
            <a:off x="684213" y="1406553"/>
            <a:ext cx="7736359" cy="584775"/>
            <a:chOff x="684213" y="1361949"/>
            <a:chExt cx="7736359" cy="58477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BD919C-9FF4-4161-868D-D66AD512EE9E}"/>
                </a:ext>
              </a:extLst>
            </p:cNvPr>
            <p:cNvSpPr txBox="1"/>
            <p:nvPr/>
          </p:nvSpPr>
          <p:spPr>
            <a:xfrm>
              <a:off x="1364166" y="1361949"/>
              <a:ext cx="705640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В файле settings.py находим строку, содержащую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TIME_ZONE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, </a:t>
              </a:r>
            </a:p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и модифицируем ее в соответствии со нашим часовым поясом</a:t>
              </a: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13B3E3FB-A4A1-4332-B026-DD96CDCC3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1471940"/>
              <a:ext cx="364793" cy="364793"/>
            </a:xfrm>
            <a:prstGeom prst="rect">
              <a:avLst/>
            </a:prstGeom>
          </p:spPr>
        </p:pic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03E77813-016E-4B16-9AED-6C0913C987F6}"/>
              </a:ext>
            </a:extLst>
          </p:cNvPr>
          <p:cNvGrpSpPr/>
          <p:nvPr/>
        </p:nvGrpSpPr>
        <p:grpSpPr>
          <a:xfrm>
            <a:off x="684213" y="2204136"/>
            <a:ext cx="7736359" cy="584775"/>
            <a:chOff x="684213" y="2156252"/>
            <a:chExt cx="7736359" cy="58477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2439EA2-BC55-4136-ABE3-8E62EAE6CC85}"/>
                </a:ext>
              </a:extLst>
            </p:cNvPr>
            <p:cNvSpPr txBox="1"/>
            <p:nvPr/>
          </p:nvSpPr>
          <p:spPr>
            <a:xfrm>
              <a:off x="1364165" y="2156252"/>
              <a:ext cx="705640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Нам также необходимо добавить в настройки информацию </a:t>
              </a:r>
            </a:p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о расположении статических файлов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48858DB8-86F4-4C8D-B1F1-1403BAA54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2266243"/>
              <a:ext cx="364793" cy="364793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6CF737D-CB41-4DDF-B276-737C28CB6067}"/>
              </a:ext>
            </a:extLst>
          </p:cNvPr>
          <p:cNvGrpSpPr/>
          <p:nvPr/>
        </p:nvGrpSpPr>
        <p:grpSpPr>
          <a:xfrm>
            <a:off x="684213" y="3001719"/>
            <a:ext cx="7604859" cy="584775"/>
            <a:chOff x="684213" y="2957115"/>
            <a:chExt cx="7604859" cy="58477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3AFBCE-8468-4569-ACA0-AACA44A99CFF}"/>
                </a:ext>
              </a:extLst>
            </p:cNvPr>
            <p:cNvSpPr txBox="1"/>
            <p:nvPr/>
          </p:nvSpPr>
          <p:spPr>
            <a:xfrm>
              <a:off x="1364165" y="2957115"/>
              <a:ext cx="692490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В конце файла и после переменной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STATIC_URL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добавляем новую переменную –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STATIC_ROOT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79341E5E-4866-4FFE-8694-F096AA409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3067106"/>
              <a:ext cx="364793" cy="364793"/>
            </a:xfrm>
            <a:prstGeom prst="rect">
              <a:avLst/>
            </a:prstGeom>
          </p:spPr>
        </p:pic>
      </p:grpSp>
      <p:sp>
        <p:nvSpPr>
          <p:cNvPr id="22" name="Rectangle 1">
            <a:extLst>
              <a:ext uri="{FF2B5EF4-FFF2-40B4-BE49-F238E27FC236}">
                <a16:creationId xmlns:a16="http://schemas.microsoft.com/office/drawing/2014/main" id="{4B68A0D4-F9BF-4809-B06B-71EE30906158}"/>
              </a:ext>
            </a:extLst>
          </p:cNvPr>
          <p:cNvSpPr/>
          <p:nvPr/>
        </p:nvSpPr>
        <p:spPr>
          <a:xfrm>
            <a:off x="684213" y="3787968"/>
            <a:ext cx="3973779" cy="9541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n-lt"/>
              </a:rPr>
              <a:t>TIME_ZONE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=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'Europe/Moscow' </a:t>
            </a:r>
          </a:p>
          <a:p>
            <a:r>
              <a:rPr lang="en-US" sz="1400" dirty="0">
                <a:solidFill>
                  <a:schemeClr val="accent1"/>
                </a:solidFill>
                <a:latin typeface="+mn-lt"/>
              </a:rPr>
              <a:t># ... </a:t>
            </a:r>
          </a:p>
          <a:p>
            <a:r>
              <a:rPr lang="en-US" sz="1400" dirty="0">
                <a:solidFill>
                  <a:schemeClr val="accent1"/>
                </a:solidFill>
                <a:latin typeface="+mn-lt"/>
              </a:rPr>
              <a:t>STATIC_URL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=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'/static/' </a:t>
            </a:r>
          </a:p>
          <a:p>
            <a:r>
              <a:rPr lang="en-US" sz="1400" dirty="0">
                <a:solidFill>
                  <a:schemeClr val="accent1"/>
                </a:solidFill>
                <a:latin typeface="+mn-lt"/>
              </a:rPr>
              <a:t>STATIC_ROOT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=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os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.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path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.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join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(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BASE_DIR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,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'static'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)</a:t>
            </a:r>
            <a:endParaRPr lang="en-US" sz="1400" dirty="0">
              <a:solidFill>
                <a:schemeClr val="accent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133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46207"/>
            <a:ext cx="8023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accent3"/>
                </a:solidFill>
                <a:latin typeface="+mj-lt"/>
              </a:rPr>
              <a:t>Дополнительная настройка для Windows (Django-2.1.4)</a:t>
            </a:r>
            <a:endParaRPr lang="ru-RU" sz="3600" dirty="0">
              <a:solidFill>
                <a:schemeClr val="accent3"/>
              </a:solidFill>
              <a:latin typeface="+mj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9EE02C7-0AA3-4014-8E2D-74CCF9168A1B}"/>
              </a:ext>
            </a:extLst>
          </p:cNvPr>
          <p:cNvGrpSpPr/>
          <p:nvPr/>
        </p:nvGrpSpPr>
        <p:grpSpPr>
          <a:xfrm>
            <a:off x="577549" y="1431222"/>
            <a:ext cx="4670523" cy="3441013"/>
            <a:chOff x="577549" y="1386618"/>
            <a:chExt cx="4670523" cy="3441013"/>
          </a:xfrm>
        </p:grpSpPr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40647FF9-4FB6-4179-B859-786E45C581EF}"/>
                </a:ext>
              </a:extLst>
            </p:cNvPr>
            <p:cNvSpPr/>
            <p:nvPr/>
          </p:nvSpPr>
          <p:spPr>
            <a:xfrm>
              <a:off x="577549" y="1386618"/>
              <a:ext cx="4670523" cy="17851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MIDDLEWARE_CLASSES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[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'django.middleware.security.SecurityMiddleware'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'django.contrib.sessions.middleware.SessionMiddleware'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'django.middleware.common.CommonMiddleware'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'django.middleware.csrf.CsrfViewMiddleware'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'django.contrib.auth.middleware.AuthenticationMiddleware'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'django.contrib.auth.middleware.SessionAuthenticationMiddleware'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'django.contrib.messages.middleware.MessageMiddleware'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'django.middleware.clickjacking.XFrameOptionsMiddleware'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]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endParaRPr lang="en-US" sz="1100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C500A953-8CB0-4CCA-BD0D-CA8A7FCE6F6F}"/>
                </a:ext>
              </a:extLst>
            </p:cNvPr>
            <p:cNvSpPr/>
            <p:nvPr/>
          </p:nvSpPr>
          <p:spPr>
            <a:xfrm>
              <a:off x="577549" y="3211804"/>
              <a:ext cx="4239343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MIDDLEWARE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=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[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'django.contrib.sessions.middleware.SessionMiddleware'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'django.middleware.common.CommonMiddleware'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'django.middleware.csrf.CsrfViewMiddleware'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'django.contrib.auth.middleware.AuthenticationMiddleware'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'django.contrib.messages.middleware.MessageMiddleware'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'django.middleware.clickjacking.XFrameOptionsMiddleware'</a:t>
              </a:r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,</a:t>
              </a:r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r>
                <a:rPr lang="en-US" sz="1100" dirty="0">
                  <a:solidFill>
                    <a:schemeClr val="tx1"/>
                  </a:solidFill>
                  <a:latin typeface="+mn-lt"/>
                </a:rPr>
                <a:t>    'django.middleware.security.SecurityMiddleware' </a:t>
              </a:r>
            </a:p>
            <a:p>
              <a:r>
                <a:rPr lang="en-US" sz="1100" b="1" dirty="0">
                  <a:solidFill>
                    <a:schemeClr val="tx1"/>
                  </a:solidFill>
                  <a:latin typeface="+mn-lt"/>
                </a:rPr>
                <a:t>]</a:t>
              </a:r>
              <a:endParaRPr lang="en-US" sz="1100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2683DF6E-E604-4958-B8F0-6D73D8C8B107}"/>
              </a:ext>
            </a:extLst>
          </p:cNvPr>
          <p:cNvGrpSpPr/>
          <p:nvPr/>
        </p:nvGrpSpPr>
        <p:grpSpPr>
          <a:xfrm>
            <a:off x="5560741" y="2153119"/>
            <a:ext cx="3583260" cy="1997219"/>
            <a:chOff x="5560741" y="2074838"/>
            <a:chExt cx="3583260" cy="1997219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564E8C5A-F63E-401E-8CE0-81CA5A0C8EC3}"/>
                </a:ext>
              </a:extLst>
            </p:cNvPr>
            <p:cNvSpPr/>
            <p:nvPr/>
          </p:nvSpPr>
          <p:spPr>
            <a:xfrm>
              <a:off x="5560741" y="2074838"/>
              <a:ext cx="3583260" cy="19972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BA8E3DF9-6519-4D18-A90A-542BD48B4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8227" y="2165506"/>
              <a:ext cx="3085844" cy="1815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dirty="0">
                  <a:solidFill>
                    <a:schemeClr val="bg1"/>
                  </a:solidFill>
                  <a:latin typeface="+mn-lt"/>
                </a:rPr>
                <a:t>В прототипе сайта, предоставляемой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Django</a:t>
              </a:r>
              <a:r>
                <a:rPr lang="en-US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ru-RU" dirty="0">
                  <a:solidFill>
                    <a:schemeClr val="bg1"/>
                  </a:solidFill>
                  <a:latin typeface="+mn-lt"/>
                </a:rPr>
                <a:t>для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Windows</a:t>
              </a:r>
              <a:r>
                <a:rPr lang="en-US" dirty="0">
                  <a:solidFill>
                    <a:schemeClr val="bg1"/>
                  </a:solidFill>
                  <a:latin typeface="+mn-lt"/>
                </a:rPr>
                <a:t> </a:t>
              </a:r>
              <a:r>
                <a:rPr lang="ru-RU" dirty="0">
                  <a:solidFill>
                    <a:schemeClr val="bg1"/>
                  </a:solidFill>
                  <a:latin typeface="+mn-lt"/>
                </a:rPr>
                <a:t>существуют некоторые недоработки.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dirty="0">
                  <a:solidFill>
                    <a:schemeClr val="bg1"/>
                  </a:solidFill>
                  <a:latin typeface="+mn-lt"/>
                </a:rPr>
                <a:t>Для их устранения в файле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settings.py </a:t>
              </a:r>
              <a:r>
                <a:rPr lang="ru-RU" dirty="0">
                  <a:solidFill>
                    <a:schemeClr val="bg1"/>
                  </a:solidFill>
                  <a:latin typeface="+mn-lt"/>
                </a:rPr>
                <a:t>надо заменить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MIDDLEWARE_CLASSES </a:t>
              </a:r>
              <a:endParaRPr lang="ru-RU" b="1" dirty="0">
                <a:solidFill>
                  <a:schemeClr val="bg1"/>
                </a:solidFill>
                <a:latin typeface="+mn-lt"/>
              </a:endParaRP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dirty="0">
                  <a:solidFill>
                    <a:schemeClr val="bg1"/>
                  </a:solidFill>
                  <a:latin typeface="+mn-lt"/>
                </a:rPr>
                <a:t>на </a:t>
              </a:r>
              <a:r>
                <a:rPr lang="en-US" b="1" dirty="0">
                  <a:solidFill>
                    <a:schemeClr val="bg1"/>
                  </a:solidFill>
                  <a:latin typeface="+mn-lt"/>
                </a:rPr>
                <a:t>MIDDLEWARE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756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09037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Запуск прототипа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43BD0AFC-3E75-4C87-9B04-9CFB88919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83" y="878478"/>
            <a:ext cx="835292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Попробуем запустить получившийся прототип веб-сервера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F390374C-7953-4666-BB8B-F7B892524EBF}"/>
              </a:ext>
            </a:extLst>
          </p:cNvPr>
          <p:cNvSpPr/>
          <p:nvPr/>
        </p:nvSpPr>
        <p:spPr>
          <a:xfrm>
            <a:off x="684213" y="1282955"/>
            <a:ext cx="2340137" cy="27699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sz="12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runserver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F17E69F9-7069-4A5C-BCE5-21D54AD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83" y="1713081"/>
            <a:ext cx="796428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Можно попробовать зайти на сайт, набрав в браузере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http://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127.0.0.1:8000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Важное замечание: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НИКОГДА НЕ ИСПОЛЬЗУЙТЕ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этот сервер на реальном сайте, он создан исключительно для разработки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Кстати, посмотрите на настройку базы данных, используемой по умолчанию (понятно, что сайт без БД практически бесполезен), в файле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settings.py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используется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sqlite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работающая через файл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db.sqlite3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E848DF1-F03B-4C73-A92D-27013E75ADA3}"/>
              </a:ext>
            </a:extLst>
          </p:cNvPr>
          <p:cNvSpPr/>
          <p:nvPr/>
        </p:nvSpPr>
        <p:spPr>
          <a:xfrm>
            <a:off x="592853" y="3313771"/>
            <a:ext cx="8345057" cy="167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Database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en-US" sz="1200" u="sng" dirty="0">
                <a:solidFill>
                  <a:srgbClr val="008000"/>
                </a:solidFill>
                <a:latin typeface="+mn-lt"/>
              </a:rPr>
              <a:t>https://docs.djangoproject.com/en/2.1/ref/settings/#databases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5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DATABASES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'default'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'ENGINE'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'django.db.backends.sqlite3'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'NAME'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os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path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join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BASE_DIR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'db.sqlite3'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}</a:t>
            </a:r>
            <a:endParaRPr lang="en-US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2273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436302" y="109037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Приложения в проекте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Django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B354C-BEAA-4231-9532-D80A04EC250B}"/>
              </a:ext>
            </a:extLst>
          </p:cNvPr>
          <p:cNvSpPr txBox="1"/>
          <p:nvPr/>
        </p:nvSpPr>
        <p:spPr>
          <a:xfrm>
            <a:off x="607287" y="1435503"/>
            <a:ext cx="79410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Теперь, после создания окружения для нашего проекта, можно заняться его наполнением.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позволяет создать структуру, в которой будут выполняться созданные разработчиком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web-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приложения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которые предоставляют посетителям сайта определенный функционал – например,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w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eb-блог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просто хранилище каких-то записей или приложение для голосования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17F9D9E-DC7A-49EB-BC27-93C96A77F21D}"/>
              </a:ext>
            </a:extLst>
          </p:cNvPr>
          <p:cNvSpPr/>
          <p:nvPr/>
        </p:nvSpPr>
        <p:spPr>
          <a:xfrm>
            <a:off x="0" y="2974004"/>
            <a:ext cx="9144000" cy="12560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3C877-D0E1-4AEA-A3F7-693010CFB849}"/>
              </a:ext>
            </a:extLst>
          </p:cNvPr>
          <p:cNvSpPr txBox="1"/>
          <p:nvPr/>
        </p:nvSpPr>
        <p:spPr>
          <a:xfrm>
            <a:off x="607287" y="3186517"/>
            <a:ext cx="81278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1"/>
                </a:solidFill>
                <a:latin typeface="+mn-lt"/>
              </a:rPr>
              <a:t>Проект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– это совокупность приложений и конфигурации сайта. Проект может содержать несколько приложений. Приложение может использоваться несколькими проектами</a:t>
            </a:r>
          </a:p>
        </p:txBody>
      </p:sp>
    </p:spTree>
    <p:extLst>
      <p:ext uri="{BB962C8B-B14F-4D97-AF65-F5344CB8AC3E}">
        <p14:creationId xmlns:p14="http://schemas.microsoft.com/office/powerpoint/2010/main" val="2072351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436302" y="109037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Приложения в проекте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Django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4BEB9397-61C9-492F-BE5A-C212C0C9D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692" y="984227"/>
            <a:ext cx="8295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создания приложения, находясь в том же каталоге, что и файл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manage.py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выполняем команду: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D0D2366-1D3E-45FE-B75B-92997885AB5D}"/>
              </a:ext>
            </a:extLst>
          </p:cNvPr>
          <p:cNvSpPr/>
          <p:nvPr/>
        </p:nvSpPr>
        <p:spPr>
          <a:xfrm>
            <a:off x="684213" y="1741657"/>
            <a:ext cx="3968755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// создаем каталог приложения coolapp</a:t>
            </a:r>
          </a:p>
          <a:p>
            <a:r>
              <a:rPr lang="ru-RU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python3 manage.py startapp coolapp</a:t>
            </a:r>
          </a:p>
          <a:p>
            <a:endParaRPr lang="ru-RU" sz="16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coolapp/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__init__.py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admin.py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apps.py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migrations/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    __init__.py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models.py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tests.py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   views.py</a:t>
            </a:r>
            <a:endParaRPr lang="ru-RU" sz="16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60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Создание представления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9384F7E-C34E-499D-B014-A082A750472A}"/>
              </a:ext>
            </a:extLst>
          </p:cNvPr>
          <p:cNvSpPr/>
          <p:nvPr/>
        </p:nvSpPr>
        <p:spPr>
          <a:xfrm>
            <a:off x="4572000" y="1082040"/>
            <a:ext cx="4572000" cy="40837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567AFB-A0A8-49CC-BA4A-539D3164B8F0}"/>
              </a:ext>
            </a:extLst>
          </p:cNvPr>
          <p:cNvSpPr/>
          <p:nvPr/>
        </p:nvSpPr>
        <p:spPr>
          <a:xfrm>
            <a:off x="0" y="1082040"/>
            <a:ext cx="4572000" cy="40837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759752B-8E42-42F1-8F3F-249CDB576F5B}"/>
              </a:ext>
            </a:extLst>
          </p:cNvPr>
          <p:cNvGrpSpPr/>
          <p:nvPr/>
        </p:nvGrpSpPr>
        <p:grpSpPr>
          <a:xfrm>
            <a:off x="577551" y="1874025"/>
            <a:ext cx="4303291" cy="2499792"/>
            <a:chOff x="577551" y="1664514"/>
            <a:chExt cx="4303291" cy="2499792"/>
          </a:xfrm>
        </p:grpSpPr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8A2FE321-0F14-46E2-9005-56B25DC7ED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51" y="1664514"/>
              <a:ext cx="379372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Для создания представления откроем файл </a:t>
              </a:r>
              <a:r>
                <a:rPr lang="ru-RU" sz="1800" b="1" dirty="0">
                  <a:solidFill>
                    <a:schemeClr val="tx1"/>
                  </a:solidFill>
                  <a:latin typeface="+mn-lt"/>
                </a:rPr>
                <a:t>coolapp/views.py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и добавим</a:t>
              </a:r>
              <a:r>
                <a:rPr lang="en-US" sz="18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в него следующий код:</a:t>
              </a:r>
              <a:endParaRPr lang="en-US" sz="18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52FAA66E-08BB-4BF5-B4A1-5EBC930DAB76}"/>
                </a:ext>
              </a:extLst>
            </p:cNvPr>
            <p:cNvSpPr/>
            <p:nvPr/>
          </p:nvSpPr>
          <p:spPr>
            <a:xfrm>
              <a:off x="577551" y="2840867"/>
              <a:ext cx="4303291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u-RU" sz="1600" dirty="0">
                  <a:solidFill>
                    <a:srgbClr val="008000"/>
                  </a:solidFill>
                  <a:latin typeface="+mn-lt"/>
                </a:rPr>
                <a:t># файл </a:t>
              </a:r>
              <a:r>
                <a:rPr lang="en-US" sz="1600" dirty="0">
                  <a:solidFill>
                    <a:srgbClr val="008000"/>
                  </a:solidFill>
                  <a:latin typeface="+mn-lt"/>
                </a:rPr>
                <a:t>coolapp/views.py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django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http </a:t>
              </a:r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HttpResponse </a:t>
              </a:r>
            </a:p>
            <a:p>
              <a:endParaRPr lang="en-US" sz="1600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dirty="0">
                  <a:solidFill>
                    <a:srgbClr val="FF00FF"/>
                  </a:solidFill>
                  <a:latin typeface="+mn-lt"/>
                </a:rPr>
                <a:t>index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request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return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HttpResponse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808080"/>
                  </a:solidFill>
                  <a:latin typeface="+mn-lt"/>
                </a:rPr>
                <a:t>"</a:t>
              </a:r>
              <a:r>
                <a:rPr lang="ru-RU" sz="1600" dirty="0">
                  <a:solidFill>
                    <a:srgbClr val="808080"/>
                  </a:solidFill>
                  <a:latin typeface="+mn-lt"/>
                </a:rPr>
                <a:t>Любой текст"</a:t>
              </a:r>
              <a:r>
                <a:rPr lang="ru-RU" sz="1600" b="1" dirty="0">
                  <a:solidFill>
                    <a:srgbClr val="000080"/>
                  </a:solidFill>
                  <a:latin typeface="+mn-lt"/>
                </a:rPr>
                <a:t>)</a:t>
              </a:r>
              <a:r>
                <a:rPr lang="ru-RU" sz="1600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sz="1600" dirty="0">
                <a:effectLst/>
                <a:latin typeface="+mn-lt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1E84D41-B6CA-41EB-A0B5-CBC33C7363CD}"/>
              </a:ext>
            </a:extLst>
          </p:cNvPr>
          <p:cNvGrpSpPr/>
          <p:nvPr/>
        </p:nvGrpSpPr>
        <p:grpSpPr>
          <a:xfrm>
            <a:off x="4880842" y="1603847"/>
            <a:ext cx="3878456" cy="3040148"/>
            <a:chOff x="4940643" y="1603327"/>
            <a:chExt cx="3466626" cy="3040148"/>
          </a:xfrm>
        </p:grpSpPr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DC27E281-FF48-43F0-8993-38CE6F9FF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0643" y="1603327"/>
              <a:ext cx="3466626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Создадим файл </a:t>
              </a:r>
              <a:r>
                <a:rPr lang="ru-RU" sz="1800" b="1" dirty="0">
                  <a:solidFill>
                    <a:schemeClr val="tx1"/>
                  </a:solidFill>
                  <a:latin typeface="+mn-lt"/>
                </a:rPr>
                <a:t>coolapp/urls.py </a:t>
              </a: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и добавим в него следующий код, чтоб все обращения к </a:t>
              </a:r>
              <a:r>
                <a:rPr lang="ru-RU" sz="1800" b="1" dirty="0">
                  <a:solidFill>
                    <a:schemeClr val="tx1"/>
                  </a:solidFill>
                  <a:latin typeface="+mn-lt"/>
                </a:rPr>
                <a:t>coolapp/urls </a:t>
              </a:r>
              <a:r>
                <a:rPr lang="ru-RU" sz="1800" dirty="0">
                  <a:solidFill>
                    <a:schemeClr val="tx1"/>
                  </a:solidFill>
                  <a:latin typeface="+mn-lt"/>
                </a:rPr>
                <a:t>приводили к вызову </a:t>
              </a:r>
              <a:r>
                <a:rPr lang="en-US" sz="1800" b="1" dirty="0">
                  <a:solidFill>
                    <a:schemeClr val="tx1"/>
                  </a:solidFill>
                  <a:latin typeface="+mn-lt"/>
                </a:rPr>
                <a:t>views.index</a:t>
              </a:r>
              <a:endParaRPr lang="en-US" sz="18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70CAC1FD-E75A-4CDB-A2E3-BB6FFF70804F}"/>
                </a:ext>
              </a:extLst>
            </p:cNvPr>
            <p:cNvSpPr/>
            <p:nvPr/>
          </p:nvSpPr>
          <p:spPr>
            <a:xfrm>
              <a:off x="4940643" y="3073815"/>
              <a:ext cx="3453234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django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urls </a:t>
              </a:r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path </a:t>
              </a:r>
            </a:p>
            <a:p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from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rgbClr val="0000FF"/>
                  </a:solidFill>
                  <a:latin typeface="+mn-lt"/>
                </a:rPr>
                <a:t>import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views </a:t>
              </a:r>
            </a:p>
            <a:p>
              <a:endParaRPr lang="en-US" sz="1600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urlpatterns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[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   path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sz="1600" dirty="0">
                  <a:solidFill>
                    <a:srgbClr val="808080"/>
                  </a:solidFill>
                  <a:latin typeface="+mn-lt"/>
                </a:rPr>
                <a:t>''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views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.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index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name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sz="1600" dirty="0">
                  <a:solidFill>
                    <a:srgbClr val="808080"/>
                  </a:solidFill>
                  <a:latin typeface="+mn-lt"/>
                </a:rPr>
                <a:t>'index'</a:t>
              </a:r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),</a:t>
              </a:r>
              <a:r>
                <a:rPr lang="en-US" sz="1600" dirty="0">
                  <a:solidFill>
                    <a:srgbClr val="000000"/>
                  </a:solidFill>
                  <a:latin typeface="+mn-lt"/>
                </a:rPr>
                <a:t> </a:t>
              </a:r>
            </a:p>
            <a:p>
              <a:r>
                <a:rPr lang="en-US" sz="1600" b="1" dirty="0">
                  <a:solidFill>
                    <a:srgbClr val="000080"/>
                  </a:solidFill>
                  <a:latin typeface="+mn-lt"/>
                </a:rPr>
                <a:t>]</a:t>
              </a:r>
              <a:endParaRPr lang="en-US" sz="1600" dirty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912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Создание представления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465EBC85-169B-4296-8378-D55AB54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872295"/>
            <a:ext cx="8068361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Следующий шаг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– добавление ссылки на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coolapp.urls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главной конфигурации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URL-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ов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000" dirty="0">
              <a:solidFill>
                <a:schemeClr val="tx1"/>
              </a:solidFill>
              <a:latin typeface="+mn-lt"/>
            </a:endParaRPr>
          </a:p>
          <a:p>
            <a:pPr marL="534988"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coolsite/urls.py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добавляем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include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coolapp.urls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список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urlpatterns: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можно использовать объект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устаревший вариант, импортируется из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django.conf.urls.include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)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или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path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(импортируется из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django.urls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marL="534988"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Теперь при обращении к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строке адресации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будут использоваться паттерны из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coolapp.urls</a:t>
            </a:r>
          </a:p>
          <a:p>
            <a:pPr marL="534988" eaLnBrk="1" hangingPunct="1">
              <a:spcBef>
                <a:spcPct val="0"/>
              </a:spcBef>
              <a:buNone/>
            </a:pPr>
            <a:endParaRPr lang="ru-RU" sz="800" dirty="0">
              <a:solidFill>
                <a:schemeClr val="tx1"/>
              </a:solidFill>
              <a:latin typeface="+mn-lt"/>
            </a:endParaRPr>
          </a:p>
          <a:p>
            <a:pPr marL="534988"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Получается следующий код: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96E06B9B-964F-4DB6-AFF6-036989E47158}"/>
              </a:ext>
            </a:extLst>
          </p:cNvPr>
          <p:cNvSpPr/>
          <p:nvPr/>
        </p:nvSpPr>
        <p:spPr>
          <a:xfrm>
            <a:off x="1119796" y="2762448"/>
            <a:ext cx="324404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conf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urls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include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url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urls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path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contrib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admin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dirty="0">
                <a:solidFill>
                  <a:srgbClr val="000000"/>
                </a:solidFill>
                <a:latin typeface="+mn-lt"/>
              </a:rPr>
              <a:t>urlpatterns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path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'admin/'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admin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site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urls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path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include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'coolapp.urls'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)),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]</a:t>
            </a:r>
            <a:endParaRPr lang="en-US" dirty="0">
              <a:effectLst/>
              <a:latin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14E7450-8C34-4E36-B4FB-7D40A5E7D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200227"/>
            <a:ext cx="364793" cy="364793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9085A57-57D8-4133-999F-19A949134CAA}"/>
              </a:ext>
            </a:extLst>
          </p:cNvPr>
          <p:cNvSpPr/>
          <p:nvPr/>
        </p:nvSpPr>
        <p:spPr>
          <a:xfrm>
            <a:off x="4572000" y="2571750"/>
            <a:ext cx="4572000" cy="2338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B87E17F9-D560-4968-9A2F-A32B74F21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565" y="2955993"/>
            <a:ext cx="39308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Проверяем, что получилось, набрав в браузере </a:t>
            </a:r>
            <a:r>
              <a:rPr lang="en-US" sz="1600" dirty="0">
                <a:solidFill>
                  <a:srgbClr val="002060"/>
                </a:solidFill>
                <a:latin typeface="+mn-lt"/>
                <a:hlinkClick r:id="rId4"/>
              </a:rPr>
              <a:t>http://</a:t>
            </a:r>
            <a:r>
              <a:rPr lang="ru-RU" sz="1600" dirty="0">
                <a:solidFill>
                  <a:srgbClr val="002060"/>
                </a:solidFill>
                <a:latin typeface="+mn-lt"/>
                <a:hlinkClick r:id="rId4"/>
              </a:rPr>
              <a:t>127.0.0.1</a:t>
            </a:r>
            <a:r>
              <a:rPr lang="en-US" sz="1600" dirty="0">
                <a:solidFill>
                  <a:srgbClr val="002060"/>
                </a:solidFill>
                <a:latin typeface="+mn-lt"/>
                <a:hlinkClick r:id="rId4"/>
              </a:rPr>
              <a:t>:8000/</a:t>
            </a:r>
            <a:r>
              <a:rPr lang="en-US" sz="1600" dirty="0" err="1">
                <a:solidFill>
                  <a:srgbClr val="002060"/>
                </a:solidFill>
                <a:latin typeface="+mn-lt"/>
                <a:hlinkClick r:id="rId4"/>
              </a:rPr>
              <a:t>coolapp</a:t>
            </a:r>
            <a:r>
              <a:rPr lang="ru-RU" sz="1600" dirty="0">
                <a:solidFill>
                  <a:srgbClr val="002060"/>
                </a:solidFill>
                <a:latin typeface="+mn-lt"/>
                <a:hlinkClick r:id="rId4"/>
              </a:rPr>
              <a:t>/</a:t>
            </a:r>
            <a:endParaRPr lang="ru-RU" sz="1600" dirty="0">
              <a:solidFill>
                <a:srgbClr val="00206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bg1"/>
                </a:solidFill>
                <a:latin typeface="+mn-lt"/>
              </a:rPr>
              <a:t>Вопрос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: как изменить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coolsite/urls.py 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так, чтобы наш текст открывался по </a:t>
            </a:r>
            <a:r>
              <a:rPr lang="en-US" sz="1600" b="1" dirty="0">
                <a:solidFill>
                  <a:schemeClr val="bg1"/>
                </a:solidFill>
                <a:latin typeface="+mn-lt"/>
              </a:rPr>
              <a:t>url</a:t>
            </a:r>
            <a:r>
              <a:rPr lang="ru-RU" sz="1600" dirty="0">
                <a:solidFill>
                  <a:srgbClr val="002060"/>
                </a:solidFill>
                <a:latin typeface="+mn-lt"/>
              </a:rPr>
              <a:t> </a:t>
            </a:r>
            <a:r>
              <a:rPr lang="ru-RU" sz="1600" dirty="0">
                <a:solidFill>
                  <a:srgbClr val="002060"/>
                </a:solidFill>
                <a:latin typeface="+mn-lt"/>
                <a:hlinkClick r:id="rId5"/>
              </a:rPr>
              <a:t>http://127.0.0.1:8000/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, а не по </a:t>
            </a:r>
            <a:r>
              <a:rPr lang="ru-RU" sz="1600" dirty="0">
                <a:solidFill>
                  <a:srgbClr val="002060"/>
                </a:solidFill>
                <a:latin typeface="+mn-lt"/>
                <a:hlinkClick r:id="rId4"/>
              </a:rPr>
              <a:t>http://127.0.0.1:8000/coolapp/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?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3658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Представление и шаблоны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C2F3542-9977-4805-A109-437A2D90E4C4}"/>
              </a:ext>
            </a:extLst>
          </p:cNvPr>
          <p:cNvSpPr/>
          <p:nvPr/>
        </p:nvSpPr>
        <p:spPr>
          <a:xfrm>
            <a:off x="684213" y="4094199"/>
            <a:ext cx="3582987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0000"/>
                </a:solidFill>
                <a:latin typeface="+mn-lt"/>
              </a:rPr>
              <a:t>// пример содержимого 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index.html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dirty="0">
                <a:solidFill>
                  <a:srgbClr val="0000FF"/>
                </a:solidFill>
                <a:latin typeface="+mn-lt"/>
              </a:rPr>
              <a:t>&lt;h1&gt;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Hello everybody!</a:t>
            </a:r>
            <a:r>
              <a:rPr lang="en-US" sz="1600" dirty="0">
                <a:solidFill>
                  <a:srgbClr val="0000FF"/>
                </a:solidFill>
                <a:latin typeface="+mn-lt"/>
              </a:rPr>
              <a:t>&lt;/h1&gt;</a:t>
            </a:r>
            <a:endParaRPr lang="en-US" sz="1600" dirty="0">
              <a:effectLst/>
              <a:latin typeface="+mn-lt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B0C9FB41-4712-4382-83DE-0FF239D92006}"/>
              </a:ext>
            </a:extLst>
          </p:cNvPr>
          <p:cNvGrpSpPr/>
          <p:nvPr/>
        </p:nvGrpSpPr>
        <p:grpSpPr>
          <a:xfrm>
            <a:off x="684213" y="1009922"/>
            <a:ext cx="7812087" cy="954107"/>
            <a:chOff x="684213" y="1002488"/>
            <a:chExt cx="7812087" cy="9541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00828AA-D983-4595-B7F8-50B30F1CF002}"/>
                </a:ext>
              </a:extLst>
            </p:cNvPr>
            <p:cNvSpPr txBox="1"/>
            <p:nvPr/>
          </p:nvSpPr>
          <p:spPr>
            <a:xfrm>
              <a:off x="1100254" y="1002488"/>
              <a:ext cx="739604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В получившейся реализации представление по модели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MVC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(то, что возвращается функцией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views.index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практически неразрывно с контроллером (кодом, управляющим этим представлением).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Чтоб отделить представление от кода, нужно воспользоваться системой шаблонов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Django</a:t>
              </a:r>
              <a:endParaRPr lang="ru-RU" b="1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295141BA-FBF5-43A0-8796-DBE5FC6FA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1297145"/>
              <a:ext cx="364793" cy="364793"/>
            </a:xfrm>
            <a:prstGeom prst="rect">
              <a:avLst/>
            </a:prstGeom>
          </p:spPr>
        </p:pic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02BF09F-ADC9-48E8-A382-6853785CC94D}"/>
              </a:ext>
            </a:extLst>
          </p:cNvPr>
          <p:cNvGrpSpPr/>
          <p:nvPr/>
        </p:nvGrpSpPr>
        <p:grpSpPr>
          <a:xfrm>
            <a:off x="684213" y="2213807"/>
            <a:ext cx="8043475" cy="738664"/>
            <a:chOff x="684213" y="2202418"/>
            <a:chExt cx="8043475" cy="7386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A6A3775-02E6-40D5-B86A-75C4EECFC067}"/>
                </a:ext>
              </a:extLst>
            </p:cNvPr>
            <p:cNvSpPr txBox="1"/>
            <p:nvPr/>
          </p:nvSpPr>
          <p:spPr>
            <a:xfrm>
              <a:off x="1100254" y="2202418"/>
              <a:ext cx="762743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+mn-lt"/>
                </a:rPr>
                <a:t>Создаем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каталог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templates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в каталоге приложения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coolapp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.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Django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будет искать шаблоны в этом каталоге. В только что созданном каталоге 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templates,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создаем каталог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coolapp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и в нем создаем файл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index.html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(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coolapp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/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templates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/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coolapp</a:t>
              </a:r>
              <a:r>
                <a:rPr lang="en-US" sz="1400" dirty="0">
                  <a:solidFill>
                    <a:schemeClr val="tx1"/>
                  </a:solidFill>
                  <a:latin typeface="+mn-lt"/>
                </a:rPr>
                <a:t>/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index.html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2CABE9D1-5382-4F96-B036-95EF1479A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2389354"/>
              <a:ext cx="364793" cy="364793"/>
            </a:xfrm>
            <a:prstGeom prst="rect">
              <a:avLst/>
            </a:prstGeom>
          </p:spPr>
        </p:pic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8551D8A-8597-4A67-A0B6-B4C7BD5B4BF1}"/>
              </a:ext>
            </a:extLst>
          </p:cNvPr>
          <p:cNvGrpSpPr/>
          <p:nvPr/>
        </p:nvGrpSpPr>
        <p:grpSpPr>
          <a:xfrm>
            <a:off x="684213" y="3202248"/>
            <a:ext cx="7812085" cy="523220"/>
            <a:chOff x="684213" y="3194814"/>
            <a:chExt cx="7812085" cy="5232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D1C885C-EB51-4F5C-914B-2DE049380736}"/>
                </a:ext>
              </a:extLst>
            </p:cNvPr>
            <p:cNvSpPr txBox="1"/>
            <p:nvPr/>
          </p:nvSpPr>
          <p:spPr>
            <a:xfrm>
              <a:off x="1100253" y="3194814"/>
              <a:ext cx="739604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Загрузчик шаблонов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app_directories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работает так, что к созданному шаблону можно обращаться посредством </a:t>
              </a:r>
              <a:r>
                <a:rPr lang="en-US" sz="1400" b="1" dirty="0">
                  <a:solidFill>
                    <a:schemeClr val="tx1"/>
                  </a:solidFill>
                  <a:latin typeface="+mn-lt"/>
                </a:rPr>
                <a:t>coolapp/index.html</a:t>
              </a:r>
              <a:endParaRPr lang="ru-RU" b="1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0362B31A-26D8-45EE-9009-B2BD48832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3274028"/>
              <a:ext cx="364793" cy="364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790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Представление и шаблоны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C6697D54-A330-46C5-8013-7EBA2ADAD752}"/>
              </a:ext>
            </a:extLst>
          </p:cNvPr>
          <p:cNvGrpSpPr/>
          <p:nvPr/>
        </p:nvGrpSpPr>
        <p:grpSpPr>
          <a:xfrm>
            <a:off x="5052907" y="1345269"/>
            <a:ext cx="3741688" cy="2945405"/>
            <a:chOff x="5052907" y="1345269"/>
            <a:chExt cx="3741688" cy="2945405"/>
          </a:xfrm>
        </p:grpSpPr>
        <p:sp>
          <p:nvSpPr>
            <p:cNvPr id="17" name="Text Box 10">
              <a:extLst>
                <a:ext uri="{FF2B5EF4-FFF2-40B4-BE49-F238E27FC236}">
                  <a16:creationId xmlns:a16="http://schemas.microsoft.com/office/drawing/2014/main" id="{651C26F1-9A20-460C-A29C-531A07083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2907" y="1345269"/>
              <a:ext cx="3741688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И добавляем приложение в 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settings.py</a:t>
              </a:r>
              <a:r>
                <a:rPr lang="en-US" sz="1600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чтоб для него можно было использовать шаблоны: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596CDF6E-5048-48C8-B618-828C21420EE4}"/>
                </a:ext>
              </a:extLst>
            </p:cNvPr>
            <p:cNvSpPr/>
            <p:nvPr/>
          </p:nvSpPr>
          <p:spPr>
            <a:xfrm>
              <a:off x="5159568" y="2259349"/>
              <a:ext cx="2809837" cy="20313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+mn-lt"/>
                </a:rPr>
                <a:t>INSTALLED_APPS 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=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[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'django.contrib.admin'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'django.contrib.auth'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'django.contrib.contenttypes'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'django.contrib.sessions'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'django.contrib.messages'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'django.contrib.staticfiles'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dirty="0">
                  <a:solidFill>
                    <a:srgbClr val="808080"/>
                  </a:solidFill>
                  <a:latin typeface="+mn-lt"/>
                </a:rPr>
                <a:t>   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'coolapp'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en-US" b="1" dirty="0">
                  <a:solidFill>
                    <a:srgbClr val="000080"/>
                  </a:solidFill>
                  <a:latin typeface="+mn-lt"/>
                </a:rPr>
                <a:t>]</a:t>
              </a:r>
              <a:endParaRPr lang="en-US" dirty="0">
                <a:effectLst/>
                <a:latin typeface="+mn-lt"/>
              </a:endParaRPr>
            </a:p>
          </p:txBody>
        </p:sp>
      </p:grp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241BD89-4E0B-48D3-9664-BDDE08608712}"/>
              </a:ext>
            </a:extLst>
          </p:cNvPr>
          <p:cNvSpPr/>
          <p:nvPr/>
        </p:nvSpPr>
        <p:spPr>
          <a:xfrm>
            <a:off x="0" y="1686939"/>
            <a:ext cx="4572000" cy="2262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532D7F6-E0B4-4F4B-88FB-91DF37CAEAB2}"/>
              </a:ext>
            </a:extLst>
          </p:cNvPr>
          <p:cNvGrpSpPr/>
          <p:nvPr/>
        </p:nvGrpSpPr>
        <p:grpSpPr>
          <a:xfrm>
            <a:off x="577552" y="2355025"/>
            <a:ext cx="3994449" cy="925892"/>
            <a:chOff x="577552" y="2571750"/>
            <a:chExt cx="3994449" cy="925892"/>
          </a:xfrm>
        </p:grpSpPr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B596C3B3-5B61-45A4-AE71-847A33E7B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52" y="2571750"/>
              <a:ext cx="286445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Поправим код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views</a:t>
              </a:r>
              <a:r>
                <a:rPr lang="en-US" sz="1600" b="1" dirty="0">
                  <a:solidFill>
                    <a:schemeClr val="tx1"/>
                  </a:solidFill>
                  <a:latin typeface="+mn-lt"/>
                </a:rPr>
                <a:t>.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index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4DEA8315-D517-473E-B20D-0085657A1019}"/>
                </a:ext>
              </a:extLst>
            </p:cNvPr>
            <p:cNvSpPr/>
            <p:nvPr/>
          </p:nvSpPr>
          <p:spPr>
            <a:xfrm>
              <a:off x="592420" y="2974422"/>
              <a:ext cx="397958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FF"/>
                  </a:solidFill>
                  <a:latin typeface="+mn-lt"/>
                </a:rPr>
                <a:t>def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FF00FF"/>
                  </a:solidFill>
                  <a:latin typeface="+mn-lt"/>
                </a:rPr>
                <a:t>index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request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):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endParaRPr lang="ru-RU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b="1" dirty="0">
                  <a:solidFill>
                    <a:srgbClr val="0000FF"/>
                  </a:solidFill>
                  <a:latin typeface="+mn-lt"/>
                </a:rPr>
                <a:t>return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render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request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808080"/>
                  </a:solidFill>
                  <a:latin typeface="+mn-lt"/>
                </a:rPr>
                <a:t>'coolapp/index.html'</a:t>
              </a:r>
              <a:r>
                <a:rPr lang="en-US" b="1" dirty="0">
                  <a:solidFill>
                    <a:srgbClr val="000080"/>
                  </a:solidFill>
                  <a:latin typeface="+mn-lt"/>
                </a:rPr>
                <a:t>)</a:t>
              </a:r>
              <a:endParaRPr lang="en-US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1942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427F7B4-D171-48AD-AD69-BF4DBF4182D3}"/>
              </a:ext>
            </a:extLst>
          </p:cNvPr>
          <p:cNvSpPr/>
          <p:nvPr/>
        </p:nvSpPr>
        <p:spPr>
          <a:xfrm>
            <a:off x="0" y="3449446"/>
            <a:ext cx="9144000" cy="13297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Миграции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2725AD24-0F74-4AF2-9DEE-A63CB08B7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905559"/>
            <a:ext cx="791874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Как уже было отмечено ранее, важнейшим компонентов сайта является база данных. По умолчанию, фреймворк предоставляет движок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sqlite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что указывается в файле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settings.py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Таблица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INSTALLED_APPS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в этом же файле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содержит все используемые приложения. Некоторые приложения используют минимум одну таблицу в базе данных, поэтому нам необходимо создать соответствующие таблицы перед тем, как их использовать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этого выполним следующую команду: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FAF35BE-7D06-4589-AFE7-4749A12E8E20}"/>
              </a:ext>
            </a:extLst>
          </p:cNvPr>
          <p:cNvSpPr/>
          <p:nvPr/>
        </p:nvSpPr>
        <p:spPr>
          <a:xfrm>
            <a:off x="684213" y="2863084"/>
            <a:ext cx="2532054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migrate</a:t>
            </a:r>
            <a:endParaRPr lang="ru-RU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ADDE558D-2212-4222-B5FF-E7356D46A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0" y="3698839"/>
            <a:ext cx="81501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Команда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migrate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проверяет настройку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INSTALLED_APPS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 создает все необходимые таблицы в базе данных, указанной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settings.py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применяя миграции, которые находятся в приложении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3145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Миграции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77AC4F8A-667B-4D92-AB89-DEABDCC1ED82}"/>
              </a:ext>
            </a:extLst>
          </p:cNvPr>
          <p:cNvGrpSpPr/>
          <p:nvPr/>
        </p:nvGrpSpPr>
        <p:grpSpPr>
          <a:xfrm>
            <a:off x="684213" y="1034513"/>
            <a:ext cx="7954265" cy="364793"/>
            <a:chOff x="684213" y="1034513"/>
            <a:chExt cx="7954265" cy="3647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111CE1-0D59-4832-A1D6-7B61072C6C7E}"/>
                </a:ext>
              </a:extLst>
            </p:cNvPr>
            <p:cNvSpPr txBox="1"/>
            <p:nvPr/>
          </p:nvSpPr>
          <p:spPr>
            <a:xfrm>
              <a:off x="1100254" y="1063021"/>
              <a:ext cx="75382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Миграции похожи на систему контроля версий (как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Git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, но только для базы данных -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БД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)</a:t>
              </a:r>
              <a:endParaRPr lang="ru-RU" b="1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5AD65839-0DBC-4860-8235-B788E8DC3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1034513"/>
              <a:ext cx="364793" cy="364793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6E4CA434-C4F5-4D69-8C8C-8F09E8ACE96B}"/>
              </a:ext>
            </a:extLst>
          </p:cNvPr>
          <p:cNvGrpSpPr/>
          <p:nvPr/>
        </p:nvGrpSpPr>
        <p:grpSpPr>
          <a:xfrm>
            <a:off x="684213" y="1641486"/>
            <a:ext cx="7812087" cy="523220"/>
            <a:chOff x="684213" y="1555340"/>
            <a:chExt cx="7812087" cy="5232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4F2CA5-D146-4F19-90DE-0E710B560DB2}"/>
                </a:ext>
              </a:extLst>
            </p:cNvPr>
            <p:cNvSpPr txBox="1"/>
            <p:nvPr/>
          </p:nvSpPr>
          <p:spPr>
            <a:xfrm>
              <a:off x="1100254" y="1555340"/>
              <a:ext cx="73960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Они позволяют команде разработчиков легко изменять схему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БД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приложения              и делиться этими изменениями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3A40223-1E09-4487-9461-4C51EBB5C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1555340"/>
              <a:ext cx="364793" cy="364793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50683105-30E6-4D41-9F04-CF5FD54AFED2}"/>
              </a:ext>
            </a:extLst>
          </p:cNvPr>
          <p:cNvGrpSpPr/>
          <p:nvPr/>
        </p:nvGrpSpPr>
        <p:grpSpPr>
          <a:xfrm>
            <a:off x="684213" y="2406887"/>
            <a:ext cx="7812087" cy="527652"/>
            <a:chOff x="684213" y="2206957"/>
            <a:chExt cx="7812087" cy="527652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6DDF632-E6C1-4CCC-B8C4-814B5896B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2206957"/>
              <a:ext cx="364793" cy="36479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BEC996-390E-438E-9101-6EC9D4DD9E8B}"/>
                </a:ext>
              </a:extLst>
            </p:cNvPr>
            <p:cNvSpPr txBox="1"/>
            <p:nvPr/>
          </p:nvSpPr>
          <p:spPr>
            <a:xfrm>
              <a:off x="1100254" y="2211389"/>
              <a:ext cx="73960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Django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использует миграции для переноса изменений в моделях (добавление поля, удаление модели и т.д.) на структуру базы данных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CA69F2F-9C16-48E7-B6EB-D5D92DA48509}"/>
              </a:ext>
            </a:extLst>
          </p:cNvPr>
          <p:cNvGrpSpPr/>
          <p:nvPr/>
        </p:nvGrpSpPr>
        <p:grpSpPr>
          <a:xfrm>
            <a:off x="684213" y="3176720"/>
            <a:ext cx="7812087" cy="523220"/>
            <a:chOff x="684213" y="2856557"/>
            <a:chExt cx="7812087" cy="523220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B67A2CB8-CAF8-4ACC-984A-B365F3A1A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2858574"/>
              <a:ext cx="364793" cy="36479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0758C69-53FB-4153-BA1A-8A8458BCFCAC}"/>
                </a:ext>
              </a:extLst>
            </p:cNvPr>
            <p:cNvSpPr txBox="1"/>
            <p:nvPr/>
          </p:nvSpPr>
          <p:spPr>
            <a:xfrm>
              <a:off x="1100254" y="2856557"/>
              <a:ext cx="73960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Грубо говоря, команда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migrate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позволяет накатить изменения таблиц на текущую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БД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, </a:t>
              </a:r>
            </a:p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а команда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makemigrations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 позволяет сохранить текущее состояние 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БД</a:t>
              </a:r>
              <a:endParaRPr lang="ru-RU" b="1" dirty="0">
                <a:solidFill>
                  <a:schemeClr val="tx1"/>
                </a:solidFill>
                <a:latin typeface="+mn-lt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EFBFF7F-099E-48B9-99F6-99A8BB6D35AA}"/>
              </a:ext>
            </a:extLst>
          </p:cNvPr>
          <p:cNvGrpSpPr/>
          <p:nvPr/>
        </p:nvGrpSpPr>
        <p:grpSpPr>
          <a:xfrm>
            <a:off x="684213" y="3942120"/>
            <a:ext cx="7812087" cy="757965"/>
            <a:chOff x="684213" y="3445871"/>
            <a:chExt cx="7812087" cy="757965"/>
          </a:xfrm>
        </p:grpSpPr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9B715CBF-0A19-4A92-BF37-ACF907A55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3445871"/>
              <a:ext cx="364793" cy="36479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088012-9F63-4D72-8983-54CC91E71852}"/>
                </a:ext>
              </a:extLst>
            </p:cNvPr>
            <p:cNvSpPr txBox="1"/>
            <p:nvPr/>
          </p:nvSpPr>
          <p:spPr>
            <a:xfrm>
              <a:off x="1100254" y="3465172"/>
              <a:ext cx="7396046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Файлы с миграциями находятся в каталоге «</a:t>
              </a:r>
              <a:r>
                <a:rPr lang="ru-RU" sz="1400" b="1" dirty="0">
                  <a:solidFill>
                    <a:schemeClr val="tx1"/>
                  </a:solidFill>
                  <a:latin typeface="+mn-lt"/>
                </a:rPr>
                <a:t>migrations</a:t>
              </a:r>
              <a:r>
                <a:rPr lang="ru-RU" sz="1400" dirty="0">
                  <a:solidFill>
                    <a:schemeClr val="tx1"/>
                  </a:solidFill>
                  <a:latin typeface="+mn-lt"/>
                </a:rPr>
                <a:t>» приложения. Они являются частью приложения и должны распространятся вместе с остальным кодом приложения</a:t>
              </a:r>
              <a:endParaRPr lang="ru-RU" dirty="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214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2D56A24-3FAB-4EED-8E62-7F958F6D0045}"/>
              </a:ext>
            </a:extLst>
          </p:cNvPr>
          <p:cNvSpPr/>
          <p:nvPr/>
        </p:nvSpPr>
        <p:spPr>
          <a:xfrm>
            <a:off x="0" y="1481384"/>
            <a:ext cx="9144000" cy="820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C971DDE-DC5C-4ADE-B606-676E0705EB9F}"/>
              </a:ext>
            </a:extLst>
          </p:cNvPr>
          <p:cNvSpPr/>
          <p:nvPr/>
        </p:nvSpPr>
        <p:spPr>
          <a:xfrm>
            <a:off x="0" y="4227512"/>
            <a:ext cx="9144000" cy="9159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Модели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5EDE7E1D-E8B3-4671-91A5-2ABBF3E73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843823"/>
            <a:ext cx="7918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Ранее были рассмотрены уровни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контроллер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/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представление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(или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представление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/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шаблон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 Теперь рассмотрим создание моделей: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7A85B03-1456-4338-A058-0279F38CE68C}"/>
              </a:ext>
            </a:extLst>
          </p:cNvPr>
          <p:cNvSpPr/>
          <p:nvPr/>
        </p:nvSpPr>
        <p:spPr>
          <a:xfrm>
            <a:off x="609938" y="3225810"/>
            <a:ext cx="8295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name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CharField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max_length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200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desc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TextField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pub_date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DateTimeField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'date published'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auto_now_add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EC802E3B-C61A-4641-B5A2-BC6ED46AE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4423895"/>
            <a:ext cx="791874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Возможные типы полей: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BigIntegerField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BooleanField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EmailField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FileField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ImageField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URLField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 многие другие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CFF3F1-6CB5-47A3-B5B4-E0669DE26332}"/>
              </a:ext>
            </a:extLst>
          </p:cNvPr>
          <p:cNvSpPr txBox="1"/>
          <p:nvPr/>
        </p:nvSpPr>
        <p:spPr>
          <a:xfrm>
            <a:off x="577551" y="1630081"/>
            <a:ext cx="79187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accent1"/>
                </a:solidFill>
                <a:latin typeface="+mn-lt"/>
              </a:rPr>
              <a:t>Модель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- это основной источник данных. Она содержит набор полей и задает поведение хранимых данных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C18C4D-72EE-41CB-AF77-77F9E721B481}"/>
              </a:ext>
            </a:extLst>
          </p:cNvPr>
          <p:cNvSpPr txBox="1"/>
          <p:nvPr/>
        </p:nvSpPr>
        <p:spPr>
          <a:xfrm>
            <a:off x="609938" y="2416339"/>
            <a:ext cx="78863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следует принципу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Don't repeat yourself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DRY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). Чтоб следовать этому принципу, следует определять модели в одном месте, где все поля и таблицы выражаются средствами Python.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Для приложения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модели можно указать в файле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coolapp/models.py</a:t>
            </a:r>
          </a:p>
        </p:txBody>
      </p:sp>
    </p:spTree>
    <p:extLst>
      <p:ext uri="{BB962C8B-B14F-4D97-AF65-F5344CB8AC3E}">
        <p14:creationId xmlns:p14="http://schemas.microsoft.com/office/powerpoint/2010/main" val="1847121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Модели и базы данных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35072C7-327B-4BE7-9552-92DE85011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1316882"/>
            <a:ext cx="8295586" cy="1168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Созданные поля нужно активировать: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создать структуру базы данных (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CREATE TABLE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 для приложения</a:t>
            </a: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создать Python API для доступа к данным объектов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CCFA8648-E365-45DE-8C60-1549C161A4A6}"/>
              </a:ext>
            </a:extLst>
          </p:cNvPr>
          <p:cNvSpPr/>
          <p:nvPr/>
        </p:nvSpPr>
        <p:spPr>
          <a:xfrm>
            <a:off x="681629" y="2693097"/>
            <a:ext cx="3890371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makemigrations coolapp</a:t>
            </a:r>
            <a:endParaRPr lang="ru-RU" sz="14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BE335BC0-2A8C-4A61-9551-DC38098C4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3208820"/>
            <a:ext cx="829558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Выполняя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makemigrations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мы говорим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что внесли некоторые изменения в наши модели (в нашем случае мы создали несколько новых) и хотели бы сохранить их в миграции. Содержимое папки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migrations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при этом, изменится</a:t>
            </a:r>
          </a:p>
        </p:txBody>
      </p:sp>
    </p:spTree>
    <p:extLst>
      <p:ext uri="{BB962C8B-B14F-4D97-AF65-F5344CB8AC3E}">
        <p14:creationId xmlns:p14="http://schemas.microsoft.com/office/powerpoint/2010/main" val="396242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Модели и базы данных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37AC5A6F-C357-4B9A-8FB6-E26CA9904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3264747"/>
            <a:ext cx="82955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Снова вызываем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migrate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D83C00F3-E20F-4D4C-A813-FE0964D95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830088"/>
            <a:ext cx="82955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Команда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sqlmigrate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принимает название миграции в качестве параметра и возвращает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tx1"/>
                </a:solidFill>
                <a:latin typeface="+mn-lt"/>
              </a:rPr>
              <a:t>SQL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запрос: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EDBEFE8-E244-4858-ABFC-A2B4D178FDA3}"/>
              </a:ext>
            </a:extLst>
          </p:cNvPr>
          <p:cNvSpPr/>
          <p:nvPr/>
        </p:nvSpPr>
        <p:spPr>
          <a:xfrm>
            <a:off x="684213" y="1355178"/>
            <a:ext cx="6269298" cy="17851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en-US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sqlmigrate coolapp 0001</a:t>
            </a:r>
          </a:p>
          <a:p>
            <a:endParaRPr lang="ru-RU" sz="11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BEGIN;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--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-- Create model Film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--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CREATE TABLE "coolapp_film" 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("id" integer NOT NULL PRIMARY KEY AUTOINCREMENT, 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"name" varchar(200) NOT NULL, "desc" text NOT NULL, "pub_date" datetime NOT NULL);</a:t>
            </a:r>
          </a:p>
          <a:p>
            <a:r>
              <a:rPr lang="ru-RU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COMMIT;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3DA0F8-3AC4-455E-9172-3162822DD63E}"/>
              </a:ext>
            </a:extLst>
          </p:cNvPr>
          <p:cNvSpPr/>
          <p:nvPr/>
        </p:nvSpPr>
        <p:spPr>
          <a:xfrm>
            <a:off x="684213" y="3578724"/>
            <a:ext cx="2036685" cy="2616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python3 manage.py migrate</a:t>
            </a:r>
            <a:endParaRPr lang="ru-RU" sz="11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2930493A-CEF0-4894-A60D-079381C73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19" y="3965903"/>
            <a:ext cx="82955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 помощью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SQL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консоли или браузера можно посмотреть, что в результате запишется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 базу данных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C47A382-A8F1-48BA-8C91-814B83D819C9}"/>
              </a:ext>
            </a:extLst>
          </p:cNvPr>
          <p:cNvSpPr/>
          <p:nvPr/>
        </p:nvSpPr>
        <p:spPr>
          <a:xfrm>
            <a:off x="688996" y="4496557"/>
            <a:ext cx="2356353" cy="4308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sqlite3</a:t>
            </a:r>
          </a:p>
          <a:p>
            <a:r>
              <a:rPr lang="en-US" sz="11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sqlite&gt; attach 'db.sqlite3' as db1;</a:t>
            </a:r>
            <a:endParaRPr lang="ru-RU" sz="1100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54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Модели и базы данных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DB2ACCD6-F173-4EFE-85A0-2236963B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2804483"/>
            <a:ext cx="7918749" cy="2115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Теперь можно обращаться к базе данных напрямую, используя возможности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Можно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добавлять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изменять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удалять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данные, но разумеется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не структуры базы (т.е. таблицы, на которые отображаются модели)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8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Bef>
                <a:spcPct val="0"/>
              </a:spcBef>
              <a:buClr>
                <a:schemeClr val="accent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Чтоб записи модели выводились в читаемом виде, желательно определить      у модели метод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__repr__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возвращающий строку</a:t>
            </a:r>
          </a:p>
          <a:p>
            <a:pPr marL="285750" indent="-285750">
              <a:spcBef>
                <a:spcPct val="0"/>
              </a:spcBef>
              <a:buClr>
                <a:schemeClr val="accent1"/>
              </a:buClr>
            </a:pPr>
            <a:endParaRPr lang="ru-RU" sz="8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Bef>
                <a:spcPct val="0"/>
              </a:spcBef>
              <a:buClr>
                <a:schemeClr val="accent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Отображение классов моделей написанных на 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Python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в таблицы базы данных обеспечивается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технологией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Django ORM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5A59040E-B154-44CD-9E68-CC64A4F8F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893009"/>
            <a:ext cx="79187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Чтобы работать с созданными моделями через Python, достаточно запустить консоль Python в той же директории, где лежит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manage.py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 выполнить код: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5B43F0B-3AC7-42D2-9F7C-C46A766F3A29}"/>
              </a:ext>
            </a:extLst>
          </p:cNvPr>
          <p:cNvSpPr/>
          <p:nvPr/>
        </p:nvSpPr>
        <p:spPr>
          <a:xfrm>
            <a:off x="684213" y="1610807"/>
            <a:ext cx="5172362" cy="95410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import os</a:t>
            </a: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os.environ['DJANGO_SETTINGS_MODULE'] = 'coolsite.settings'</a:t>
            </a: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import django</a:t>
            </a:r>
          </a:p>
          <a:p>
            <a:r>
              <a:rPr lang="en-US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django.setup()</a:t>
            </a:r>
            <a:endParaRPr lang="ru-RU" dirty="0">
              <a:solidFill>
                <a:schemeClr val="accent1"/>
              </a:solidFill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801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0" y="0"/>
            <a:ext cx="42374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0" y="-133"/>
            <a:ext cx="4237463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B37164-FE09-449A-956A-5F88CEC8FDFF}"/>
              </a:ext>
            </a:extLst>
          </p:cNvPr>
          <p:cNvSpPr txBox="1"/>
          <p:nvPr/>
        </p:nvSpPr>
        <p:spPr>
          <a:xfrm>
            <a:off x="294338" y="1956585"/>
            <a:ext cx="40249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kern="1200" dirty="0">
                <a:solidFill>
                  <a:schemeClr val="bg1"/>
                </a:solidFill>
                <a:latin typeface="+mj-lt"/>
              </a:rPr>
              <a:t>Модели и базы данных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1577F4-8496-44A2-8B7D-A1D1EBAEE08F}"/>
              </a:ext>
            </a:extLst>
          </p:cNvPr>
          <p:cNvSpPr/>
          <p:nvPr/>
        </p:nvSpPr>
        <p:spPr>
          <a:xfrm>
            <a:off x="4479763" y="494125"/>
            <a:ext cx="52191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latin typeface="+mn-lt"/>
                <a:cs typeface="Courier New" panose="02070309020205020404" pitchFamily="49" charset="0"/>
              </a:rPr>
              <a:t># Дальше можно работать с моделями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from coolapp.models import Film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Film.objects.all()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&lt;QuerySet []&gt;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 = Film(name='Alien', desc='Old fantastic')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&lt;Film: Film object (None)&gt;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f.id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f.name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'Alien'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f.desc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'Old fantastic'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f.pub_date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f.save()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f.id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1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f.pub_date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datetime.datetime(2018, 12, 4, 1, 51, 37, 386401, tzinfo=&lt;UTC&gt;)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f.name = 'Alien 2'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f.save()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&gt;&gt;&gt; Film.objects.all()</a:t>
            </a:r>
          </a:p>
          <a:p>
            <a:r>
              <a:rPr lang="en-US" sz="1200" dirty="0">
                <a:latin typeface="+mn-lt"/>
                <a:cs typeface="Courier New" panose="02070309020205020404" pitchFamily="49" charset="0"/>
              </a:rPr>
              <a:t>&lt;QuerySet [&lt;Film: Film object (1)&gt;]&gt;</a:t>
            </a:r>
            <a:endParaRPr lang="ru-RU" sz="12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938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1"/>
                </a:solidFill>
                <a:latin typeface="+mj-lt"/>
              </a:rPr>
              <a:t>Модели и базы данных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DE26C37-25BC-4B08-94D6-F696EC714DA3}"/>
              </a:ext>
            </a:extLst>
          </p:cNvPr>
          <p:cNvSpPr/>
          <p:nvPr/>
        </p:nvSpPr>
        <p:spPr>
          <a:xfrm>
            <a:off x="592419" y="982816"/>
            <a:ext cx="7776864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f.delete()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(1, {'coolapp.Film': 1})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Film.objects.all()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&lt;QuerySet []&gt;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 = Film(name='Alien', desc='Old fantastic')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&lt;Film: Film object (None)&gt;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f.save()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Film.objects.first()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&lt;Film: Film object (2)&gt;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Film.objects.get(id=1)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Traceback (most recent call last):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File "&lt;stdin&gt;", line 1, in &lt;module&gt;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File "/home/linuxuser/.local/lib/python3.6/site-packages/django/db/models/manager.py", line 82, in manager_method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  return getattr(self.get_queryset(), name)(*args, **kwargs)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File "/home/linuxuser/.local/lib/python3.6/site-packages/django/db/models/query.py", line 399, in get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  self.model._meta.object_name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coolapp.models.DoesNotExist: Film matching query does not exist.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f.id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2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&gt;&gt;&gt; Film.objects.get(id=2)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&lt;Film: Film object (2)&gt;</a:t>
            </a:r>
            <a:endParaRPr lang="ru-RU" sz="11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818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7C7EEC1-AA07-4549-8F5C-17010AACA6B9}"/>
              </a:ext>
            </a:extLst>
          </p:cNvPr>
          <p:cNvSpPr/>
          <p:nvPr/>
        </p:nvSpPr>
        <p:spPr>
          <a:xfrm>
            <a:off x="0" y="4066282"/>
            <a:ext cx="9144000" cy="10772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51" y="109038"/>
            <a:ext cx="83603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1"/>
                </a:solidFill>
                <a:latin typeface="+mj-lt"/>
              </a:rPr>
              <a:t>Superuser</a:t>
            </a:r>
            <a:endParaRPr lang="ru-RU" sz="28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 Box 10">
            <a:extLst>
              <a:ext uri="{FF2B5EF4-FFF2-40B4-BE49-F238E27FC236}">
                <a16:creationId xmlns:a16="http://schemas.microsoft.com/office/drawing/2014/main" id="{E928ECFC-DB13-461F-9E9E-0E0C95543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51" y="4312503"/>
            <a:ext cx="8295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Снова запускаем наш веб-сервер и через браузер заходим в административную панель сайта: </a:t>
            </a:r>
            <a:r>
              <a:rPr lang="en-US" sz="1600" dirty="0">
                <a:solidFill>
                  <a:schemeClr val="accent1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http://127.0.0.1:8000/admin/</a:t>
            </a:r>
            <a:r>
              <a:rPr lang="ru-RU" sz="1600" dirty="0">
                <a:solidFill>
                  <a:schemeClr val="accent1"/>
                </a:solidFill>
                <a:latin typeface="+mn-lt"/>
              </a:rPr>
              <a:t> </a:t>
            </a:r>
            <a:endParaRPr lang="en-US" sz="16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34D9F332-0CAD-498E-BB91-3CFAF462F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585" y="1026204"/>
            <a:ext cx="82955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управления сайтом необходимо завести аккаунт суперпользователя (администратора):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06F931-CFA8-42FE-BD2E-477E48032AF4}"/>
              </a:ext>
            </a:extLst>
          </p:cNvPr>
          <p:cNvSpPr/>
          <p:nvPr/>
        </p:nvSpPr>
        <p:spPr>
          <a:xfrm>
            <a:off x="1301247" y="1779822"/>
            <a:ext cx="3282308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sz="14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createsuperuser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F0720992-6764-44BC-B08A-9F2A47D59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4585" y="2333819"/>
            <a:ext cx="82955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Добавляем приложение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coolapp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в интерфейс администратора: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D9F256-6793-4482-AD6E-55468E24A252}"/>
              </a:ext>
            </a:extLst>
          </p:cNvPr>
          <p:cNvSpPr/>
          <p:nvPr/>
        </p:nvSpPr>
        <p:spPr>
          <a:xfrm>
            <a:off x="1205392" y="2756759"/>
            <a:ext cx="84690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coolapp/admin.py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endParaRPr lang="ru-RU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contrib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admin </a:t>
            </a:r>
            <a:endParaRPr lang="ru-RU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models </a:t>
            </a:r>
            <a:r>
              <a:rPr lang="en-US" sz="14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Film </a:t>
            </a:r>
            <a:endParaRPr lang="ru-RU" dirty="0">
              <a:latin typeface="+mn-lt"/>
            </a:endParaRPr>
          </a:p>
          <a:p>
            <a:endParaRPr lang="ru-RU" sz="8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admin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site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register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400" dirty="0">
              <a:effectLst/>
              <a:latin typeface="+mn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5D5C9D-CA8B-4DF5-B7AA-73B19C436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1026204"/>
            <a:ext cx="364793" cy="36479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347656-7EC6-4FB7-9EA2-6D426624D3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2320700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85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31556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E8EA71CF-50E5-4A35-B4A1-D6680D1C4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86687"/>
            <a:ext cx="8027834" cy="243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+mn-lt"/>
              </a:rPr>
              <a:t>У нас получился сайт с одним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 шаблоном, посвященный описанию фильмов.        Какие еще могут быть у него странички? Добавьте необходимое количество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views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                        и соответствующие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шаблоны для них. В шаблонах напишите простенький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код        с текстом, соответствующим данному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(например, шаблон главной странички должен содержать описание сайта и т. д.). Достаточно условного описания и простого оформления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endParaRPr lang="ru-RU" sz="800" dirty="0">
              <a:solidFill>
                <a:schemeClr val="tx1"/>
              </a:solidFill>
              <a:latin typeface="+mn-lt"/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+mn-lt"/>
              </a:rPr>
              <a:t>* Самостоятельно изучите язык шаблонов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(например, тут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https://docs.djangoproject.com/en/1.7/topics/templates/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 и попробуйте в функции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render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    в вашем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прокинуть объекты из питоновского кода внутрь вашего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шаблона          и отобразить их, например, так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B8994C-9BFB-467F-B59E-2F6ADF919EBE}"/>
              </a:ext>
            </a:extLst>
          </p:cNvPr>
          <p:cNvSpPr/>
          <p:nvPr/>
        </p:nvSpPr>
        <p:spPr>
          <a:xfrm>
            <a:off x="982490" y="3479183"/>
            <a:ext cx="8414793" cy="13311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+mn-lt"/>
              </a:rPr>
              <a:t># это во </a:t>
            </a:r>
            <a:r>
              <a:rPr lang="en-US" dirty="0">
                <a:solidFill>
                  <a:srgbClr val="008000"/>
                </a:solidFill>
                <a:latin typeface="+mn-lt"/>
              </a:rPr>
              <a:t>views.py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index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ru-RU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'coolapp/index.html'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'sitename'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'ABOUT FILMS'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})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endParaRPr lang="ru-RU" sz="1000" dirty="0">
              <a:solidFill>
                <a:srgbClr val="008000"/>
              </a:solidFill>
              <a:latin typeface="+mn-lt"/>
            </a:endParaRPr>
          </a:p>
          <a:p>
            <a:r>
              <a:rPr lang="en-US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dirty="0">
                <a:solidFill>
                  <a:srgbClr val="008000"/>
                </a:solidFill>
                <a:latin typeface="+mn-lt"/>
              </a:rPr>
              <a:t>это в </a:t>
            </a:r>
            <a:r>
              <a:rPr lang="en-US" dirty="0">
                <a:solidFill>
                  <a:srgbClr val="008000"/>
                </a:solidFill>
                <a:latin typeface="+mn-lt"/>
              </a:rPr>
              <a:t>coolapp/index.html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ru-RU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80"/>
                </a:solidFill>
                <a:latin typeface="+mn-lt"/>
              </a:rPr>
              <a:t>&lt;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h1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HELLO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You on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{{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sitename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}}&lt;/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h1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&gt;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en-US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0421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1174877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E8EA71CF-50E5-4A35-B4A1-D6680D1C4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66" y="2072070"/>
            <a:ext cx="789413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Clr>
                <a:schemeClr val="accent1"/>
              </a:buClr>
              <a:buFont typeface="+mj-lt"/>
              <a:buAutoNum type="arabicPeriod" startAt="3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Заполните через админку табличку фильмов и попробуйте отобразить ее содержимое    в шаблонах. Например, в зависимости от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если человек запрашивает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http://127.0.0.1:8000/films/1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то ему должна быть показана информация по фильму         с 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id==1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 Также надо предусмотреть шаблон со списком всех фильмов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88957A0-D37E-4B1F-AA93-20965DF03D00}"/>
              </a:ext>
            </a:extLst>
          </p:cNvPr>
          <p:cNvSpPr/>
          <p:nvPr/>
        </p:nvSpPr>
        <p:spPr>
          <a:xfrm>
            <a:off x="1050029" y="3133913"/>
            <a:ext cx="80939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+mn-lt"/>
              </a:rPr>
              <a:t># можно использовать следующий паттерн </a:t>
            </a:r>
            <a:r>
              <a:rPr lang="en-US" sz="1400" dirty="0">
                <a:solidFill>
                  <a:srgbClr val="008000"/>
                </a:solidFill>
                <a:latin typeface="+mn-lt"/>
              </a:rPr>
              <a:t>URL</a:t>
            </a:r>
            <a:endParaRPr lang="ru-RU" sz="1400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00"/>
                </a:solidFill>
                <a:latin typeface="+mn-lt"/>
              </a:rPr>
              <a:t>url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r'^(?P&lt;question_id&gt;[0-9]+)/$'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detail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'detail'</a:t>
            </a:r>
            <a:r>
              <a:rPr lang="en-US" sz="14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4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298353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3330</Words>
  <Application>Microsoft Office PowerPoint</Application>
  <PresentationFormat>Экран (16:9)</PresentationFormat>
  <Paragraphs>324</Paragraphs>
  <Slides>30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proxima nova rg</vt:lpstr>
      <vt:lpstr>Viga</vt:lpstr>
      <vt:lpstr>DM Sans</vt:lpstr>
      <vt:lpstr>proxima nova bold</vt:lpstr>
      <vt:lpstr>Arial</vt:lpstr>
      <vt:lpstr>Cyber Security Business Plan</vt:lpstr>
      <vt:lpstr>Программирование на языке Python</vt:lpstr>
      <vt:lpstr>Лекция №14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79</cp:revision>
  <dcterms:modified xsi:type="dcterms:W3CDTF">2021-10-14T15:23:43Z</dcterms:modified>
</cp:coreProperties>
</file>