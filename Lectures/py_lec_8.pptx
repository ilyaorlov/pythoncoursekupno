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7"/>
  </p:notesMasterIdLst>
  <p:sldIdLst>
    <p:sldId id="256" r:id="rId2"/>
    <p:sldId id="257" r:id="rId3"/>
    <p:sldId id="389" r:id="rId4"/>
    <p:sldId id="390" r:id="rId5"/>
    <p:sldId id="391" r:id="rId6"/>
    <p:sldId id="392" r:id="rId7"/>
    <p:sldId id="393" r:id="rId8"/>
    <p:sldId id="394" r:id="rId9"/>
    <p:sldId id="395" r:id="rId10"/>
    <p:sldId id="396" r:id="rId11"/>
    <p:sldId id="397" r:id="rId12"/>
    <p:sldId id="398" r:id="rId13"/>
    <p:sldId id="399" r:id="rId14"/>
    <p:sldId id="400" r:id="rId15"/>
    <p:sldId id="401" r:id="rId1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DM Sans" panose="020B0604020202020204" charset="0"/>
      <p:regular r:id="rId22"/>
      <p:bold r:id="rId23"/>
      <p:italic r:id="rId24"/>
      <p:boldItalic r:id="rId25"/>
    </p:embeddedFont>
    <p:embeddedFont>
      <p:font typeface="proxima nova bold" panose="02000506030000020004" charset="0"/>
      <p:bold r:id="rId26"/>
    </p:embeddedFont>
    <p:embeddedFont>
      <p:font typeface="proxima nova rg" panose="02000506030000020004" charset="0"/>
      <p:regular r:id="rId27"/>
      <p:bold r:id="rId28"/>
      <p:italic r:id="rId29"/>
      <p:boldItalic r:id="rId30"/>
    </p:embeddedFont>
    <p:embeddedFont>
      <p:font typeface="Viga" panose="020B0604020202020204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61">
          <p15:clr>
            <a:srgbClr val="9AA0A6"/>
          </p15:clr>
        </p15:guide>
        <p15:guide id="2" pos="2880">
          <p15:clr>
            <a:srgbClr val="9AA0A6"/>
          </p15:clr>
        </p15:guide>
        <p15:guide id="3" pos="456">
          <p15:clr>
            <a:srgbClr val="9AA0A6"/>
          </p15:clr>
        </p15:guide>
        <p15:guide id="4" orient="horz" pos="1732">
          <p15:clr>
            <a:srgbClr val="9AA0A6"/>
          </p15:clr>
        </p15:guide>
        <p15:guide id="5" orient="horz" pos="2664">
          <p15:clr>
            <a:srgbClr val="9AA0A6"/>
          </p15:clr>
        </p15:guide>
        <p15:guide id="6" orient="horz" pos="439">
          <p15:clr>
            <a:srgbClr val="A4A3A4"/>
          </p15:clr>
        </p15:guide>
        <p15:guide id="7" orient="horz" pos="1726">
          <p15:clr>
            <a:srgbClr val="A4A3A4"/>
          </p15:clr>
        </p15:guide>
        <p15:guide id="8" pos="5352">
          <p15:clr>
            <a:srgbClr val="A4A3A4"/>
          </p15:clr>
        </p15:guide>
        <p15:guide id="9" pos="35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658367-1752-4BCB-99D9-0009F8CEB734}">
  <a:tblStyle styleId="{D5658367-1752-4BCB-99D9-0009F8CEB7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298" y="96"/>
      </p:cViewPr>
      <p:guideLst>
        <p:guide orient="horz" pos="461"/>
        <p:guide pos="2880"/>
        <p:guide pos="456"/>
        <p:guide orient="horz" pos="1732"/>
        <p:guide orient="horz" pos="2664"/>
        <p:guide orient="horz" pos="439"/>
        <p:guide orient="horz" pos="1726"/>
        <p:guide pos="5352"/>
        <p:guide pos="3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3423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4650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432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466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2703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9302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9427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065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45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907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9567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0741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5407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171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6625" y="1404600"/>
            <a:ext cx="27852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6110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7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whatsnew/3.8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whatsnew/3.9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" y="0"/>
            <a:ext cx="9142096" cy="5143500"/>
          </a:xfrm>
          <a:prstGeom prst="rect">
            <a:avLst/>
          </a:prstGeom>
        </p:spPr>
      </p:pic>
      <p:sp>
        <p:nvSpPr>
          <p:cNvPr id="159" name="Google Shape;159;p29"/>
          <p:cNvSpPr txBox="1">
            <a:spLocks noGrp="1"/>
          </p:cNvSpPr>
          <p:nvPr>
            <p:ph type="ctrTitle"/>
          </p:nvPr>
        </p:nvSpPr>
        <p:spPr>
          <a:xfrm>
            <a:off x="481264" y="1202058"/>
            <a:ext cx="5498622" cy="28909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4400" dirty="0">
                <a:solidFill>
                  <a:schemeClr val="bg1"/>
                </a:solidFill>
                <a:latin typeface="+mj-lt"/>
              </a:rPr>
              <a:t>Программирование на языке</a:t>
            </a:r>
            <a:br>
              <a:rPr lang="ru-RU" sz="4400" dirty="0">
                <a:solidFill>
                  <a:schemeClr val="bg1"/>
                </a:solidFill>
                <a:latin typeface="+mj-lt"/>
              </a:rPr>
            </a:br>
            <a:r>
              <a:rPr lang="en-US" sz="9600" dirty="0">
                <a:solidFill>
                  <a:schemeClr val="accent2"/>
                </a:solidFill>
                <a:latin typeface="+mj-lt"/>
              </a:rPr>
              <a:t>Python</a:t>
            </a:r>
            <a:endParaRPr sz="9600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3" y="356490"/>
            <a:ext cx="1741715" cy="5902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626625" y="207546"/>
            <a:ext cx="6084000" cy="822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800" dirty="0">
                <a:latin typeface="+mj-lt"/>
              </a:rPr>
              <a:t>Лекция №8</a:t>
            </a:r>
            <a:endParaRPr sz="4800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6625" y="1829344"/>
            <a:ext cx="7869676" cy="65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4000" dirty="0">
                <a:solidFill>
                  <a:schemeClr val="accent3"/>
                </a:solidFill>
                <a:latin typeface="+mj-lt"/>
              </a:rPr>
              <a:t>Новинки </a:t>
            </a:r>
            <a:r>
              <a:rPr lang="en-US" sz="4000" dirty="0">
                <a:solidFill>
                  <a:schemeClr val="accent3"/>
                </a:solidFill>
                <a:latin typeface="+mj-lt"/>
              </a:rPr>
              <a:t>Python &gt;= 3.8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90954" y="2681400"/>
            <a:ext cx="60811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800" dirty="0">
                <a:solidFill>
                  <a:schemeClr val="tx1"/>
                </a:solidFill>
                <a:latin typeface="+mn-lt"/>
              </a:rPr>
              <a:t>3.8</a:t>
            </a:r>
          </a:p>
          <a:p>
            <a:pPr marL="285750" indent="-28575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800" dirty="0">
                <a:solidFill>
                  <a:schemeClr val="tx1"/>
                </a:solidFill>
                <a:latin typeface="+mn-lt"/>
              </a:rPr>
              <a:t>3.9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237069"/>
            <a:ext cx="869880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+mn-lt"/>
              </a:rPr>
              <a:t>3.8: Моржовый оператор присваивания :=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0326E-B67B-4DF3-B81E-C52ECD82D168}"/>
              </a:ext>
            </a:extLst>
          </p:cNvPr>
          <p:cNvSpPr txBox="1"/>
          <p:nvPr/>
        </p:nvSpPr>
        <p:spPr>
          <a:xfrm>
            <a:off x="164841" y="926961"/>
            <a:ext cx="8814318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  <a:spcAft>
                <a:spcPts val="1200"/>
              </a:spcAft>
              <a:defRPr/>
            </a:pPr>
            <a:r>
              <a:rPr lang="ru-RU" dirty="0">
                <a:latin typeface="proxima nova rg"/>
              </a:rPr>
              <a:t>Самое известное нововведение версии 3.8 – т.н. "моржовый" оператор присваивания (walrus operator). Он позволяет выполнять присваивание непосредственно внутри выражений. Теперь, например, следующий код, ожидающий ввод числа:</a:t>
            </a:r>
          </a:p>
          <a:p>
            <a:pPr algn="just">
              <a:spcBef>
                <a:spcPct val="0"/>
              </a:spcBef>
              <a:buNone/>
            </a:pP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 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'z'</a:t>
            </a:r>
            <a:endParaRPr lang="ru-RU" sz="1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isdigit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  <a:endParaRPr lang="ru-RU" sz="10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ru-RU" sz="1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 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input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'Input digit: '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ru-RU" altLang="ru-RU" dirty="0">
                <a:latin typeface="proxima nova rg"/>
              </a:rPr>
              <a:t>можно упростить при помощи нового оператора: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while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not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input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'Input digit: 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)).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isdigit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pass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 fontAlgn="base">
              <a:spcBef>
                <a:spcPts val="1200"/>
              </a:spcBef>
              <a:spcAft>
                <a:spcPts val="1200"/>
              </a:spcAft>
              <a:buClrTx/>
              <a:defRPr/>
            </a:pPr>
            <a:r>
              <a:rPr lang="ru-RU" altLang="ru-RU" dirty="0">
                <a:latin typeface="proxima nova rg"/>
              </a:rPr>
              <a:t>Также моржовый оператор позволяет избежать лишних вычислений, не жертвуя, при этом, компактностью кода: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patterns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'login'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'password'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'secret'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'code'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input_str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'login: James, password: Bond'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x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s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patterns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x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input_str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find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!=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lvl="0" indent="0" algn="just" defTabSz="914400" eaLnBrk="1" fontAlgn="base" latinLnBrk="0" hangingPunct="1">
              <a:spcBef>
                <a:spcPts val="1200"/>
              </a:spcBef>
              <a:spcAft>
                <a:spcPts val="1200"/>
              </a:spcAft>
              <a:buClrTx/>
              <a:buSzTx/>
              <a:buFont typeface="Arial"/>
              <a:buNone/>
              <a:tabLst/>
              <a:defRPr/>
            </a:pPr>
            <a:r>
              <a:rPr lang="ru-RU" altLang="ru-RU" dirty="0">
                <a:latin typeface="proxima nova rg"/>
              </a:rPr>
              <a:t>Однако, не стоит его использовать без явной необходимости, усложняя читаемость кода: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 </a:t>
            </a: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5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lst </a:t>
            </a: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 </a:t>
            </a: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:=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 </a:t>
            </a: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</a:t>
            </a: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 </a:t>
            </a: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:=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b </a:t>
            </a: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</a:t>
            </a: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 </a:t>
            </a: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:=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a </a:t>
            </a: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</a:t>
            </a: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  <a:endParaRPr kumimoji="0" lang="pt-B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646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237069"/>
            <a:ext cx="869880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+mn-lt"/>
              </a:rPr>
              <a:t>3.8: Только-позиционные аргументы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0326E-B67B-4DF3-B81E-C52ECD82D168}"/>
              </a:ext>
            </a:extLst>
          </p:cNvPr>
          <p:cNvSpPr txBox="1"/>
          <p:nvPr/>
        </p:nvSpPr>
        <p:spPr>
          <a:xfrm>
            <a:off x="180392" y="1066392"/>
            <a:ext cx="8814318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dirty="0">
                <a:latin typeface="proxima nova rg"/>
              </a:rPr>
              <a:t>Связывать фактические и формальные аргументы функции можно как по позициям, так и по именам формальных аргументов. В версии 3.8. появилась возможность ограничивать связь аргументов только одним способом (по позиции или по имени), отделяя их символами /  и *  в сигнатуре функции.</a:t>
            </a:r>
            <a:endParaRPr lang="ru-RU" dirty="0">
              <a:latin typeface="proxima nova rg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 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 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 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en-US" sz="105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05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05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ошибка: </a:t>
            </a:r>
            <a:r>
              <a:rPr lang="en-US" sz="105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e, f </a:t>
            </a:r>
            <a:r>
              <a:rPr lang="ru-RU" sz="105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должны быть именованными</a:t>
            </a:r>
            <a:r>
              <a:rPr lang="ru-RU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05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05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ошибка: </a:t>
            </a:r>
            <a:r>
              <a:rPr lang="en-US" sz="105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a, b </a:t>
            </a:r>
            <a:r>
              <a:rPr lang="ru-RU" sz="105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должны быть позиционными</a:t>
            </a:r>
            <a:r>
              <a:rPr lang="ru-RU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05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05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05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вернется 210</a:t>
            </a:r>
            <a:r>
              <a:rPr lang="ru-RU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05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fun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f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sz="105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вернется 210</a:t>
            </a:r>
            <a:endParaRPr lang="ru-RU" sz="105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lvl="0" indent="0" algn="just" defTabSz="914400" fontAlgn="base" latinLnBrk="0">
              <a:spcBef>
                <a:spcPct val="0"/>
              </a:spcBef>
              <a:buSzTx/>
              <a:tabLst/>
              <a:defRPr/>
            </a:pPr>
            <a:r>
              <a:rPr lang="ru-RU" altLang="ru-RU" dirty="0">
                <a:latin typeface="proxima nova rg"/>
              </a:rPr>
              <a:t>Это нововведение полезно в ряде случаев. Например, чтоб предотвратить связь по имени для аргумента, имя которого может измениться в будущем: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ru-RU" sz="1050" b="1" dirty="0">
              <a:solidFill>
                <a:srgbClr val="0000F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fr-FR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fr-FR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050" dirty="0">
                <a:solidFill>
                  <a:srgbClr val="FF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quantiles</a:t>
            </a:r>
            <a:r>
              <a:rPr lang="fr-FR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fr-FR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FR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/,</a:t>
            </a:r>
            <a:r>
              <a:rPr lang="fr-FR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*,</a:t>
            </a:r>
            <a:r>
              <a:rPr lang="fr-FR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</a:t>
            </a:r>
            <a:r>
              <a:rPr lang="fr-FR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FR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fr-FR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fr-FR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r>
              <a:rPr lang="fr-FR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FR" sz="105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'exclusive'</a:t>
            </a:r>
            <a:r>
              <a:rPr lang="fr-FR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r>
              <a:rPr lang="fr-FR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fr-FR" sz="105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altLang="ru-RU" sz="1000" dirty="0">
              <a:solidFill>
                <a:srgbClr val="002060"/>
              </a:solidFill>
              <a:latin typeface="+mn-lt"/>
            </a:endParaRPr>
          </a:p>
          <a:p>
            <a:pPr algn="just" eaLnBrk="0" fontAlgn="base" hangingPunct="0">
              <a:spcBef>
                <a:spcPct val="0"/>
              </a:spcBef>
              <a:buFont typeface="Arial"/>
              <a:buNone/>
              <a:defRPr/>
            </a:pPr>
            <a:r>
              <a:rPr lang="ru-RU" altLang="ru-RU" dirty="0">
                <a:latin typeface="proxima nova rg"/>
              </a:rPr>
              <a:t>Или когда имя аргумента не несет смысловой нагрузки: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ru-RU" sz="1050" dirty="0">
              <a:solidFill>
                <a:srgbClr val="008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105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Новая сигнатура встроенной функции len - len(obj, /)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ru-RU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ru-RU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105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'hello'</a:t>
            </a:r>
            <a:r>
              <a:rPr lang="ru-RU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05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Передача по имени "obj" только ухудшает читабельность</a:t>
            </a:r>
            <a:endParaRPr lang="ru-RU" sz="105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73406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237069"/>
            <a:ext cx="891446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+mn-lt"/>
              </a:rPr>
              <a:t>3.8: Только-позиционные аргументы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0326E-B67B-4DF3-B81E-C52ECD82D168}"/>
              </a:ext>
            </a:extLst>
          </p:cNvPr>
          <p:cNvSpPr txBox="1"/>
          <p:nvPr/>
        </p:nvSpPr>
        <p:spPr>
          <a:xfrm>
            <a:off x="180392" y="1066392"/>
            <a:ext cx="88143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dirty="0">
                <a:latin typeface="proxima nova rg"/>
              </a:rPr>
              <a:t>Нововведение также позволяет передавать аргументы через </a:t>
            </a:r>
            <a:r>
              <a:rPr lang="en-US" altLang="ru-RU" dirty="0">
                <a:latin typeface="proxima nova rg"/>
              </a:rPr>
              <a:t>**kwargs</a:t>
            </a:r>
            <a:r>
              <a:rPr lang="ru-RU" altLang="ru-RU" dirty="0">
                <a:latin typeface="proxima nova rg"/>
              </a:rPr>
              <a:t>,</a:t>
            </a:r>
            <a:r>
              <a:rPr lang="en-US" altLang="ru-RU" dirty="0">
                <a:latin typeface="proxima nova rg"/>
              </a:rPr>
              <a:t> </a:t>
            </a:r>
            <a:r>
              <a:rPr lang="ru-RU" altLang="ru-RU" dirty="0">
                <a:latin typeface="proxima nova rg"/>
              </a:rPr>
              <a:t>даже если ключи будут совпадать с названиями позиционных формальных аргументов:</a:t>
            </a:r>
            <a:endParaRPr lang="ru-RU" dirty="0">
              <a:latin typeface="proxima nova rg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fun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b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**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kwargs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):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b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kwargs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fun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10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20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a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b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2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c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3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5280D-9374-4A8C-A612-D0600D5FF140}"/>
              </a:ext>
            </a:extLst>
          </p:cNvPr>
          <p:cNvSpPr/>
          <p:nvPr/>
        </p:nvSpPr>
        <p:spPr>
          <a:xfrm>
            <a:off x="180392" y="2838404"/>
            <a:ext cx="4307198" cy="30777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10 20 {'a': 1, 'b': 2, 'c': 3}</a:t>
            </a:r>
            <a:endParaRPr kumimoji="0" lang="ru-RU" altLang="ru-RU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06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237069"/>
            <a:ext cx="891446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+mn-lt"/>
              </a:rPr>
              <a:t>3.8: Новое поколение f-строк с самодокументацией выражений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0326E-B67B-4DF3-B81E-C52ECD82D168}"/>
              </a:ext>
            </a:extLst>
          </p:cNvPr>
          <p:cNvSpPr txBox="1"/>
          <p:nvPr/>
        </p:nvSpPr>
        <p:spPr>
          <a:xfrm>
            <a:off x="180392" y="1308988"/>
            <a:ext cx="8814318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dirty="0">
                <a:latin typeface="proxima nova rg"/>
              </a:rPr>
              <a:t>Добавление знака = к выражению в фигурных скобках внутри </a:t>
            </a:r>
            <a:r>
              <a:rPr lang="en-US" altLang="ru-RU" dirty="0">
                <a:latin typeface="proxima nova rg"/>
              </a:rPr>
              <a:t>f-</a:t>
            </a:r>
            <a:r>
              <a:rPr lang="ru-RU" altLang="ru-RU" dirty="0">
                <a:latin typeface="proxima nova rg"/>
              </a:rPr>
              <a:t>строки обеспечивает вывод не только результата выражения, но и самого выражения в текстовом представлении. В первую очередь, это удобно для отладки.</a:t>
            </a:r>
            <a:endParaRPr lang="ru-RU" dirty="0">
              <a:latin typeface="proxima nova rg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>
              <a:buNone/>
            </a:pPr>
            <a:r>
              <a:rPr lang="en-US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datetime </a:t>
            </a:r>
            <a:r>
              <a:rPr lang="en-US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dt </a:t>
            </a:r>
          </a:p>
          <a:p>
            <a:pPr>
              <a:buNone/>
            </a:pPr>
            <a:endParaRPr lang="en-US" sz="105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 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'Ivan Ivanov'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member_since 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dt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1975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en-US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f'{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{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member_since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}'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05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ru-RU" kern="1200" dirty="0"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ru-RU" sz="1400" kern="12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dirty="0">
                <a:latin typeface="proxima nova rg"/>
              </a:rPr>
              <a:t>При этом исходное выражение всегда отображается полностью, а форматом выводимого результата можно управлять:</a:t>
            </a:r>
            <a:endParaRPr lang="en-US" altLang="ru-RU" dirty="0">
              <a:latin typeface="proxima nova rg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altLang="ru-RU" sz="1400" dirty="0">
              <a:solidFill>
                <a:srgbClr val="002060"/>
              </a:solidFill>
              <a:latin typeface="+mn-lt"/>
            </a:endParaRPr>
          </a:p>
          <a:p>
            <a:pPr>
              <a:buNone/>
            </a:pPr>
            <a:r>
              <a:rPr lang="en-US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f'{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!s} {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today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member_since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days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:,d}'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05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5280D-9374-4A8C-A612-D0600D5FF140}"/>
              </a:ext>
            </a:extLst>
          </p:cNvPr>
          <p:cNvSpPr/>
          <p:nvPr/>
        </p:nvSpPr>
        <p:spPr>
          <a:xfrm>
            <a:off x="180392" y="3136410"/>
            <a:ext cx="6674498" cy="30777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user='Ivan Ivanov' member_since=datetime.date(1975, 7, 31)</a:t>
            </a:r>
            <a:endParaRPr lang="ru-RU" altLang="ru-RU" sz="2000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F97948F-3D38-4C17-AF4C-4B9AE86D7768}"/>
              </a:ext>
            </a:extLst>
          </p:cNvPr>
          <p:cNvSpPr/>
          <p:nvPr/>
        </p:nvSpPr>
        <p:spPr>
          <a:xfrm>
            <a:off x="180391" y="4511788"/>
            <a:ext cx="6973077" cy="30777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user=Ivan Ivanov  (dt.date.today() - member_since).days=16,788</a:t>
            </a:r>
            <a:endParaRPr lang="ru-RU" altLang="ru-RU" sz="2000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8720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237069"/>
            <a:ext cx="891446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accent1"/>
                </a:solidFill>
                <a:latin typeface="+mn-lt"/>
              </a:rPr>
              <a:t>3.8: continue </a:t>
            </a:r>
            <a:r>
              <a:rPr lang="ru-RU" sz="2800" b="1" dirty="0">
                <a:solidFill>
                  <a:schemeClr val="accent1"/>
                </a:solidFill>
                <a:latin typeface="+mn-lt"/>
              </a:rPr>
              <a:t>в </a:t>
            </a:r>
            <a:r>
              <a:rPr lang="en-US" sz="2800" b="1" dirty="0">
                <a:solidFill>
                  <a:schemeClr val="accent1"/>
                </a:solidFill>
                <a:latin typeface="+mn-lt"/>
              </a:rPr>
              <a:t>finally</a:t>
            </a:r>
            <a:endParaRPr lang="ru-RU" sz="28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0326E-B67B-4DF3-B81E-C52ECD82D168}"/>
              </a:ext>
            </a:extLst>
          </p:cNvPr>
          <p:cNvSpPr txBox="1"/>
          <p:nvPr/>
        </p:nvSpPr>
        <p:spPr>
          <a:xfrm>
            <a:off x="180392" y="1066392"/>
            <a:ext cx="8814318" cy="1808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dirty="0">
                <a:latin typeface="proxima nova rg"/>
              </a:rPr>
              <a:t>В предыдущих версиях нельзя было использовать выражение continue внутри finally из-за сложности в реализации этой функциональности. Теперь можно.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>
              <a:buNone/>
            </a:pPr>
            <a:r>
              <a:rPr lang="en-US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 </a:t>
            </a:r>
            <a:r>
              <a:rPr lang="en-US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range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ru-RU" sz="105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Тест'</a:t>
            </a:r>
            <a:r>
              <a:rPr lang="ru-RU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ru-RU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US" sz="105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105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ru-RU" sz="105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05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ru-RU" sz="105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Эту строку вы не увидите.'</a:t>
            </a:r>
            <a:r>
              <a:rPr lang="ru-RU" sz="105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105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5280D-9374-4A8C-A612-D0600D5FF140}"/>
              </a:ext>
            </a:extLst>
          </p:cNvPr>
          <p:cNvSpPr/>
          <p:nvPr/>
        </p:nvSpPr>
        <p:spPr>
          <a:xfrm>
            <a:off x="180392" y="2874579"/>
            <a:ext cx="6674498" cy="95410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Тест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Тест</a:t>
            </a:r>
            <a:endParaRPr lang="en-US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43417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229535" y="245258"/>
            <a:ext cx="891446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+mn-lt"/>
              </a:rPr>
              <a:t>3.8: Новинки в словарях и словарных выражениях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0326E-B67B-4DF3-B81E-C52ECD82D168}"/>
              </a:ext>
            </a:extLst>
          </p:cNvPr>
          <p:cNvSpPr txBox="1"/>
          <p:nvPr/>
        </p:nvSpPr>
        <p:spPr>
          <a:xfrm>
            <a:off x="180392" y="1066392"/>
            <a:ext cx="8814318" cy="3716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dirty="0">
                <a:latin typeface="proxima nova rg"/>
              </a:rPr>
              <a:t>Словари теперь можно обходить в порядке обратном порядку добавления элементов: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dirty="0">
              <a:latin typeface="proxima nova rg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{}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range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f'item_{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input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'Input item: 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first, second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k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])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direct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k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reversed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)])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reversed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ru-RU" kern="1200" dirty="0"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ru-RU" sz="1400" kern="12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ru-RU" kern="12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ru-RU" sz="1400" kern="12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ru-RU" sz="1400" kern="12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dirty="0">
                <a:latin typeface="proxima nova rg"/>
              </a:rPr>
              <a:t>А для словарных выражений гарантируется вычисление ключа раньше значения. Это позволяет применять списковые выражения в случаях, когда значение вычисляется по ключу.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altLang="ru-RU" sz="1000" dirty="0">
              <a:solidFill>
                <a:srgbClr val="002060"/>
              </a:solidFill>
              <a:latin typeface="+mn-lt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 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"Ivan Ivanov"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"Petr Petrov"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accounts 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{(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login 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:=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replace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'.'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()):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f'{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}@mail.ru'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names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accounts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5280D-9374-4A8C-A612-D0600D5FF140}"/>
              </a:ext>
            </a:extLst>
          </p:cNvPr>
          <p:cNvSpPr/>
          <p:nvPr/>
        </p:nvSpPr>
        <p:spPr>
          <a:xfrm>
            <a:off x="180391" y="2439845"/>
            <a:ext cx="6674498" cy="95410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Input item: first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Input item: second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['item_0', 'item_1']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['item_1', 'item_0']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F97948F-3D38-4C17-AF4C-4B9AE86D7768}"/>
              </a:ext>
            </a:extLst>
          </p:cNvPr>
          <p:cNvSpPr/>
          <p:nvPr/>
        </p:nvSpPr>
        <p:spPr>
          <a:xfrm>
            <a:off x="181136" y="4764082"/>
            <a:ext cx="8297280" cy="30777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{'ivan.ivanov': 'ivan.ivanov@mail.ru', 'petr.petrov': 'petr.petrov@mail.ru'}</a:t>
            </a:r>
            <a:endParaRPr lang="en-US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11480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237069"/>
            <a:ext cx="891446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+mn-lt"/>
              </a:rPr>
              <a:t>3.8: Обновление стандартной библиотеки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0326E-B67B-4DF3-B81E-C52ECD82D168}"/>
              </a:ext>
            </a:extLst>
          </p:cNvPr>
          <p:cNvSpPr txBox="1"/>
          <p:nvPr/>
        </p:nvSpPr>
        <p:spPr>
          <a:xfrm>
            <a:off x="180392" y="1066392"/>
            <a:ext cx="8814318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-360000" algn="just">
              <a:spcBef>
                <a:spcPct val="0"/>
              </a:spcBef>
              <a:spcAft>
                <a:spcPts val="6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ru-RU" dirty="0">
                <a:latin typeface="proxima nova rg"/>
              </a:rPr>
              <a:t>В модуле functools добавлена реализация lru_cache(user_function), позволяющая применять этот декоратор, не указывая maxsize (по умолчанию будет maxsize=128). </a:t>
            </a:r>
          </a:p>
          <a:p>
            <a:pPr marL="360000" indent="-360000" algn="just">
              <a:spcBef>
                <a:spcPct val="0"/>
              </a:spcBef>
              <a:spcAft>
                <a:spcPts val="6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ru-RU" dirty="0">
                <a:latin typeface="proxima nova rg"/>
              </a:rPr>
              <a:t>Функция </a:t>
            </a:r>
            <a:r>
              <a:rPr lang="en-US" dirty="0">
                <a:latin typeface="proxima nova rg"/>
              </a:rPr>
              <a:t>clock()</a:t>
            </a:r>
            <a:r>
              <a:rPr lang="ru-RU" dirty="0">
                <a:latin typeface="proxima nova rg"/>
              </a:rPr>
              <a:t> окончательна удалена из модуля </a:t>
            </a:r>
            <a:r>
              <a:rPr lang="en-US" dirty="0">
                <a:latin typeface="proxima nova rg"/>
              </a:rPr>
              <a:t>time. </a:t>
            </a:r>
            <a:r>
              <a:rPr lang="ru-RU" dirty="0">
                <a:latin typeface="proxima nova rg"/>
              </a:rPr>
              <a:t>Вместо нее предлагается использовать функции </a:t>
            </a:r>
            <a:r>
              <a:rPr lang="en-US" dirty="0">
                <a:latin typeface="proxima nova rg"/>
              </a:rPr>
              <a:t>time.perf_counter()</a:t>
            </a:r>
            <a:r>
              <a:rPr lang="ru-RU" dirty="0">
                <a:latin typeface="proxima nova rg"/>
              </a:rPr>
              <a:t> – с учетом </a:t>
            </a:r>
            <a:r>
              <a:rPr lang="en-US" dirty="0">
                <a:latin typeface="proxima nova rg"/>
              </a:rPr>
              <a:t>sleep</a:t>
            </a:r>
            <a:r>
              <a:rPr lang="ru-RU" dirty="0">
                <a:latin typeface="proxima nova rg"/>
              </a:rPr>
              <a:t>, либо</a:t>
            </a:r>
            <a:r>
              <a:rPr lang="en-US" dirty="0">
                <a:latin typeface="proxima nova rg"/>
              </a:rPr>
              <a:t> time.process_time() – </a:t>
            </a:r>
            <a:r>
              <a:rPr lang="ru-RU" dirty="0">
                <a:latin typeface="proxima nova rg"/>
              </a:rPr>
              <a:t>без учета </a:t>
            </a:r>
            <a:r>
              <a:rPr lang="en-US" dirty="0">
                <a:latin typeface="proxima nova rg"/>
              </a:rPr>
              <a:t>sleep</a:t>
            </a:r>
            <a:r>
              <a:rPr lang="ru-RU" dirty="0">
                <a:latin typeface="proxima nova rg"/>
              </a:rPr>
              <a:t>.</a:t>
            </a:r>
            <a:endParaRPr lang="en-US" dirty="0">
              <a:latin typeface="proxima nova rg"/>
            </a:endParaRPr>
          </a:p>
          <a:p>
            <a:pPr marL="360000" indent="-360000" algn="just">
              <a:spcBef>
                <a:spcPct val="0"/>
              </a:spcBef>
              <a:spcAft>
                <a:spcPts val="6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ru-RU" dirty="0">
                <a:latin typeface="proxima nova rg"/>
              </a:rPr>
              <a:t>Модуль </a:t>
            </a:r>
            <a:r>
              <a:rPr lang="en-US" dirty="0">
                <a:latin typeface="proxima nova rg"/>
              </a:rPr>
              <a:t>multiprocessing</a:t>
            </a:r>
            <a:r>
              <a:rPr lang="ru-RU" dirty="0">
                <a:latin typeface="proxima nova rg"/>
              </a:rPr>
              <a:t> в </a:t>
            </a:r>
            <a:r>
              <a:rPr lang="en-US" dirty="0">
                <a:latin typeface="proxima nova rg"/>
              </a:rPr>
              <a:t>macOS </a:t>
            </a:r>
            <a:r>
              <a:rPr lang="ru-RU" dirty="0">
                <a:latin typeface="proxima nova rg"/>
              </a:rPr>
              <a:t>теперь, по умолчанию, использует метод </a:t>
            </a:r>
            <a:r>
              <a:rPr lang="en-US" dirty="0">
                <a:latin typeface="proxima nova rg"/>
              </a:rPr>
              <a:t>spawn(</a:t>
            </a:r>
            <a:r>
              <a:rPr lang="ru-RU" dirty="0">
                <a:latin typeface="proxima nova rg"/>
              </a:rPr>
              <a:t>), а не </a:t>
            </a:r>
            <a:r>
              <a:rPr lang="en-US" dirty="0">
                <a:latin typeface="proxima nova rg"/>
              </a:rPr>
              <a:t>fork().</a:t>
            </a:r>
            <a:endParaRPr lang="ru-RU" dirty="0">
              <a:latin typeface="proxima nova rg"/>
            </a:endParaRPr>
          </a:p>
          <a:p>
            <a:pPr marL="360000" indent="-360000" algn="just">
              <a:spcBef>
                <a:spcPct val="0"/>
              </a:spcBef>
              <a:spcAft>
                <a:spcPts val="6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ru-RU" dirty="0">
                <a:latin typeface="proxima nova rg"/>
              </a:rPr>
              <a:t>Класс </a:t>
            </a:r>
            <a:r>
              <a:rPr lang="en-US" dirty="0">
                <a:latin typeface="proxima nova rg"/>
              </a:rPr>
              <a:t>Profile </a:t>
            </a:r>
            <a:r>
              <a:rPr lang="ru-RU" dirty="0">
                <a:latin typeface="proxima nova rg"/>
              </a:rPr>
              <a:t>из модуля </a:t>
            </a:r>
            <a:r>
              <a:rPr lang="en-US" dirty="0">
                <a:latin typeface="proxima nova rg"/>
              </a:rPr>
              <a:t>CProfile </a:t>
            </a:r>
            <a:r>
              <a:rPr lang="ru-RU" dirty="0">
                <a:latin typeface="proxima nova rg"/>
              </a:rPr>
              <a:t>можно использовать как менеджер контекста для профилирования блоков кода.</a:t>
            </a:r>
          </a:p>
          <a:p>
            <a:pPr marL="360000" indent="-360000" algn="just">
              <a:spcBef>
                <a:spcPct val="0"/>
              </a:spcBef>
              <a:spcAft>
                <a:spcPts val="6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ru-RU" dirty="0">
                <a:latin typeface="proxima nova rg"/>
              </a:rPr>
              <a:t>Структура данных </a:t>
            </a:r>
            <a:r>
              <a:rPr lang="en-US" dirty="0">
                <a:latin typeface="proxima nova rg"/>
              </a:rPr>
              <a:t>namedtuple()</a:t>
            </a:r>
            <a:r>
              <a:rPr lang="ru-RU" dirty="0">
                <a:latin typeface="proxima nova rg"/>
              </a:rPr>
              <a:t> из модуля </a:t>
            </a:r>
            <a:r>
              <a:rPr lang="en-US" dirty="0">
                <a:latin typeface="proxima nova rg"/>
              </a:rPr>
              <a:t>collections</a:t>
            </a:r>
            <a:r>
              <a:rPr lang="ru-RU" dirty="0">
                <a:latin typeface="proxima nova rg"/>
              </a:rPr>
              <a:t> ускорена более чем в два раз и теперь является наиболее быстрой </a:t>
            </a:r>
            <a:r>
              <a:rPr lang="en-US" dirty="0">
                <a:latin typeface="proxima nova rg"/>
              </a:rPr>
              <a:t>lookup-</a:t>
            </a:r>
            <a:r>
              <a:rPr lang="ru-RU" dirty="0">
                <a:latin typeface="proxima nova rg"/>
              </a:rPr>
              <a:t>структурой </a:t>
            </a:r>
            <a:r>
              <a:rPr lang="en-US" dirty="0">
                <a:latin typeface="proxima nova rg"/>
              </a:rPr>
              <a:t>(</a:t>
            </a:r>
            <a:r>
              <a:rPr lang="ru-RU" dirty="0">
                <a:latin typeface="proxima nova rg"/>
              </a:rPr>
              <a:t>т.е. для поиска по ключу</a:t>
            </a:r>
            <a:r>
              <a:rPr lang="en-US" dirty="0">
                <a:latin typeface="proxima nova rg"/>
              </a:rPr>
              <a:t>)</a:t>
            </a:r>
            <a:r>
              <a:rPr lang="ru-RU" dirty="0">
                <a:latin typeface="proxima nova rg"/>
              </a:rPr>
              <a:t>.</a:t>
            </a:r>
          </a:p>
          <a:p>
            <a:pPr marL="360000" indent="-360000" algn="just">
              <a:spcBef>
                <a:spcPct val="0"/>
              </a:spcBef>
              <a:spcAft>
                <a:spcPts val="6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ru-RU" dirty="0">
                <a:latin typeface="proxima nova rg"/>
              </a:rPr>
              <a:t>Добавлена нативная оболочка </a:t>
            </a:r>
            <a:r>
              <a:rPr lang="en-US" dirty="0">
                <a:latin typeface="proxima nova rg"/>
              </a:rPr>
              <a:t>asyncio, </a:t>
            </a:r>
            <a:r>
              <a:rPr lang="ru-RU" dirty="0">
                <a:latin typeface="proxima nova rg"/>
              </a:rPr>
              <a:t>позволяющая запускать приложение с асинхронными функциями через </a:t>
            </a:r>
            <a:r>
              <a:rPr lang="en-US" dirty="0">
                <a:latin typeface="proxima nova rg"/>
              </a:rPr>
              <a:t>python -m asyncio</a:t>
            </a:r>
            <a:r>
              <a:rPr lang="ru-RU" dirty="0">
                <a:latin typeface="proxima nova rg"/>
              </a:rPr>
              <a:t> без необходимости вызова в коде </a:t>
            </a:r>
            <a:r>
              <a:rPr lang="en-US" dirty="0">
                <a:latin typeface="proxima nova rg"/>
              </a:rPr>
              <a:t>asyncio.run()</a:t>
            </a:r>
            <a:r>
              <a:rPr lang="ru-RU" dirty="0">
                <a:latin typeface="proxima nova rg"/>
              </a:rPr>
              <a:t>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dirty="0">
              <a:latin typeface="proxima nova rg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dirty="0">
                <a:latin typeface="proxima nova rg"/>
              </a:rPr>
              <a:t>Подробности этих и других нововведений версии 3.8 можно прочитать в официальной документации: </a:t>
            </a:r>
            <a:r>
              <a:rPr lang="en-US" sz="1400" dirty="0">
                <a:solidFill>
                  <a:srgbClr val="002060"/>
                </a:solidFill>
                <a:latin typeface="+mn-lt"/>
                <a:hlinkClick r:id="rId3"/>
              </a:rPr>
              <a:t>https://docs.python.org/3/whatsnew/3.8.html</a:t>
            </a:r>
            <a:r>
              <a:rPr lang="ru-RU" sz="1400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9650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237069"/>
            <a:ext cx="891446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+mn-lt"/>
              </a:rPr>
              <a:t>3.9: Слияние и обновление словарей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0326E-B67B-4DF3-B81E-C52ECD82D168}"/>
              </a:ext>
            </a:extLst>
          </p:cNvPr>
          <p:cNvSpPr txBox="1"/>
          <p:nvPr/>
        </p:nvSpPr>
        <p:spPr>
          <a:xfrm>
            <a:off x="286138" y="931215"/>
            <a:ext cx="8814318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dirty="0">
                <a:latin typeface="proxima nova rg"/>
              </a:rPr>
              <a:t>Оператор | предлагается использовать для слияния словарей: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employees 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'Ivan Ivanov'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'Petr Petrov'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newcomers 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'Semen Semenov'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'Ivan Ivanov'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new_employees 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employees 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newcomers </a:t>
            </a:r>
          </a:p>
          <a:p>
            <a:pPr>
              <a:buNone/>
            </a:pP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new_employees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ru-RU" kern="1200" dirty="0"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ru-RU" sz="1000" kern="12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dirty="0">
                <a:latin typeface="proxima nova rg"/>
              </a:rPr>
              <a:t>Оператор |= предлагается использовать для обновления слиянием:</a:t>
            </a:r>
            <a:endParaRPr lang="en-US" altLang="ru-RU" dirty="0">
              <a:latin typeface="proxima nova rg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altLang="ru-RU" sz="1000" dirty="0">
              <a:latin typeface="proxima nova rg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employees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|=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newcomers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employees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kern="1200" dirty="0">
              <a:solidFill>
                <a:srgbClr val="00008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 kern="1200" dirty="0">
              <a:solidFill>
                <a:srgbClr val="00008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ru-RU" altLang="ru-RU" dirty="0">
                <a:latin typeface="proxima nova rg"/>
              </a:rPr>
              <a:t>Важный момент: в случае конфликта ключей в результат войдет только самое правое значение!</a:t>
            </a:r>
            <a:endParaRPr lang="en-US" altLang="ru-RU" dirty="0">
              <a:latin typeface="proxima nova rg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dirty="0">
                <a:latin typeface="proxima nova rg"/>
              </a:rPr>
              <a:t>Старый вариант слияния остается рабочим, но признан менее читабельным ("некрасивым"):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employees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{**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employees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newcomers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5280D-9374-4A8C-A612-D0600D5FF140}"/>
              </a:ext>
            </a:extLst>
          </p:cNvPr>
          <p:cNvSpPr/>
          <p:nvPr/>
        </p:nvSpPr>
        <p:spPr>
          <a:xfrm>
            <a:off x="286138" y="2058446"/>
            <a:ext cx="6674498" cy="30777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{'Ivan Ivanov': 40, 'Petr Petrov': 30, 'Semen Semenov': 20}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F97948F-3D38-4C17-AF4C-4B9AE86D7768}"/>
              </a:ext>
            </a:extLst>
          </p:cNvPr>
          <p:cNvSpPr/>
          <p:nvPr/>
        </p:nvSpPr>
        <p:spPr>
          <a:xfrm>
            <a:off x="286138" y="3399198"/>
            <a:ext cx="6973077" cy="30777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{'Ivan Ivanov': 40, 'Petr Petrov': 30, 'Semen Semenov': 20}</a:t>
            </a:r>
          </a:p>
        </p:txBody>
      </p:sp>
    </p:spTree>
    <p:extLst>
      <p:ext uri="{BB962C8B-B14F-4D97-AF65-F5344CB8AC3E}">
        <p14:creationId xmlns:p14="http://schemas.microsoft.com/office/powerpoint/2010/main" val="2068376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237069"/>
            <a:ext cx="869880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+mn-lt"/>
              </a:rPr>
              <a:t>3.9: Ослабление ограничений на написание декораторов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0326E-B67B-4DF3-B81E-C52ECD82D168}"/>
              </a:ext>
            </a:extLst>
          </p:cNvPr>
          <p:cNvSpPr txBox="1"/>
          <p:nvPr/>
        </p:nvSpPr>
        <p:spPr>
          <a:xfrm>
            <a:off x="180392" y="1333866"/>
            <a:ext cx="8814318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dec_before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wrapper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(*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args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kwargs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'print before'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fun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(*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args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kwargs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wrapper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dec_after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wrapper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(*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args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kwargs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fun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(*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args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**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kwargs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'print after'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res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return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wrapper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decs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dec_before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dec_after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@decs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0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# Использование индекса здесь было недопустимо в предыдущих версиях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fun1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'Hello'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8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@decs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Использование индекса здесь было недопустимо в предыдущих версиях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fun2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'Bye'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89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237069"/>
            <a:ext cx="891446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+mn-lt"/>
              </a:rPr>
              <a:t>3.9: Обновление строковых методов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0326E-B67B-4DF3-B81E-C52ECD82D168}"/>
              </a:ext>
            </a:extLst>
          </p:cNvPr>
          <p:cNvSpPr txBox="1"/>
          <p:nvPr/>
        </p:nvSpPr>
        <p:spPr>
          <a:xfrm>
            <a:off x="286138" y="931215"/>
            <a:ext cx="88143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dirty="0">
                <a:latin typeface="proxima nova rg"/>
              </a:rPr>
              <a:t>Параметр count метода replace теперь однозначно трактуется, как максимальное количество заменяемых вхождений. Ранее следующий код не приводил к заменам: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>
              <a:buNone/>
            </a:pPr>
            <a:r>
              <a:rPr lang="en-US" sz="10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replace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""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"blog"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0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en-US" sz="1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ru-RU" kern="1200" dirty="0"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ru-RU" sz="1000" kern="12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dirty="0">
                <a:latin typeface="proxima nova rg"/>
              </a:rPr>
              <a:t>Теперь код работает, как ожидается:</a:t>
            </a:r>
            <a:endParaRPr lang="en-US" altLang="ru-RU" dirty="0">
              <a:latin typeface="proxima nova rg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ru-RU" dirty="0">
              <a:latin typeface="proxima nova rg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ru-RU" altLang="ru-RU" dirty="0">
              <a:latin typeface="proxima nova rg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ru-RU" sz="1000" dirty="0">
              <a:latin typeface="proxima nova rg"/>
            </a:endParaRP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ClrTx/>
              <a:defRPr/>
            </a:pPr>
            <a:r>
              <a:rPr lang="ru-RU" altLang="ru-RU" dirty="0">
                <a:latin typeface="proxima nova rg"/>
              </a:rPr>
              <a:t>Также у строк появились новые методы: </a:t>
            </a:r>
            <a:r>
              <a:rPr lang="en-US" altLang="ru-RU" dirty="0">
                <a:latin typeface="proxima nova rg"/>
              </a:rPr>
              <a:t>str.removeprefix(prefix)</a:t>
            </a:r>
            <a:r>
              <a:rPr lang="ru-RU" altLang="ru-RU" dirty="0">
                <a:latin typeface="proxima nova rg"/>
              </a:rPr>
              <a:t> – для удаления префикса и </a:t>
            </a:r>
            <a:r>
              <a:rPr lang="en-US" altLang="ru-RU" dirty="0">
                <a:latin typeface="proxima nova rg"/>
              </a:rPr>
              <a:t>str.removesuffix(suffix)</a:t>
            </a:r>
            <a:r>
              <a:rPr lang="ru-RU" altLang="ru-RU" dirty="0">
                <a:latin typeface="proxima nova rg"/>
              </a:rPr>
              <a:t> – для удаления суффикса.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'hello_world'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removeprefix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'hello_'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ожидается совпадение от начала строки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'hello_world'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removesuffix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'_world'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))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# ожидается совпадение до конца строки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'hello_world'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removeprefix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'_world'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антипример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'hello_world'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removesuffix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'hello_'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))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антипример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5280D-9374-4A8C-A612-D0600D5FF140}"/>
              </a:ext>
            </a:extLst>
          </p:cNvPr>
          <p:cNvSpPr/>
          <p:nvPr/>
        </p:nvSpPr>
        <p:spPr>
          <a:xfrm>
            <a:off x="286138" y="1797189"/>
            <a:ext cx="6674498" cy="30777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F97948F-3D38-4C17-AF4C-4B9AE86D7768}"/>
              </a:ext>
            </a:extLst>
          </p:cNvPr>
          <p:cNvSpPr/>
          <p:nvPr/>
        </p:nvSpPr>
        <p:spPr>
          <a:xfrm>
            <a:off x="286138" y="4347535"/>
            <a:ext cx="6973077" cy="73866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world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hello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hello_world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hello_world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517BDD8-FAF8-4892-BFDC-8C09721ADACD}"/>
              </a:ext>
            </a:extLst>
          </p:cNvPr>
          <p:cNvSpPr/>
          <p:nvPr/>
        </p:nvSpPr>
        <p:spPr>
          <a:xfrm>
            <a:off x="286138" y="2571750"/>
            <a:ext cx="6674498" cy="30777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blog</a:t>
            </a: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738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237069"/>
            <a:ext cx="891446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+mn-lt"/>
              </a:rPr>
              <a:t>3.9: Обновление модуля </a:t>
            </a:r>
            <a:r>
              <a:rPr lang="en-US" sz="2800" b="1" dirty="0">
                <a:solidFill>
                  <a:schemeClr val="accent1"/>
                </a:solidFill>
                <a:latin typeface="+mn-lt"/>
              </a:rPr>
              <a:t>math</a:t>
            </a:r>
            <a:endParaRPr lang="ru-RU" sz="28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0326E-B67B-4DF3-B81E-C52ECD82D168}"/>
              </a:ext>
            </a:extLst>
          </p:cNvPr>
          <p:cNvSpPr txBox="1"/>
          <p:nvPr/>
        </p:nvSpPr>
        <p:spPr>
          <a:xfrm>
            <a:off x="286138" y="931215"/>
            <a:ext cx="881431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dirty="0">
                <a:latin typeface="proxima nova rg"/>
              </a:rPr>
              <a:t>Добавлен метод для вычисления наименьшего общего кратного целых аргументов: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&gt;&gt;&gt;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math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&gt;&gt;&gt;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math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lcm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48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72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108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432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just">
              <a:spcBef>
                <a:spcPct val="0"/>
              </a:spcBef>
              <a:buClrTx/>
              <a:defRPr/>
            </a:pPr>
            <a:r>
              <a:rPr lang="ru-RU" altLang="ru-RU" dirty="0">
                <a:latin typeface="proxima nova rg"/>
              </a:rPr>
              <a:t>Добавлена ​​поддержка произвольного количества аргументов в методе для вычисления наибольшего общего делителя целочисленных аргументов.</a:t>
            </a:r>
          </a:p>
          <a:p>
            <a:pPr algn="just">
              <a:spcBef>
                <a:spcPct val="0"/>
              </a:spcBef>
              <a:buClrTx/>
              <a:defRPr/>
            </a:pPr>
            <a:endParaRPr lang="ru-RU" sz="1000" dirty="0">
              <a:latin typeface="proxima nova rg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&gt;&gt;&gt;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math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gcd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9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12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21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lvl="0" indent="0" algn="just" defTabSz="914400" eaLnBrk="1" fontAlgn="auto" latinLnBrk="0" hangingPunct="1">
              <a:spcBef>
                <a:spcPct val="0"/>
              </a:spcBef>
              <a:buClrTx/>
              <a:buSzTx/>
              <a:buFont typeface="Arial"/>
              <a:buNone/>
              <a:tabLst/>
              <a:defRPr/>
            </a:pPr>
            <a:endParaRPr lang="ru-RU" altLang="ru-RU" sz="1000" dirty="0">
              <a:latin typeface="proxima nova rg"/>
            </a:endParaRPr>
          </a:p>
          <a:p>
            <a:pPr marL="0" lvl="0" indent="0" algn="just" defTabSz="914400" eaLnBrk="1" fontAlgn="auto" latinLnBrk="0" hangingPunct="1">
              <a:spcBef>
                <a:spcPct val="0"/>
              </a:spcBef>
              <a:buClrTx/>
              <a:buSzTx/>
              <a:buFont typeface="Arial"/>
              <a:buNone/>
              <a:tabLst/>
              <a:defRPr/>
            </a:pPr>
            <a:r>
              <a:rPr lang="ru-RU" altLang="ru-RU" dirty="0">
                <a:latin typeface="proxima nova rg"/>
              </a:rPr>
              <a:t>Добавлен метод для вычисления ближайшего к "x" числа с плавающей точкой, если двигаться в направлении "y".</a:t>
            </a:r>
          </a:p>
          <a:p>
            <a:pPr marL="0" lvl="0" indent="0" algn="just" defTabSz="914400" eaLnBrk="1" fontAlgn="auto" latinLnBrk="0" hangingPunct="1">
              <a:spcBef>
                <a:spcPct val="0"/>
              </a:spcBef>
              <a:buClrTx/>
              <a:buSzTx/>
              <a:buFont typeface="Arial"/>
              <a:buNone/>
              <a:tabLst/>
              <a:defRPr/>
            </a:pPr>
            <a:endParaRPr lang="ru-RU" altLang="ru-RU" sz="1000" dirty="0">
              <a:latin typeface="proxima nova rg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&gt;&gt;&gt;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math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nextafter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1.9999999999999998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algn="just">
              <a:spcBef>
                <a:spcPct val="0"/>
              </a:spcBef>
              <a:buClrTx/>
              <a:defRPr/>
            </a:pPr>
            <a:endParaRPr lang="ru-RU" altLang="ru-RU" sz="1000" dirty="0">
              <a:latin typeface="proxima nova rg"/>
            </a:endParaRPr>
          </a:p>
          <a:p>
            <a:pPr algn="just">
              <a:spcBef>
                <a:spcPct val="0"/>
              </a:spcBef>
              <a:buClrTx/>
              <a:defRPr/>
            </a:pPr>
            <a:r>
              <a:rPr lang="ru-RU" altLang="ru-RU" dirty="0">
                <a:latin typeface="proxima nova rg"/>
              </a:rPr>
              <a:t>Добавлен метод для вычисления значения младшего бита числа с плавающей точкой.</a:t>
            </a:r>
          </a:p>
          <a:p>
            <a:pPr algn="just">
              <a:spcBef>
                <a:spcPct val="0"/>
              </a:spcBef>
              <a:buClrTx/>
              <a:defRPr/>
            </a:pPr>
            <a:endParaRPr lang="es-ES" sz="1000" dirty="0">
              <a:latin typeface="proxima nova rg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&gt;&gt;&gt;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math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ulp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0.9999999999999998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&gt;&gt;&gt;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math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nextafter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math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ulp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1.0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676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45195" y="237069"/>
            <a:ext cx="8914465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b="1" dirty="0">
                <a:solidFill>
                  <a:schemeClr val="accent1"/>
                </a:solidFill>
                <a:latin typeface="+mn-lt"/>
              </a:rPr>
              <a:t>3.</a:t>
            </a:r>
            <a:r>
              <a:rPr lang="en-US" sz="2800" b="1" dirty="0">
                <a:solidFill>
                  <a:schemeClr val="accent1"/>
                </a:solidFill>
                <a:latin typeface="+mn-lt"/>
              </a:rPr>
              <a:t>9</a:t>
            </a:r>
            <a:r>
              <a:rPr lang="ru-RU" sz="2800" b="1" dirty="0">
                <a:solidFill>
                  <a:schemeClr val="accent1"/>
                </a:solidFill>
                <a:latin typeface="+mn-lt"/>
              </a:rPr>
              <a:t>: Обновление стандартной библиотеки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0326E-B67B-4DF3-B81E-C52ECD82D168}"/>
              </a:ext>
            </a:extLst>
          </p:cNvPr>
          <p:cNvSpPr txBox="1"/>
          <p:nvPr/>
        </p:nvSpPr>
        <p:spPr>
          <a:xfrm>
            <a:off x="180392" y="1066392"/>
            <a:ext cx="8814318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-360000" algn="just">
              <a:spcBef>
                <a:spcPct val="0"/>
              </a:spcBef>
              <a:spcAft>
                <a:spcPts val="6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ru-RU" dirty="0">
                <a:latin typeface="proxima nova rg"/>
              </a:rPr>
              <a:t>Добавлен декоратор functools.cache(user_function), представляющий более компактную и быструю реализацию functools.lru_cache со значением maxsize=None.</a:t>
            </a:r>
            <a:r>
              <a:rPr lang="ru-RU" sz="1400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marL="360000" indent="-360000" algn="just">
              <a:spcBef>
                <a:spcPct val="0"/>
              </a:spcBef>
              <a:spcAft>
                <a:spcPts val="6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ru-RU" dirty="0">
                <a:latin typeface="proxima nova rg"/>
              </a:rPr>
              <a:t>Добавлена поддержка универсального синтаксиса во всех стандартных коллекциях модуля </a:t>
            </a:r>
            <a:r>
              <a:rPr lang="ru-RU" dirty="0" err="1">
                <a:latin typeface="proxima nova rg"/>
              </a:rPr>
              <a:t>typing</a:t>
            </a:r>
            <a:r>
              <a:rPr lang="ru-RU" dirty="0">
                <a:latin typeface="proxima nova rg"/>
              </a:rPr>
              <a:t>. Мы можем использовать типы list или dict в качестве универсальных типов вместо использования typing.List или typing.Dict. </a:t>
            </a:r>
          </a:p>
          <a:p>
            <a:pPr marL="360000" indent="-360000" algn="just">
              <a:spcBef>
                <a:spcPct val="0"/>
              </a:spcBef>
              <a:spcAft>
                <a:spcPts val="6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ru-RU" dirty="0">
                <a:latin typeface="proxima nova rg"/>
              </a:rPr>
              <a:t>Добавлена поддержка базы данных часовых поясов IANA в стандартной библиотеке (tz или zone info). Мы можем передать имя пути поиска как Континент/Город datetime объекту, чтобы установить его tzinfo (формат TZif). </a:t>
            </a:r>
          </a:p>
          <a:p>
            <a:pPr marL="360000" indent="-360000" algn="just">
              <a:spcBef>
                <a:spcPct val="0"/>
              </a:spcBef>
              <a:spcAft>
                <a:spcPts val="600"/>
              </a:spcAft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ru-RU" dirty="0">
                <a:latin typeface="proxima nova rg"/>
              </a:rPr>
              <a:t>В модуль hashlib добавлена поддержка хэшей SHA3 и SHAKE XOF из OpenSSL.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sz="1400" dirty="0">
              <a:solidFill>
                <a:srgbClr val="002060"/>
              </a:solidFill>
              <a:latin typeface="+mn-lt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sz="1400" dirty="0">
                <a:solidFill>
                  <a:srgbClr val="002060"/>
                </a:solidFill>
                <a:latin typeface="+mn-lt"/>
              </a:rPr>
              <a:t>Подробности этих и других нововведений версии 3.9 можно прочитать в официальной документации: </a:t>
            </a:r>
            <a:r>
              <a:rPr lang="en-US" sz="1400" dirty="0">
                <a:solidFill>
                  <a:srgbClr val="002060"/>
                </a:solidFill>
                <a:latin typeface="+mn-lt"/>
                <a:hlinkClick r:id="rId3"/>
              </a:rPr>
              <a:t>https://docs.python.org/3/whatsnew/3.9.html</a:t>
            </a:r>
            <a:r>
              <a:rPr lang="en-US" sz="1400" dirty="0">
                <a:solidFill>
                  <a:srgbClr val="002060"/>
                </a:solidFill>
                <a:latin typeface="+mn-lt"/>
              </a:rPr>
              <a:t>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4290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435100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bg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16B54891-2D09-4DCD-81C4-6F03D3A0D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225580"/>
            <a:ext cx="849630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Clr>
                <a:schemeClr val="accent6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По заданному списку создать новый список, который содержит уникальные элементы изначального списка, расположенные в порядке возрастания количества вхождений этих элементов в изначальный список.</a:t>
            </a:r>
          </a:p>
          <a:p>
            <a:pPr marL="457200" indent="-457200" eaLnBrk="1" hangingPunct="1">
              <a:spcBef>
                <a:spcPct val="0"/>
              </a:spcBef>
              <a:buClr>
                <a:schemeClr val="accent6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Реализовать итератор с возможностью просмотра следующего элемента или набора элементов не меняя состояние итератора.</a:t>
            </a:r>
          </a:p>
          <a:p>
            <a:pPr marL="457200" indent="-457200" eaLnBrk="1" hangingPunct="1">
              <a:spcBef>
                <a:spcPct val="0"/>
              </a:spcBef>
              <a:buClr>
                <a:schemeClr val="accent6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Доделать анализ кода Tasks/pep8task.py с учетом актуальных знаний и применением возможностей версий Python 3.8 и 3.9. </a:t>
            </a:r>
          </a:p>
        </p:txBody>
      </p:sp>
    </p:spTree>
    <p:extLst>
      <p:ext uri="{BB962C8B-B14F-4D97-AF65-F5344CB8AC3E}">
        <p14:creationId xmlns:p14="http://schemas.microsoft.com/office/powerpoint/2010/main" val="351211194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Другая 6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4482CC"/>
      </a:accent1>
      <a:accent2>
        <a:srgbClr val="ACFFD9"/>
      </a:accent2>
      <a:accent3>
        <a:srgbClr val="4482CC"/>
      </a:accent3>
      <a:accent4>
        <a:srgbClr val="CC7C58"/>
      </a:accent4>
      <a:accent5>
        <a:srgbClr val="2525A5"/>
      </a:accent5>
      <a:accent6>
        <a:srgbClr val="8BE3FF"/>
      </a:accent6>
      <a:hlink>
        <a:srgbClr val="8BE3FF"/>
      </a:hlink>
      <a:folHlink>
        <a:srgbClr val="0097A7"/>
      </a:folHlink>
    </a:clrScheme>
    <a:fontScheme name="Другая 13">
      <a:majorFont>
        <a:latin typeface="proxima nova bold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Другая 6">
    <a:dk1>
      <a:srgbClr val="000000"/>
    </a:dk1>
    <a:lt1>
      <a:srgbClr val="FFFFFF"/>
    </a:lt1>
    <a:dk2>
      <a:srgbClr val="595959"/>
    </a:dk2>
    <a:lt2>
      <a:srgbClr val="1F1C51"/>
    </a:lt2>
    <a:accent1>
      <a:srgbClr val="4482CC"/>
    </a:accent1>
    <a:accent2>
      <a:srgbClr val="ACFFD9"/>
    </a:accent2>
    <a:accent3>
      <a:srgbClr val="4482CC"/>
    </a:accent3>
    <a:accent4>
      <a:srgbClr val="CC7C58"/>
    </a:accent4>
    <a:accent5>
      <a:srgbClr val="2525A5"/>
    </a:accent5>
    <a:accent6>
      <a:srgbClr val="8BE3FF"/>
    </a:accent6>
    <a:hlink>
      <a:srgbClr val="8BE3FF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1018</TotalTime>
  <Words>1868</Words>
  <Application>Microsoft Office PowerPoint</Application>
  <PresentationFormat>Экран (16:9)</PresentationFormat>
  <Paragraphs>214</Paragraphs>
  <Slides>15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DM Sans</vt:lpstr>
      <vt:lpstr>Arial</vt:lpstr>
      <vt:lpstr>Calibri</vt:lpstr>
      <vt:lpstr>proxima nova rg</vt:lpstr>
      <vt:lpstr>Viga</vt:lpstr>
      <vt:lpstr>Courier New</vt:lpstr>
      <vt:lpstr>proxima nova bold</vt:lpstr>
      <vt:lpstr>Cyber Security Business Plan</vt:lpstr>
      <vt:lpstr>Программирование на языке Python</vt:lpstr>
      <vt:lpstr>Лекция №8</vt:lpstr>
      <vt:lpstr>3.8: Моржовый оператор присваивания :=</vt:lpstr>
      <vt:lpstr>3.8: Только-позиционные аргументы </vt:lpstr>
      <vt:lpstr>3.8: Только-позиционные аргументы </vt:lpstr>
      <vt:lpstr>3.8: Новое поколение f-строк с самодокументацией выражений</vt:lpstr>
      <vt:lpstr>3.8: continue в finally</vt:lpstr>
      <vt:lpstr>3.8: Новинки в словарях и словарных выражениях</vt:lpstr>
      <vt:lpstr>3.8: Обновление стандартной библиотеки</vt:lpstr>
      <vt:lpstr>3.9: Слияние и обновление словарей</vt:lpstr>
      <vt:lpstr>3.9: Ослабление ограничений на написание декораторов</vt:lpstr>
      <vt:lpstr>3.9: Обновление строковых методов</vt:lpstr>
      <vt:lpstr>3.9: Обновление модуля math</vt:lpstr>
      <vt:lpstr>3.9: Обновление стандартной библиотеки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языке Python</dc:title>
  <dc:creator>Ksenia</dc:creator>
  <cp:lastModifiedBy>Ilya Orlov</cp:lastModifiedBy>
  <cp:revision>84</cp:revision>
  <dcterms:modified xsi:type="dcterms:W3CDTF">2021-09-03T18:11:29Z</dcterms:modified>
</cp:coreProperties>
</file>