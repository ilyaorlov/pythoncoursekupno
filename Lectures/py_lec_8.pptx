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27"/>
  </p:notesMasterIdLst>
  <p:sldIdLst>
    <p:sldId id="256" r:id="rId2"/>
    <p:sldId id="257" r:id="rId3"/>
    <p:sldId id="389" r:id="rId4"/>
    <p:sldId id="390" r:id="rId5"/>
    <p:sldId id="391" r:id="rId6"/>
    <p:sldId id="392" r:id="rId7"/>
    <p:sldId id="393" r:id="rId8"/>
    <p:sldId id="394" r:id="rId9"/>
    <p:sldId id="395" r:id="rId10"/>
    <p:sldId id="396" r:id="rId11"/>
    <p:sldId id="397" r:id="rId12"/>
    <p:sldId id="398" r:id="rId13"/>
    <p:sldId id="399" r:id="rId14"/>
    <p:sldId id="400" r:id="rId15"/>
    <p:sldId id="402" r:id="rId16"/>
    <p:sldId id="403" r:id="rId17"/>
    <p:sldId id="404" r:id="rId18"/>
    <p:sldId id="405" r:id="rId19"/>
    <p:sldId id="406" r:id="rId20"/>
    <p:sldId id="407" r:id="rId21"/>
    <p:sldId id="408" r:id="rId22"/>
    <p:sldId id="409" r:id="rId23"/>
    <p:sldId id="410" r:id="rId24"/>
    <p:sldId id="411" r:id="rId25"/>
    <p:sldId id="401" r:id="rId26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28"/>
      <p:bold r:id="rId29"/>
      <p:italic r:id="rId30"/>
      <p:boldItalic r:id="rId31"/>
    </p:embeddedFont>
    <p:embeddedFont>
      <p:font typeface="DM Sans" panose="020B0604020202020204" charset="0"/>
      <p:regular r:id="rId32"/>
      <p:bold r:id="rId33"/>
      <p:italic r:id="rId34"/>
      <p:boldItalic r:id="rId35"/>
    </p:embeddedFont>
    <p:embeddedFont>
      <p:font typeface="proxima nova bold" panose="02000506030000020004" charset="0"/>
      <p:bold r:id="rId36"/>
    </p:embeddedFont>
    <p:embeddedFont>
      <p:font typeface="proxima nova rg" panose="02000506030000020004" charset="0"/>
      <p:regular r:id="rId37"/>
      <p:bold r:id="rId38"/>
      <p:italic r:id="rId39"/>
      <p:boldItalic r:id="rId40"/>
    </p:embeddedFont>
    <p:embeddedFont>
      <p:font typeface="Viga" panose="020B0604020202020204" charset="0"/>
      <p:regular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61">
          <p15:clr>
            <a:srgbClr val="9AA0A6"/>
          </p15:clr>
        </p15:guide>
        <p15:guide id="2" pos="2880">
          <p15:clr>
            <a:srgbClr val="9AA0A6"/>
          </p15:clr>
        </p15:guide>
        <p15:guide id="3" pos="456">
          <p15:clr>
            <a:srgbClr val="9AA0A6"/>
          </p15:clr>
        </p15:guide>
        <p15:guide id="4" orient="horz" pos="1732">
          <p15:clr>
            <a:srgbClr val="9AA0A6"/>
          </p15:clr>
        </p15:guide>
        <p15:guide id="5" orient="horz" pos="2664">
          <p15:clr>
            <a:srgbClr val="9AA0A6"/>
          </p15:clr>
        </p15:guide>
        <p15:guide id="6" orient="horz" pos="439">
          <p15:clr>
            <a:srgbClr val="A4A3A4"/>
          </p15:clr>
        </p15:guide>
        <p15:guide id="7" orient="horz" pos="1726">
          <p15:clr>
            <a:srgbClr val="A4A3A4"/>
          </p15:clr>
        </p15:guide>
        <p15:guide id="8" pos="5352">
          <p15:clr>
            <a:srgbClr val="A4A3A4"/>
          </p15:clr>
        </p15:guide>
        <p15:guide id="9" pos="35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46" y="187"/>
      </p:cViewPr>
      <p:guideLst>
        <p:guide orient="horz" pos="461"/>
        <p:guide pos="2880"/>
        <p:guide pos="456"/>
        <p:guide orient="horz" pos="1732"/>
        <p:guide orient="horz" pos="2664"/>
        <p:guide orient="horz" pos="439"/>
        <p:guide orient="horz" pos="1726"/>
        <p:guide pos="5352"/>
        <p:guide pos="35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font" Target="fonts/font1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4650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84320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466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703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9302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94275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0653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145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9076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9567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07414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54074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1716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6110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Титульный_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FC376B5-5023-4E00-A4C2-A75CF6B6E3E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41955" y="4236437"/>
            <a:ext cx="792297" cy="800300"/>
          </a:xfrm>
          <a:prstGeom prst="rect">
            <a:avLst/>
          </a:prstGeom>
        </p:spPr>
      </p:pic>
      <p:sp>
        <p:nvSpPr>
          <p:cNvPr id="5" name="Текст 1">
            <a:extLst>
              <a:ext uri="{FF2B5EF4-FFF2-40B4-BE49-F238E27FC236}">
                <a16:creationId xmlns:a16="http://schemas.microsoft.com/office/drawing/2014/main" id="{32E21948-886C-4F10-847E-A4F0D25D077A}"/>
              </a:ext>
            </a:extLst>
          </p:cNvPr>
          <p:cNvSpPr txBox="1">
            <a:spLocks/>
          </p:cNvSpPr>
          <p:nvPr userDrawn="1"/>
        </p:nvSpPr>
        <p:spPr>
          <a:xfrm>
            <a:off x="8247148" y="4246791"/>
            <a:ext cx="780176" cy="30817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6395320F-BA3B-42CB-9DF4-77B0337CE910}" type="slidenum">
              <a:rPr lang="ru-RU" sz="150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 algn="r"/>
              <a:t>‹#›</a:t>
            </a:fld>
            <a:endParaRPr lang="ru-RU" sz="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771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4" r:id="rId3"/>
    <p:sldLayoutId id="2147483675" r:id="rId4"/>
    <p:sldLayoutId id="2147483676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8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9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10.html" TargetMode="External"/><Relationship Id="rId2" Type="http://schemas.openxmlformats.org/officeDocument/2006/relationships/hyperlink" Target="https://docs.python.org/3/library/collections.abc.html#collections-abstract-base-classes" TargetMode="Externa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" y="0"/>
            <a:ext cx="9142096" cy="5143500"/>
          </a:xfrm>
          <a:prstGeom prst="rect">
            <a:avLst/>
          </a:prstGeom>
        </p:spPr>
      </p:pic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>
            <a:off x="481264" y="1202058"/>
            <a:ext cx="5498622" cy="289096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400" dirty="0">
                <a:solidFill>
                  <a:schemeClr val="bg1"/>
                </a:solidFill>
                <a:latin typeface="+mj-lt"/>
              </a:rPr>
              <a:t>Программирование на языке</a:t>
            </a:r>
            <a:br>
              <a:rPr lang="ru-RU" sz="4400" dirty="0">
                <a:solidFill>
                  <a:schemeClr val="bg1"/>
                </a:solidFill>
                <a:latin typeface="+mj-lt"/>
              </a:rPr>
            </a:br>
            <a:r>
              <a:rPr lang="en-US" sz="9600" dirty="0">
                <a:solidFill>
                  <a:schemeClr val="accent2"/>
                </a:solidFill>
                <a:latin typeface="+mj-lt"/>
              </a:rPr>
              <a:t>Python</a:t>
            </a:r>
            <a:endParaRPr sz="9600" dirty="0">
              <a:solidFill>
                <a:schemeClr val="accent2"/>
              </a:solidFill>
              <a:latin typeface="+mj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3" y="356490"/>
            <a:ext cx="1741715" cy="5902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626625" y="207546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№8</a:t>
            </a:r>
            <a:endParaRPr sz="4800" dirty="0"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26625" y="1829344"/>
            <a:ext cx="7869676" cy="6584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ru-RU" sz="4000" dirty="0">
                <a:solidFill>
                  <a:schemeClr val="accent3"/>
                </a:solidFill>
                <a:latin typeface="+mj-lt"/>
              </a:rPr>
              <a:t>Новинки </a:t>
            </a:r>
            <a:r>
              <a:rPr lang="en-US" sz="4000" dirty="0">
                <a:solidFill>
                  <a:schemeClr val="accent3"/>
                </a:solidFill>
                <a:latin typeface="+mj-lt"/>
              </a:rPr>
              <a:t>Python &gt;= 3.8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690954" y="2681400"/>
            <a:ext cx="6081105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dirty="0">
                <a:solidFill>
                  <a:schemeClr val="tx1"/>
                </a:solidFill>
                <a:latin typeface="+mn-lt"/>
              </a:rPr>
              <a:t>3.8</a:t>
            </a:r>
          </a:p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dirty="0">
                <a:solidFill>
                  <a:schemeClr val="tx1"/>
                </a:solidFill>
                <a:latin typeface="+mn-lt"/>
              </a:rPr>
              <a:t>3.9</a:t>
            </a:r>
          </a:p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>
                <a:solidFill>
                  <a:schemeClr val="tx1"/>
                </a:solidFill>
                <a:latin typeface="+mn-lt"/>
              </a:rPr>
              <a:t>3.10</a:t>
            </a:r>
            <a:endParaRPr lang="ru-RU" altLang="ru-RU" sz="2800" dirty="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Моржовый оператор присваивания :=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64841" y="926961"/>
            <a:ext cx="8814318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ct val="0"/>
              </a:spcBef>
              <a:spcAft>
                <a:spcPts val="1200"/>
              </a:spcAft>
              <a:defRPr/>
            </a:pPr>
            <a:r>
              <a:rPr lang="ru-RU" dirty="0">
                <a:latin typeface="proxima nova rg"/>
              </a:rPr>
              <a:t>Самое известное нововведение версии 3.8 – т.н. "моржовый" оператор присваивания (walrus operator). Он позволяет выполнять присваивание непосредственно внутри выражений. Теперь, например, следующий код, ожидающий ввод числа:</a:t>
            </a:r>
          </a:p>
          <a:p>
            <a:pPr algn="just">
              <a:spcBef>
                <a:spcPct val="0"/>
              </a:spcBef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'z'</a:t>
            </a:r>
            <a:endParaRPr lang="ru-RU" sz="10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isdigit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  <a:endParaRPr lang="ru-RU" sz="1000" b="1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None/>
            </a:pPr>
            <a:r>
              <a:rPr lang="ru-RU" sz="10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input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'Input digit: 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можно упростить при помощи нового оператора: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while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not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'Input digit: 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isdigit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pass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algn="just" fontAlgn="base">
              <a:spcBef>
                <a:spcPts val="1200"/>
              </a:spcBef>
              <a:spcAft>
                <a:spcPts val="1200"/>
              </a:spcAft>
              <a:buClrTx/>
              <a:defRPr/>
            </a:pPr>
            <a:r>
              <a:rPr lang="ru-RU" altLang="ru-RU" dirty="0">
                <a:latin typeface="proxima nova rg"/>
              </a:rPr>
              <a:t>Также моржовый оператор позволяет избежать лишних вычислений, не жертвуя, при этом, компактностью кода: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patterns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'login'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'password'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'secret'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'code'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input_str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'login: James, password: Bond'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x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patterns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x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input_str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find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!=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lvl="0" indent="0" algn="just" defTabSz="914400" eaLnBrk="1" fontAlgn="base" latinLnBrk="0" hangingPunct="1">
              <a:spcBef>
                <a:spcPts val="1200"/>
              </a:spcBef>
              <a:spcAft>
                <a:spcPts val="1200"/>
              </a:spcAft>
              <a:buClrTx/>
              <a:buSzTx/>
              <a:buFont typeface="Arial"/>
              <a:buNone/>
              <a:tabLst/>
              <a:defRPr/>
            </a:pPr>
            <a:r>
              <a:rPr lang="ru-RU" altLang="ru-RU" dirty="0">
                <a:latin typeface="proxima nova rg"/>
              </a:rPr>
              <a:t>Однако, не стоит его использовать без явной необходимости, усложняя читаемость кода: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5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lst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endParaRPr kumimoji="0" lang="pt-BR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7646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Только-позиционные аргументы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954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Связывать фактические и формальные аргументы функции можно как по позициям, так и по именам формальных аргументов. В версии 3.8. появилась возможность ограничивать связь аргументов только одним способом (по позиции или по имени), отделяя их символами /  и *  в сигнатуре функции.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ошибка: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e, f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должны быть именованными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ошибка: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a, b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должны быть позиционными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вернется 210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вернется 210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lvl="0" indent="0" algn="just" defTabSz="914400" fontAlgn="base" latinLnBrk="0">
              <a:spcBef>
                <a:spcPct val="0"/>
              </a:spcBef>
              <a:buSzTx/>
              <a:tabLst/>
              <a:defRPr/>
            </a:pPr>
            <a:r>
              <a:rPr lang="ru-RU" altLang="ru-RU" dirty="0">
                <a:latin typeface="proxima nova rg"/>
              </a:rPr>
              <a:t>Это нововведение полезно в ряде случаев. Например, чтоб предотвратить связь по имени для аргумента, имя которого может измениться в будущем: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ru-RU" sz="1050" b="1" dirty="0">
              <a:solidFill>
                <a:srgbClr val="0000FF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fr-FR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dirty="0">
                <a:solidFill>
                  <a:srgbClr val="FF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quantiles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method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'exclusive'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  <a:endParaRPr lang="fr-FR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solidFill>
                <a:srgbClr val="002060"/>
              </a:solidFill>
              <a:latin typeface="+mn-lt"/>
            </a:endParaRPr>
          </a:p>
          <a:p>
            <a:pPr algn="just" eaLnBrk="0" fontAlgn="base" hangingPunct="0">
              <a:spcBef>
                <a:spcPct val="0"/>
              </a:spcBef>
              <a:buFont typeface="Arial"/>
              <a:buNone/>
              <a:defRPr/>
            </a:pPr>
            <a:r>
              <a:rPr lang="ru-RU" altLang="ru-RU" dirty="0">
                <a:latin typeface="proxima nova rg"/>
              </a:rPr>
              <a:t>Или когда имя аргумента не несет смысловой нагрузки: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ru-RU" sz="1050" dirty="0"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Новая сигнатура встроенной функции len - len(obj, /)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'hello'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Передача по имени "obj" только ухудшает читабельность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4734064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Только-позиционные аргументы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Нововведение также позволяет передавать аргументы через </a:t>
            </a:r>
            <a:r>
              <a:rPr lang="en-US" altLang="ru-RU" dirty="0">
                <a:latin typeface="proxima nova rg"/>
              </a:rPr>
              <a:t>**kwargs</a:t>
            </a:r>
            <a:r>
              <a:rPr lang="ru-RU" altLang="ru-RU" dirty="0">
                <a:latin typeface="proxima nova rg"/>
              </a:rPr>
              <a:t>,</a:t>
            </a:r>
            <a:r>
              <a:rPr lang="en-US" altLang="ru-RU" dirty="0">
                <a:latin typeface="proxima nova rg"/>
              </a:rPr>
              <a:t> </a:t>
            </a:r>
            <a:r>
              <a:rPr lang="ru-RU" altLang="ru-RU" dirty="0">
                <a:latin typeface="proxima nova rg"/>
              </a:rPr>
              <a:t>даже если ключи будут совпадать с названиями позиционных формальных аргументов: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def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fun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/,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**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kwargs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):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 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print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kwargs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fun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10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20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1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2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c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3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2838404"/>
            <a:ext cx="43071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10 20 {'a': 1, 'b': 2, 'c': 3}</a:t>
            </a:r>
            <a:endParaRPr kumimoji="0" lang="ru-RU" altLang="ru-RU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066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54951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Новое поколение f-строк с самодокументацией выражений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308988"/>
            <a:ext cx="8814318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Добавление знака = к выражению в фигурных скобках внутри </a:t>
            </a:r>
            <a:r>
              <a:rPr lang="en-US" altLang="ru-RU" dirty="0">
                <a:latin typeface="proxima nova rg"/>
              </a:rPr>
              <a:t>f-</a:t>
            </a:r>
            <a:r>
              <a:rPr lang="ru-RU" altLang="ru-RU" dirty="0">
                <a:latin typeface="proxima nova rg"/>
              </a:rPr>
              <a:t>строки обеспечивает вывод не только результата выражения, но и самого выражения в текстовом представлении. В первую очередь, это удобно для отладки.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datetime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dt </a:t>
            </a:r>
          </a:p>
          <a:p>
            <a:pPr>
              <a:buNone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member_since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1975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member_since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При этом исходное выражение всегда отображается полностью, а форматом выводимого результата можно управлять: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4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!s} {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today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member_since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:,d}'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3136410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user='Ivan Ivanov' member_since=datetime.date(1975, 7, 31)</a:t>
            </a:r>
            <a:endParaRPr lang="ru-RU" altLang="ru-RU" sz="2000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180391" y="4511788"/>
            <a:ext cx="6973077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user=Ivan Ivanov  (dt.date.today() - member_since).days=16,788</a:t>
            </a:r>
            <a:endParaRPr lang="ru-RU" altLang="ru-RU" sz="20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87208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800" b="1" dirty="0">
                <a:solidFill>
                  <a:schemeClr val="accent1"/>
                </a:solidFill>
                <a:latin typeface="+mn-lt"/>
              </a:rPr>
              <a:t>3.8: continue </a:t>
            </a:r>
            <a:r>
              <a:rPr lang="ru-RU" sz="2800" b="1" dirty="0">
                <a:solidFill>
                  <a:schemeClr val="accent1"/>
                </a:solidFill>
                <a:latin typeface="+mn-lt"/>
              </a:rPr>
              <a:t>в 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finally</a:t>
            </a:r>
            <a:endParaRPr lang="ru-RU" sz="28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1808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В предыдущих версиях нельзя было использовать выражение continue внутри finally из-за сложности в реализации этой функциональности. Теперь можно.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range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finally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Тест'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Эту строку вы не увидите.'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2874579"/>
            <a:ext cx="6674498" cy="95410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Тест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Тест</a:t>
            </a:r>
            <a:endParaRPr lang="en-US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43417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229535" y="245258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Новинки в словарях и словарных выражениях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716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Словари теперь можно обходить в порядке обратном порядку добавления элементов: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dirty="0">
              <a:latin typeface="proxima nova rg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{}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range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f'item_{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'Input item: 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first, second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])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direct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reversed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)])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reversed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А для словарных выражений гарантируется вычисление ключа раньше значения. Это позволяет применять списковые выражения в случаях, когда значение вычисляется по ключу.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solidFill>
                <a:srgbClr val="002060"/>
              </a:solidFill>
              <a:latin typeface="+mn-lt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"Ivan Ivanov"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"Petr Petrov"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accounts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login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'.'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</a:t>
            </a:r>
            <a:r>
              <a:rPr lang="en-US" sz="1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login</a:t>
            </a:r>
            <a:r>
              <a:rPr lang="en-US" sz="1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@mail.ru'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accounts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1" y="2439845"/>
            <a:ext cx="6674498" cy="95410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item: first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item: second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['item_0', 'item_1']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['item_1', 'item_0']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181136" y="4764082"/>
            <a:ext cx="8297280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{'ivan.ivanov': 'ivan.ivanov@mail.ru', 'petr.petrov': 'petr.petrov@mail.ru'}</a:t>
            </a:r>
            <a:endParaRPr lang="en-US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11480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Обновление стандартной библиотеки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В модуле functools добавлена реализация lru_cache(user_function), позволяющая применять этот декоратор, не указывая maxsize (по умолчанию будет maxsize=128).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Функция </a:t>
            </a:r>
            <a:r>
              <a:rPr lang="en-US" dirty="0">
                <a:latin typeface="proxima nova rg"/>
              </a:rPr>
              <a:t>clock()</a:t>
            </a:r>
            <a:r>
              <a:rPr lang="ru-RU" dirty="0">
                <a:latin typeface="proxima nova rg"/>
              </a:rPr>
              <a:t> окончательна удалена из модуля </a:t>
            </a:r>
            <a:r>
              <a:rPr lang="en-US" dirty="0">
                <a:latin typeface="proxima nova rg"/>
              </a:rPr>
              <a:t>time. </a:t>
            </a:r>
            <a:r>
              <a:rPr lang="ru-RU" dirty="0">
                <a:latin typeface="proxima nova rg"/>
              </a:rPr>
              <a:t>Вместо нее предлагается использовать функции </a:t>
            </a:r>
            <a:r>
              <a:rPr lang="en-US" dirty="0">
                <a:latin typeface="proxima nova rg"/>
              </a:rPr>
              <a:t>time.perf_counter()</a:t>
            </a:r>
            <a:r>
              <a:rPr lang="ru-RU" dirty="0">
                <a:latin typeface="proxima nova rg"/>
              </a:rPr>
              <a:t> – с учетом </a:t>
            </a:r>
            <a:r>
              <a:rPr lang="en-US" dirty="0">
                <a:latin typeface="proxima nova rg"/>
              </a:rPr>
              <a:t>sleep</a:t>
            </a:r>
            <a:r>
              <a:rPr lang="ru-RU" dirty="0">
                <a:latin typeface="proxima nova rg"/>
              </a:rPr>
              <a:t>, либо</a:t>
            </a:r>
            <a:r>
              <a:rPr lang="en-US" dirty="0">
                <a:latin typeface="proxima nova rg"/>
              </a:rPr>
              <a:t> time.process_time() – </a:t>
            </a:r>
            <a:r>
              <a:rPr lang="ru-RU" dirty="0">
                <a:latin typeface="proxima nova rg"/>
              </a:rPr>
              <a:t>без учета </a:t>
            </a:r>
            <a:r>
              <a:rPr lang="en-US" dirty="0">
                <a:latin typeface="proxima nova rg"/>
              </a:rPr>
              <a:t>sleep</a:t>
            </a:r>
            <a:r>
              <a:rPr lang="ru-RU" dirty="0">
                <a:latin typeface="proxima nova rg"/>
              </a:rPr>
              <a:t>.</a:t>
            </a:r>
            <a:endParaRPr lang="en-US" dirty="0">
              <a:latin typeface="proxima nova rg"/>
            </a:endParaRP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Модуль </a:t>
            </a:r>
            <a:r>
              <a:rPr lang="en-US" dirty="0">
                <a:latin typeface="proxima nova rg"/>
              </a:rPr>
              <a:t>multiprocessing</a:t>
            </a:r>
            <a:r>
              <a:rPr lang="ru-RU" dirty="0">
                <a:latin typeface="proxima nova rg"/>
              </a:rPr>
              <a:t> в </a:t>
            </a:r>
            <a:r>
              <a:rPr lang="en-US" dirty="0">
                <a:latin typeface="proxima nova rg"/>
              </a:rPr>
              <a:t>macOS </a:t>
            </a:r>
            <a:r>
              <a:rPr lang="ru-RU" dirty="0">
                <a:latin typeface="proxima nova rg"/>
              </a:rPr>
              <a:t>теперь, по умолчанию, использует метод </a:t>
            </a:r>
            <a:r>
              <a:rPr lang="en-US" dirty="0">
                <a:latin typeface="proxima nova rg"/>
              </a:rPr>
              <a:t>spawn(</a:t>
            </a:r>
            <a:r>
              <a:rPr lang="ru-RU" dirty="0">
                <a:latin typeface="proxima nova rg"/>
              </a:rPr>
              <a:t>), а не </a:t>
            </a:r>
            <a:r>
              <a:rPr lang="en-US" dirty="0">
                <a:latin typeface="proxima nova rg"/>
              </a:rPr>
              <a:t>fork().</a:t>
            </a:r>
            <a:endParaRPr lang="ru-RU" dirty="0">
              <a:latin typeface="proxima nova rg"/>
            </a:endParaRP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Класс </a:t>
            </a:r>
            <a:r>
              <a:rPr lang="en-US" dirty="0">
                <a:latin typeface="proxima nova rg"/>
              </a:rPr>
              <a:t>Profile </a:t>
            </a:r>
            <a:r>
              <a:rPr lang="ru-RU" dirty="0">
                <a:latin typeface="proxima nova rg"/>
              </a:rPr>
              <a:t>из модуля </a:t>
            </a:r>
            <a:r>
              <a:rPr lang="en-US" dirty="0">
                <a:latin typeface="proxima nova rg"/>
              </a:rPr>
              <a:t>CProfile </a:t>
            </a:r>
            <a:r>
              <a:rPr lang="ru-RU" dirty="0">
                <a:latin typeface="proxima nova rg"/>
              </a:rPr>
              <a:t>можно использовать как менеджер контекста для профилирования блоков кода.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Структура данных </a:t>
            </a:r>
            <a:r>
              <a:rPr lang="en-US" dirty="0">
                <a:latin typeface="proxima nova rg"/>
              </a:rPr>
              <a:t>namedtuple()</a:t>
            </a:r>
            <a:r>
              <a:rPr lang="ru-RU" dirty="0">
                <a:latin typeface="proxima nova rg"/>
              </a:rPr>
              <a:t> из модуля </a:t>
            </a:r>
            <a:r>
              <a:rPr lang="en-US" dirty="0">
                <a:latin typeface="proxima nova rg"/>
              </a:rPr>
              <a:t>collections</a:t>
            </a:r>
            <a:r>
              <a:rPr lang="ru-RU" dirty="0">
                <a:latin typeface="proxima nova rg"/>
              </a:rPr>
              <a:t> ускорена более чем в два раз и теперь является наиболее быстрой </a:t>
            </a:r>
            <a:r>
              <a:rPr lang="en-US" dirty="0">
                <a:latin typeface="proxima nova rg"/>
              </a:rPr>
              <a:t>lookup-</a:t>
            </a:r>
            <a:r>
              <a:rPr lang="ru-RU" dirty="0">
                <a:latin typeface="proxima nova rg"/>
              </a:rPr>
              <a:t>структурой </a:t>
            </a:r>
            <a:r>
              <a:rPr lang="en-US" dirty="0">
                <a:latin typeface="proxima nova rg"/>
              </a:rPr>
              <a:t>(</a:t>
            </a:r>
            <a:r>
              <a:rPr lang="ru-RU" dirty="0">
                <a:latin typeface="proxima nova rg"/>
              </a:rPr>
              <a:t>т.е. для поиска по ключу</a:t>
            </a:r>
            <a:r>
              <a:rPr lang="en-US" dirty="0">
                <a:latin typeface="proxima nova rg"/>
              </a:rPr>
              <a:t>)</a:t>
            </a:r>
            <a:r>
              <a:rPr lang="ru-RU" dirty="0">
                <a:latin typeface="proxima nova rg"/>
              </a:rPr>
              <a:t>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нативная оболочка </a:t>
            </a:r>
            <a:r>
              <a:rPr lang="en-US" dirty="0">
                <a:latin typeface="proxima nova rg"/>
              </a:rPr>
              <a:t>asyncio, </a:t>
            </a:r>
            <a:r>
              <a:rPr lang="ru-RU" dirty="0">
                <a:latin typeface="proxima nova rg"/>
              </a:rPr>
              <a:t>позволяющая запускать приложение с асинхронными функциями через </a:t>
            </a:r>
            <a:r>
              <a:rPr lang="en-US" dirty="0">
                <a:latin typeface="proxima nova rg"/>
              </a:rPr>
              <a:t>python -m asyncio</a:t>
            </a:r>
            <a:r>
              <a:rPr lang="ru-RU" dirty="0">
                <a:latin typeface="proxima nova rg"/>
              </a:rPr>
              <a:t> без необходимости вызова в коде </a:t>
            </a:r>
            <a:r>
              <a:rPr lang="en-US" dirty="0">
                <a:latin typeface="proxima nova rg"/>
              </a:rPr>
              <a:t>asyncio.run()</a:t>
            </a:r>
            <a:r>
              <a:rPr lang="ru-RU" dirty="0">
                <a:latin typeface="proxima nova rg"/>
              </a:rPr>
              <a:t>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dirty="0">
              <a:latin typeface="proxima nova rg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Подробности этих и других нововведений версии 3.8 можно прочитать в официальной документации: </a:t>
            </a:r>
            <a:r>
              <a:rPr lang="en-US" sz="1400" dirty="0">
                <a:solidFill>
                  <a:srgbClr val="002060"/>
                </a:solidFill>
                <a:latin typeface="+mn-lt"/>
                <a:hlinkClick r:id="rId3"/>
              </a:rPr>
              <a:t>https://docs.python.org/3/whatsnew/3.8.html</a:t>
            </a:r>
            <a:r>
              <a:rPr lang="ru-RU" sz="1400" dirty="0">
                <a:solidFill>
                  <a:srgbClr val="002060"/>
                </a:solidFill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09650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Слияние и обновление словарей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Оператор | предлагается использовать для слияния словарей: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27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'Petr Petrov'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newcomers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'Semen Semenov'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new_employees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newcomers </a:t>
            </a: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new_employees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Оператор |= предлагается использовать для обновления слиянием: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newcomers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000" b="1" kern="1200" dirty="0">
              <a:solidFill>
                <a:srgbClr val="00008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000" b="1" kern="1200" dirty="0">
              <a:solidFill>
                <a:srgbClr val="00008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Важный момент: в случае конфликта ключей в результат войдет только самое правое значение!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Старый вариант слияния остается рабочим, но признан менее читабельным ("некрасивым"):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newcomers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286138" y="2058446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 Ivanov': 40, 'Petr Petrov': 30, 'Semen Semenov': 20}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286138" y="3399198"/>
            <a:ext cx="6973077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 Ivanov': 40, 'Petr Petrov': 30, 'Semen Semenov': 20}</a:t>
            </a:r>
          </a:p>
        </p:txBody>
      </p:sp>
    </p:spTree>
    <p:extLst>
      <p:ext uri="{BB962C8B-B14F-4D97-AF65-F5344CB8AC3E}">
        <p14:creationId xmlns:p14="http://schemas.microsoft.com/office/powerpoint/2010/main" val="2068376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Ослабление ограничений на написание декораторов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333866"/>
            <a:ext cx="8814318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dec_before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wrapper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'print before'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wrapper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wrapper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'print after'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res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wrapper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dec_before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dec_after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F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@decs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# Использование индекса здесь было недопустимо в предыдущих версиях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F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@decs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Использование индекса здесь было недопустимо в предыдущих версиях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'Bye'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0589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Обновление строковых методов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Параметр count метода replace теперь однозначно трактуется, как максимальное количество заменяемых вхождений. Ранее следующий код не приводил к заменам: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"blog"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Теперь код работает, как ожидается: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dirty="0">
              <a:latin typeface="proxima nova rg"/>
            </a:endParaRPr>
          </a:p>
          <a:p>
            <a:pPr algn="just" eaLnBrk="0" fontAlgn="base" hangingPunct="0">
              <a:spcBef>
                <a:spcPct val="0"/>
              </a:spcBef>
              <a:spcAft>
                <a:spcPts val="600"/>
              </a:spcAft>
              <a:buClrTx/>
              <a:defRPr/>
            </a:pPr>
            <a:r>
              <a:rPr lang="ru-RU" altLang="ru-RU" dirty="0">
                <a:latin typeface="proxima nova rg"/>
              </a:rPr>
              <a:t>Также у строк появились новые методы: </a:t>
            </a:r>
            <a:r>
              <a:rPr lang="en-US" altLang="ru-RU" dirty="0">
                <a:latin typeface="proxima nova rg"/>
              </a:rPr>
              <a:t>str.removeprefix(prefix)</a:t>
            </a:r>
            <a:r>
              <a:rPr lang="ru-RU" altLang="ru-RU" dirty="0">
                <a:latin typeface="proxima nova rg"/>
              </a:rPr>
              <a:t> – для удаления префикса и </a:t>
            </a:r>
            <a:r>
              <a:rPr lang="en-US" altLang="ru-RU" dirty="0">
                <a:latin typeface="proxima nova rg"/>
              </a:rPr>
              <a:t>str.removesuffix(suffix)</a:t>
            </a:r>
            <a:r>
              <a:rPr lang="ru-RU" altLang="ru-RU" dirty="0">
                <a:latin typeface="proxima nova rg"/>
              </a:rPr>
              <a:t> – для удаления суффикса.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removeprefix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ожидается совпадение от начала строки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removesuffix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# ожидается совпадение до конца строки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removeprefix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антипример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removesuffix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антипример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286138" y="1797189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s-E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286138" y="4347535"/>
            <a:ext cx="6973077" cy="738664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world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hello_world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hello_world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517BDD8-FAF8-4892-BFDC-8C09721ADACD}"/>
              </a:ext>
            </a:extLst>
          </p:cNvPr>
          <p:cNvSpPr/>
          <p:nvPr/>
        </p:nvSpPr>
        <p:spPr>
          <a:xfrm>
            <a:off x="286138" y="2571750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blog</a:t>
            </a:r>
            <a:endParaRPr kumimoji="0" lang="es-E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738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Обновление модуля 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math</a:t>
            </a:r>
            <a:endParaRPr lang="ru-RU" sz="28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наименьшего общего кратного целых аргументов: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import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lcm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48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72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108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432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algn="just">
              <a:spcBef>
                <a:spcPct val="0"/>
              </a:spcBef>
              <a:buClrTx/>
              <a:defRPr/>
            </a:pPr>
            <a:r>
              <a:rPr lang="ru-RU" altLang="ru-RU" dirty="0">
                <a:latin typeface="proxima nova rg"/>
              </a:rPr>
              <a:t>Добавлена ​​поддержка произвольного количества аргументов в методе для вычисления наибольшего общего делителя целочисленных аргументов.</a:t>
            </a:r>
          </a:p>
          <a:p>
            <a:pPr algn="just">
              <a:spcBef>
                <a:spcPct val="0"/>
              </a:spcBef>
              <a:buClrTx/>
              <a:defRPr/>
            </a:pPr>
            <a:endParaRPr lang="ru-RU" sz="1000" dirty="0">
              <a:latin typeface="proxima nova rg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gcd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9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ближайшего к "x" числа с плавающей точкой, если двигаться в направлении "y".</a:t>
            </a: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nextafter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1.9999999999999998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ClrTx/>
              <a:defRPr/>
            </a:pPr>
            <a:endParaRPr lang="ru-RU" altLang="ru-RU" sz="1000" dirty="0">
              <a:latin typeface="proxima nova rg"/>
            </a:endParaRPr>
          </a:p>
          <a:p>
            <a:pPr algn="just">
              <a:spcBef>
                <a:spcPct val="0"/>
              </a:spcBef>
              <a:buClrTx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значения младшего бита числа с плавающей точкой.</a:t>
            </a:r>
          </a:p>
          <a:p>
            <a:pPr algn="just">
              <a:spcBef>
                <a:spcPct val="0"/>
              </a:spcBef>
              <a:buClrTx/>
              <a:defRPr/>
            </a:pPr>
            <a:endParaRPr lang="es-ES" sz="1000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ulp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0.9999999999999998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nextafter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ulp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1.0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9676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9</a:t>
            </a:r>
            <a:r>
              <a:rPr lang="ru-RU" sz="2800" b="1" dirty="0">
                <a:solidFill>
                  <a:schemeClr val="accent1"/>
                </a:solidFill>
                <a:latin typeface="+mn-lt"/>
              </a:rPr>
              <a:t>: Обновление стандартной библиотеки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 декоратор functools.cache(user_function), представляющий более компактную и быструю реализацию functools.lru_cache со значением maxsize=None.</a:t>
            </a:r>
            <a:r>
              <a:rPr lang="ru-RU" sz="1400" dirty="0">
                <a:solidFill>
                  <a:srgbClr val="002060"/>
                </a:solidFill>
                <a:latin typeface="+mn-lt"/>
              </a:rPr>
              <a:t>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поддержка универсального синтаксиса во всех стандартных коллекциях модуля </a:t>
            </a:r>
            <a:r>
              <a:rPr lang="ru-RU" dirty="0" err="1">
                <a:latin typeface="proxima nova rg"/>
              </a:rPr>
              <a:t>typing</a:t>
            </a:r>
            <a:r>
              <a:rPr lang="ru-RU" dirty="0">
                <a:latin typeface="proxima nova rg"/>
              </a:rPr>
              <a:t>. Мы можем использовать типы list или dict в качестве универсальных типов вместо использования typing.List или typing.Dict.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поддержка базы данных часовых поясов IANA в стандартной библиотеке (tz или zone info). Мы можем передать имя пути поиска как Континент/Город datetime объекту, чтобы установить его tzinfo (формат TZif).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В модуль hashlib добавлена поддержка хэшей SHA3 и SHAKE XOF из OpenSSL.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sz="1400" dirty="0">
              <a:solidFill>
                <a:srgbClr val="002060"/>
              </a:solidFill>
              <a:latin typeface="+mn-lt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Подробности этих и других нововведений версии 3.9 можно прочитать в официальной документации: </a:t>
            </a:r>
            <a:r>
              <a:rPr lang="en-US" dirty="0">
                <a:latin typeface="proxima nova rg"/>
                <a:hlinkClick r:id="rId3"/>
              </a:rPr>
              <a:t>https://docs.python.org/3/whatsnew/3.9.html</a:t>
            </a:r>
            <a:r>
              <a:rPr lang="en-US" dirty="0">
                <a:latin typeface="proxima nova rg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94290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>
              <a:buSzPts val="2400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3.10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предлагает альтернативу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if-elif-else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и сопоставлению по словарю, схожую с оператором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switch-case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из С/С++. Это инструкция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match/case.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Самый простой вариант ее использования – сравнение с константами (оператор ИЛИ(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|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) позволяет объединять условия):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while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True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match input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'Input command (move, stop, any other): 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case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'move'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"I'm moving"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case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'stop'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'STOP'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'Stop'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f"I'm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ping"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break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case 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f"I'm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cmd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ing"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  <a:p>
            <a:pPr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command (move, stop, any other): move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I'm moving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command (move, stop, any other): jump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I'm jumping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command (move, stop, any other): stop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I'm stopping</a:t>
            </a:r>
            <a:endParaRPr lang="ru-RU" altLang="ru-RU" sz="15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71791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>
              <a:buSzPts val="2400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>
              <a:spcBef>
                <a:spcPct val="0"/>
              </a:spcBef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Еще один вариант использование – сравнение последовательностей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 –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кортежей, списков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– (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на примере задачи с подменой чисел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)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:</a:t>
            </a:r>
          </a:p>
          <a:p>
            <a:pPr algn="just">
              <a:spcBef>
                <a:spcPct val="0"/>
              </a:spcBef>
              <a:buNone/>
            </a:pP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range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101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match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i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%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%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5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"FizzBuzz"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"Fizz"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"Buzz"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i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  <a:p>
            <a:pPr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Fizz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pl-PL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Buzz</a:t>
            </a:r>
            <a:endParaRPr lang="ru-RU" altLang="ru-RU" sz="15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30476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Также можно сравнивать типы, в т.ч. пользовательские:</a:t>
            </a:r>
          </a:p>
          <a:p>
            <a:pPr algn="just" eaLnBrk="1" hangingPunct="1">
              <a:spcBef>
                <a:spcPct val="0"/>
              </a:spcBef>
              <a:buNone/>
            </a:pP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class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__init__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power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power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__repr__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f"Tank(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)"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endParaRPr lang="en-US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en-US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match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str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str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arg1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copy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append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arg1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arg2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power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res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None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res</a:t>
            </a:r>
          </a:p>
        </p:txBody>
      </p:sp>
    </p:spTree>
    <p:extLst>
      <p:ext uri="{BB962C8B-B14F-4D97-AF65-F5344CB8AC3E}">
        <p14:creationId xmlns:p14="http://schemas.microsoft.com/office/powerpoint/2010/main" val="13902286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'hello'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'world'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4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add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Tank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))=}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  <a:p>
            <a:pPr>
              <a:buNone/>
            </a:pPr>
            <a:endParaRPr lang="en-US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add(1, 2)=3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add('hello', 'world')='helloworld'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add([1, 2], [3, 4])=[1, 2, 3, 4]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add([1, 2], 3)=[1, 2, 3]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add(Tank(10), Tank(20))=Tank(30)</a:t>
            </a:r>
            <a:endParaRPr lang="ru-RU" altLang="ru-RU" sz="15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92564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Структурное сопоставление с шаблонами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Новый оператор можно использовать и для сопоставления со словарями. Пример также демонстрирует возможность указания дополнительных ограничений через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if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data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match data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'GET'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uri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f'Requested URI: 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uri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'POST'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new_info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f'Update: 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new_info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s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isinstance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str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f'Unknown string received: 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case 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'Incorrect request'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'GET'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'ya.ru'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({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'POST'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]})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'abc'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spcBef>
                <a:spcPts val="150"/>
              </a:spcBef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processing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404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Requested URI: ya.ru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Update: [1, 2, 3]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Unknown string received: abc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Incorrect request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549373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Улучшенный анализатор кода и отчеты об ошибках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1166648"/>
            <a:ext cx="8563265" cy="384663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>
              <a:spcBef>
                <a:spcPct val="0"/>
              </a:spcBef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Отчеты об ошибках интерпретации точнее указывают на возможную причину ошибки, а в случае опечаток предлагается правильный вариант: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lst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lst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ru-RU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ru-RU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Вывод 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3.9: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File "C:\iorlov\example.py", line 3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^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SyntaxError: unexpected EOF while parsing</a:t>
            </a:r>
          </a:p>
          <a:p>
            <a:pPr defTabSz="685800" eaLnBrk="0" fontAlgn="base" hangingPunct="0">
              <a:spcBef>
                <a:spcPts val="450"/>
              </a:spcBef>
              <a:spcAft>
                <a:spcPct val="0"/>
              </a:spcAft>
              <a:buClrTx/>
              <a:buNone/>
              <a:defRPr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Вывод 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3.10: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File "C:\iorlov\example.py ", line 1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lst = [1, 2,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  ^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SyntaxError: '[' was never closed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0146641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Поддержка оператора ИЛИ(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|) </a:t>
            </a: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в 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typing</a:t>
            </a:r>
            <a:endParaRPr lang="ru-RU" altLang="ru-RU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Теперь в аннотациях типов можно указывать несколько альтернатив, используя оператор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|.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Ранее для этого использовалась функция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Union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 defTabSz="685800">
              <a:spcBef>
                <a:spcPts val="0"/>
              </a:spcBef>
              <a:buClrTx/>
              <a:buNone/>
              <a:defRPr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3.9:</a:t>
            </a:r>
            <a:endParaRPr lang="ru-RU" altLang="ru-RU" dirty="0">
              <a:solidFill>
                <a:srgbClr val="000000"/>
              </a:solidFill>
              <a:latin typeface="proxima nova rg"/>
            </a:endParaRPr>
          </a:p>
          <a:p>
            <a:pPr defTabSz="685800">
              <a:spcBef>
                <a:spcPts val="0"/>
              </a:spcBef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lang="en-US" sz="1050" kern="1200" dirty="0">
              <a:solidFill>
                <a:srgbClr val="000000"/>
              </a:solidFill>
              <a:latin typeface="Calibri" panose="020F0502020204030204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from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typing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import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Union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ru-RU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mean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Union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float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]])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-&gt;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float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/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len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endParaRPr lang="ru-RU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То же самое в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Python 3.10: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  <a:endParaRPr lang="ru-RU" dirty="0">
              <a:solidFill>
                <a:srgbClr val="000000"/>
              </a:solidFill>
              <a:latin typeface="proxima nova rg"/>
            </a:endParaRPr>
          </a:p>
          <a:p>
            <a:pPr>
              <a:buNone/>
            </a:pPr>
            <a:endParaRPr lang="en-US" sz="1050" dirty="0"/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mean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list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[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float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|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])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-&gt;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float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/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len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numbers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106749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Объединение менеджеров контекста в скобки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Строго говоря, эта функциональность стала поддерживаться еще в версии 3.9, как часть нового парсера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PEG,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пришедшего на смену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LL1.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Но т.к. парсер 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LL1 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окончательно удалили только в 3.10, то и эту функциональность официально отнесли именно к 3.10: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class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CtxManager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__init__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num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  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_num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num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__enter__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f"on enter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_num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latin typeface="Courier New" panose="02070309020205020404" pitchFamily="49" charset="0"/>
              </a:rPr>
              <a:t>__exit__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exc_type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exc_val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exc_tb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f"on exit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self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_num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endParaRPr lang="en-US" sz="1050" b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with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CtxManager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ctx1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     CtxManager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ctx2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'do stuff'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en-US" sz="1050" dirty="0"/>
          </a:p>
          <a:p>
            <a:pPr defTabSz="685800">
              <a:spcBef>
                <a:spcPts val="0"/>
              </a:spcBef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50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+mn-cs"/>
              </a:rPr>
              <a:t>__________________________________________________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enter 1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enter 2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 stuff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exit 2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on exit 1</a:t>
            </a:r>
            <a:endParaRPr lang="ru-RU" altLang="ru-RU" sz="1500" kern="1200" dirty="0">
              <a:solidFill>
                <a:srgbClr val="002060"/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35517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10</a:t>
            </a: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: Прочие обновления</a:t>
            </a: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В функцию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zip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 добавлен необязательный флаг strict: теперь, с опцией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strict=True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,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при передаче в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zip 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итерируемых объектов разной длины будет выброшено исключение 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ValueError.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У целых чисел появился метод bit_count(), который возвращает количество единиц в двоичном представлении числа.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Конструкторы str(), bytes() и bytearray() стали работать на 30-40% быстрее.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В модуль typing добавили оператор Concatenate и переменную ParamSpec, благодаря которым можно передать дополнительные данные для проверки типов с помощью Callable.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Добавились встроенные асинхронные функции aiter() и anext(), схожие с функциям iter() и next().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Прекращена поддержка псевдонимов для абстрактных базовых классов из модуля collections (</a:t>
            </a:r>
            <a:r>
              <a:rPr lang="en-US" dirty="0">
                <a:solidFill>
                  <a:srgbClr val="000000"/>
                </a:solidFill>
                <a:latin typeface="proxima nova rg"/>
                <a:hlinkClick r:id="rId2"/>
              </a:rPr>
              <a:t>https://docs.python.org/3/library/collections.abc.html#collections-abstract-base-classes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).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Парсер</a:t>
            </a:r>
            <a:r>
              <a:rPr lang="en-US" dirty="0">
                <a:solidFill>
                  <a:srgbClr val="000000"/>
                </a:solidFill>
                <a:latin typeface="proxima nova rg"/>
              </a:rPr>
              <a:t> LL1</a:t>
            </a:r>
            <a:r>
              <a:rPr lang="ru-RU" dirty="0">
                <a:solidFill>
                  <a:srgbClr val="000000"/>
                </a:solidFill>
                <a:latin typeface="proxima nova rg"/>
              </a:rPr>
              <a:t> Заменен новым парсером PEG.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Для сборки CPython теперь требуется OpenSSL 1.1.1 или более свежие версии.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Для hashlib и ssl добавлена поддержка OpenSSL 3.0.0 и прекращена поддержка OpenSSL 1.1.1.</a:t>
            </a:r>
          </a:p>
          <a:p>
            <a:pPr marL="360000" indent="-360000" algn="just" eaLnBrk="1" hangingPunct="1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endParaRPr lang="ru-RU" dirty="0">
              <a:solidFill>
                <a:srgbClr val="000000"/>
              </a:solidFill>
              <a:latin typeface="proxima nova rg"/>
            </a:endParaRPr>
          </a:p>
          <a:p>
            <a:pPr marL="360000" indent="-360000" algn="just" eaLnBrk="1" hangingPunct="1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latin typeface="proxima nova rg"/>
              </a:rPr>
              <a:t>Подробности этих и других нововведений версии 3.10 можно прочитать в официальной документации: </a:t>
            </a:r>
            <a:r>
              <a:rPr lang="en-US" dirty="0">
                <a:solidFill>
                  <a:srgbClr val="000000"/>
                </a:solidFill>
                <a:latin typeface="proxima nova rg"/>
                <a:hlinkClick r:id="rId3"/>
              </a:rPr>
              <a:t>https://docs.python.org/3/whatsnew/3.10.html</a:t>
            </a:r>
            <a:endParaRPr lang="en-US" dirty="0">
              <a:solidFill>
                <a:srgbClr val="000000"/>
              </a:solidFill>
              <a:latin typeface="proxima nova rg"/>
            </a:endParaRPr>
          </a:p>
        </p:txBody>
      </p:sp>
    </p:spTree>
    <p:extLst>
      <p:ext uri="{BB962C8B-B14F-4D97-AF65-F5344CB8AC3E}">
        <p14:creationId xmlns:p14="http://schemas.microsoft.com/office/powerpoint/2010/main" val="13214475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9"/>
          <p:cNvSpPr>
            <a:spLocks noGrp="1" noChangeArrowheads="1"/>
          </p:cNvSpPr>
          <p:nvPr>
            <p:ph type="title" idx="4294967295"/>
          </p:nvPr>
        </p:nvSpPr>
        <p:spPr>
          <a:xfrm>
            <a:off x="0" y="155575"/>
            <a:ext cx="9144000" cy="523875"/>
          </a:xfrm>
          <a:prstGeom prst="rect">
            <a:avLst/>
          </a:prstGeom>
        </p:spPr>
        <p:txBody>
          <a:bodyPr anchorCtr="1">
            <a:noAutofit/>
          </a:bodyPr>
          <a:lstStyle/>
          <a:p>
            <a:pPr algn="ctr"/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3.10: Проверка версии </a:t>
            </a:r>
            <a:r>
              <a:rPr lang="en-US" altLang="ru-RU" b="1" dirty="0">
                <a:solidFill>
                  <a:schemeClr val="accent1"/>
                </a:solidFill>
                <a:latin typeface="+mn-lt"/>
              </a:rPr>
              <a:t>Python 3.10</a:t>
            </a:r>
            <a:endParaRPr lang="ru-RU" altLang="ru-RU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28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74" y="741241"/>
            <a:ext cx="8563265" cy="427204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Младший номер версии 3.10 теперь состоит из двух цифр, и сравнение версий на больше/меньше в строковом формате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 (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посимвольно</a:t>
            </a:r>
            <a:r>
              <a:rPr lang="en-US" altLang="ru-RU" dirty="0">
                <a:solidFill>
                  <a:srgbClr val="000000"/>
                </a:solidFill>
                <a:latin typeface="proxima nova rg"/>
              </a:rPr>
              <a:t>)</a:t>
            </a:r>
            <a:r>
              <a:rPr lang="ru-RU" altLang="ru-RU" dirty="0">
                <a:solidFill>
                  <a:srgbClr val="000000"/>
                </a:solidFill>
                <a:latin typeface="proxima nova rg"/>
              </a:rPr>
              <a:t> стало некорректным.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9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import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 </a:t>
            </a:r>
          </a:p>
          <a:p>
            <a:pPr>
              <a:buNone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dirty="0">
                <a:solidFill>
                  <a:srgbClr val="008000"/>
                </a:solidFill>
                <a:latin typeface="Courier New" panose="02070309020205020404" pitchFamily="49" charset="0"/>
              </a:rPr>
              <a:t># Неправильный вариант: "3.10" &lt; "3.6"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version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&lt;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"3.6"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raise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SystemExit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"Only Python 3.6 and above is supported"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</a:p>
          <a:p>
            <a:pPr>
              <a:buNone/>
            </a:pPr>
            <a:endParaRPr lang="en-US" sz="1050" b="1" dirty="0">
              <a:solidFill>
                <a:srgbClr val="000080"/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050" dirty="0">
                <a:solidFill>
                  <a:srgbClr val="008000"/>
                </a:solidFill>
                <a:latin typeface="Courier New" panose="02070309020205020404" pitchFamily="49" charset="0"/>
              </a:rPr>
              <a:t># Правильный вариант: (3, 10) &gt; (3, 6)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if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version_info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&lt;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3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latin typeface="Courier New" panose="02070309020205020404" pitchFamily="49" charset="0"/>
              </a:rPr>
              <a:t>6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latin typeface="Courier New" panose="02070309020205020404" pitchFamily="49" charset="0"/>
              </a:rPr>
              <a:t>raise</a:t>
            </a:r>
            <a:r>
              <a:rPr lang="en-US" sz="1050" dirty="0">
                <a:solidFill>
                  <a:srgbClr val="000000"/>
                </a:solidFill>
                <a:latin typeface="Courier New" panose="02070309020205020404" pitchFamily="49" charset="0"/>
              </a:rPr>
              <a:t> SystemExit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latin typeface="Courier New" panose="02070309020205020404" pitchFamily="49" charset="0"/>
              </a:rPr>
              <a:t>"Only Python 3.6 and above is supported"</a:t>
            </a:r>
            <a:r>
              <a:rPr lang="en-US" sz="1050" b="1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466952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435100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bg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ext Box 10">
            <a:extLst>
              <a:ext uri="{FF2B5EF4-FFF2-40B4-BE49-F238E27FC236}">
                <a16:creationId xmlns:a16="http://schemas.microsoft.com/office/drawing/2014/main" id="{16B54891-2D09-4DCD-81C4-6F03D3A0DC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528" y="1225580"/>
            <a:ext cx="8496300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По заданному списку создать новый список, который содержит уникальные элементы изначального списка, расположенные в порядке возрастания количества вхождений этих элементов в изначальный список.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Реализовать итератор с возможностью просмотра следующего элемента или набора элементов не меняя состояние итератора.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Доделать анализ кода Tasks/pep8task.py с учетом актуальных знаний и применением возможностей версий Python 3.8 и 3.9. </a:t>
            </a:r>
            <a:endParaRPr lang="en-US" sz="1600" dirty="0">
              <a:solidFill>
                <a:schemeClr val="bg1"/>
              </a:solidFill>
              <a:latin typeface="+mn-lt"/>
            </a:endParaRP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* Используя код и примеры из папки Tasks/opencv_task, написать скрипт для начисления очков за попадание в цель при однократном выстреле.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* Используя код и примеры из папки Tasks/qrcode_task, написать скрипт для генерации QR-кода для оплаты по указанным реквизитам.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endParaRPr lang="ru-RU" sz="16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1211194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Другая 6">
    <a:dk1>
      <a:srgbClr val="000000"/>
    </a:dk1>
    <a:lt1>
      <a:srgbClr val="FFFFFF"/>
    </a:lt1>
    <a:dk2>
      <a:srgbClr val="595959"/>
    </a:dk2>
    <a:lt2>
      <a:srgbClr val="1F1C51"/>
    </a:lt2>
    <a:accent1>
      <a:srgbClr val="4482CC"/>
    </a:accent1>
    <a:accent2>
      <a:srgbClr val="ACFFD9"/>
    </a:accent2>
    <a:accent3>
      <a:srgbClr val="4482CC"/>
    </a:accent3>
    <a:accent4>
      <a:srgbClr val="CC7C58"/>
    </a:accent4>
    <a:accent5>
      <a:srgbClr val="2525A5"/>
    </a:accent5>
    <a:accent6>
      <a:srgbClr val="8BE3FF"/>
    </a:accent6>
    <a:hlink>
      <a:srgbClr val="8BE3FF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1061</TotalTime>
  <Words>3254</Words>
  <Application>Microsoft Office PowerPoint</Application>
  <PresentationFormat>Экран (16:9)</PresentationFormat>
  <Paragraphs>393</Paragraphs>
  <Slides>25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4" baseType="lpstr">
      <vt:lpstr>Courier New</vt:lpstr>
      <vt:lpstr>Viga</vt:lpstr>
      <vt:lpstr>Times New Roman</vt:lpstr>
      <vt:lpstr>DM Sans</vt:lpstr>
      <vt:lpstr>Calibri</vt:lpstr>
      <vt:lpstr>Arial</vt:lpstr>
      <vt:lpstr>proxima nova rg</vt:lpstr>
      <vt:lpstr>proxima nova bold</vt:lpstr>
      <vt:lpstr>Cyber Security Business Plan</vt:lpstr>
      <vt:lpstr>Программирование на языке Python</vt:lpstr>
      <vt:lpstr>Лекция №8</vt:lpstr>
      <vt:lpstr>3.8: Моржовый оператор присваивания :=</vt:lpstr>
      <vt:lpstr>3.8: Только-позиционные аргументы </vt:lpstr>
      <vt:lpstr>3.8: Только-позиционные аргументы </vt:lpstr>
      <vt:lpstr>3.8: Новое поколение f-строк с самодокументацией выражений</vt:lpstr>
      <vt:lpstr>3.8: continue в finally</vt:lpstr>
      <vt:lpstr>3.8: Новинки в словарях и словарных выражениях</vt:lpstr>
      <vt:lpstr>3.8: Обновление стандартной библиотеки</vt:lpstr>
      <vt:lpstr>3.9: Слияние и обновление словарей</vt:lpstr>
      <vt:lpstr>3.9: Ослабление ограничений на написание декораторов</vt:lpstr>
      <vt:lpstr>3.9: Обновление строковых методов</vt:lpstr>
      <vt:lpstr>3.9: Обновление модуля math</vt:lpstr>
      <vt:lpstr>3.9: Обновление стандартной библиотеки</vt:lpstr>
      <vt:lpstr>3.10: Структурное сопоставление с шаблонами</vt:lpstr>
      <vt:lpstr>3.10: Структурное сопоставление с шаблонами</vt:lpstr>
      <vt:lpstr>3.10: Структурное сопоставление с шаблонами</vt:lpstr>
      <vt:lpstr>3.10: Структурное сопоставление с шаблонами</vt:lpstr>
      <vt:lpstr>3.10: Структурное сопоставление с шаблонами</vt:lpstr>
      <vt:lpstr>3.10: Улучшенный анализатор кода и отчеты об ошибках</vt:lpstr>
      <vt:lpstr>3.10: Поддержка оператора ИЛИ(|) в typing</vt:lpstr>
      <vt:lpstr>3.10: Объединение менеджеров контекста в скобки</vt:lpstr>
      <vt:lpstr>3.10: Прочие обновления</vt:lpstr>
      <vt:lpstr>3.10: Проверка версии Python 3.10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Ilya Orlov</cp:lastModifiedBy>
  <cp:revision>89</cp:revision>
  <dcterms:modified xsi:type="dcterms:W3CDTF">2021-10-14T18:28:59Z</dcterms:modified>
</cp:coreProperties>
</file>