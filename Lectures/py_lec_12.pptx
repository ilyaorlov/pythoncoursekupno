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43"/>
  </p:notesMasterIdLst>
  <p:sldIdLst>
    <p:sldId id="257" r:id="rId2"/>
    <p:sldId id="419" r:id="rId3"/>
    <p:sldId id="468" r:id="rId4"/>
    <p:sldId id="469" r:id="rId5"/>
    <p:sldId id="470" r:id="rId6"/>
    <p:sldId id="471" r:id="rId7"/>
    <p:sldId id="472" r:id="rId8"/>
    <p:sldId id="473" r:id="rId9"/>
    <p:sldId id="474" r:id="rId10"/>
    <p:sldId id="475" r:id="rId11"/>
    <p:sldId id="476" r:id="rId12"/>
    <p:sldId id="477" r:id="rId13"/>
    <p:sldId id="478" r:id="rId14"/>
    <p:sldId id="479" r:id="rId15"/>
    <p:sldId id="467" r:id="rId16"/>
    <p:sldId id="480" r:id="rId17"/>
    <p:sldId id="481" r:id="rId18"/>
    <p:sldId id="482" r:id="rId19"/>
    <p:sldId id="483" r:id="rId20"/>
    <p:sldId id="484" r:id="rId21"/>
    <p:sldId id="485" r:id="rId22"/>
    <p:sldId id="486" r:id="rId23"/>
    <p:sldId id="487" r:id="rId24"/>
    <p:sldId id="488" r:id="rId25"/>
    <p:sldId id="489" r:id="rId26"/>
    <p:sldId id="490" r:id="rId27"/>
    <p:sldId id="491" r:id="rId28"/>
    <p:sldId id="492" r:id="rId29"/>
    <p:sldId id="493" r:id="rId30"/>
    <p:sldId id="494" r:id="rId31"/>
    <p:sldId id="495" r:id="rId32"/>
    <p:sldId id="496" r:id="rId33"/>
    <p:sldId id="497" r:id="rId34"/>
    <p:sldId id="498" r:id="rId35"/>
    <p:sldId id="499" r:id="rId36"/>
    <p:sldId id="500" r:id="rId37"/>
    <p:sldId id="501" r:id="rId38"/>
    <p:sldId id="502" r:id="rId39"/>
    <p:sldId id="503" r:id="rId40"/>
    <p:sldId id="504" r:id="rId41"/>
    <p:sldId id="444" r:id="rId42"/>
  </p:sldIdLst>
  <p:sldSz cx="9144000" cy="5143500" type="screen16x9"/>
  <p:notesSz cx="6858000" cy="9144000"/>
  <p:embeddedFontLst>
    <p:embeddedFont>
      <p:font typeface="Calibri" panose="020F0502020204030204" pitchFamily="34" charset="0"/>
      <p:regular r:id="rId44"/>
      <p:bold r:id="rId45"/>
      <p:italic r:id="rId46"/>
      <p:boldItalic r:id="rId47"/>
    </p:embeddedFont>
    <p:embeddedFont>
      <p:font typeface="DM Sans" panose="020B0604020202020204" charset="0"/>
      <p:regular r:id="rId48"/>
      <p:bold r:id="rId49"/>
      <p:italic r:id="rId50"/>
      <p:boldItalic r:id="rId51"/>
    </p:embeddedFont>
    <p:embeddedFont>
      <p:font typeface="proxima nova bold" panose="02000506030000020004" charset="0"/>
      <p:bold r:id="rId52"/>
    </p:embeddedFont>
    <p:embeddedFont>
      <p:font typeface="proxima nova rg" panose="02000506030000020004" charset="0"/>
      <p:regular r:id="rId53"/>
      <p:bold r:id="rId54"/>
      <p:italic r:id="rId55"/>
      <p:boldItalic r:id="rId56"/>
    </p:embeddedFont>
    <p:embeddedFont>
      <p:font typeface="Verdana" panose="020B0604030504040204" pitchFamily="34" charset="0"/>
      <p:regular r:id="rId57"/>
      <p:bold r:id="rId58"/>
      <p:italic r:id="rId59"/>
      <p:boldItalic r:id="rId60"/>
    </p:embeddedFont>
    <p:embeddedFont>
      <p:font typeface="Viga" panose="020B0604020202020204" charset="0"/>
      <p:regular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18" userDrawn="1">
          <p15:clr>
            <a:srgbClr val="9AA0A6"/>
          </p15:clr>
        </p15:guide>
        <p15:guide id="2" pos="2880" userDrawn="1">
          <p15:clr>
            <a:srgbClr val="9AA0A6"/>
          </p15:clr>
        </p15:guide>
        <p15:guide id="3" pos="431" userDrawn="1">
          <p15:clr>
            <a:srgbClr val="9AA0A6"/>
          </p15:clr>
        </p15:guide>
        <p15:guide id="5" orient="horz" pos="2663" userDrawn="1">
          <p15:clr>
            <a:srgbClr val="9AA0A6"/>
          </p15:clr>
        </p15:guide>
        <p15:guide id="6" orient="horz" pos="146" userDrawn="1">
          <p15:clr>
            <a:srgbClr val="A4A3A4"/>
          </p15:clr>
        </p15:guide>
        <p15:guide id="7" orient="horz" pos="3003" userDrawn="1">
          <p15:clr>
            <a:srgbClr val="A4A3A4"/>
          </p15:clr>
        </p15:guide>
        <p15:guide id="8" pos="537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5658367-1752-4BCB-99D9-0009F8CEB734}">
  <a:tblStyle styleId="{D5658367-1752-4BCB-99D9-0009F8CEB73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65" autoAdjust="0"/>
    <p:restoredTop sz="96395" autoAdjust="0"/>
  </p:normalViewPr>
  <p:slideViewPr>
    <p:cSldViewPr snapToGrid="0">
      <p:cViewPr varScale="1">
        <p:scale>
          <a:sx n="108" d="100"/>
          <a:sy n="108" d="100"/>
        </p:scale>
        <p:origin x="792" y="77"/>
      </p:cViewPr>
      <p:guideLst>
        <p:guide orient="horz" pos="418"/>
        <p:guide pos="2880"/>
        <p:guide pos="431"/>
        <p:guide orient="horz" pos="2663"/>
        <p:guide orient="horz" pos="146"/>
        <p:guide orient="horz" pos="3003"/>
        <p:guide pos="537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font" Target="fonts/font12.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11.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font" Target="fonts/font1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 Id="rId57" Type="http://schemas.openxmlformats.org/officeDocument/2006/relationships/font" Target="fonts/font14.fntdata"/><Relationship Id="rId61" Type="http://schemas.openxmlformats.org/officeDocument/2006/relationships/font" Target="fonts/font1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font" Target="fonts/font17.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font" Target="fonts/font13.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59"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25342354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6bdca54fc3_0_274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6bdca54fc3_0_27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54600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29044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98221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889080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87757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244232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735238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435293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371707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69166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407840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92458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110028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834565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378093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33381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327736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476240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702628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110135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515532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27870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967825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841609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040580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912338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445942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18878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701612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008960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335932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496241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472322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944804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933657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133342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916671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571242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51300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body" idx="1"/>
          </p:nvPr>
        </p:nvSpPr>
        <p:spPr>
          <a:xfrm>
            <a:off x="626625" y="877875"/>
            <a:ext cx="7322400" cy="3262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18" name="Google Shape;18;p4"/>
          <p:cNvSpPr txBox="1">
            <a:spLocks noGrp="1"/>
          </p:cNvSpPr>
          <p:nvPr>
            <p:ph type="title"/>
          </p:nvPr>
        </p:nvSpPr>
        <p:spPr>
          <a:xfrm>
            <a:off x="626625" y="338175"/>
            <a:ext cx="6084000" cy="539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
        <p:cNvGrpSpPr/>
        <p:nvPr/>
      </p:nvGrpSpPr>
      <p:grpSpPr>
        <a:xfrm>
          <a:off x="0" y="0"/>
          <a:ext cx="0" cy="0"/>
          <a:chOff x="0" y="0"/>
          <a:chExt cx="0" cy="0"/>
        </a:xfrm>
      </p:grpSpPr>
      <p:sp>
        <p:nvSpPr>
          <p:cNvPr id="29" name="Google Shape;29;p7"/>
          <p:cNvSpPr txBox="1">
            <a:spLocks noGrp="1"/>
          </p:cNvSpPr>
          <p:nvPr>
            <p:ph type="title"/>
          </p:nvPr>
        </p:nvSpPr>
        <p:spPr>
          <a:xfrm>
            <a:off x="626625" y="338175"/>
            <a:ext cx="6084000" cy="539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626625" y="1404600"/>
            <a:ext cx="2785200" cy="3179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42900">
              <a:spcBef>
                <a:spcPts val="1600"/>
              </a:spcBef>
              <a:spcAft>
                <a:spcPts val="0"/>
              </a:spcAft>
              <a:buSzPts val="1800"/>
              <a:buChar char="○"/>
              <a:defRPr sz="1800"/>
            </a:lvl2pPr>
            <a:lvl3pPr marL="1371600" lvl="2" indent="-342900">
              <a:spcBef>
                <a:spcPts val="1600"/>
              </a:spcBef>
              <a:spcAft>
                <a:spcPts val="0"/>
              </a:spcAft>
              <a:buSzPts val="1800"/>
              <a:buChar char="■"/>
              <a:defRPr sz="1800"/>
            </a:lvl3pPr>
            <a:lvl4pPr marL="1828800" lvl="3" indent="-342900">
              <a:spcBef>
                <a:spcPts val="1600"/>
              </a:spcBef>
              <a:spcAft>
                <a:spcPts val="0"/>
              </a:spcAft>
              <a:buSzPts val="1800"/>
              <a:buChar char="●"/>
              <a:defRPr sz="1800"/>
            </a:lvl4pPr>
            <a:lvl5pPr marL="2286000" lvl="4" indent="-342900">
              <a:spcBef>
                <a:spcPts val="1600"/>
              </a:spcBef>
              <a:spcAft>
                <a:spcPts val="0"/>
              </a:spcAft>
              <a:buSzPts val="1800"/>
              <a:buChar char="○"/>
              <a:defRPr sz="1800"/>
            </a:lvl5pPr>
            <a:lvl6pPr marL="2743200" lvl="5" indent="-342900">
              <a:spcBef>
                <a:spcPts val="1600"/>
              </a:spcBef>
              <a:spcAft>
                <a:spcPts val="0"/>
              </a:spcAft>
              <a:buSzPts val="1800"/>
              <a:buChar char="■"/>
              <a:defRPr sz="1800"/>
            </a:lvl6pPr>
            <a:lvl7pPr marL="3200400" lvl="6" indent="-342900">
              <a:spcBef>
                <a:spcPts val="1600"/>
              </a:spcBef>
              <a:spcAft>
                <a:spcPts val="0"/>
              </a:spcAft>
              <a:buSzPts val="1800"/>
              <a:buChar char="●"/>
              <a:defRPr sz="1800"/>
            </a:lvl7pPr>
            <a:lvl8pPr marL="3657600" lvl="7" indent="-342900">
              <a:spcBef>
                <a:spcPts val="1600"/>
              </a:spcBef>
              <a:spcAft>
                <a:spcPts val="0"/>
              </a:spcAft>
              <a:buSzPts val="1800"/>
              <a:buChar char="○"/>
              <a:defRPr sz="1800"/>
            </a:lvl8pPr>
            <a:lvl9pPr marL="4114800" lvl="8" indent="-342900">
              <a:spcBef>
                <a:spcPts val="1600"/>
              </a:spcBef>
              <a:spcAft>
                <a:spcPts val="1600"/>
              </a:spcAft>
              <a:buSzPts val="1800"/>
              <a:buChar char="■"/>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Tree>
    <p:extLst>
      <p:ext uri="{BB962C8B-B14F-4D97-AF65-F5344CB8AC3E}">
        <p14:creationId xmlns:p14="http://schemas.microsoft.com/office/powerpoint/2010/main" val="31520717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2"/>
              </a:buClr>
              <a:buSzPts val="2800"/>
              <a:buFont typeface="Viga"/>
              <a:buNone/>
              <a:defRPr sz="2800">
                <a:solidFill>
                  <a:schemeClr val="lt2"/>
                </a:solidFill>
                <a:latin typeface="Viga"/>
                <a:ea typeface="Viga"/>
                <a:cs typeface="Viga"/>
                <a:sym typeface="Viga"/>
              </a:defRPr>
            </a:lvl1pPr>
            <a:lvl2pPr lvl="1">
              <a:spcBef>
                <a:spcPts val="0"/>
              </a:spcBef>
              <a:spcAft>
                <a:spcPts val="0"/>
              </a:spcAft>
              <a:buClr>
                <a:schemeClr val="lt2"/>
              </a:buClr>
              <a:buSzPts val="2800"/>
              <a:buNone/>
              <a:defRPr sz="2800">
                <a:solidFill>
                  <a:schemeClr val="lt2"/>
                </a:solidFill>
              </a:defRPr>
            </a:lvl2pPr>
            <a:lvl3pPr lvl="2">
              <a:spcBef>
                <a:spcPts val="0"/>
              </a:spcBef>
              <a:spcAft>
                <a:spcPts val="0"/>
              </a:spcAft>
              <a:buClr>
                <a:schemeClr val="lt2"/>
              </a:buClr>
              <a:buSzPts val="2800"/>
              <a:buNone/>
              <a:defRPr sz="2800">
                <a:solidFill>
                  <a:schemeClr val="lt2"/>
                </a:solidFill>
              </a:defRPr>
            </a:lvl3pPr>
            <a:lvl4pPr lvl="3">
              <a:spcBef>
                <a:spcPts val="0"/>
              </a:spcBef>
              <a:spcAft>
                <a:spcPts val="0"/>
              </a:spcAft>
              <a:buClr>
                <a:schemeClr val="lt2"/>
              </a:buClr>
              <a:buSzPts val="2800"/>
              <a:buNone/>
              <a:defRPr sz="2800">
                <a:solidFill>
                  <a:schemeClr val="lt2"/>
                </a:solidFill>
              </a:defRPr>
            </a:lvl4pPr>
            <a:lvl5pPr lvl="4">
              <a:spcBef>
                <a:spcPts val="0"/>
              </a:spcBef>
              <a:spcAft>
                <a:spcPts val="0"/>
              </a:spcAft>
              <a:buClr>
                <a:schemeClr val="lt2"/>
              </a:buClr>
              <a:buSzPts val="2800"/>
              <a:buNone/>
              <a:defRPr sz="2800">
                <a:solidFill>
                  <a:schemeClr val="lt2"/>
                </a:solidFill>
              </a:defRPr>
            </a:lvl5pPr>
            <a:lvl6pPr lvl="5">
              <a:spcBef>
                <a:spcPts val="0"/>
              </a:spcBef>
              <a:spcAft>
                <a:spcPts val="0"/>
              </a:spcAft>
              <a:buClr>
                <a:schemeClr val="lt2"/>
              </a:buClr>
              <a:buSzPts val="2800"/>
              <a:buNone/>
              <a:defRPr sz="2800">
                <a:solidFill>
                  <a:schemeClr val="lt2"/>
                </a:solidFill>
              </a:defRPr>
            </a:lvl6pPr>
            <a:lvl7pPr lvl="6">
              <a:spcBef>
                <a:spcPts val="0"/>
              </a:spcBef>
              <a:spcAft>
                <a:spcPts val="0"/>
              </a:spcAft>
              <a:buClr>
                <a:schemeClr val="lt2"/>
              </a:buClr>
              <a:buSzPts val="2800"/>
              <a:buNone/>
              <a:defRPr sz="2800">
                <a:solidFill>
                  <a:schemeClr val="lt2"/>
                </a:solidFill>
              </a:defRPr>
            </a:lvl7pPr>
            <a:lvl8pPr lvl="7">
              <a:spcBef>
                <a:spcPts val="0"/>
              </a:spcBef>
              <a:spcAft>
                <a:spcPts val="0"/>
              </a:spcAft>
              <a:buClr>
                <a:schemeClr val="lt2"/>
              </a:buClr>
              <a:buSzPts val="2800"/>
              <a:buNone/>
              <a:defRPr sz="2800">
                <a:solidFill>
                  <a:schemeClr val="lt2"/>
                </a:solidFill>
              </a:defRPr>
            </a:lvl8pPr>
            <a:lvl9pPr lvl="8">
              <a:spcBef>
                <a:spcPts val="0"/>
              </a:spcBef>
              <a:spcAft>
                <a:spcPts val="0"/>
              </a:spcAft>
              <a:buClr>
                <a:schemeClr val="lt2"/>
              </a:buClr>
              <a:buSzPts val="2800"/>
              <a:buNone/>
              <a:defRPr sz="2800">
                <a:solidFill>
                  <a:schemeClr val="lt2"/>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00000"/>
              </a:lnSpc>
              <a:spcBef>
                <a:spcPts val="0"/>
              </a:spcBef>
              <a:spcAft>
                <a:spcPts val="0"/>
              </a:spcAft>
              <a:buClr>
                <a:schemeClr val="lt2"/>
              </a:buClr>
              <a:buSzPts val="1800"/>
              <a:buFont typeface="DM Sans"/>
              <a:buChar char="●"/>
              <a:defRPr sz="1800">
                <a:solidFill>
                  <a:schemeClr val="lt2"/>
                </a:solidFill>
                <a:latin typeface="DM Sans"/>
                <a:ea typeface="DM Sans"/>
                <a:cs typeface="DM Sans"/>
                <a:sym typeface="DM Sans"/>
              </a:defRPr>
            </a:lvl1pPr>
            <a:lvl2pPr marL="914400" lvl="1"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2pPr>
            <a:lvl3pPr marL="1371600" lvl="2"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3pPr>
            <a:lvl4pPr marL="1828800" lvl="3"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4pPr>
            <a:lvl5pPr marL="2286000" lvl="4"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5pPr>
            <a:lvl6pPr marL="2743200" lvl="5"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6pPr>
            <a:lvl7pPr marL="3200400" lvl="6"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7pPr>
            <a:lvl8pPr marL="3657600" lvl="7"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8pPr>
            <a:lvl9pPr marL="4114800" lvl="8" indent="-317500" rtl="0">
              <a:lnSpc>
                <a:spcPct val="100000"/>
              </a:lnSpc>
              <a:spcBef>
                <a:spcPts val="1600"/>
              </a:spcBef>
              <a:spcAft>
                <a:spcPts val="1600"/>
              </a:spcAft>
              <a:buClr>
                <a:schemeClr val="lt2"/>
              </a:buClr>
              <a:buSzPts val="1400"/>
              <a:buFont typeface="DM Sans"/>
              <a:buChar char="■"/>
              <a:defRPr>
                <a:solidFill>
                  <a:schemeClr val="lt2"/>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3" r:id="rId2"/>
    <p:sldLayoutId id="2147483654"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oleObject" Target="../embeddings/oleObject4.bin"/><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oleObject" Target="../embeddings/oleObject5.bin"/><Relationship Id="rId4" Type="http://schemas.openxmlformats.org/officeDocument/2006/relationships/image" Target="../media/image3.emf"/><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0.emf"/><Relationship Id="rId13" Type="http://schemas.openxmlformats.org/officeDocument/2006/relationships/oleObject" Target="../embeddings/oleObject11.bin"/><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12.em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emf"/><Relationship Id="rId11" Type="http://schemas.openxmlformats.org/officeDocument/2006/relationships/oleObject" Target="../embeddings/oleObject10.bin"/><Relationship Id="rId5" Type="http://schemas.openxmlformats.org/officeDocument/2006/relationships/oleObject" Target="../embeddings/oleObject7.bin"/><Relationship Id="rId10" Type="http://schemas.openxmlformats.org/officeDocument/2006/relationships/image" Target="../media/image11.emf"/><Relationship Id="rId4" Type="http://schemas.openxmlformats.org/officeDocument/2006/relationships/image" Target="../media/image8.emf"/><Relationship Id="rId9" Type="http://schemas.openxmlformats.org/officeDocument/2006/relationships/oleObject" Target="../embeddings/oleObject9.bin"/><Relationship Id="rId14" Type="http://schemas.openxmlformats.org/officeDocument/2006/relationships/image" Target="../media/image13.emf"/></Relationships>
</file>

<file path=ppt/slides/_rels/slide6.xml.rels><?xml version="1.0" encoding="UTF-8" standalone="yes"?>
<Relationships xmlns="http://schemas.openxmlformats.org/package/2006/relationships"><Relationship Id="rId8" Type="http://schemas.openxmlformats.org/officeDocument/2006/relationships/image" Target="../media/image10.emf"/><Relationship Id="rId13" Type="http://schemas.openxmlformats.org/officeDocument/2006/relationships/image" Target="../media/image15.png"/><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oleObject" Target="../embeddings/oleObject17.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emf"/><Relationship Id="rId11" Type="http://schemas.openxmlformats.org/officeDocument/2006/relationships/oleObject" Target="../embeddings/oleObject16.bin"/><Relationship Id="rId5" Type="http://schemas.openxmlformats.org/officeDocument/2006/relationships/oleObject" Target="../embeddings/oleObject13.bin"/><Relationship Id="rId10" Type="http://schemas.openxmlformats.org/officeDocument/2006/relationships/image" Target="../media/image11.emf"/><Relationship Id="rId4" Type="http://schemas.openxmlformats.org/officeDocument/2006/relationships/image" Target="../media/image14.emf"/><Relationship Id="rId9" Type="http://schemas.openxmlformats.org/officeDocument/2006/relationships/oleObject" Target="../embeddings/oleObject15.bin"/><Relationship Id="rId1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5.jpe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9.emf"/><Relationship Id="rId11" Type="http://schemas.openxmlformats.org/officeDocument/2006/relationships/image" Target="../media/image32.png"/><Relationship Id="rId5" Type="http://schemas.openxmlformats.org/officeDocument/2006/relationships/oleObject" Target="../embeddings/oleObject19.bin"/><Relationship Id="rId10" Type="http://schemas.openxmlformats.org/officeDocument/2006/relationships/image" Target="../media/image31.emf"/><Relationship Id="rId4" Type="http://schemas.openxmlformats.org/officeDocument/2006/relationships/image" Target="../media/image28.emf"/><Relationship Id="rId9" Type="http://schemas.openxmlformats.org/officeDocument/2006/relationships/oleObject" Target="../embeddings/oleObject21.bin"/></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33.emf"/><Relationship Id="rId4" Type="http://schemas.openxmlformats.org/officeDocument/2006/relationships/oleObject" Target="../embeddings/oleObject22.bin"/></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www.vertabelo.com/blog/why-sql-is-neither-legacy-nor-low-level-but-simply-awesome/"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mongodb.com/download-center/community?jmp=docs"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https://docs.mongodb.com/manual/tutorial/install-mongodb-on-ubuntu/"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dmajkic/redis/downloads"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scylladb.com/download/#server"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39.emf"/><Relationship Id="rId3" Type="http://schemas.openxmlformats.org/officeDocument/2006/relationships/image" Target="../media/image36.png"/><Relationship Id="rId7" Type="http://schemas.openxmlformats.org/officeDocument/2006/relationships/package" Target="../embeddings/Microsoft_Excel_Worksheet2.xlsx"/><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38.emf"/><Relationship Id="rId5" Type="http://schemas.openxmlformats.org/officeDocument/2006/relationships/package" Target="../embeddings/Microsoft_Excel_Worksheet1.xlsx"/><Relationship Id="rId10" Type="http://schemas.openxmlformats.org/officeDocument/2006/relationships/image" Target="../media/image40.emf"/><Relationship Id="rId4" Type="http://schemas.openxmlformats.org/officeDocument/2006/relationships/image" Target="../media/image37.svg"/><Relationship Id="rId9" Type="http://schemas.openxmlformats.org/officeDocument/2006/relationships/package" Target="../embeddings/Microsoft_Excel_Worksheet3.xlsx"/></Relationships>
</file>

<file path=ppt/slides/_rels/slide38.xml.rels><?xml version="1.0" encoding="UTF-8" standalone="yes"?>
<Relationships xmlns="http://schemas.openxmlformats.org/package/2006/relationships"><Relationship Id="rId3" Type="http://schemas.openxmlformats.org/officeDocument/2006/relationships/hyperlink" Target="https://docs.scylladb.com/getting-started/dml/"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7" name="Google Shape;297;p30"/>
          <p:cNvSpPr txBox="1">
            <a:spLocks noGrp="1"/>
          </p:cNvSpPr>
          <p:nvPr>
            <p:ph type="title"/>
          </p:nvPr>
        </p:nvSpPr>
        <p:spPr>
          <a:xfrm>
            <a:off x="582020" y="169001"/>
            <a:ext cx="6084000" cy="822968"/>
          </a:xfrm>
          <a:prstGeom prst="rect">
            <a:avLst/>
          </a:prstGeom>
        </p:spPr>
        <p:txBody>
          <a:bodyPr spcFirstLastPara="1" wrap="square" lIns="91425" tIns="91425" rIns="91425" bIns="91425" anchor="t" anchorCtr="0">
            <a:noAutofit/>
          </a:bodyPr>
          <a:lstStyle/>
          <a:p>
            <a:pPr lvl="0"/>
            <a:r>
              <a:rPr lang="ru-RU" sz="4800" dirty="0">
                <a:latin typeface="+mj-lt"/>
              </a:rPr>
              <a:t>Лекция №12</a:t>
            </a:r>
            <a:endParaRPr sz="4800" dirty="0">
              <a:latin typeface="+mj-lt"/>
            </a:endParaRPr>
          </a:p>
        </p:txBody>
      </p:sp>
      <p:sp>
        <p:nvSpPr>
          <p:cNvPr id="3" name="Прямоугольник 2"/>
          <p:cNvSpPr/>
          <p:nvPr/>
        </p:nvSpPr>
        <p:spPr>
          <a:xfrm>
            <a:off x="567151" y="1198355"/>
            <a:ext cx="8081089" cy="545214"/>
          </a:xfrm>
          <a:prstGeom prst="rect">
            <a:avLst/>
          </a:prstGeom>
        </p:spPr>
        <p:txBody>
          <a:bodyPr wrap="square">
            <a:spAutoFit/>
          </a:bodyPr>
          <a:lstStyle/>
          <a:p>
            <a:pPr>
              <a:lnSpc>
                <a:spcPct val="90000"/>
              </a:lnSpc>
            </a:pPr>
            <a:r>
              <a:rPr lang="ru-RU" sz="3200" dirty="0">
                <a:solidFill>
                  <a:schemeClr val="accent3"/>
                </a:solidFill>
                <a:latin typeface="+mj-lt"/>
              </a:rPr>
              <a:t>Работа с NoSQL базами данных</a:t>
            </a:r>
          </a:p>
        </p:txBody>
      </p:sp>
      <p:sp>
        <p:nvSpPr>
          <p:cNvPr id="2" name="Прямоугольник 1"/>
          <p:cNvSpPr/>
          <p:nvPr/>
        </p:nvSpPr>
        <p:spPr>
          <a:xfrm>
            <a:off x="582020" y="2050276"/>
            <a:ext cx="3887787" cy="2208297"/>
          </a:xfrm>
          <a:prstGeom prst="rect">
            <a:avLst/>
          </a:prstGeom>
        </p:spPr>
        <p:txBody>
          <a:bodyPr wrap="square">
            <a:spAutoFit/>
          </a:bodyPr>
          <a:lstStyle/>
          <a:p>
            <a:pPr marL="360000" indent="-360000" eaLnBrk="1" hangingPunct="1">
              <a:lnSpc>
                <a:spcPct val="150000"/>
              </a:lnSpc>
              <a:spcBef>
                <a:spcPct val="0"/>
              </a:spcBef>
              <a:buClr>
                <a:schemeClr val="accent1"/>
              </a:buClr>
              <a:buFont typeface="Arial" panose="020B0604020202020204" pitchFamily="34" charset="0"/>
              <a:buChar char="•"/>
            </a:pPr>
            <a:r>
              <a:rPr lang="ru-RU" altLang="ru-RU" sz="2000" dirty="0">
                <a:solidFill>
                  <a:schemeClr val="tx1"/>
                </a:solidFill>
                <a:latin typeface="+mn-lt"/>
              </a:rPr>
              <a:t>Ограничения </a:t>
            </a:r>
            <a:r>
              <a:rPr lang="en-US" altLang="ru-RU" sz="2000" dirty="0">
                <a:solidFill>
                  <a:schemeClr val="tx1"/>
                </a:solidFill>
                <a:latin typeface="+mn-lt"/>
              </a:rPr>
              <a:t>SQL</a:t>
            </a:r>
          </a:p>
          <a:p>
            <a:pPr marL="360000" indent="-360000" eaLnBrk="1" hangingPunct="1">
              <a:lnSpc>
                <a:spcPct val="150000"/>
              </a:lnSpc>
              <a:spcBef>
                <a:spcPct val="0"/>
              </a:spcBef>
              <a:buClr>
                <a:schemeClr val="accent1"/>
              </a:buClr>
              <a:buFont typeface="Arial" panose="020B0604020202020204" pitchFamily="34" charset="0"/>
              <a:buChar char="•"/>
            </a:pPr>
            <a:r>
              <a:rPr lang="ru-RU" altLang="ru-RU" sz="2000" dirty="0">
                <a:solidFill>
                  <a:schemeClr val="tx1"/>
                </a:solidFill>
                <a:latin typeface="+mn-lt"/>
              </a:rPr>
              <a:t>Теорема </a:t>
            </a:r>
            <a:r>
              <a:rPr lang="en-US" altLang="ru-RU" sz="2000" dirty="0">
                <a:solidFill>
                  <a:schemeClr val="tx1"/>
                </a:solidFill>
                <a:latin typeface="+mn-lt"/>
              </a:rPr>
              <a:t>CAP</a:t>
            </a:r>
          </a:p>
          <a:p>
            <a:pPr marL="360000" indent="-360000" eaLnBrk="1" hangingPunct="1">
              <a:lnSpc>
                <a:spcPct val="150000"/>
              </a:lnSpc>
              <a:spcBef>
                <a:spcPct val="0"/>
              </a:spcBef>
              <a:buClr>
                <a:schemeClr val="accent1"/>
              </a:buClr>
              <a:buFont typeface="Arial" panose="020B0604020202020204" pitchFamily="34" charset="0"/>
              <a:buChar char="•"/>
            </a:pPr>
            <a:r>
              <a:rPr lang="en-US" altLang="ru-RU" sz="2000" dirty="0">
                <a:solidFill>
                  <a:schemeClr val="tx1"/>
                </a:solidFill>
                <a:latin typeface="+mn-lt"/>
              </a:rPr>
              <a:t>ACID vs BASE </a:t>
            </a:r>
            <a:br>
              <a:rPr lang="ru-RU" altLang="ru-RU" sz="2000" dirty="0">
                <a:solidFill>
                  <a:schemeClr val="tx1"/>
                </a:solidFill>
                <a:latin typeface="+mn-lt"/>
              </a:rPr>
            </a:br>
            <a:endParaRPr lang="en-US" altLang="ru-RU" sz="300" dirty="0">
              <a:solidFill>
                <a:schemeClr val="tx1"/>
              </a:solidFill>
              <a:latin typeface="+mn-lt"/>
            </a:endParaRPr>
          </a:p>
          <a:p>
            <a:pPr marL="360000" indent="-360000" eaLnBrk="1" hangingPunct="1">
              <a:spcBef>
                <a:spcPct val="0"/>
              </a:spcBef>
              <a:buClr>
                <a:schemeClr val="accent1"/>
              </a:buClr>
              <a:buFont typeface="Arial" panose="020B0604020202020204" pitchFamily="34" charset="0"/>
              <a:buChar char="•"/>
            </a:pPr>
            <a:r>
              <a:rPr lang="en-US" altLang="ru-RU" sz="2000" dirty="0">
                <a:solidFill>
                  <a:schemeClr val="tx1"/>
                </a:solidFill>
                <a:latin typeface="+mn-lt"/>
              </a:rPr>
              <a:t>SQL </a:t>
            </a:r>
            <a:r>
              <a:rPr lang="ru-RU" altLang="ru-RU" sz="2000" dirty="0">
                <a:solidFill>
                  <a:schemeClr val="tx1"/>
                </a:solidFill>
                <a:latin typeface="+mn-lt"/>
              </a:rPr>
              <a:t>или </a:t>
            </a:r>
            <a:r>
              <a:rPr lang="en-US" altLang="ru-RU" sz="2000" dirty="0">
                <a:solidFill>
                  <a:schemeClr val="tx1"/>
                </a:solidFill>
                <a:latin typeface="+mn-lt"/>
              </a:rPr>
              <a:t>NoSQL: </a:t>
            </a:r>
            <a:br>
              <a:rPr lang="ru-RU" altLang="ru-RU" sz="2000" dirty="0">
                <a:solidFill>
                  <a:schemeClr val="tx1"/>
                </a:solidFill>
                <a:latin typeface="+mn-lt"/>
              </a:rPr>
            </a:br>
            <a:r>
              <a:rPr lang="ru-RU" altLang="ru-RU" sz="2000" dirty="0">
                <a:solidFill>
                  <a:schemeClr val="tx1"/>
                </a:solidFill>
                <a:latin typeface="+mn-lt"/>
              </a:rPr>
              <a:t>критерии выбора</a:t>
            </a:r>
          </a:p>
        </p:txBody>
      </p:sp>
      <p:sp>
        <p:nvSpPr>
          <p:cNvPr id="5" name="Прямоугольник 4"/>
          <p:cNvSpPr/>
          <p:nvPr/>
        </p:nvSpPr>
        <p:spPr>
          <a:xfrm>
            <a:off x="4819879" y="2050276"/>
            <a:ext cx="1794052" cy="1477328"/>
          </a:xfrm>
          <a:prstGeom prst="rect">
            <a:avLst/>
          </a:prstGeom>
        </p:spPr>
        <p:txBody>
          <a:bodyPr wrap="square">
            <a:spAutoFit/>
          </a:bodyPr>
          <a:lstStyle/>
          <a:p>
            <a:pPr marL="360000" indent="-360000" eaLnBrk="1" hangingPunct="1">
              <a:lnSpc>
                <a:spcPct val="150000"/>
              </a:lnSpc>
              <a:spcBef>
                <a:spcPct val="0"/>
              </a:spcBef>
              <a:buClr>
                <a:schemeClr val="accent1"/>
              </a:buClr>
              <a:buFont typeface="Arial" panose="020B0604020202020204" pitchFamily="34" charset="0"/>
              <a:buChar char="•"/>
            </a:pPr>
            <a:r>
              <a:rPr lang="en-US" altLang="ru-RU" sz="2000" dirty="0">
                <a:solidFill>
                  <a:schemeClr val="tx1"/>
                </a:solidFill>
                <a:latin typeface="+mn-lt"/>
              </a:rPr>
              <a:t>MongoDB</a:t>
            </a:r>
          </a:p>
          <a:p>
            <a:pPr marL="360000" indent="-360000" eaLnBrk="1" hangingPunct="1">
              <a:lnSpc>
                <a:spcPct val="150000"/>
              </a:lnSpc>
              <a:spcBef>
                <a:spcPct val="0"/>
              </a:spcBef>
              <a:buClr>
                <a:schemeClr val="accent1"/>
              </a:buClr>
              <a:buFont typeface="Arial" panose="020B0604020202020204" pitchFamily="34" charset="0"/>
              <a:buChar char="•"/>
            </a:pPr>
            <a:r>
              <a:rPr lang="en-US" altLang="ru-RU" sz="2000" dirty="0">
                <a:solidFill>
                  <a:schemeClr val="tx1"/>
                </a:solidFill>
                <a:latin typeface="+mn-lt"/>
              </a:rPr>
              <a:t>Redis</a:t>
            </a:r>
          </a:p>
          <a:p>
            <a:pPr marL="360000" indent="-360000" eaLnBrk="1" hangingPunct="1">
              <a:lnSpc>
                <a:spcPct val="150000"/>
              </a:lnSpc>
              <a:spcBef>
                <a:spcPct val="0"/>
              </a:spcBef>
              <a:buClr>
                <a:schemeClr val="accent1"/>
              </a:buClr>
              <a:buFont typeface="Arial" panose="020B0604020202020204" pitchFamily="34" charset="0"/>
              <a:buChar char="•"/>
            </a:pPr>
            <a:r>
              <a:rPr lang="en-US" altLang="ru-RU" sz="2000" dirty="0">
                <a:solidFill>
                  <a:schemeClr val="tx1"/>
                </a:solidFill>
                <a:latin typeface="+mn-lt"/>
              </a:rPr>
              <a:t>ScyllaDB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577549" y="507798"/>
            <a:ext cx="6834296" cy="769441"/>
          </a:xfrm>
          <a:prstGeom prst="rect">
            <a:avLst/>
          </a:prstGeom>
          <a:noFill/>
        </p:spPr>
        <p:txBody>
          <a:bodyPr wrap="square">
            <a:spAutoFit/>
          </a:bodyPr>
          <a:lstStyle/>
          <a:p>
            <a:r>
              <a:rPr lang="ru-RU" sz="4400" kern="1200" dirty="0">
                <a:solidFill>
                  <a:schemeClr val="accent3"/>
                </a:solidFill>
                <a:latin typeface="+mj-lt"/>
              </a:rPr>
              <a:t>Предметная область</a:t>
            </a:r>
            <a:endParaRPr lang="ru-RU" sz="4400" dirty="0">
              <a:solidFill>
                <a:schemeClr val="accent3"/>
              </a:solidFill>
              <a:latin typeface="+mj-lt"/>
            </a:endParaRPr>
          </a:p>
        </p:txBody>
      </p:sp>
      <p:sp>
        <p:nvSpPr>
          <p:cNvPr id="2" name="Прямоугольник 1"/>
          <p:cNvSpPr/>
          <p:nvPr/>
        </p:nvSpPr>
        <p:spPr>
          <a:xfrm>
            <a:off x="577549" y="1463724"/>
            <a:ext cx="7665801" cy="2861937"/>
          </a:xfrm>
          <a:prstGeom prst="rect">
            <a:avLst/>
          </a:prstGeom>
        </p:spPr>
        <p:txBody>
          <a:bodyPr wrap="square">
            <a:spAutoFit/>
          </a:bodyPr>
          <a:lstStyle/>
          <a:p>
            <a:pPr>
              <a:lnSpc>
                <a:spcPct val="110000"/>
              </a:lnSpc>
            </a:pPr>
            <a:r>
              <a:rPr lang="ru-RU" altLang="ru-RU" dirty="0">
                <a:solidFill>
                  <a:schemeClr val="tx1"/>
                </a:solidFill>
                <a:latin typeface="+mn-lt"/>
              </a:rPr>
              <a:t>Несмотря на то, что реляционные базы данных способны обеспечить стабильное функционирование построенных на их основе систем, они не являются универсальным оптимальным решением на все случаи жизни. Многое зависит от специфических условий предметной области и требований, предъявляемых к целевой системе. </a:t>
            </a:r>
          </a:p>
          <a:p>
            <a:pPr>
              <a:lnSpc>
                <a:spcPct val="110000"/>
              </a:lnSpc>
            </a:pPr>
            <a:endParaRPr lang="ru-RU" altLang="ru-RU" dirty="0">
              <a:solidFill>
                <a:schemeClr val="tx1"/>
              </a:solidFill>
              <a:latin typeface="+mn-lt"/>
            </a:endParaRPr>
          </a:p>
          <a:p>
            <a:pPr>
              <a:lnSpc>
                <a:spcPct val="110000"/>
              </a:lnSpc>
            </a:pPr>
            <a:r>
              <a:rPr lang="ru-RU" altLang="ru-RU" dirty="0">
                <a:solidFill>
                  <a:schemeClr val="tx1"/>
                </a:solidFill>
                <a:latin typeface="+mn-lt"/>
              </a:rPr>
              <a:t>Рассмотрим задачу проектирования социальной сети. </a:t>
            </a:r>
            <a:br>
              <a:rPr lang="ru-RU" altLang="ru-RU" dirty="0">
                <a:solidFill>
                  <a:schemeClr val="tx1"/>
                </a:solidFill>
                <a:latin typeface="+mn-lt"/>
              </a:rPr>
            </a:br>
            <a:r>
              <a:rPr lang="ru-RU" altLang="ru-RU" b="1" dirty="0">
                <a:solidFill>
                  <a:schemeClr val="accent3"/>
                </a:solidFill>
                <a:latin typeface="+mn-lt"/>
              </a:rPr>
              <a:t>Предметная область будет включать следующие сущности с атрибутами:</a:t>
            </a:r>
            <a:br>
              <a:rPr lang="ru-RU" altLang="ru-RU" dirty="0">
                <a:solidFill>
                  <a:schemeClr val="tx1"/>
                </a:solidFill>
                <a:latin typeface="+mn-lt"/>
              </a:rPr>
            </a:br>
            <a:endParaRPr lang="ru-RU" altLang="ru-RU" sz="800" dirty="0">
              <a:solidFill>
                <a:schemeClr val="tx1"/>
              </a:solidFill>
              <a:latin typeface="+mn-lt"/>
            </a:endParaRPr>
          </a:p>
          <a:p>
            <a:pPr marL="285750" indent="-285750">
              <a:lnSpc>
                <a:spcPct val="110000"/>
              </a:lnSpc>
              <a:buClr>
                <a:schemeClr val="accent3"/>
              </a:buClr>
              <a:buFont typeface="Arial" panose="020B0604020202020204" pitchFamily="34" charset="0"/>
              <a:buChar char="•"/>
            </a:pPr>
            <a:r>
              <a:rPr lang="ru-RU" altLang="ru-RU" dirty="0">
                <a:solidFill>
                  <a:schemeClr val="tx1"/>
                </a:solidFill>
                <a:latin typeface="+mn-lt"/>
              </a:rPr>
              <a:t>Пользователи (ID, ФИО, Роль, Рейтинг, Логин, Пароль)</a:t>
            </a:r>
            <a:br>
              <a:rPr lang="ru-RU" altLang="ru-RU" dirty="0">
                <a:solidFill>
                  <a:schemeClr val="tx1"/>
                </a:solidFill>
                <a:latin typeface="+mn-lt"/>
              </a:rPr>
            </a:br>
            <a:endParaRPr lang="ru-RU" altLang="ru-RU" sz="800" dirty="0">
              <a:solidFill>
                <a:schemeClr val="tx1"/>
              </a:solidFill>
              <a:latin typeface="+mn-lt"/>
            </a:endParaRPr>
          </a:p>
          <a:p>
            <a:pPr marL="285750" indent="-285750">
              <a:lnSpc>
                <a:spcPct val="110000"/>
              </a:lnSpc>
              <a:buClr>
                <a:schemeClr val="accent3"/>
              </a:buClr>
              <a:buFont typeface="Arial" panose="020B0604020202020204" pitchFamily="34" charset="0"/>
              <a:buChar char="•"/>
            </a:pPr>
            <a:r>
              <a:rPr lang="ru-RU" altLang="ru-RU" dirty="0">
                <a:solidFill>
                  <a:schemeClr val="tx1"/>
                </a:solidFill>
                <a:latin typeface="+mn-lt"/>
              </a:rPr>
              <a:t>Группы (ID, Название)</a:t>
            </a:r>
            <a:br>
              <a:rPr lang="ru-RU" altLang="ru-RU" dirty="0">
                <a:solidFill>
                  <a:schemeClr val="tx1"/>
                </a:solidFill>
                <a:latin typeface="+mn-lt"/>
              </a:rPr>
            </a:br>
            <a:endParaRPr lang="ru-RU" altLang="ru-RU" sz="800" dirty="0">
              <a:solidFill>
                <a:schemeClr val="tx1"/>
              </a:solidFill>
              <a:latin typeface="+mn-lt"/>
            </a:endParaRPr>
          </a:p>
          <a:p>
            <a:pPr marL="285750" indent="-285750">
              <a:lnSpc>
                <a:spcPct val="110000"/>
              </a:lnSpc>
              <a:buClr>
                <a:schemeClr val="accent3"/>
              </a:buClr>
              <a:buFont typeface="Arial" panose="020B0604020202020204" pitchFamily="34" charset="0"/>
              <a:buChar char="•"/>
            </a:pPr>
            <a:r>
              <a:rPr lang="ru-RU" altLang="ru-RU" dirty="0">
                <a:solidFill>
                  <a:schemeClr val="tx1"/>
                </a:solidFill>
                <a:latin typeface="+mn-lt"/>
              </a:rPr>
              <a:t>ПользователиГруппы (ID пользователя, ID группы)</a:t>
            </a:r>
          </a:p>
        </p:txBody>
      </p:sp>
    </p:spTree>
    <p:extLst>
      <p:ext uri="{BB962C8B-B14F-4D97-AF65-F5344CB8AC3E}">
        <p14:creationId xmlns:p14="http://schemas.microsoft.com/office/powerpoint/2010/main" val="2943240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577549" y="521549"/>
            <a:ext cx="6827028" cy="1446550"/>
          </a:xfrm>
          <a:prstGeom prst="rect">
            <a:avLst/>
          </a:prstGeom>
          <a:noFill/>
        </p:spPr>
        <p:txBody>
          <a:bodyPr wrap="square">
            <a:spAutoFit/>
          </a:bodyPr>
          <a:lstStyle/>
          <a:p>
            <a:r>
              <a:rPr lang="ru-RU" sz="4400" kern="1200" dirty="0">
                <a:solidFill>
                  <a:schemeClr val="accent3"/>
                </a:solidFill>
                <a:latin typeface="+mj-lt"/>
              </a:rPr>
              <a:t>Проектируем социальную сеть</a:t>
            </a:r>
            <a:endParaRPr lang="ru-RU" sz="4400" dirty="0">
              <a:solidFill>
                <a:schemeClr val="accent3"/>
              </a:solidFill>
              <a:latin typeface="+mj-lt"/>
            </a:endParaRPr>
          </a:p>
        </p:txBody>
      </p:sp>
      <p:sp>
        <p:nvSpPr>
          <p:cNvPr id="2" name="Прямоугольник 1"/>
          <p:cNvSpPr/>
          <p:nvPr/>
        </p:nvSpPr>
        <p:spPr>
          <a:xfrm>
            <a:off x="577549" y="2029046"/>
            <a:ext cx="7665801" cy="1175706"/>
          </a:xfrm>
          <a:prstGeom prst="rect">
            <a:avLst/>
          </a:prstGeom>
        </p:spPr>
        <p:txBody>
          <a:bodyPr wrap="square">
            <a:spAutoFit/>
          </a:bodyPr>
          <a:lstStyle/>
          <a:p>
            <a:pPr>
              <a:lnSpc>
                <a:spcPct val="110000"/>
              </a:lnSpc>
            </a:pPr>
            <a:r>
              <a:rPr lang="ru-RU" altLang="ru-RU" dirty="0">
                <a:solidFill>
                  <a:schemeClr val="tx1"/>
                </a:solidFill>
                <a:latin typeface="+mn-lt"/>
              </a:rPr>
              <a:t>При выборе модели данных стоит учесть следующие факты:</a:t>
            </a:r>
            <a:br>
              <a:rPr lang="ru-RU" altLang="ru-RU" dirty="0">
                <a:solidFill>
                  <a:schemeClr val="tx1"/>
                </a:solidFill>
                <a:latin typeface="+mn-lt"/>
              </a:rPr>
            </a:br>
            <a:endParaRPr lang="ru-RU" altLang="ru-RU" sz="800" dirty="0">
              <a:solidFill>
                <a:schemeClr val="tx1"/>
              </a:solidFill>
              <a:latin typeface="+mn-lt"/>
            </a:endParaRPr>
          </a:p>
          <a:p>
            <a:pPr marL="285750" indent="-285750">
              <a:lnSpc>
                <a:spcPct val="110000"/>
              </a:lnSpc>
              <a:buClr>
                <a:schemeClr val="accent3"/>
              </a:buClr>
              <a:buFont typeface="Arial" panose="020B0604020202020204" pitchFamily="34" charset="0"/>
              <a:buChar char="•"/>
            </a:pPr>
            <a:r>
              <a:rPr lang="ru-RU" altLang="ru-RU" dirty="0">
                <a:solidFill>
                  <a:schemeClr val="tx1"/>
                </a:solidFill>
                <a:latin typeface="+mn-lt"/>
              </a:rPr>
              <a:t>данных будет много (vk.com – более 460 млн. пользователей)</a:t>
            </a:r>
          </a:p>
          <a:p>
            <a:pPr marL="285750" indent="-285750">
              <a:lnSpc>
                <a:spcPct val="110000"/>
              </a:lnSpc>
              <a:buClr>
                <a:schemeClr val="accent3"/>
              </a:buClr>
              <a:buFont typeface="Arial" panose="020B0604020202020204" pitchFamily="34" charset="0"/>
              <a:buChar char="•"/>
            </a:pPr>
            <a:r>
              <a:rPr lang="ru-RU" altLang="ru-RU" dirty="0">
                <a:solidFill>
                  <a:schemeClr val="tx1"/>
                </a:solidFill>
                <a:latin typeface="+mn-lt"/>
              </a:rPr>
              <a:t>окончательной схемы данных нет (сами сущности и их атрибуты еще будут неоднократно добавляться и удаляться)</a:t>
            </a:r>
          </a:p>
        </p:txBody>
      </p:sp>
      <p:graphicFrame>
        <p:nvGraphicFramePr>
          <p:cNvPr id="4" name="Object 4">
            <a:extLst>
              <a:ext uri="{FF2B5EF4-FFF2-40B4-BE49-F238E27FC236}">
                <a16:creationId xmlns:a16="http://schemas.microsoft.com/office/drawing/2014/main" id="{55A94565-2AAE-4038-9DEB-12CF80EA88A3}"/>
              </a:ext>
            </a:extLst>
          </p:cNvPr>
          <p:cNvGraphicFramePr>
            <a:graphicFrameLocks noChangeAspect="1"/>
          </p:cNvGraphicFramePr>
          <p:nvPr>
            <p:extLst>
              <p:ext uri="{D42A27DB-BD31-4B8C-83A1-F6EECF244321}">
                <p14:modId xmlns:p14="http://schemas.microsoft.com/office/powerpoint/2010/main" val="761451382"/>
              </p:ext>
            </p:extLst>
          </p:nvPr>
        </p:nvGraphicFramePr>
        <p:xfrm>
          <a:off x="577549" y="3413841"/>
          <a:ext cx="4163547" cy="954482"/>
        </p:xfrm>
        <a:graphic>
          <a:graphicData uri="http://schemas.openxmlformats.org/presentationml/2006/ole">
            <mc:AlternateContent xmlns:mc="http://schemas.openxmlformats.org/markup-compatibility/2006">
              <mc:Choice xmlns:v="urn:schemas-microsoft-com:vml" Requires="v">
                <p:oleObj name="Лист" r:id="rId3" imgW="5857689" imgH="1342986" progId="Excel.Sheet.12">
                  <p:embed/>
                </p:oleObj>
              </mc:Choice>
              <mc:Fallback>
                <p:oleObj name="Лист" r:id="rId3" imgW="5857689" imgH="1342986" progId="Excel.Sheet.12">
                  <p:embed/>
                  <p:pic>
                    <p:nvPicPr>
                      <p:cNvPr id="13" name="Object 4">
                        <a:extLst>
                          <a:ext uri="{FF2B5EF4-FFF2-40B4-BE49-F238E27FC236}">
                            <a16:creationId xmlns:a16="http://schemas.microsoft.com/office/drawing/2014/main" id="{55A94565-2AAE-4038-9DEB-12CF80EA88A3}"/>
                          </a:ext>
                        </a:extLst>
                      </p:cNvPr>
                      <p:cNvPicPr/>
                      <p:nvPr/>
                    </p:nvPicPr>
                    <p:blipFill>
                      <a:blip r:embed="rId4"/>
                      <a:stretch>
                        <a:fillRect/>
                      </a:stretch>
                    </p:blipFill>
                    <p:spPr>
                      <a:xfrm>
                        <a:off x="577549" y="3413841"/>
                        <a:ext cx="4163547" cy="954482"/>
                      </a:xfrm>
                      <a:prstGeom prst="rect">
                        <a:avLst/>
                      </a:prstGeom>
                    </p:spPr>
                  </p:pic>
                </p:oleObj>
              </mc:Fallback>
            </mc:AlternateContent>
          </a:graphicData>
        </a:graphic>
      </p:graphicFrame>
      <p:graphicFrame>
        <p:nvGraphicFramePr>
          <p:cNvPr id="5" name="Object 5">
            <a:extLst>
              <a:ext uri="{FF2B5EF4-FFF2-40B4-BE49-F238E27FC236}">
                <a16:creationId xmlns:a16="http://schemas.microsoft.com/office/drawing/2014/main" id="{C6E6CCA0-BA90-4D65-9E94-55D81D130EBD}"/>
              </a:ext>
            </a:extLst>
          </p:cNvPr>
          <p:cNvGraphicFramePr>
            <a:graphicFrameLocks noChangeAspect="1"/>
          </p:cNvGraphicFramePr>
          <p:nvPr>
            <p:extLst>
              <p:ext uri="{D42A27DB-BD31-4B8C-83A1-F6EECF244321}">
                <p14:modId xmlns:p14="http://schemas.microsoft.com/office/powerpoint/2010/main" val="3748159506"/>
              </p:ext>
            </p:extLst>
          </p:nvPr>
        </p:nvGraphicFramePr>
        <p:xfrm>
          <a:off x="4825364" y="3413840"/>
          <a:ext cx="2625876" cy="954482"/>
        </p:xfrm>
        <a:graphic>
          <a:graphicData uri="http://schemas.openxmlformats.org/presentationml/2006/ole">
            <mc:AlternateContent xmlns:mc="http://schemas.openxmlformats.org/markup-compatibility/2006">
              <mc:Choice xmlns:v="urn:schemas-microsoft-com:vml" Requires="v">
                <p:oleObj name="Worksheet" r:id="rId5" imgW="3400502" imgH="1152337" progId="Excel.Sheet.12">
                  <p:embed/>
                </p:oleObj>
              </mc:Choice>
              <mc:Fallback>
                <p:oleObj name="Worksheet" r:id="rId5" imgW="3400502" imgH="1152337" progId="Excel.Sheet.12">
                  <p:embed/>
                  <p:pic>
                    <p:nvPicPr>
                      <p:cNvPr id="14" name="Object 5">
                        <a:extLst>
                          <a:ext uri="{FF2B5EF4-FFF2-40B4-BE49-F238E27FC236}">
                            <a16:creationId xmlns:a16="http://schemas.microsoft.com/office/drawing/2014/main" id="{C6E6CCA0-BA90-4D65-9E94-55D81D130EBD}"/>
                          </a:ext>
                        </a:extLst>
                      </p:cNvPr>
                      <p:cNvPicPr/>
                      <p:nvPr/>
                    </p:nvPicPr>
                    <p:blipFill>
                      <a:blip r:embed="rId6"/>
                      <a:stretch>
                        <a:fillRect/>
                      </a:stretch>
                    </p:blipFill>
                    <p:spPr>
                      <a:xfrm>
                        <a:off x="4825364" y="3413840"/>
                        <a:ext cx="2625876" cy="954482"/>
                      </a:xfrm>
                      <a:prstGeom prst="rect">
                        <a:avLst/>
                      </a:prstGeom>
                    </p:spPr>
                  </p:pic>
                </p:oleObj>
              </mc:Fallback>
            </mc:AlternateContent>
          </a:graphicData>
        </a:graphic>
      </p:graphicFrame>
      <p:graphicFrame>
        <p:nvGraphicFramePr>
          <p:cNvPr id="6" name="Object 7">
            <a:extLst>
              <a:ext uri="{FF2B5EF4-FFF2-40B4-BE49-F238E27FC236}">
                <a16:creationId xmlns:a16="http://schemas.microsoft.com/office/drawing/2014/main" id="{8B5E8AE3-8989-4374-B4F2-652CE8B8572A}"/>
              </a:ext>
            </a:extLst>
          </p:cNvPr>
          <p:cNvGraphicFramePr>
            <a:graphicFrameLocks noChangeAspect="1"/>
          </p:cNvGraphicFramePr>
          <p:nvPr>
            <p:extLst>
              <p:ext uri="{D42A27DB-BD31-4B8C-83A1-F6EECF244321}">
                <p14:modId xmlns:p14="http://schemas.microsoft.com/office/powerpoint/2010/main" val="1077912204"/>
              </p:ext>
            </p:extLst>
          </p:nvPr>
        </p:nvGraphicFramePr>
        <p:xfrm>
          <a:off x="7535508" y="3413840"/>
          <a:ext cx="1300874" cy="954482"/>
        </p:xfrm>
        <a:graphic>
          <a:graphicData uri="http://schemas.openxmlformats.org/presentationml/2006/ole">
            <mc:AlternateContent xmlns:mc="http://schemas.openxmlformats.org/markup-compatibility/2006">
              <mc:Choice xmlns:v="urn:schemas-microsoft-com:vml" Requires="v">
                <p:oleObj name="Worksheet" r:id="rId7" imgW="1828832" imgH="1342917" progId="Excel.Sheet.12">
                  <p:embed/>
                </p:oleObj>
              </mc:Choice>
              <mc:Fallback>
                <p:oleObj name="Worksheet" r:id="rId7" imgW="1828832" imgH="1342917" progId="Excel.Sheet.12">
                  <p:embed/>
                  <p:pic>
                    <p:nvPicPr>
                      <p:cNvPr id="15" name="Object 7">
                        <a:extLst>
                          <a:ext uri="{FF2B5EF4-FFF2-40B4-BE49-F238E27FC236}">
                            <a16:creationId xmlns:a16="http://schemas.microsoft.com/office/drawing/2014/main" id="{8B5E8AE3-8989-4374-B4F2-652CE8B8572A}"/>
                          </a:ext>
                        </a:extLst>
                      </p:cNvPr>
                      <p:cNvPicPr/>
                      <p:nvPr/>
                    </p:nvPicPr>
                    <p:blipFill>
                      <a:blip r:embed="rId8"/>
                      <a:stretch>
                        <a:fillRect/>
                      </a:stretch>
                    </p:blipFill>
                    <p:spPr>
                      <a:xfrm>
                        <a:off x="7535508" y="3413840"/>
                        <a:ext cx="1300874" cy="954482"/>
                      </a:xfrm>
                      <a:prstGeom prst="rect">
                        <a:avLst/>
                      </a:prstGeom>
                    </p:spPr>
                  </p:pic>
                </p:oleObj>
              </mc:Fallback>
            </mc:AlternateContent>
          </a:graphicData>
        </a:graphic>
      </p:graphicFrame>
    </p:spTree>
    <p:extLst>
      <p:ext uri="{BB962C8B-B14F-4D97-AF65-F5344CB8AC3E}">
        <p14:creationId xmlns:p14="http://schemas.microsoft.com/office/powerpoint/2010/main" val="4252653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504399" y="1406081"/>
            <a:ext cx="2527386" cy="769441"/>
          </a:xfrm>
          <a:prstGeom prst="rect">
            <a:avLst/>
          </a:prstGeom>
          <a:noFill/>
        </p:spPr>
        <p:txBody>
          <a:bodyPr wrap="square">
            <a:spAutoFit/>
          </a:bodyPr>
          <a:lstStyle/>
          <a:p>
            <a:r>
              <a:rPr lang="en-US" sz="4400" kern="1200" dirty="0">
                <a:solidFill>
                  <a:schemeClr val="accent3"/>
                </a:solidFill>
                <a:latin typeface="+mj-lt"/>
              </a:rPr>
              <a:t>SQL? No!</a:t>
            </a:r>
            <a:endParaRPr lang="ru-RU" sz="4400" dirty="0">
              <a:solidFill>
                <a:schemeClr val="accent3"/>
              </a:solidFill>
              <a:latin typeface="+mj-lt"/>
            </a:endParaRPr>
          </a:p>
        </p:txBody>
      </p:sp>
      <p:sp>
        <p:nvSpPr>
          <p:cNvPr id="2" name="Прямоугольник 1"/>
          <p:cNvSpPr/>
          <p:nvPr/>
        </p:nvSpPr>
        <p:spPr>
          <a:xfrm>
            <a:off x="504399" y="2447413"/>
            <a:ext cx="2268779" cy="1277273"/>
          </a:xfrm>
          <a:prstGeom prst="rect">
            <a:avLst/>
          </a:prstGeom>
        </p:spPr>
        <p:txBody>
          <a:bodyPr wrap="square">
            <a:spAutoFit/>
          </a:bodyPr>
          <a:lstStyle/>
          <a:p>
            <a:pPr>
              <a:lnSpc>
                <a:spcPct val="110000"/>
              </a:lnSpc>
            </a:pPr>
            <a:r>
              <a:rPr lang="ru-RU" altLang="ru-RU" dirty="0">
                <a:solidFill>
                  <a:schemeClr val="tx1"/>
                </a:solidFill>
                <a:latin typeface="+mn-lt"/>
              </a:rPr>
              <a:t>Если скорость обработки запроса &gt; 1 сек., то время ожидания тысяча первого запроса &gt; 1 000 сек. (~17 минут).</a:t>
            </a:r>
          </a:p>
        </p:txBody>
      </p:sp>
      <p:graphicFrame>
        <p:nvGraphicFramePr>
          <p:cNvPr id="4" name="Object 7">
            <a:extLst>
              <a:ext uri="{FF2B5EF4-FFF2-40B4-BE49-F238E27FC236}">
                <a16:creationId xmlns:a16="http://schemas.microsoft.com/office/drawing/2014/main" id="{165E1A85-71B1-4DF1-9CB3-D5C52C6C9102}"/>
              </a:ext>
            </a:extLst>
          </p:cNvPr>
          <p:cNvGraphicFramePr>
            <a:graphicFrameLocks noChangeAspect="1"/>
          </p:cNvGraphicFramePr>
          <p:nvPr>
            <p:extLst>
              <p:ext uri="{D42A27DB-BD31-4B8C-83A1-F6EECF244321}">
                <p14:modId xmlns:p14="http://schemas.microsoft.com/office/powerpoint/2010/main" val="1471512884"/>
              </p:ext>
            </p:extLst>
          </p:nvPr>
        </p:nvGraphicFramePr>
        <p:xfrm>
          <a:off x="6944569" y="500874"/>
          <a:ext cx="1422737" cy="1043896"/>
        </p:xfrm>
        <a:graphic>
          <a:graphicData uri="http://schemas.openxmlformats.org/presentationml/2006/ole">
            <mc:AlternateContent xmlns:mc="http://schemas.openxmlformats.org/markup-compatibility/2006">
              <mc:Choice xmlns:v="urn:schemas-microsoft-com:vml" Requires="v">
                <p:oleObj name="Worksheet" r:id="rId3" imgW="1828832" imgH="1342917" progId="Excel.Sheet.12">
                  <p:embed/>
                </p:oleObj>
              </mc:Choice>
              <mc:Fallback>
                <p:oleObj name="Worksheet" r:id="rId3" imgW="1828832" imgH="1342917" progId="Excel.Sheet.12">
                  <p:embed/>
                  <p:pic>
                    <p:nvPicPr>
                      <p:cNvPr id="95" name="Object 7">
                        <a:extLst>
                          <a:ext uri="{FF2B5EF4-FFF2-40B4-BE49-F238E27FC236}">
                            <a16:creationId xmlns:a16="http://schemas.microsoft.com/office/drawing/2014/main" id="{165E1A85-71B1-4DF1-9CB3-D5C52C6C9102}"/>
                          </a:ext>
                        </a:extLst>
                      </p:cNvPr>
                      <p:cNvPicPr/>
                      <p:nvPr/>
                    </p:nvPicPr>
                    <p:blipFill>
                      <a:blip r:embed="rId4"/>
                      <a:stretch>
                        <a:fillRect/>
                      </a:stretch>
                    </p:blipFill>
                    <p:spPr>
                      <a:xfrm>
                        <a:off x="6944569" y="500874"/>
                        <a:ext cx="1422737" cy="1043896"/>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E673FABF-3E8D-4716-BF7E-95655824D2AB}"/>
              </a:ext>
            </a:extLst>
          </p:cNvPr>
          <p:cNvGraphicFramePr>
            <a:graphicFrameLocks noChangeAspect="1"/>
          </p:cNvGraphicFramePr>
          <p:nvPr>
            <p:extLst>
              <p:ext uri="{D42A27DB-BD31-4B8C-83A1-F6EECF244321}">
                <p14:modId xmlns:p14="http://schemas.microsoft.com/office/powerpoint/2010/main" val="927127923"/>
              </p:ext>
            </p:extLst>
          </p:nvPr>
        </p:nvGraphicFramePr>
        <p:xfrm>
          <a:off x="3606151" y="515751"/>
          <a:ext cx="2399942" cy="1041117"/>
        </p:xfrm>
        <a:graphic>
          <a:graphicData uri="http://schemas.openxmlformats.org/presentationml/2006/ole">
            <mc:AlternateContent xmlns:mc="http://schemas.openxmlformats.org/markup-compatibility/2006">
              <mc:Choice xmlns:v="urn:schemas-microsoft-com:vml" Requires="v">
                <p:oleObj name="Worksheet" r:id="rId5" imgW="3095506" imgH="1342917" progId="Excel.Sheet.12">
                  <p:embed/>
                </p:oleObj>
              </mc:Choice>
              <mc:Fallback>
                <p:oleObj name="Worksheet" r:id="rId5" imgW="3095506" imgH="1342917" progId="Excel.Sheet.12">
                  <p:embed/>
                  <p:pic>
                    <p:nvPicPr>
                      <p:cNvPr id="96" name="Object 4">
                        <a:extLst>
                          <a:ext uri="{FF2B5EF4-FFF2-40B4-BE49-F238E27FC236}">
                            <a16:creationId xmlns:a16="http://schemas.microsoft.com/office/drawing/2014/main" id="{E673FABF-3E8D-4716-BF7E-95655824D2AB}"/>
                          </a:ext>
                        </a:extLst>
                      </p:cNvPr>
                      <p:cNvPicPr/>
                      <p:nvPr/>
                    </p:nvPicPr>
                    <p:blipFill>
                      <a:blip r:embed="rId6"/>
                      <a:stretch>
                        <a:fillRect/>
                      </a:stretch>
                    </p:blipFill>
                    <p:spPr>
                      <a:xfrm>
                        <a:off x="3606151" y="515751"/>
                        <a:ext cx="2399942" cy="1041117"/>
                      </a:xfrm>
                      <a:prstGeom prst="rect">
                        <a:avLst/>
                      </a:prstGeom>
                    </p:spPr>
                  </p:pic>
                </p:oleObj>
              </mc:Fallback>
            </mc:AlternateContent>
          </a:graphicData>
        </a:graphic>
      </p:graphicFrame>
      <p:grpSp>
        <p:nvGrpSpPr>
          <p:cNvPr id="6" name="Group 86">
            <a:extLst>
              <a:ext uri="{FF2B5EF4-FFF2-40B4-BE49-F238E27FC236}">
                <a16:creationId xmlns:a16="http://schemas.microsoft.com/office/drawing/2014/main" id="{5E16FA70-6EB9-4852-8938-E584C69655EB}"/>
              </a:ext>
            </a:extLst>
          </p:cNvPr>
          <p:cNvGrpSpPr/>
          <p:nvPr/>
        </p:nvGrpSpPr>
        <p:grpSpPr>
          <a:xfrm>
            <a:off x="7133153" y="2777000"/>
            <a:ext cx="1901631" cy="1260438"/>
            <a:chOff x="3907953" y="4459424"/>
            <a:chExt cx="3259167" cy="2160240"/>
          </a:xfrm>
        </p:grpSpPr>
        <p:pic>
          <p:nvPicPr>
            <p:cNvPr id="7" name="Picture 8">
              <a:extLst>
                <a:ext uri="{FF2B5EF4-FFF2-40B4-BE49-F238E27FC236}">
                  <a16:creationId xmlns:a16="http://schemas.microsoft.com/office/drawing/2014/main" id="{DF84169A-7F99-4D37-B9FD-5250D1E7026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21111109">
              <a:off x="4994603" y="4926679"/>
              <a:ext cx="700034" cy="466005"/>
            </a:xfrm>
            <a:prstGeom prst="rect">
              <a:avLst/>
            </a:prstGeom>
          </p:spPr>
        </p:pic>
        <p:pic>
          <p:nvPicPr>
            <p:cNvPr id="8" name="Picture 15">
              <a:extLst>
                <a:ext uri="{FF2B5EF4-FFF2-40B4-BE49-F238E27FC236}">
                  <a16:creationId xmlns:a16="http://schemas.microsoft.com/office/drawing/2014/main" id="{E6B9A1A0-D6E4-4539-8A2F-AC5DC7930819}"/>
                </a:ext>
              </a:extLst>
            </p:cNvPr>
            <p:cNvPicPr>
              <a:picLocks noChangeAspect="1"/>
            </p:cNvPicPr>
            <p:nvPr/>
          </p:nvPicPr>
          <p:blipFill>
            <a:blip r:embed="rId8"/>
            <a:stretch>
              <a:fillRect/>
            </a:stretch>
          </p:blipFill>
          <p:spPr>
            <a:xfrm>
              <a:off x="5046759" y="5971592"/>
              <a:ext cx="934023" cy="389853"/>
            </a:xfrm>
            <a:prstGeom prst="rect">
              <a:avLst/>
            </a:prstGeom>
          </p:spPr>
        </p:pic>
        <p:pic>
          <p:nvPicPr>
            <p:cNvPr id="9" name="Picture 22">
              <a:extLst>
                <a:ext uri="{FF2B5EF4-FFF2-40B4-BE49-F238E27FC236}">
                  <a16:creationId xmlns:a16="http://schemas.microsoft.com/office/drawing/2014/main" id="{32C5477F-E9B7-4021-B580-C52AFFA39D35}"/>
                </a:ext>
              </a:extLst>
            </p:cNvPr>
            <p:cNvPicPr>
              <a:picLocks noChangeAspect="1"/>
            </p:cNvPicPr>
            <p:nvPr/>
          </p:nvPicPr>
          <p:blipFill rotWithShape="1">
            <a:blip r:embed="rId9"/>
            <a:srcRect r="6516"/>
            <a:stretch/>
          </p:blipFill>
          <p:spPr>
            <a:xfrm>
              <a:off x="3907953" y="4907648"/>
              <a:ext cx="1008112" cy="970072"/>
            </a:xfrm>
            <a:prstGeom prst="rect">
              <a:avLst/>
            </a:prstGeom>
          </p:spPr>
        </p:pic>
        <p:pic>
          <p:nvPicPr>
            <p:cNvPr id="10" name="Picture 23">
              <a:extLst>
                <a:ext uri="{FF2B5EF4-FFF2-40B4-BE49-F238E27FC236}">
                  <a16:creationId xmlns:a16="http://schemas.microsoft.com/office/drawing/2014/main" id="{A46C0FB9-D6B6-43CF-8B0A-3B0F8C98FA1C}"/>
                </a:ext>
              </a:extLst>
            </p:cNvPr>
            <p:cNvPicPr>
              <a:picLocks noChangeAspect="1"/>
            </p:cNvPicPr>
            <p:nvPr/>
          </p:nvPicPr>
          <p:blipFill rotWithShape="1">
            <a:blip r:embed="rId9"/>
            <a:srcRect r="6516"/>
            <a:stretch/>
          </p:blipFill>
          <p:spPr>
            <a:xfrm flipH="1">
              <a:off x="6231016" y="4858540"/>
              <a:ext cx="936104" cy="970072"/>
            </a:xfrm>
            <a:prstGeom prst="rect">
              <a:avLst/>
            </a:prstGeom>
          </p:spPr>
        </p:pic>
        <p:grpSp>
          <p:nvGrpSpPr>
            <p:cNvPr id="11" name="Group 26">
              <a:extLst>
                <a:ext uri="{FF2B5EF4-FFF2-40B4-BE49-F238E27FC236}">
                  <a16:creationId xmlns:a16="http://schemas.microsoft.com/office/drawing/2014/main" id="{6A7942C2-5C46-47AB-A973-0B8BE57EF7BC}"/>
                </a:ext>
              </a:extLst>
            </p:cNvPr>
            <p:cNvGrpSpPr/>
            <p:nvPr/>
          </p:nvGrpSpPr>
          <p:grpSpPr>
            <a:xfrm>
              <a:off x="4916065" y="4459424"/>
              <a:ext cx="1512168" cy="2160240"/>
              <a:chOff x="2411760" y="4581128"/>
              <a:chExt cx="1512168" cy="2160240"/>
            </a:xfrm>
            <a:effectLst>
              <a:glow>
                <a:srgbClr val="5B9BD5"/>
              </a:glow>
              <a:outerShdw blurRad="50800" dist="38100" dir="2700000" algn="tl" rotWithShape="0">
                <a:prstClr val="black">
                  <a:alpha val="40000"/>
                </a:prstClr>
              </a:outerShdw>
            </a:effectLst>
          </p:grpSpPr>
          <p:sp>
            <p:nvSpPr>
              <p:cNvPr id="13" name="Cube 1">
                <a:extLst>
                  <a:ext uri="{FF2B5EF4-FFF2-40B4-BE49-F238E27FC236}">
                    <a16:creationId xmlns:a16="http://schemas.microsoft.com/office/drawing/2014/main" id="{044B4E3A-5FA8-4B0F-8410-E0F3079D9C00}"/>
                  </a:ext>
                </a:extLst>
              </p:cNvPr>
              <p:cNvSpPr/>
              <p:nvPr/>
            </p:nvSpPr>
            <p:spPr>
              <a:xfrm>
                <a:off x="2411760" y="4581128"/>
                <a:ext cx="1512168" cy="2160240"/>
              </a:xfrm>
              <a:prstGeom prst="cube">
                <a:avLst/>
              </a:prstGeom>
              <a:noFill/>
              <a:ln w="28575" cap="flat" cmpd="sng" algn="ctr">
                <a:solidFill>
                  <a:sysClr val="windowText" lastClr="000000"/>
                </a:solidFill>
                <a:prstDash val="solid"/>
                <a:miter lim="800000"/>
              </a:ln>
              <a:effectLst>
                <a:softEdge rad="0"/>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cxnSp>
            <p:nvCxnSpPr>
              <p:cNvPr id="14" name="Straight Connector 25">
                <a:extLst>
                  <a:ext uri="{FF2B5EF4-FFF2-40B4-BE49-F238E27FC236}">
                    <a16:creationId xmlns:a16="http://schemas.microsoft.com/office/drawing/2014/main" id="{382F513C-C1A4-48B0-BE9D-B9D7682B52FF}"/>
                  </a:ext>
                </a:extLst>
              </p:cNvPr>
              <p:cNvCxnSpPr/>
              <p:nvPr/>
            </p:nvCxnSpPr>
            <p:spPr>
              <a:xfrm>
                <a:off x="3923928" y="4581128"/>
                <a:ext cx="0" cy="1152128"/>
              </a:xfrm>
              <a:prstGeom prst="line">
                <a:avLst/>
              </a:prstGeom>
              <a:noFill/>
              <a:ln w="28575" cap="flat" cmpd="sng" algn="ctr">
                <a:solidFill>
                  <a:sysClr val="windowText" lastClr="000000"/>
                </a:solidFill>
                <a:prstDash val="solid"/>
                <a:miter lim="800000"/>
              </a:ln>
              <a:effectLst/>
            </p:spPr>
          </p:cxnSp>
        </p:grpSp>
        <p:sp>
          <p:nvSpPr>
            <p:cNvPr id="12" name="TextBox 11">
              <a:extLst>
                <a:ext uri="{FF2B5EF4-FFF2-40B4-BE49-F238E27FC236}">
                  <a16:creationId xmlns:a16="http://schemas.microsoft.com/office/drawing/2014/main" id="{3FB56150-7D63-4D03-A852-BE7FC432BED9}"/>
                </a:ext>
              </a:extLst>
            </p:cNvPr>
            <p:cNvSpPr txBox="1"/>
            <p:nvPr/>
          </p:nvSpPr>
          <p:spPr>
            <a:xfrm>
              <a:off x="4932468" y="5515879"/>
              <a:ext cx="1135726" cy="448368"/>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ru-RU" sz="1100" b="0" i="0" u="none" strike="noStrike" kern="0" cap="none" spc="0" normalizeH="0" baseline="0" noProof="0" dirty="0">
                  <a:ln>
                    <a:noFill/>
                  </a:ln>
                  <a:solidFill>
                    <a:prstClr val="black"/>
                  </a:solidFill>
                  <a:effectLst/>
                  <a:uLnTx/>
                  <a:uFillTx/>
                  <a:latin typeface="Verdana" panose="020B0604030504040204" pitchFamily="34" charset="0"/>
                </a:rPr>
                <a:t>СУБД</a:t>
              </a:r>
            </a:p>
          </p:txBody>
        </p:sp>
      </p:grpSp>
      <p:cxnSp>
        <p:nvCxnSpPr>
          <p:cNvPr id="15" name="Straight Arrow Connector 30">
            <a:extLst>
              <a:ext uri="{FF2B5EF4-FFF2-40B4-BE49-F238E27FC236}">
                <a16:creationId xmlns:a16="http://schemas.microsoft.com/office/drawing/2014/main" id="{EA5F5FD0-CAF4-4616-8126-8400106FD894}"/>
              </a:ext>
            </a:extLst>
          </p:cNvPr>
          <p:cNvCxnSpPr/>
          <p:nvPr/>
        </p:nvCxnSpPr>
        <p:spPr>
          <a:xfrm>
            <a:off x="6040519" y="861580"/>
            <a:ext cx="882307" cy="0"/>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16" name="Straight Arrow Connector 31">
            <a:extLst>
              <a:ext uri="{FF2B5EF4-FFF2-40B4-BE49-F238E27FC236}">
                <a16:creationId xmlns:a16="http://schemas.microsoft.com/office/drawing/2014/main" id="{1F30036D-8488-43B8-ACD7-57E659FE0311}"/>
              </a:ext>
            </a:extLst>
          </p:cNvPr>
          <p:cNvCxnSpPr/>
          <p:nvPr/>
        </p:nvCxnSpPr>
        <p:spPr>
          <a:xfrm flipV="1">
            <a:off x="6040519" y="891163"/>
            <a:ext cx="870769" cy="180489"/>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17" name="Straight Arrow Connector 33">
            <a:extLst>
              <a:ext uri="{FF2B5EF4-FFF2-40B4-BE49-F238E27FC236}">
                <a16:creationId xmlns:a16="http://schemas.microsoft.com/office/drawing/2014/main" id="{FFDCFA69-A440-4772-A628-91DB31868012}"/>
              </a:ext>
            </a:extLst>
          </p:cNvPr>
          <p:cNvCxnSpPr/>
          <p:nvPr/>
        </p:nvCxnSpPr>
        <p:spPr>
          <a:xfrm flipV="1">
            <a:off x="6033968" y="887379"/>
            <a:ext cx="882307" cy="416973"/>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19" name="Straight Arrow Connector 37">
            <a:extLst>
              <a:ext uri="{FF2B5EF4-FFF2-40B4-BE49-F238E27FC236}">
                <a16:creationId xmlns:a16="http://schemas.microsoft.com/office/drawing/2014/main" id="{E78C3683-45E6-46EE-A69C-71DAB31D269F}"/>
              </a:ext>
            </a:extLst>
          </p:cNvPr>
          <p:cNvCxnSpPr/>
          <p:nvPr/>
        </p:nvCxnSpPr>
        <p:spPr>
          <a:xfrm flipV="1">
            <a:off x="6041445" y="918901"/>
            <a:ext cx="882307" cy="416973"/>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20" name="Straight Arrow Connector 38">
            <a:extLst>
              <a:ext uri="{FF2B5EF4-FFF2-40B4-BE49-F238E27FC236}">
                <a16:creationId xmlns:a16="http://schemas.microsoft.com/office/drawing/2014/main" id="{B918ABDC-BFB3-4208-B086-D81FB0C1C638}"/>
              </a:ext>
            </a:extLst>
          </p:cNvPr>
          <p:cNvCxnSpPr/>
          <p:nvPr/>
        </p:nvCxnSpPr>
        <p:spPr>
          <a:xfrm flipV="1">
            <a:off x="6041445" y="945011"/>
            <a:ext cx="882307" cy="416973"/>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21" name="Straight Arrow Connector 39">
            <a:extLst>
              <a:ext uri="{FF2B5EF4-FFF2-40B4-BE49-F238E27FC236}">
                <a16:creationId xmlns:a16="http://schemas.microsoft.com/office/drawing/2014/main" id="{9525EB64-6D78-4ACD-876B-C593529D613B}"/>
              </a:ext>
            </a:extLst>
          </p:cNvPr>
          <p:cNvCxnSpPr/>
          <p:nvPr/>
        </p:nvCxnSpPr>
        <p:spPr>
          <a:xfrm flipV="1">
            <a:off x="6041445" y="961358"/>
            <a:ext cx="882307" cy="416973"/>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22" name="Straight Arrow Connector 40">
            <a:extLst>
              <a:ext uri="{FF2B5EF4-FFF2-40B4-BE49-F238E27FC236}">
                <a16:creationId xmlns:a16="http://schemas.microsoft.com/office/drawing/2014/main" id="{E8A8CF81-41F1-47E7-8E88-6AB1AC973788}"/>
              </a:ext>
            </a:extLst>
          </p:cNvPr>
          <p:cNvCxnSpPr/>
          <p:nvPr/>
        </p:nvCxnSpPr>
        <p:spPr>
          <a:xfrm flipV="1">
            <a:off x="6056502" y="977510"/>
            <a:ext cx="882307" cy="416973"/>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23" name="Straight Arrow Connector 41">
            <a:extLst>
              <a:ext uri="{FF2B5EF4-FFF2-40B4-BE49-F238E27FC236}">
                <a16:creationId xmlns:a16="http://schemas.microsoft.com/office/drawing/2014/main" id="{B6DB05D7-A226-4F52-905E-92212D3FDB5C}"/>
              </a:ext>
            </a:extLst>
          </p:cNvPr>
          <p:cNvCxnSpPr/>
          <p:nvPr/>
        </p:nvCxnSpPr>
        <p:spPr>
          <a:xfrm flipV="1">
            <a:off x="6040519" y="903594"/>
            <a:ext cx="882307" cy="416973"/>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64" name="Straight Arrow Connector 126">
            <a:extLst>
              <a:ext uri="{FF2B5EF4-FFF2-40B4-BE49-F238E27FC236}">
                <a16:creationId xmlns:a16="http://schemas.microsoft.com/office/drawing/2014/main" id="{316E2FD2-82E2-4B16-8F07-E857010EA5A9}"/>
              </a:ext>
            </a:extLst>
          </p:cNvPr>
          <p:cNvCxnSpPr/>
          <p:nvPr/>
        </p:nvCxnSpPr>
        <p:spPr>
          <a:xfrm>
            <a:off x="6033968" y="1361984"/>
            <a:ext cx="882307" cy="0"/>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65" name="Straight Arrow Connector 137">
            <a:extLst>
              <a:ext uri="{FF2B5EF4-FFF2-40B4-BE49-F238E27FC236}">
                <a16:creationId xmlns:a16="http://schemas.microsoft.com/office/drawing/2014/main" id="{4178291E-E215-49CE-8DC1-3BD46C67CA25}"/>
              </a:ext>
            </a:extLst>
          </p:cNvPr>
          <p:cNvCxnSpPr/>
          <p:nvPr/>
        </p:nvCxnSpPr>
        <p:spPr>
          <a:xfrm>
            <a:off x="6028981" y="1333187"/>
            <a:ext cx="882307" cy="0"/>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66" name="Straight Arrow Connector 138">
            <a:extLst>
              <a:ext uri="{FF2B5EF4-FFF2-40B4-BE49-F238E27FC236}">
                <a16:creationId xmlns:a16="http://schemas.microsoft.com/office/drawing/2014/main" id="{959E6007-8362-4334-912A-2BA6B343DA95}"/>
              </a:ext>
            </a:extLst>
          </p:cNvPr>
          <p:cNvCxnSpPr/>
          <p:nvPr/>
        </p:nvCxnSpPr>
        <p:spPr>
          <a:xfrm>
            <a:off x="6028981" y="1304352"/>
            <a:ext cx="882307" cy="0"/>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67" name="Straight Arrow Connector 144">
            <a:extLst>
              <a:ext uri="{FF2B5EF4-FFF2-40B4-BE49-F238E27FC236}">
                <a16:creationId xmlns:a16="http://schemas.microsoft.com/office/drawing/2014/main" id="{F877EF61-62FE-40BF-AE0A-E5785F269455}"/>
              </a:ext>
            </a:extLst>
          </p:cNvPr>
          <p:cNvCxnSpPr/>
          <p:nvPr/>
        </p:nvCxnSpPr>
        <p:spPr>
          <a:xfrm>
            <a:off x="6028981" y="1394483"/>
            <a:ext cx="882307" cy="0"/>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68" name="Straight Arrow Connector 145">
            <a:extLst>
              <a:ext uri="{FF2B5EF4-FFF2-40B4-BE49-F238E27FC236}">
                <a16:creationId xmlns:a16="http://schemas.microsoft.com/office/drawing/2014/main" id="{CBCD2DAE-CA15-4CA0-A2DF-DE950E833707}"/>
              </a:ext>
            </a:extLst>
          </p:cNvPr>
          <p:cNvCxnSpPr/>
          <p:nvPr/>
        </p:nvCxnSpPr>
        <p:spPr>
          <a:xfrm>
            <a:off x="6014488" y="1383181"/>
            <a:ext cx="882307" cy="0"/>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69" name="Straight Arrow Connector 146">
            <a:extLst>
              <a:ext uri="{FF2B5EF4-FFF2-40B4-BE49-F238E27FC236}">
                <a16:creationId xmlns:a16="http://schemas.microsoft.com/office/drawing/2014/main" id="{A262A823-4737-42D7-B2AA-9CED3A17996D}"/>
              </a:ext>
            </a:extLst>
          </p:cNvPr>
          <p:cNvCxnSpPr/>
          <p:nvPr/>
        </p:nvCxnSpPr>
        <p:spPr>
          <a:xfrm>
            <a:off x="6006093" y="1341166"/>
            <a:ext cx="882307" cy="0"/>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70" name="Straight Arrow Connector 147">
            <a:extLst>
              <a:ext uri="{FF2B5EF4-FFF2-40B4-BE49-F238E27FC236}">
                <a16:creationId xmlns:a16="http://schemas.microsoft.com/office/drawing/2014/main" id="{F373B16F-3724-4642-8DE5-3CD3E7A7AAC2}"/>
              </a:ext>
            </a:extLst>
          </p:cNvPr>
          <p:cNvCxnSpPr/>
          <p:nvPr/>
        </p:nvCxnSpPr>
        <p:spPr>
          <a:xfrm>
            <a:off x="6028981" y="1299152"/>
            <a:ext cx="882307" cy="0"/>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71" name="Straight Arrow Connector 148">
            <a:extLst>
              <a:ext uri="{FF2B5EF4-FFF2-40B4-BE49-F238E27FC236}">
                <a16:creationId xmlns:a16="http://schemas.microsoft.com/office/drawing/2014/main" id="{ACD6D6C5-1D17-4CF3-BDEC-1D1D513BD7E3}"/>
              </a:ext>
            </a:extLst>
          </p:cNvPr>
          <p:cNvCxnSpPr/>
          <p:nvPr/>
        </p:nvCxnSpPr>
        <p:spPr>
          <a:xfrm>
            <a:off x="6033968" y="1341166"/>
            <a:ext cx="882307" cy="0"/>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72" name="Straight Arrow Connector 150">
            <a:extLst>
              <a:ext uri="{FF2B5EF4-FFF2-40B4-BE49-F238E27FC236}">
                <a16:creationId xmlns:a16="http://schemas.microsoft.com/office/drawing/2014/main" id="{07DAC752-C040-4CA3-86B6-FABF6AA65152}"/>
              </a:ext>
            </a:extLst>
          </p:cNvPr>
          <p:cNvCxnSpPr/>
          <p:nvPr/>
        </p:nvCxnSpPr>
        <p:spPr>
          <a:xfrm>
            <a:off x="6038705" y="1075437"/>
            <a:ext cx="849695" cy="158568"/>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73" name="Straight Arrow Connector 154">
            <a:extLst>
              <a:ext uri="{FF2B5EF4-FFF2-40B4-BE49-F238E27FC236}">
                <a16:creationId xmlns:a16="http://schemas.microsoft.com/office/drawing/2014/main" id="{8AADA721-23B6-4A30-82BA-BD3A00F13D69}"/>
              </a:ext>
            </a:extLst>
          </p:cNvPr>
          <p:cNvCxnSpPr/>
          <p:nvPr/>
        </p:nvCxnSpPr>
        <p:spPr>
          <a:xfrm>
            <a:off x="6046788" y="1115959"/>
            <a:ext cx="849695" cy="158568"/>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74" name="Straight Arrow Connector 155">
            <a:extLst>
              <a:ext uri="{FF2B5EF4-FFF2-40B4-BE49-F238E27FC236}">
                <a16:creationId xmlns:a16="http://schemas.microsoft.com/office/drawing/2014/main" id="{0790F57F-E81E-470F-B9F3-7E57F2090DF7}"/>
              </a:ext>
            </a:extLst>
          </p:cNvPr>
          <p:cNvCxnSpPr/>
          <p:nvPr/>
        </p:nvCxnSpPr>
        <p:spPr>
          <a:xfrm>
            <a:off x="6038705" y="1075436"/>
            <a:ext cx="849695" cy="158568"/>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cxnSp>
        <p:nvCxnSpPr>
          <p:cNvPr id="75" name="Straight Arrow Connector 156">
            <a:extLst>
              <a:ext uri="{FF2B5EF4-FFF2-40B4-BE49-F238E27FC236}">
                <a16:creationId xmlns:a16="http://schemas.microsoft.com/office/drawing/2014/main" id="{172456E0-BC77-4042-BB2B-8EC9CAF471FE}"/>
              </a:ext>
            </a:extLst>
          </p:cNvPr>
          <p:cNvCxnSpPr/>
          <p:nvPr/>
        </p:nvCxnSpPr>
        <p:spPr>
          <a:xfrm>
            <a:off x="6030793" y="1148488"/>
            <a:ext cx="849695" cy="158568"/>
          </a:xfrm>
          <a:prstGeom prst="straightConnector1">
            <a:avLst/>
          </a:prstGeom>
          <a:noFill/>
          <a:ln w="6350" cap="flat" cmpd="sng" algn="ctr">
            <a:solidFill>
              <a:sysClr val="windowText" lastClr="000000"/>
            </a:solidFill>
            <a:prstDash val="solid"/>
            <a:miter lim="800000"/>
            <a:headEnd type="arrow" w="med" len="med"/>
            <a:tailEnd type="arrow" w="med" len="med"/>
          </a:ln>
          <a:effectLst/>
        </p:spPr>
      </p:cxnSp>
      <p:grpSp>
        <p:nvGrpSpPr>
          <p:cNvPr id="76" name="Group 96">
            <a:extLst>
              <a:ext uri="{FF2B5EF4-FFF2-40B4-BE49-F238E27FC236}">
                <a16:creationId xmlns:a16="http://schemas.microsoft.com/office/drawing/2014/main" id="{A85327B9-1599-473A-9D79-9D5D212FC36E}"/>
              </a:ext>
            </a:extLst>
          </p:cNvPr>
          <p:cNvGrpSpPr/>
          <p:nvPr/>
        </p:nvGrpSpPr>
        <p:grpSpPr>
          <a:xfrm>
            <a:off x="3912793" y="1991160"/>
            <a:ext cx="3196389" cy="1752956"/>
            <a:chOff x="179512" y="4700380"/>
            <a:chExt cx="3196389" cy="1752956"/>
          </a:xfrm>
        </p:grpSpPr>
        <p:grpSp>
          <p:nvGrpSpPr>
            <p:cNvPr id="77" name="Group 62">
              <a:extLst>
                <a:ext uri="{FF2B5EF4-FFF2-40B4-BE49-F238E27FC236}">
                  <a16:creationId xmlns:a16="http://schemas.microsoft.com/office/drawing/2014/main" id="{FA75A9FF-CAA5-48E8-A71A-B241D6A12FFE}"/>
                </a:ext>
              </a:extLst>
            </p:cNvPr>
            <p:cNvGrpSpPr/>
            <p:nvPr/>
          </p:nvGrpSpPr>
          <p:grpSpPr>
            <a:xfrm>
              <a:off x="179512" y="4700380"/>
              <a:ext cx="2935558" cy="1502542"/>
              <a:chOff x="466699" y="4676265"/>
              <a:chExt cx="2935558" cy="1502542"/>
            </a:xfrm>
          </p:grpSpPr>
          <p:sp>
            <p:nvSpPr>
              <p:cNvPr id="87" name="Down Arrow 43">
                <a:extLst>
                  <a:ext uri="{FF2B5EF4-FFF2-40B4-BE49-F238E27FC236}">
                    <a16:creationId xmlns:a16="http://schemas.microsoft.com/office/drawing/2014/main" id="{66F0FFD6-B1B6-436A-9197-2C96D1B1E5E6}"/>
                  </a:ext>
                </a:extLst>
              </p:cNvPr>
              <p:cNvSpPr/>
              <p:nvPr/>
            </p:nvSpPr>
            <p:spPr>
              <a:xfrm rot="16200000">
                <a:off x="1204428" y="3952743"/>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88" name="TextBox 87">
                <a:extLst>
                  <a:ext uri="{FF2B5EF4-FFF2-40B4-BE49-F238E27FC236}">
                    <a16:creationId xmlns:a16="http://schemas.microsoft.com/office/drawing/2014/main" id="{7DFF6DDB-53D7-4D2D-9143-2124700CCA03}"/>
                  </a:ext>
                </a:extLst>
              </p:cNvPr>
              <p:cNvSpPr txBox="1"/>
              <p:nvPr/>
            </p:nvSpPr>
            <p:spPr>
              <a:xfrm>
                <a:off x="466699" y="5063763"/>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89" name="Down Arrow 64">
                <a:extLst>
                  <a:ext uri="{FF2B5EF4-FFF2-40B4-BE49-F238E27FC236}">
                    <a16:creationId xmlns:a16="http://schemas.microsoft.com/office/drawing/2014/main" id="{23EA356D-802A-4B0A-B2AC-71611FE69021}"/>
                  </a:ext>
                </a:extLst>
              </p:cNvPr>
              <p:cNvSpPr/>
              <p:nvPr/>
            </p:nvSpPr>
            <p:spPr>
              <a:xfrm rot="16200000">
                <a:off x="1250187" y="4021498"/>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90" name="TextBox 89">
                <a:extLst>
                  <a:ext uri="{FF2B5EF4-FFF2-40B4-BE49-F238E27FC236}">
                    <a16:creationId xmlns:a16="http://schemas.microsoft.com/office/drawing/2014/main" id="{49A71CB8-F7D7-4A28-A70F-61B7A9AD159C}"/>
                  </a:ext>
                </a:extLst>
              </p:cNvPr>
              <p:cNvSpPr txBox="1"/>
              <p:nvPr/>
            </p:nvSpPr>
            <p:spPr>
              <a:xfrm>
                <a:off x="512458" y="5132518"/>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91" name="Down Arrow 66">
                <a:extLst>
                  <a:ext uri="{FF2B5EF4-FFF2-40B4-BE49-F238E27FC236}">
                    <a16:creationId xmlns:a16="http://schemas.microsoft.com/office/drawing/2014/main" id="{8EDC1A7D-8B78-4929-A08F-39380CF5E140}"/>
                  </a:ext>
                </a:extLst>
              </p:cNvPr>
              <p:cNvSpPr/>
              <p:nvPr/>
            </p:nvSpPr>
            <p:spPr>
              <a:xfrm rot="16200000">
                <a:off x="1314479" y="4088948"/>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92" name="TextBox 91">
                <a:extLst>
                  <a:ext uri="{FF2B5EF4-FFF2-40B4-BE49-F238E27FC236}">
                    <a16:creationId xmlns:a16="http://schemas.microsoft.com/office/drawing/2014/main" id="{9870FDDC-3DD7-46C4-A011-8C6C09385EC2}"/>
                  </a:ext>
                </a:extLst>
              </p:cNvPr>
              <p:cNvSpPr txBox="1"/>
              <p:nvPr/>
            </p:nvSpPr>
            <p:spPr>
              <a:xfrm>
                <a:off x="576750" y="5199968"/>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93" name="Down Arrow 68">
                <a:extLst>
                  <a:ext uri="{FF2B5EF4-FFF2-40B4-BE49-F238E27FC236}">
                    <a16:creationId xmlns:a16="http://schemas.microsoft.com/office/drawing/2014/main" id="{9E71B5E5-CE59-4D8D-8B44-5F20BD695E42}"/>
                  </a:ext>
                </a:extLst>
              </p:cNvPr>
              <p:cNvSpPr/>
              <p:nvPr/>
            </p:nvSpPr>
            <p:spPr>
              <a:xfrm rot="16200000">
                <a:off x="1383409" y="4159960"/>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94" name="TextBox 93">
                <a:extLst>
                  <a:ext uri="{FF2B5EF4-FFF2-40B4-BE49-F238E27FC236}">
                    <a16:creationId xmlns:a16="http://schemas.microsoft.com/office/drawing/2014/main" id="{DC8C84E4-9935-4142-934E-AB5BD87829BB}"/>
                  </a:ext>
                </a:extLst>
              </p:cNvPr>
              <p:cNvSpPr txBox="1"/>
              <p:nvPr/>
            </p:nvSpPr>
            <p:spPr>
              <a:xfrm>
                <a:off x="645680" y="5270980"/>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grpSp>
        <p:grpSp>
          <p:nvGrpSpPr>
            <p:cNvPr id="78" name="Group 76">
              <a:extLst>
                <a:ext uri="{FF2B5EF4-FFF2-40B4-BE49-F238E27FC236}">
                  <a16:creationId xmlns:a16="http://schemas.microsoft.com/office/drawing/2014/main" id="{A574FD7D-16BF-4B09-BD3B-09E4D99BEA3C}"/>
                </a:ext>
              </a:extLst>
            </p:cNvPr>
            <p:cNvGrpSpPr/>
            <p:nvPr/>
          </p:nvGrpSpPr>
          <p:grpSpPr>
            <a:xfrm>
              <a:off x="440343" y="4950794"/>
              <a:ext cx="2935558" cy="1502542"/>
              <a:chOff x="466699" y="4676265"/>
              <a:chExt cx="2935558" cy="1502542"/>
            </a:xfrm>
          </p:grpSpPr>
          <p:sp>
            <p:nvSpPr>
              <p:cNvPr id="79" name="Down Arrow 77">
                <a:extLst>
                  <a:ext uri="{FF2B5EF4-FFF2-40B4-BE49-F238E27FC236}">
                    <a16:creationId xmlns:a16="http://schemas.microsoft.com/office/drawing/2014/main" id="{EC5F27F2-EAAD-415E-8878-BB2AE19785BD}"/>
                  </a:ext>
                </a:extLst>
              </p:cNvPr>
              <p:cNvSpPr/>
              <p:nvPr/>
            </p:nvSpPr>
            <p:spPr>
              <a:xfrm rot="16200000">
                <a:off x="1204428" y="3952743"/>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80" name="TextBox 79">
                <a:extLst>
                  <a:ext uri="{FF2B5EF4-FFF2-40B4-BE49-F238E27FC236}">
                    <a16:creationId xmlns:a16="http://schemas.microsoft.com/office/drawing/2014/main" id="{096A2FD6-6068-42AB-9135-4E3275CEAC97}"/>
                  </a:ext>
                </a:extLst>
              </p:cNvPr>
              <p:cNvSpPr txBox="1"/>
              <p:nvPr/>
            </p:nvSpPr>
            <p:spPr>
              <a:xfrm>
                <a:off x="466699" y="5063763"/>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81" name="Down Arrow 79">
                <a:extLst>
                  <a:ext uri="{FF2B5EF4-FFF2-40B4-BE49-F238E27FC236}">
                    <a16:creationId xmlns:a16="http://schemas.microsoft.com/office/drawing/2014/main" id="{495FAC5F-1F90-4E2C-9F1F-156C9AF911EB}"/>
                  </a:ext>
                </a:extLst>
              </p:cNvPr>
              <p:cNvSpPr/>
              <p:nvPr/>
            </p:nvSpPr>
            <p:spPr>
              <a:xfrm rot="16200000">
                <a:off x="1250187" y="4021498"/>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82" name="TextBox 81">
                <a:extLst>
                  <a:ext uri="{FF2B5EF4-FFF2-40B4-BE49-F238E27FC236}">
                    <a16:creationId xmlns:a16="http://schemas.microsoft.com/office/drawing/2014/main" id="{BFB74845-BEDB-40EF-8C39-BC9C8AAD885F}"/>
                  </a:ext>
                </a:extLst>
              </p:cNvPr>
              <p:cNvSpPr txBox="1"/>
              <p:nvPr/>
            </p:nvSpPr>
            <p:spPr>
              <a:xfrm>
                <a:off x="512458" y="5132518"/>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83" name="Down Arrow 81">
                <a:extLst>
                  <a:ext uri="{FF2B5EF4-FFF2-40B4-BE49-F238E27FC236}">
                    <a16:creationId xmlns:a16="http://schemas.microsoft.com/office/drawing/2014/main" id="{89CEA0B7-056D-428B-B914-885367192869}"/>
                  </a:ext>
                </a:extLst>
              </p:cNvPr>
              <p:cNvSpPr/>
              <p:nvPr/>
            </p:nvSpPr>
            <p:spPr>
              <a:xfrm rot="16200000">
                <a:off x="1314479" y="4088948"/>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84" name="TextBox 83">
                <a:extLst>
                  <a:ext uri="{FF2B5EF4-FFF2-40B4-BE49-F238E27FC236}">
                    <a16:creationId xmlns:a16="http://schemas.microsoft.com/office/drawing/2014/main" id="{FB18C431-B0AA-4666-BEE1-0F342B3694D7}"/>
                  </a:ext>
                </a:extLst>
              </p:cNvPr>
              <p:cNvSpPr txBox="1"/>
              <p:nvPr/>
            </p:nvSpPr>
            <p:spPr>
              <a:xfrm>
                <a:off x="576750" y="5199968"/>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85" name="Down Arrow 83">
                <a:extLst>
                  <a:ext uri="{FF2B5EF4-FFF2-40B4-BE49-F238E27FC236}">
                    <a16:creationId xmlns:a16="http://schemas.microsoft.com/office/drawing/2014/main" id="{CC9402DE-65F8-4E4E-AB32-3884C414F376}"/>
                  </a:ext>
                </a:extLst>
              </p:cNvPr>
              <p:cNvSpPr/>
              <p:nvPr/>
            </p:nvSpPr>
            <p:spPr>
              <a:xfrm rot="16200000">
                <a:off x="1383409" y="4159960"/>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86" name="TextBox 85">
                <a:extLst>
                  <a:ext uri="{FF2B5EF4-FFF2-40B4-BE49-F238E27FC236}">
                    <a16:creationId xmlns:a16="http://schemas.microsoft.com/office/drawing/2014/main" id="{E2237CD7-61B8-4CC9-8A9D-AF55764FF71D}"/>
                  </a:ext>
                </a:extLst>
              </p:cNvPr>
              <p:cNvSpPr txBox="1"/>
              <p:nvPr/>
            </p:nvSpPr>
            <p:spPr>
              <a:xfrm>
                <a:off x="645680" y="5270980"/>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UserGroup.UserID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10000</a:t>
                </a:r>
                <a:endParaRPr kumimoji="0" lang="ru-RU" sz="1000" b="0" i="0" u="none" strike="noStrike" kern="0" cap="none" spc="0" normalizeH="0" baseline="0" noProof="0" dirty="0">
                  <a:ln>
                    <a:noFill/>
                  </a:ln>
                  <a:solidFill>
                    <a:prstClr val="black"/>
                  </a:solidFill>
                  <a:effectLst/>
                  <a:uLnTx/>
                  <a:uFillTx/>
                </a:endParaRPr>
              </a:p>
            </p:txBody>
          </p:sp>
        </p:grpSp>
      </p:grpSp>
      <p:grpSp>
        <p:nvGrpSpPr>
          <p:cNvPr id="95" name="Group 97">
            <a:extLst>
              <a:ext uri="{FF2B5EF4-FFF2-40B4-BE49-F238E27FC236}">
                <a16:creationId xmlns:a16="http://schemas.microsoft.com/office/drawing/2014/main" id="{6E59F6C0-BBDC-4D40-AD41-D161ABBCDEF6}"/>
              </a:ext>
            </a:extLst>
          </p:cNvPr>
          <p:cNvGrpSpPr/>
          <p:nvPr/>
        </p:nvGrpSpPr>
        <p:grpSpPr>
          <a:xfrm>
            <a:off x="3903147" y="2783248"/>
            <a:ext cx="3196390" cy="1752956"/>
            <a:chOff x="179512" y="4700380"/>
            <a:chExt cx="3196390" cy="1752956"/>
          </a:xfrm>
        </p:grpSpPr>
        <p:grpSp>
          <p:nvGrpSpPr>
            <p:cNvPr id="96" name="Group 98">
              <a:extLst>
                <a:ext uri="{FF2B5EF4-FFF2-40B4-BE49-F238E27FC236}">
                  <a16:creationId xmlns:a16="http://schemas.microsoft.com/office/drawing/2014/main" id="{0912D3D6-D740-4280-A46B-901DE7A88D59}"/>
                </a:ext>
              </a:extLst>
            </p:cNvPr>
            <p:cNvGrpSpPr/>
            <p:nvPr/>
          </p:nvGrpSpPr>
          <p:grpSpPr>
            <a:xfrm>
              <a:off x="179512" y="4700380"/>
              <a:ext cx="2935558" cy="1502542"/>
              <a:chOff x="466699" y="4676265"/>
              <a:chExt cx="2935558" cy="1502542"/>
            </a:xfrm>
          </p:grpSpPr>
          <p:sp>
            <p:nvSpPr>
              <p:cNvPr id="106" name="Down Arrow 108">
                <a:extLst>
                  <a:ext uri="{FF2B5EF4-FFF2-40B4-BE49-F238E27FC236}">
                    <a16:creationId xmlns:a16="http://schemas.microsoft.com/office/drawing/2014/main" id="{2BCFE984-5FDF-4B97-ADC5-E8BB821DA1E4}"/>
                  </a:ext>
                </a:extLst>
              </p:cNvPr>
              <p:cNvSpPr/>
              <p:nvPr/>
            </p:nvSpPr>
            <p:spPr>
              <a:xfrm rot="16200000">
                <a:off x="1204428" y="3952743"/>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07" name="TextBox 106">
                <a:extLst>
                  <a:ext uri="{FF2B5EF4-FFF2-40B4-BE49-F238E27FC236}">
                    <a16:creationId xmlns:a16="http://schemas.microsoft.com/office/drawing/2014/main" id="{D76F7121-B854-42D6-93F3-39211829D867}"/>
                  </a:ext>
                </a:extLst>
              </p:cNvPr>
              <p:cNvSpPr txBox="1"/>
              <p:nvPr/>
            </p:nvSpPr>
            <p:spPr>
              <a:xfrm>
                <a:off x="466699" y="5063763"/>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108" name="Down Arrow 110">
                <a:extLst>
                  <a:ext uri="{FF2B5EF4-FFF2-40B4-BE49-F238E27FC236}">
                    <a16:creationId xmlns:a16="http://schemas.microsoft.com/office/drawing/2014/main" id="{342B0EF3-6AC0-483F-BD14-964FD3166703}"/>
                  </a:ext>
                </a:extLst>
              </p:cNvPr>
              <p:cNvSpPr/>
              <p:nvPr/>
            </p:nvSpPr>
            <p:spPr>
              <a:xfrm rot="16200000">
                <a:off x="1250187" y="4021498"/>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09" name="TextBox 108">
                <a:extLst>
                  <a:ext uri="{FF2B5EF4-FFF2-40B4-BE49-F238E27FC236}">
                    <a16:creationId xmlns:a16="http://schemas.microsoft.com/office/drawing/2014/main" id="{85AAFC38-A35B-42CF-A215-CA4B01196577}"/>
                  </a:ext>
                </a:extLst>
              </p:cNvPr>
              <p:cNvSpPr txBox="1"/>
              <p:nvPr/>
            </p:nvSpPr>
            <p:spPr>
              <a:xfrm>
                <a:off x="512458" y="5132518"/>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110" name="Down Arrow 112">
                <a:extLst>
                  <a:ext uri="{FF2B5EF4-FFF2-40B4-BE49-F238E27FC236}">
                    <a16:creationId xmlns:a16="http://schemas.microsoft.com/office/drawing/2014/main" id="{A0164A10-9F87-4455-85EF-3AC4193F91C8}"/>
                  </a:ext>
                </a:extLst>
              </p:cNvPr>
              <p:cNvSpPr/>
              <p:nvPr/>
            </p:nvSpPr>
            <p:spPr>
              <a:xfrm rot="16200000">
                <a:off x="1314479" y="4088948"/>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11" name="TextBox 110">
                <a:extLst>
                  <a:ext uri="{FF2B5EF4-FFF2-40B4-BE49-F238E27FC236}">
                    <a16:creationId xmlns:a16="http://schemas.microsoft.com/office/drawing/2014/main" id="{6B6B50BD-A147-4681-9A3A-95D29140760D}"/>
                  </a:ext>
                </a:extLst>
              </p:cNvPr>
              <p:cNvSpPr txBox="1"/>
              <p:nvPr/>
            </p:nvSpPr>
            <p:spPr>
              <a:xfrm>
                <a:off x="576750" y="5199968"/>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112" name="Down Arrow 114">
                <a:extLst>
                  <a:ext uri="{FF2B5EF4-FFF2-40B4-BE49-F238E27FC236}">
                    <a16:creationId xmlns:a16="http://schemas.microsoft.com/office/drawing/2014/main" id="{D7AB7EE4-AC30-405E-84AB-9DF3B7B8055D}"/>
                  </a:ext>
                </a:extLst>
              </p:cNvPr>
              <p:cNvSpPr/>
              <p:nvPr/>
            </p:nvSpPr>
            <p:spPr>
              <a:xfrm rot="16200000">
                <a:off x="1383409" y="4159960"/>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13" name="TextBox 112">
                <a:extLst>
                  <a:ext uri="{FF2B5EF4-FFF2-40B4-BE49-F238E27FC236}">
                    <a16:creationId xmlns:a16="http://schemas.microsoft.com/office/drawing/2014/main" id="{E978BDC3-3B2B-4E7C-8025-5EB053DF13B6}"/>
                  </a:ext>
                </a:extLst>
              </p:cNvPr>
              <p:cNvSpPr txBox="1"/>
              <p:nvPr/>
            </p:nvSpPr>
            <p:spPr>
              <a:xfrm>
                <a:off x="645680" y="5270980"/>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grpSp>
        <p:grpSp>
          <p:nvGrpSpPr>
            <p:cNvPr id="97" name="Group 99">
              <a:extLst>
                <a:ext uri="{FF2B5EF4-FFF2-40B4-BE49-F238E27FC236}">
                  <a16:creationId xmlns:a16="http://schemas.microsoft.com/office/drawing/2014/main" id="{09425787-9863-4EF2-A2DD-6DC9C7B0F9ED}"/>
                </a:ext>
              </a:extLst>
            </p:cNvPr>
            <p:cNvGrpSpPr/>
            <p:nvPr/>
          </p:nvGrpSpPr>
          <p:grpSpPr>
            <a:xfrm>
              <a:off x="440343" y="4950794"/>
              <a:ext cx="2935559" cy="1502542"/>
              <a:chOff x="466699" y="4676265"/>
              <a:chExt cx="2935559" cy="1502542"/>
            </a:xfrm>
          </p:grpSpPr>
          <p:sp>
            <p:nvSpPr>
              <p:cNvPr id="98" name="Down Arrow 100">
                <a:extLst>
                  <a:ext uri="{FF2B5EF4-FFF2-40B4-BE49-F238E27FC236}">
                    <a16:creationId xmlns:a16="http://schemas.microsoft.com/office/drawing/2014/main" id="{27C16ACF-1792-4845-A638-CF1176C33DF4}"/>
                  </a:ext>
                </a:extLst>
              </p:cNvPr>
              <p:cNvSpPr/>
              <p:nvPr/>
            </p:nvSpPr>
            <p:spPr>
              <a:xfrm rot="16200000">
                <a:off x="1204428" y="3952743"/>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99" name="TextBox 98">
                <a:extLst>
                  <a:ext uri="{FF2B5EF4-FFF2-40B4-BE49-F238E27FC236}">
                    <a16:creationId xmlns:a16="http://schemas.microsoft.com/office/drawing/2014/main" id="{3C9F361C-6E2C-4475-A529-025D65D5CDE3}"/>
                  </a:ext>
                </a:extLst>
              </p:cNvPr>
              <p:cNvSpPr txBox="1"/>
              <p:nvPr/>
            </p:nvSpPr>
            <p:spPr>
              <a:xfrm>
                <a:off x="466699" y="5063763"/>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100" name="Down Arrow 102">
                <a:extLst>
                  <a:ext uri="{FF2B5EF4-FFF2-40B4-BE49-F238E27FC236}">
                    <a16:creationId xmlns:a16="http://schemas.microsoft.com/office/drawing/2014/main" id="{6791517C-853A-40D2-826F-33F46D0FFF55}"/>
                  </a:ext>
                </a:extLst>
              </p:cNvPr>
              <p:cNvSpPr/>
              <p:nvPr/>
            </p:nvSpPr>
            <p:spPr>
              <a:xfrm rot="16200000">
                <a:off x="1250187" y="4021498"/>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01" name="TextBox 100">
                <a:extLst>
                  <a:ext uri="{FF2B5EF4-FFF2-40B4-BE49-F238E27FC236}">
                    <a16:creationId xmlns:a16="http://schemas.microsoft.com/office/drawing/2014/main" id="{92A027C5-CD28-4DA9-A11A-4294FA62D007}"/>
                  </a:ext>
                </a:extLst>
              </p:cNvPr>
              <p:cNvSpPr txBox="1"/>
              <p:nvPr/>
            </p:nvSpPr>
            <p:spPr>
              <a:xfrm>
                <a:off x="512458" y="5132518"/>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102" name="Down Arrow 104">
                <a:extLst>
                  <a:ext uri="{FF2B5EF4-FFF2-40B4-BE49-F238E27FC236}">
                    <a16:creationId xmlns:a16="http://schemas.microsoft.com/office/drawing/2014/main" id="{E1A500BC-3F7A-4D70-8359-CD238B79208C}"/>
                  </a:ext>
                </a:extLst>
              </p:cNvPr>
              <p:cNvSpPr/>
              <p:nvPr/>
            </p:nvSpPr>
            <p:spPr>
              <a:xfrm rot="16200000">
                <a:off x="1314479" y="4088948"/>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03" name="TextBox 102">
                <a:extLst>
                  <a:ext uri="{FF2B5EF4-FFF2-40B4-BE49-F238E27FC236}">
                    <a16:creationId xmlns:a16="http://schemas.microsoft.com/office/drawing/2014/main" id="{686A2A59-92A6-4FCA-B72D-CBF5BE469CEB}"/>
                  </a:ext>
                </a:extLst>
              </p:cNvPr>
              <p:cNvSpPr txBox="1"/>
              <p:nvPr/>
            </p:nvSpPr>
            <p:spPr>
              <a:xfrm>
                <a:off x="576750" y="5199968"/>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SELECT * FROM Users, UserGroup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Users.ID = </a:t>
                </a:r>
                <a:r>
                  <a:rPr kumimoji="0" lang="en-US" sz="1000" b="0" i="0" u="none" strike="noStrike" kern="0" cap="none" spc="0" normalizeH="0" baseline="0" noProof="0" dirty="0" err="1">
                    <a:ln>
                      <a:noFill/>
                    </a:ln>
                    <a:solidFill>
                      <a:prstClr val="black"/>
                    </a:solidFill>
                    <a:effectLst/>
                    <a:uLnTx/>
                    <a:uFillTx/>
                  </a:rPr>
                  <a:t>UserGroup.UserID</a:t>
                </a:r>
                <a:r>
                  <a:rPr kumimoji="0" lang="en-US" sz="1000" b="0" i="0" u="none" strike="noStrike" kern="0" cap="none" spc="0" normalizeH="0" baseline="0" noProof="0" dirty="0">
                    <a:ln>
                      <a:noFill/>
                    </a:ln>
                    <a:solidFill>
                      <a:prstClr val="black"/>
                    </a:solidFill>
                    <a:effectLst/>
                    <a:uLnTx/>
                    <a:uFillTx/>
                  </a:rPr>
                  <a: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    AND </a:t>
                </a:r>
                <a:r>
                  <a:rPr kumimoji="0" lang="en-US" sz="1000" b="0" i="0" u="none" strike="noStrike" kern="0" cap="none" spc="0" normalizeH="0" baseline="0" noProof="0" dirty="0" err="1">
                    <a:ln>
                      <a:noFill/>
                    </a:ln>
                    <a:solidFill>
                      <a:prstClr val="black"/>
                    </a:solidFill>
                    <a:effectLst/>
                    <a:uLnTx/>
                    <a:uFillTx/>
                  </a:rPr>
                  <a:t>UserGroup.GroupID</a:t>
                </a:r>
                <a:r>
                  <a:rPr kumimoji="0" lang="en-US" sz="1000" b="0" i="0" u="none" strike="noStrike" kern="0" cap="none" spc="0" normalizeH="0" baseline="0" noProof="0" dirty="0">
                    <a:ln>
                      <a:noFill/>
                    </a:ln>
                    <a:solidFill>
                      <a:prstClr val="black"/>
                    </a:solidFill>
                    <a:effectLst/>
                    <a:uLnTx/>
                    <a:uFillTx/>
                  </a:rPr>
                  <a:t> = 1</a:t>
                </a:r>
                <a:endParaRPr kumimoji="0" lang="ru-RU" sz="1000" b="0" i="0" u="none" strike="noStrike" kern="0" cap="none" spc="0" normalizeH="0" baseline="0" noProof="0" dirty="0">
                  <a:ln>
                    <a:noFill/>
                  </a:ln>
                  <a:solidFill>
                    <a:prstClr val="black"/>
                  </a:solidFill>
                  <a:effectLst/>
                  <a:uLnTx/>
                  <a:uFillTx/>
                </a:endParaRPr>
              </a:p>
            </p:txBody>
          </p:sp>
          <p:sp>
            <p:nvSpPr>
              <p:cNvPr id="104" name="Down Arrow 106">
                <a:extLst>
                  <a:ext uri="{FF2B5EF4-FFF2-40B4-BE49-F238E27FC236}">
                    <a16:creationId xmlns:a16="http://schemas.microsoft.com/office/drawing/2014/main" id="{13296896-B82F-43E4-875D-3A6882023A0B}"/>
                  </a:ext>
                </a:extLst>
              </p:cNvPr>
              <p:cNvSpPr/>
              <p:nvPr/>
            </p:nvSpPr>
            <p:spPr>
              <a:xfrm rot="16200000">
                <a:off x="1383410" y="4159960"/>
                <a:ext cx="1295325" cy="2742370"/>
              </a:xfrm>
              <a:prstGeom prst="downArrow">
                <a:avLst/>
              </a:prstGeom>
              <a:solidFill>
                <a:sysClr val="window" lastClr="FFFFFF"/>
              </a:solidFill>
              <a:ln w="12700" cap="flat" cmpd="sng" algn="ctr">
                <a:solidFill>
                  <a:srgbClr val="5B9BD5">
                    <a:shade val="50000"/>
                  </a:srgbClr>
                </a:solidFill>
                <a:prstDash val="solid"/>
                <a:miter lim="800000"/>
              </a:ln>
              <a:effectLst/>
            </p:spPr>
            <p:txBody>
              <a:bodyPr vert="vert"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800" b="0" i="0" u="none" strike="noStrike" kern="0" cap="none" spc="0" normalizeH="0" baseline="0" noProof="0" dirty="0">
                  <a:ln>
                    <a:noFill/>
                  </a:ln>
                  <a:solidFill>
                    <a:prstClr val="white"/>
                  </a:solidFill>
                  <a:effectLst/>
                  <a:uLnTx/>
                  <a:uFillTx/>
                  <a:ea typeface="+mn-ea"/>
                  <a:cs typeface="+mn-cs"/>
                </a:endParaRPr>
              </a:p>
            </p:txBody>
          </p:sp>
          <p:sp>
            <p:nvSpPr>
              <p:cNvPr id="105" name="TextBox 104">
                <a:extLst>
                  <a:ext uri="{FF2B5EF4-FFF2-40B4-BE49-F238E27FC236}">
                    <a16:creationId xmlns:a16="http://schemas.microsoft.com/office/drawing/2014/main" id="{1ED1B03C-00E9-4C20-A045-45A4AE933105}"/>
                  </a:ext>
                </a:extLst>
              </p:cNvPr>
              <p:cNvSpPr txBox="1"/>
              <p:nvPr/>
            </p:nvSpPr>
            <p:spPr>
              <a:xfrm>
                <a:off x="645680" y="5270980"/>
                <a:ext cx="2736868" cy="553998"/>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UPDATE Users </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SET Rating = 574</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prstClr val="black"/>
                    </a:solidFill>
                    <a:effectLst/>
                    <a:uLnTx/>
                    <a:uFillTx/>
                  </a:rPr>
                  <a:t>WHERE ID = 11245</a:t>
                </a:r>
                <a:endParaRPr kumimoji="0" lang="ru-RU" sz="1000" b="0" i="0" u="none" strike="noStrike" kern="0" cap="none" spc="0" normalizeH="0" baseline="0" noProof="0" dirty="0">
                  <a:ln>
                    <a:noFill/>
                  </a:ln>
                  <a:solidFill>
                    <a:prstClr val="black"/>
                  </a:solidFill>
                  <a:effectLst/>
                  <a:uLnTx/>
                  <a:uFillTx/>
                </a:endParaRPr>
              </a:p>
            </p:txBody>
          </p:sp>
        </p:grpSp>
      </p:grpSp>
      <p:sp>
        <p:nvSpPr>
          <p:cNvPr id="62" name="Text Box 10">
            <a:extLst>
              <a:ext uri="{FF2B5EF4-FFF2-40B4-BE49-F238E27FC236}">
                <a16:creationId xmlns:a16="http://schemas.microsoft.com/office/drawing/2014/main" id="{76370FFF-F890-4157-92B4-4351254973DF}"/>
              </a:ext>
            </a:extLst>
          </p:cNvPr>
          <p:cNvSpPr txBox="1">
            <a:spLocks noChangeArrowheads="1"/>
          </p:cNvSpPr>
          <p:nvPr/>
        </p:nvSpPr>
        <p:spPr bwMode="auto">
          <a:xfrm>
            <a:off x="3516606" y="4301029"/>
            <a:ext cx="30631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fontAlgn="base">
              <a:spcBef>
                <a:spcPct val="0"/>
              </a:spcBef>
              <a:spcAft>
                <a:spcPct val="0"/>
              </a:spcAft>
              <a:buFontTx/>
              <a:buNone/>
            </a:pPr>
            <a:r>
              <a:rPr lang="ru-RU" sz="1200" b="1" dirty="0">
                <a:solidFill>
                  <a:schemeClr val="tx1"/>
                </a:solidFill>
                <a:latin typeface="+mn-lt"/>
              </a:rPr>
              <a:t>Рейтинг пользователей по </a:t>
            </a:r>
            <a:r>
              <a:rPr lang="en-US" sz="1200" b="1" dirty="0">
                <a:solidFill>
                  <a:schemeClr val="tx1"/>
                </a:solidFill>
                <a:latin typeface="+mn-lt"/>
              </a:rPr>
              <a:t>"</a:t>
            </a:r>
            <a:r>
              <a:rPr lang="ru-RU" sz="1200" b="1" dirty="0">
                <a:solidFill>
                  <a:schemeClr val="tx1"/>
                </a:solidFill>
                <a:latin typeface="+mn-lt"/>
              </a:rPr>
              <a:t>лайкам</a:t>
            </a:r>
            <a:r>
              <a:rPr lang="en-US" sz="1200" b="1" dirty="0">
                <a:solidFill>
                  <a:schemeClr val="tx1"/>
                </a:solidFill>
                <a:latin typeface="+mn-lt"/>
              </a:rPr>
              <a:t>"</a:t>
            </a:r>
            <a:r>
              <a:rPr lang="ru-RU" sz="1200" b="1" dirty="0">
                <a:solidFill>
                  <a:schemeClr val="tx1"/>
                </a:solidFill>
                <a:latin typeface="+mn-lt"/>
              </a:rPr>
              <a:t> </a:t>
            </a:r>
            <a:br>
              <a:rPr lang="ru-RU" sz="1200" b="1" dirty="0">
                <a:solidFill>
                  <a:schemeClr val="tx1"/>
                </a:solidFill>
                <a:latin typeface="+mn-lt"/>
              </a:rPr>
            </a:br>
            <a:r>
              <a:rPr lang="ru-RU" sz="1200" b="1" dirty="0">
                <a:solidFill>
                  <a:schemeClr val="tx1"/>
                </a:solidFill>
                <a:latin typeface="+mn-lt"/>
              </a:rPr>
              <a:t>(</a:t>
            </a:r>
            <a:r>
              <a:rPr lang="en-US" sz="1200" b="1" dirty="0">
                <a:solidFill>
                  <a:schemeClr val="tx1"/>
                </a:solidFill>
                <a:latin typeface="+mn-lt"/>
              </a:rPr>
              <a:t>&gt;1</a:t>
            </a:r>
            <a:r>
              <a:rPr lang="ru-RU" sz="1200" b="1" dirty="0">
                <a:solidFill>
                  <a:schemeClr val="tx1"/>
                </a:solidFill>
                <a:latin typeface="+mn-lt"/>
              </a:rPr>
              <a:t>0 тыс. </a:t>
            </a:r>
            <a:r>
              <a:rPr lang="en-US" sz="1200" b="1" dirty="0">
                <a:solidFill>
                  <a:schemeClr val="tx1"/>
                </a:solidFill>
                <a:latin typeface="+mn-lt"/>
              </a:rPr>
              <a:t>"</a:t>
            </a:r>
            <a:r>
              <a:rPr lang="ru-RU" sz="1200" b="1" dirty="0">
                <a:solidFill>
                  <a:schemeClr val="tx1"/>
                </a:solidFill>
                <a:latin typeface="+mn-lt"/>
              </a:rPr>
              <a:t>лайков</a:t>
            </a:r>
            <a:r>
              <a:rPr lang="en-US" sz="1200" b="1" dirty="0">
                <a:solidFill>
                  <a:schemeClr val="tx1"/>
                </a:solidFill>
                <a:latin typeface="+mn-lt"/>
              </a:rPr>
              <a:t>"</a:t>
            </a:r>
            <a:r>
              <a:rPr lang="ru-RU" sz="1200" b="1" dirty="0">
                <a:solidFill>
                  <a:schemeClr val="tx1"/>
                </a:solidFill>
                <a:latin typeface="+mn-lt"/>
              </a:rPr>
              <a:t>/сек.)</a:t>
            </a:r>
          </a:p>
        </p:txBody>
      </p:sp>
      <p:sp>
        <p:nvSpPr>
          <p:cNvPr id="63" name="Text Box 10">
            <a:extLst>
              <a:ext uri="{FF2B5EF4-FFF2-40B4-BE49-F238E27FC236}">
                <a16:creationId xmlns:a16="http://schemas.microsoft.com/office/drawing/2014/main" id="{15E991D1-87D9-4548-AC66-FB5430B420BD}"/>
              </a:ext>
            </a:extLst>
          </p:cNvPr>
          <p:cNvSpPr txBox="1">
            <a:spLocks noChangeArrowheads="1"/>
          </p:cNvSpPr>
          <p:nvPr/>
        </p:nvSpPr>
        <p:spPr bwMode="auto">
          <a:xfrm>
            <a:off x="3519386" y="1773936"/>
            <a:ext cx="21734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fontAlgn="base">
              <a:spcBef>
                <a:spcPct val="0"/>
              </a:spcBef>
              <a:spcAft>
                <a:spcPct val="0"/>
              </a:spcAft>
              <a:buFontTx/>
              <a:buNone/>
            </a:pPr>
            <a:r>
              <a:rPr lang="ru-RU" sz="1200" b="1" dirty="0">
                <a:solidFill>
                  <a:schemeClr val="tx1"/>
                </a:solidFill>
                <a:latin typeface="+mn-lt"/>
              </a:rPr>
              <a:t>Поиск участников групп (</a:t>
            </a:r>
            <a:r>
              <a:rPr lang="en-US" sz="1200" b="1" dirty="0">
                <a:solidFill>
                  <a:schemeClr val="tx1"/>
                </a:solidFill>
                <a:latin typeface="+mn-lt"/>
              </a:rPr>
              <a:t>&gt;1000</a:t>
            </a:r>
            <a:r>
              <a:rPr lang="ru-RU" sz="1200" b="1" dirty="0">
                <a:solidFill>
                  <a:schemeClr val="tx1"/>
                </a:solidFill>
                <a:latin typeface="+mn-lt"/>
              </a:rPr>
              <a:t> запросов/сек.)</a:t>
            </a:r>
          </a:p>
        </p:txBody>
      </p:sp>
    </p:spTree>
    <p:extLst>
      <p:ext uri="{BB962C8B-B14F-4D97-AF65-F5344CB8AC3E}">
        <p14:creationId xmlns:p14="http://schemas.microsoft.com/office/powerpoint/2010/main" val="1468152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577549" y="260291"/>
            <a:ext cx="6834296" cy="769441"/>
          </a:xfrm>
          <a:prstGeom prst="rect">
            <a:avLst/>
          </a:prstGeom>
          <a:noFill/>
        </p:spPr>
        <p:txBody>
          <a:bodyPr wrap="square">
            <a:spAutoFit/>
          </a:bodyPr>
          <a:lstStyle/>
          <a:p>
            <a:r>
              <a:rPr lang="en-US" sz="4400" kern="1200" dirty="0">
                <a:solidFill>
                  <a:schemeClr val="accent3"/>
                </a:solidFill>
                <a:latin typeface="+mj-lt"/>
              </a:rPr>
              <a:t>SQL + </a:t>
            </a:r>
            <a:r>
              <a:rPr lang="ru-RU" sz="4400" b="1" kern="1200" dirty="0">
                <a:solidFill>
                  <a:schemeClr val="accent3"/>
                </a:solidFill>
                <a:latin typeface="+mj-lt"/>
              </a:rPr>
              <a:t>Ш</a:t>
            </a:r>
            <a:r>
              <a:rPr lang="ru-RU" sz="4400" kern="1200" dirty="0">
                <a:solidFill>
                  <a:schemeClr val="accent3"/>
                </a:solidFill>
                <a:latin typeface="+mj-lt"/>
              </a:rPr>
              <a:t>ардирование</a:t>
            </a:r>
            <a:endParaRPr lang="ru-RU" sz="4400" dirty="0">
              <a:solidFill>
                <a:schemeClr val="accent3"/>
              </a:solidFill>
              <a:latin typeface="+mj-lt"/>
            </a:endParaRPr>
          </a:p>
        </p:txBody>
      </p:sp>
      <p:sp>
        <p:nvSpPr>
          <p:cNvPr id="2" name="Прямоугольник 1"/>
          <p:cNvSpPr/>
          <p:nvPr/>
        </p:nvSpPr>
        <p:spPr>
          <a:xfrm>
            <a:off x="577550" y="1064107"/>
            <a:ext cx="6304514" cy="566309"/>
          </a:xfrm>
          <a:prstGeom prst="rect">
            <a:avLst/>
          </a:prstGeom>
        </p:spPr>
        <p:txBody>
          <a:bodyPr wrap="square">
            <a:spAutoFit/>
          </a:bodyPr>
          <a:lstStyle/>
          <a:p>
            <a:pPr>
              <a:lnSpc>
                <a:spcPct val="110000"/>
              </a:lnSpc>
            </a:pPr>
            <a:r>
              <a:rPr lang="ru-RU" altLang="ru-RU" dirty="0">
                <a:solidFill>
                  <a:schemeClr val="tx1"/>
                </a:solidFill>
                <a:latin typeface="+mn-lt"/>
              </a:rPr>
              <a:t>Разбиваем таблицы по серверам по простейшей хэш-функции f(x) = x%3: на каждом из N серверов в N раз меньше записей пользователей. </a:t>
            </a:r>
          </a:p>
        </p:txBody>
      </p:sp>
      <p:graphicFrame>
        <p:nvGraphicFramePr>
          <p:cNvPr id="4" name="Object 7">
            <a:extLst>
              <a:ext uri="{FF2B5EF4-FFF2-40B4-BE49-F238E27FC236}">
                <a16:creationId xmlns:a16="http://schemas.microsoft.com/office/drawing/2014/main" id="{6C24EFFA-1FBA-4630-B3BB-EFC9CEEB5063}"/>
              </a:ext>
            </a:extLst>
          </p:cNvPr>
          <p:cNvGraphicFramePr>
            <a:graphicFrameLocks noChangeAspect="1"/>
          </p:cNvGraphicFramePr>
          <p:nvPr>
            <p:extLst>
              <p:ext uri="{D42A27DB-BD31-4B8C-83A1-F6EECF244321}">
                <p14:modId xmlns:p14="http://schemas.microsoft.com/office/powerpoint/2010/main" val="2180024955"/>
              </p:ext>
            </p:extLst>
          </p:nvPr>
        </p:nvGraphicFramePr>
        <p:xfrm>
          <a:off x="6139437" y="1826198"/>
          <a:ext cx="1690122" cy="887974"/>
        </p:xfrm>
        <a:graphic>
          <a:graphicData uri="http://schemas.openxmlformats.org/presentationml/2006/ole">
            <mc:AlternateContent xmlns:mc="http://schemas.openxmlformats.org/markup-compatibility/2006">
              <mc:Choice xmlns:v="urn:schemas-microsoft-com:vml" Requires="v">
                <p:oleObj name="Worksheet" r:id="rId3" imgW="1828832" imgH="962141" progId="Excel.Sheet.12">
                  <p:embed/>
                </p:oleObj>
              </mc:Choice>
              <mc:Fallback>
                <p:oleObj name="Worksheet" r:id="rId3" imgW="1828832" imgH="962141" progId="Excel.Sheet.12">
                  <p:embed/>
                  <p:pic>
                    <p:nvPicPr>
                      <p:cNvPr id="8" name="Object 7">
                        <a:extLst>
                          <a:ext uri="{FF2B5EF4-FFF2-40B4-BE49-F238E27FC236}">
                            <a16:creationId xmlns:a16="http://schemas.microsoft.com/office/drawing/2014/main" id="{6C24EFFA-1FBA-4630-B3BB-EFC9CEEB5063}"/>
                          </a:ext>
                        </a:extLst>
                      </p:cNvPr>
                      <p:cNvPicPr/>
                      <p:nvPr/>
                    </p:nvPicPr>
                    <p:blipFill>
                      <a:blip r:embed="rId4"/>
                      <a:stretch>
                        <a:fillRect/>
                      </a:stretch>
                    </p:blipFill>
                    <p:spPr>
                      <a:xfrm>
                        <a:off x="6139437" y="1826198"/>
                        <a:ext cx="1690122" cy="887974"/>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25B22859-1CAC-4844-8075-D536BEBCA5E2}"/>
              </a:ext>
            </a:extLst>
          </p:cNvPr>
          <p:cNvGraphicFramePr>
            <a:graphicFrameLocks noChangeAspect="1"/>
          </p:cNvGraphicFramePr>
          <p:nvPr>
            <p:extLst>
              <p:ext uri="{D42A27DB-BD31-4B8C-83A1-F6EECF244321}">
                <p14:modId xmlns:p14="http://schemas.microsoft.com/office/powerpoint/2010/main" val="2155168538"/>
              </p:ext>
            </p:extLst>
          </p:nvPr>
        </p:nvGraphicFramePr>
        <p:xfrm>
          <a:off x="2431925" y="2869490"/>
          <a:ext cx="2850981" cy="886874"/>
        </p:xfrm>
        <a:graphic>
          <a:graphicData uri="http://schemas.openxmlformats.org/presentationml/2006/ole">
            <mc:AlternateContent xmlns:mc="http://schemas.openxmlformats.org/markup-compatibility/2006">
              <mc:Choice xmlns:v="urn:schemas-microsoft-com:vml" Requires="v">
                <p:oleObj name="Worksheet" r:id="rId5" imgW="3095506" imgH="962141" progId="Excel.Sheet.12">
                  <p:embed/>
                </p:oleObj>
              </mc:Choice>
              <mc:Fallback>
                <p:oleObj name="Worksheet" r:id="rId5" imgW="3095506" imgH="962141" progId="Excel.Sheet.12">
                  <p:embed/>
                  <p:pic>
                    <p:nvPicPr>
                      <p:cNvPr id="9" name="Object 4">
                        <a:extLst>
                          <a:ext uri="{FF2B5EF4-FFF2-40B4-BE49-F238E27FC236}">
                            <a16:creationId xmlns:a16="http://schemas.microsoft.com/office/drawing/2014/main" id="{25B22859-1CAC-4844-8075-D536BEBCA5E2}"/>
                          </a:ext>
                        </a:extLst>
                      </p:cNvPr>
                      <p:cNvPicPr/>
                      <p:nvPr/>
                    </p:nvPicPr>
                    <p:blipFill>
                      <a:blip r:embed="rId6"/>
                      <a:stretch>
                        <a:fillRect/>
                      </a:stretch>
                    </p:blipFill>
                    <p:spPr>
                      <a:xfrm>
                        <a:off x="2431925" y="2869490"/>
                        <a:ext cx="2850981" cy="886874"/>
                      </a:xfrm>
                      <a:prstGeom prst="rect">
                        <a:avLst/>
                      </a:prstGeom>
                    </p:spPr>
                  </p:pic>
                </p:oleObj>
              </mc:Fallback>
            </mc:AlternateContent>
          </a:graphicData>
        </a:graphic>
      </p:graphicFrame>
      <p:graphicFrame>
        <p:nvGraphicFramePr>
          <p:cNvPr id="6" name="Object 75">
            <a:extLst>
              <a:ext uri="{FF2B5EF4-FFF2-40B4-BE49-F238E27FC236}">
                <a16:creationId xmlns:a16="http://schemas.microsoft.com/office/drawing/2014/main" id="{6756F396-79EF-455E-B265-1F0A98548D6F}"/>
              </a:ext>
            </a:extLst>
          </p:cNvPr>
          <p:cNvGraphicFramePr>
            <a:graphicFrameLocks noChangeAspect="1"/>
          </p:cNvGraphicFramePr>
          <p:nvPr>
            <p:extLst>
              <p:ext uri="{D42A27DB-BD31-4B8C-83A1-F6EECF244321}">
                <p14:modId xmlns:p14="http://schemas.microsoft.com/office/powerpoint/2010/main" val="968912253"/>
              </p:ext>
            </p:extLst>
          </p:nvPr>
        </p:nvGraphicFramePr>
        <p:xfrm>
          <a:off x="2415433" y="1823576"/>
          <a:ext cx="2850981" cy="885774"/>
        </p:xfrm>
        <a:graphic>
          <a:graphicData uri="http://schemas.openxmlformats.org/presentationml/2006/ole">
            <mc:AlternateContent xmlns:mc="http://schemas.openxmlformats.org/markup-compatibility/2006">
              <mc:Choice xmlns:v="urn:schemas-microsoft-com:vml" Requires="v">
                <p:oleObj name="Worksheet" r:id="rId7" imgW="3095506" imgH="962141" progId="Excel.Sheet.12">
                  <p:embed/>
                </p:oleObj>
              </mc:Choice>
              <mc:Fallback>
                <p:oleObj name="Worksheet" r:id="rId7" imgW="3095506" imgH="962141" progId="Excel.Sheet.12">
                  <p:embed/>
                  <p:pic>
                    <p:nvPicPr>
                      <p:cNvPr id="10" name="Object 75">
                        <a:extLst>
                          <a:ext uri="{FF2B5EF4-FFF2-40B4-BE49-F238E27FC236}">
                            <a16:creationId xmlns:a16="http://schemas.microsoft.com/office/drawing/2014/main" id="{6756F396-79EF-455E-B265-1F0A98548D6F}"/>
                          </a:ext>
                        </a:extLst>
                      </p:cNvPr>
                      <p:cNvPicPr/>
                      <p:nvPr/>
                    </p:nvPicPr>
                    <p:blipFill>
                      <a:blip r:embed="rId8"/>
                      <a:stretch>
                        <a:fillRect/>
                      </a:stretch>
                    </p:blipFill>
                    <p:spPr>
                      <a:xfrm>
                        <a:off x="2415433" y="1823576"/>
                        <a:ext cx="2850981" cy="885774"/>
                      </a:xfrm>
                      <a:prstGeom prst="rect">
                        <a:avLst/>
                      </a:prstGeom>
                    </p:spPr>
                  </p:pic>
                </p:oleObj>
              </mc:Fallback>
            </mc:AlternateContent>
          </a:graphicData>
        </a:graphic>
      </p:graphicFrame>
      <p:graphicFrame>
        <p:nvGraphicFramePr>
          <p:cNvPr id="7" name="Object 85">
            <a:extLst>
              <a:ext uri="{FF2B5EF4-FFF2-40B4-BE49-F238E27FC236}">
                <a16:creationId xmlns:a16="http://schemas.microsoft.com/office/drawing/2014/main" id="{A6CBD7C4-FD35-41C6-80C3-A1F55C912803}"/>
              </a:ext>
            </a:extLst>
          </p:cNvPr>
          <p:cNvGraphicFramePr>
            <a:graphicFrameLocks noChangeAspect="1"/>
          </p:cNvGraphicFramePr>
          <p:nvPr>
            <p:extLst>
              <p:ext uri="{D42A27DB-BD31-4B8C-83A1-F6EECF244321}">
                <p14:modId xmlns:p14="http://schemas.microsoft.com/office/powerpoint/2010/main" val="2234409830"/>
              </p:ext>
            </p:extLst>
          </p:nvPr>
        </p:nvGraphicFramePr>
        <p:xfrm>
          <a:off x="2455293" y="3927948"/>
          <a:ext cx="2850981" cy="885774"/>
        </p:xfrm>
        <a:graphic>
          <a:graphicData uri="http://schemas.openxmlformats.org/presentationml/2006/ole">
            <mc:AlternateContent xmlns:mc="http://schemas.openxmlformats.org/markup-compatibility/2006">
              <mc:Choice xmlns:v="urn:schemas-microsoft-com:vml" Requires="v">
                <p:oleObj name="Worksheet" r:id="rId9" imgW="3095506" imgH="962141" progId="Excel.Sheet.12">
                  <p:embed/>
                </p:oleObj>
              </mc:Choice>
              <mc:Fallback>
                <p:oleObj name="Worksheet" r:id="rId9" imgW="3095506" imgH="962141" progId="Excel.Sheet.12">
                  <p:embed/>
                  <p:pic>
                    <p:nvPicPr>
                      <p:cNvPr id="11" name="Object 85">
                        <a:extLst>
                          <a:ext uri="{FF2B5EF4-FFF2-40B4-BE49-F238E27FC236}">
                            <a16:creationId xmlns:a16="http://schemas.microsoft.com/office/drawing/2014/main" id="{A6CBD7C4-FD35-41C6-80C3-A1F55C912803}"/>
                          </a:ext>
                        </a:extLst>
                      </p:cNvPr>
                      <p:cNvPicPr/>
                      <p:nvPr/>
                    </p:nvPicPr>
                    <p:blipFill>
                      <a:blip r:embed="rId10"/>
                      <a:stretch>
                        <a:fillRect/>
                      </a:stretch>
                    </p:blipFill>
                    <p:spPr>
                      <a:xfrm>
                        <a:off x="2455293" y="3927948"/>
                        <a:ext cx="2850981" cy="885774"/>
                      </a:xfrm>
                      <a:prstGeom prst="rect">
                        <a:avLst/>
                      </a:prstGeom>
                    </p:spPr>
                  </p:pic>
                </p:oleObj>
              </mc:Fallback>
            </mc:AlternateContent>
          </a:graphicData>
        </a:graphic>
      </p:graphicFrame>
      <p:graphicFrame>
        <p:nvGraphicFramePr>
          <p:cNvPr id="8" name="Object 87">
            <a:extLst>
              <a:ext uri="{FF2B5EF4-FFF2-40B4-BE49-F238E27FC236}">
                <a16:creationId xmlns:a16="http://schemas.microsoft.com/office/drawing/2014/main" id="{82D7D786-331D-4E5D-B995-ECEC39D8A3CA}"/>
              </a:ext>
            </a:extLst>
          </p:cNvPr>
          <p:cNvGraphicFramePr>
            <a:graphicFrameLocks noChangeAspect="1"/>
          </p:cNvGraphicFramePr>
          <p:nvPr>
            <p:extLst>
              <p:ext uri="{D42A27DB-BD31-4B8C-83A1-F6EECF244321}">
                <p14:modId xmlns:p14="http://schemas.microsoft.com/office/powerpoint/2010/main" val="2608242037"/>
              </p:ext>
            </p:extLst>
          </p:nvPr>
        </p:nvGraphicFramePr>
        <p:xfrm>
          <a:off x="6139153" y="2868390"/>
          <a:ext cx="1690122" cy="887975"/>
        </p:xfrm>
        <a:graphic>
          <a:graphicData uri="http://schemas.openxmlformats.org/presentationml/2006/ole">
            <mc:AlternateContent xmlns:mc="http://schemas.openxmlformats.org/markup-compatibility/2006">
              <mc:Choice xmlns:v="urn:schemas-microsoft-com:vml" Requires="v">
                <p:oleObj name="Worksheet" r:id="rId11" imgW="1828832" imgH="962141" progId="Excel.Sheet.12">
                  <p:embed/>
                </p:oleObj>
              </mc:Choice>
              <mc:Fallback>
                <p:oleObj name="Worksheet" r:id="rId11" imgW="1828832" imgH="962141" progId="Excel.Sheet.12">
                  <p:embed/>
                  <p:pic>
                    <p:nvPicPr>
                      <p:cNvPr id="12" name="Object 87">
                        <a:extLst>
                          <a:ext uri="{FF2B5EF4-FFF2-40B4-BE49-F238E27FC236}">
                            <a16:creationId xmlns:a16="http://schemas.microsoft.com/office/drawing/2014/main" id="{82D7D786-331D-4E5D-B995-ECEC39D8A3CA}"/>
                          </a:ext>
                        </a:extLst>
                      </p:cNvPr>
                      <p:cNvPicPr/>
                      <p:nvPr/>
                    </p:nvPicPr>
                    <p:blipFill>
                      <a:blip r:embed="rId12"/>
                      <a:stretch>
                        <a:fillRect/>
                      </a:stretch>
                    </p:blipFill>
                    <p:spPr>
                      <a:xfrm>
                        <a:off x="6139153" y="2868390"/>
                        <a:ext cx="1690122" cy="887975"/>
                      </a:xfrm>
                      <a:prstGeom prst="rect">
                        <a:avLst/>
                      </a:prstGeom>
                    </p:spPr>
                  </p:pic>
                </p:oleObj>
              </mc:Fallback>
            </mc:AlternateContent>
          </a:graphicData>
        </a:graphic>
      </p:graphicFrame>
      <p:graphicFrame>
        <p:nvGraphicFramePr>
          <p:cNvPr id="9" name="Object 88">
            <a:extLst>
              <a:ext uri="{FF2B5EF4-FFF2-40B4-BE49-F238E27FC236}">
                <a16:creationId xmlns:a16="http://schemas.microsoft.com/office/drawing/2014/main" id="{0A3867FE-9E3A-4F4F-9EC1-3C1BAAA2F47E}"/>
              </a:ext>
            </a:extLst>
          </p:cNvPr>
          <p:cNvGraphicFramePr>
            <a:graphicFrameLocks noChangeAspect="1"/>
          </p:cNvGraphicFramePr>
          <p:nvPr>
            <p:extLst>
              <p:ext uri="{D42A27DB-BD31-4B8C-83A1-F6EECF244321}">
                <p14:modId xmlns:p14="http://schemas.microsoft.com/office/powerpoint/2010/main" val="2156109075"/>
              </p:ext>
            </p:extLst>
          </p:nvPr>
        </p:nvGraphicFramePr>
        <p:xfrm>
          <a:off x="6139153" y="3951285"/>
          <a:ext cx="1690122" cy="887975"/>
        </p:xfrm>
        <a:graphic>
          <a:graphicData uri="http://schemas.openxmlformats.org/presentationml/2006/ole">
            <mc:AlternateContent xmlns:mc="http://schemas.openxmlformats.org/markup-compatibility/2006">
              <mc:Choice xmlns:v="urn:schemas-microsoft-com:vml" Requires="v">
                <p:oleObj name="Worksheet" r:id="rId13" imgW="1828832" imgH="962141" progId="Excel.Sheet.12">
                  <p:embed/>
                </p:oleObj>
              </mc:Choice>
              <mc:Fallback>
                <p:oleObj name="Worksheet" r:id="rId13" imgW="1828832" imgH="962141" progId="Excel.Sheet.12">
                  <p:embed/>
                  <p:pic>
                    <p:nvPicPr>
                      <p:cNvPr id="16" name="Object 88">
                        <a:extLst>
                          <a:ext uri="{FF2B5EF4-FFF2-40B4-BE49-F238E27FC236}">
                            <a16:creationId xmlns:a16="http://schemas.microsoft.com/office/drawing/2014/main" id="{0A3867FE-9E3A-4F4F-9EC1-3C1BAAA2F47E}"/>
                          </a:ext>
                        </a:extLst>
                      </p:cNvPr>
                      <p:cNvPicPr/>
                      <p:nvPr/>
                    </p:nvPicPr>
                    <p:blipFill>
                      <a:blip r:embed="rId14"/>
                      <a:stretch>
                        <a:fillRect/>
                      </a:stretch>
                    </p:blipFill>
                    <p:spPr>
                      <a:xfrm>
                        <a:off x="6139153" y="3951285"/>
                        <a:ext cx="1690122" cy="887975"/>
                      </a:xfrm>
                      <a:prstGeom prst="rect">
                        <a:avLst/>
                      </a:prstGeom>
                    </p:spPr>
                  </p:pic>
                </p:oleObj>
              </mc:Fallback>
            </mc:AlternateContent>
          </a:graphicData>
        </a:graphic>
      </p:graphicFrame>
      <p:cxnSp>
        <p:nvCxnSpPr>
          <p:cNvPr id="10" name="Straight Arrow Connector 90">
            <a:extLst>
              <a:ext uri="{FF2B5EF4-FFF2-40B4-BE49-F238E27FC236}">
                <a16:creationId xmlns:a16="http://schemas.microsoft.com/office/drawing/2014/main" id="{E08F3080-86AA-4AD1-8E89-B6314E0A770E}"/>
              </a:ext>
            </a:extLst>
          </p:cNvPr>
          <p:cNvCxnSpPr/>
          <p:nvPr/>
        </p:nvCxnSpPr>
        <p:spPr>
          <a:xfrm>
            <a:off x="5342021" y="3291431"/>
            <a:ext cx="738017" cy="0"/>
          </a:xfrm>
          <a:prstGeom prst="straightConnector1">
            <a:avLst/>
          </a:prstGeom>
          <a:ln>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94138FB-8A5D-4C8E-9A7C-F39FAB9A7E63}"/>
              </a:ext>
            </a:extLst>
          </p:cNvPr>
          <p:cNvSpPr txBox="1"/>
          <p:nvPr/>
        </p:nvSpPr>
        <p:spPr>
          <a:xfrm>
            <a:off x="577549" y="1823576"/>
            <a:ext cx="1569159" cy="1046440"/>
          </a:xfrm>
          <a:prstGeom prst="rect">
            <a:avLst/>
          </a:prstGeom>
          <a:noFill/>
        </p:spPr>
        <p:txBody>
          <a:bodyPr wrap="square" rtlCol="0">
            <a:spAutoFit/>
          </a:bodyPr>
          <a:lstStyle/>
          <a:p>
            <a:pPr algn="ctr"/>
            <a:r>
              <a:rPr lang="ru-RU" sz="1200" u="sng" dirty="0">
                <a:solidFill>
                  <a:srgbClr val="002060"/>
                </a:solidFill>
                <a:latin typeface="+mn-lt"/>
              </a:rPr>
              <a:t>Сервер 1</a:t>
            </a:r>
          </a:p>
          <a:p>
            <a:r>
              <a:rPr lang="en-US" sz="1200" dirty="0">
                <a:solidFill>
                  <a:srgbClr val="002060"/>
                </a:solidFill>
                <a:latin typeface="+mn-lt"/>
              </a:rPr>
              <a:t>Users:</a:t>
            </a:r>
          </a:p>
          <a:p>
            <a:r>
              <a:rPr lang="en-US" sz="1200" dirty="0">
                <a:solidFill>
                  <a:srgbClr val="002060"/>
                </a:solidFill>
                <a:latin typeface="+mn-lt"/>
              </a:rPr>
              <a:t>ID % 3 == 1</a:t>
            </a:r>
          </a:p>
          <a:p>
            <a:r>
              <a:rPr lang="en-US" sz="1200" dirty="0">
                <a:solidFill>
                  <a:srgbClr val="002060"/>
                </a:solidFill>
                <a:latin typeface="+mn-lt"/>
              </a:rPr>
              <a:t>UserGroup:</a:t>
            </a:r>
          </a:p>
          <a:p>
            <a:r>
              <a:rPr lang="en-US" sz="1200" dirty="0">
                <a:solidFill>
                  <a:srgbClr val="002060"/>
                </a:solidFill>
                <a:latin typeface="+mn-lt"/>
              </a:rPr>
              <a:t>UserID % 3 == 1</a:t>
            </a:r>
            <a:endParaRPr lang="ru-RU" sz="1200" dirty="0">
              <a:solidFill>
                <a:srgbClr val="002060"/>
              </a:solidFill>
              <a:latin typeface="+mn-lt"/>
            </a:endParaRPr>
          </a:p>
        </p:txBody>
      </p:sp>
      <p:sp>
        <p:nvSpPr>
          <p:cNvPr id="14" name="TextBox 13">
            <a:extLst>
              <a:ext uri="{FF2B5EF4-FFF2-40B4-BE49-F238E27FC236}">
                <a16:creationId xmlns:a16="http://schemas.microsoft.com/office/drawing/2014/main" id="{91166B91-DCCF-48A3-A165-954B358413C9}"/>
              </a:ext>
            </a:extLst>
          </p:cNvPr>
          <p:cNvSpPr txBox="1"/>
          <p:nvPr/>
        </p:nvSpPr>
        <p:spPr>
          <a:xfrm>
            <a:off x="577012" y="2878753"/>
            <a:ext cx="1569159" cy="1046440"/>
          </a:xfrm>
          <a:prstGeom prst="rect">
            <a:avLst/>
          </a:prstGeom>
          <a:noFill/>
        </p:spPr>
        <p:txBody>
          <a:bodyPr wrap="square" rtlCol="0">
            <a:spAutoFit/>
          </a:bodyPr>
          <a:lstStyle/>
          <a:p>
            <a:pPr algn="ctr"/>
            <a:r>
              <a:rPr lang="ru-RU" sz="1200" u="sng" dirty="0">
                <a:solidFill>
                  <a:srgbClr val="002060"/>
                </a:solidFill>
                <a:latin typeface="+mn-lt"/>
              </a:rPr>
              <a:t>Сервер </a:t>
            </a:r>
            <a:r>
              <a:rPr lang="en-US" sz="1200" u="sng" dirty="0">
                <a:solidFill>
                  <a:srgbClr val="002060"/>
                </a:solidFill>
                <a:latin typeface="+mn-lt"/>
              </a:rPr>
              <a:t>2</a:t>
            </a:r>
            <a:endParaRPr lang="ru-RU" sz="1200" u="sng" dirty="0">
              <a:solidFill>
                <a:srgbClr val="002060"/>
              </a:solidFill>
              <a:latin typeface="+mn-lt"/>
            </a:endParaRPr>
          </a:p>
          <a:p>
            <a:r>
              <a:rPr lang="en-US" sz="1200" dirty="0">
                <a:solidFill>
                  <a:srgbClr val="002060"/>
                </a:solidFill>
                <a:latin typeface="+mn-lt"/>
              </a:rPr>
              <a:t>Users:</a:t>
            </a:r>
          </a:p>
          <a:p>
            <a:r>
              <a:rPr lang="en-US" sz="1200" dirty="0">
                <a:solidFill>
                  <a:srgbClr val="002060"/>
                </a:solidFill>
                <a:latin typeface="+mn-lt"/>
              </a:rPr>
              <a:t>ID % 3 == 2</a:t>
            </a:r>
          </a:p>
          <a:p>
            <a:r>
              <a:rPr lang="en-US" sz="1200" dirty="0">
                <a:solidFill>
                  <a:srgbClr val="002060"/>
                </a:solidFill>
                <a:latin typeface="+mn-lt"/>
              </a:rPr>
              <a:t>UserGroup:</a:t>
            </a:r>
          </a:p>
          <a:p>
            <a:r>
              <a:rPr lang="en-US" sz="1200" dirty="0">
                <a:solidFill>
                  <a:srgbClr val="002060"/>
                </a:solidFill>
                <a:latin typeface="+mn-lt"/>
              </a:rPr>
              <a:t>UserID % 3 == 2</a:t>
            </a:r>
            <a:endParaRPr lang="ru-RU" sz="1200" dirty="0">
              <a:solidFill>
                <a:srgbClr val="002060"/>
              </a:solidFill>
              <a:latin typeface="+mn-lt"/>
            </a:endParaRPr>
          </a:p>
        </p:txBody>
      </p:sp>
      <p:sp>
        <p:nvSpPr>
          <p:cNvPr id="15" name="TextBox 14">
            <a:extLst>
              <a:ext uri="{FF2B5EF4-FFF2-40B4-BE49-F238E27FC236}">
                <a16:creationId xmlns:a16="http://schemas.microsoft.com/office/drawing/2014/main" id="{8F37FF43-5642-40A8-B182-0A2ED054631C}"/>
              </a:ext>
            </a:extLst>
          </p:cNvPr>
          <p:cNvSpPr txBox="1"/>
          <p:nvPr/>
        </p:nvSpPr>
        <p:spPr>
          <a:xfrm>
            <a:off x="577549" y="3912179"/>
            <a:ext cx="1569159" cy="1046440"/>
          </a:xfrm>
          <a:prstGeom prst="rect">
            <a:avLst/>
          </a:prstGeom>
          <a:noFill/>
        </p:spPr>
        <p:txBody>
          <a:bodyPr wrap="square" rtlCol="0">
            <a:spAutoFit/>
          </a:bodyPr>
          <a:lstStyle/>
          <a:p>
            <a:pPr algn="ctr"/>
            <a:r>
              <a:rPr lang="ru-RU" sz="1200" u="sng" dirty="0">
                <a:solidFill>
                  <a:srgbClr val="002060"/>
                </a:solidFill>
                <a:latin typeface="+mn-lt"/>
              </a:rPr>
              <a:t>Сервер </a:t>
            </a:r>
            <a:r>
              <a:rPr lang="en-US" sz="1200" u="sng" dirty="0">
                <a:solidFill>
                  <a:srgbClr val="002060"/>
                </a:solidFill>
                <a:latin typeface="+mn-lt"/>
              </a:rPr>
              <a:t>3</a:t>
            </a:r>
            <a:endParaRPr lang="ru-RU" sz="1200" u="sng" dirty="0">
              <a:solidFill>
                <a:srgbClr val="002060"/>
              </a:solidFill>
              <a:latin typeface="+mn-lt"/>
            </a:endParaRPr>
          </a:p>
          <a:p>
            <a:r>
              <a:rPr lang="en-US" sz="1200" dirty="0">
                <a:solidFill>
                  <a:srgbClr val="002060"/>
                </a:solidFill>
                <a:latin typeface="+mn-lt"/>
              </a:rPr>
              <a:t>Users:</a:t>
            </a:r>
          </a:p>
          <a:p>
            <a:r>
              <a:rPr lang="en-US" sz="1200" dirty="0">
                <a:solidFill>
                  <a:srgbClr val="002060"/>
                </a:solidFill>
                <a:latin typeface="+mn-lt"/>
              </a:rPr>
              <a:t>ID % 3 == 0</a:t>
            </a:r>
          </a:p>
          <a:p>
            <a:r>
              <a:rPr lang="en-US" sz="1200" dirty="0">
                <a:solidFill>
                  <a:srgbClr val="002060"/>
                </a:solidFill>
                <a:latin typeface="+mn-lt"/>
              </a:rPr>
              <a:t>UserGroup:</a:t>
            </a:r>
          </a:p>
          <a:p>
            <a:r>
              <a:rPr lang="en-US" sz="1200" dirty="0">
                <a:solidFill>
                  <a:srgbClr val="002060"/>
                </a:solidFill>
                <a:latin typeface="+mn-lt"/>
              </a:rPr>
              <a:t>UserID % 3 == 0</a:t>
            </a:r>
            <a:endParaRPr lang="ru-RU" sz="1200" dirty="0">
              <a:solidFill>
                <a:srgbClr val="002060"/>
              </a:solidFill>
              <a:latin typeface="+mn-lt"/>
            </a:endParaRPr>
          </a:p>
        </p:txBody>
      </p:sp>
      <p:cxnSp>
        <p:nvCxnSpPr>
          <p:cNvPr id="20" name="Straight Arrow Connector 90">
            <a:extLst>
              <a:ext uri="{FF2B5EF4-FFF2-40B4-BE49-F238E27FC236}">
                <a16:creationId xmlns:a16="http://schemas.microsoft.com/office/drawing/2014/main" id="{E08F3080-86AA-4AD1-8E89-B6314E0A770E}"/>
              </a:ext>
            </a:extLst>
          </p:cNvPr>
          <p:cNvCxnSpPr/>
          <p:nvPr/>
        </p:nvCxnSpPr>
        <p:spPr>
          <a:xfrm>
            <a:off x="5342021" y="4384586"/>
            <a:ext cx="738017" cy="0"/>
          </a:xfrm>
          <a:prstGeom prst="straightConnector1">
            <a:avLst/>
          </a:prstGeom>
          <a:ln>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90">
            <a:extLst>
              <a:ext uri="{FF2B5EF4-FFF2-40B4-BE49-F238E27FC236}">
                <a16:creationId xmlns:a16="http://schemas.microsoft.com/office/drawing/2014/main" id="{E08F3080-86AA-4AD1-8E89-B6314E0A770E}"/>
              </a:ext>
            </a:extLst>
          </p:cNvPr>
          <p:cNvCxnSpPr/>
          <p:nvPr/>
        </p:nvCxnSpPr>
        <p:spPr>
          <a:xfrm>
            <a:off x="5342021" y="2260153"/>
            <a:ext cx="738017" cy="0"/>
          </a:xfrm>
          <a:prstGeom prst="straightConnector1">
            <a:avLst/>
          </a:prstGeom>
          <a:ln>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7974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577549" y="260291"/>
            <a:ext cx="6834296" cy="769441"/>
          </a:xfrm>
          <a:prstGeom prst="rect">
            <a:avLst/>
          </a:prstGeom>
          <a:noFill/>
        </p:spPr>
        <p:txBody>
          <a:bodyPr wrap="square">
            <a:spAutoFit/>
          </a:bodyPr>
          <a:lstStyle/>
          <a:p>
            <a:r>
              <a:rPr lang="en-US" sz="4400" kern="1200" dirty="0">
                <a:solidFill>
                  <a:schemeClr val="accent3"/>
                </a:solidFill>
                <a:latin typeface="+mj-lt"/>
              </a:rPr>
              <a:t>SQL + </a:t>
            </a:r>
            <a:r>
              <a:rPr lang="ru-RU" sz="4400" b="1" kern="1200" dirty="0">
                <a:solidFill>
                  <a:schemeClr val="accent3"/>
                </a:solidFill>
                <a:latin typeface="+mj-lt"/>
              </a:rPr>
              <a:t>Ш</a:t>
            </a:r>
            <a:r>
              <a:rPr lang="ru-RU" sz="4400" kern="1200" dirty="0">
                <a:solidFill>
                  <a:schemeClr val="accent3"/>
                </a:solidFill>
                <a:latin typeface="+mj-lt"/>
              </a:rPr>
              <a:t>ардирование</a:t>
            </a:r>
            <a:endParaRPr lang="ru-RU" sz="4400" dirty="0">
              <a:solidFill>
                <a:schemeClr val="accent3"/>
              </a:solidFill>
              <a:latin typeface="+mj-lt"/>
            </a:endParaRPr>
          </a:p>
        </p:txBody>
      </p:sp>
      <p:sp>
        <p:nvSpPr>
          <p:cNvPr id="2" name="Прямоугольник 1"/>
          <p:cNvSpPr/>
          <p:nvPr/>
        </p:nvSpPr>
        <p:spPr>
          <a:xfrm>
            <a:off x="577550" y="1064107"/>
            <a:ext cx="6998908" cy="566309"/>
          </a:xfrm>
          <a:prstGeom prst="rect">
            <a:avLst/>
          </a:prstGeom>
        </p:spPr>
        <p:txBody>
          <a:bodyPr wrap="square">
            <a:spAutoFit/>
          </a:bodyPr>
          <a:lstStyle/>
          <a:p>
            <a:pPr>
              <a:lnSpc>
                <a:spcPct val="110000"/>
              </a:lnSpc>
            </a:pPr>
            <a:r>
              <a:rPr lang="ru-RU" altLang="ru-RU" dirty="0">
                <a:solidFill>
                  <a:schemeClr val="tx1"/>
                </a:solidFill>
                <a:latin typeface="+mn-lt"/>
              </a:rPr>
              <a:t>Добавляем новый атрибут Статус в таблицу Пользователи: т.к. должны обновиться все записи во всех таблицах – блокировка затронет все сервера. </a:t>
            </a:r>
          </a:p>
        </p:txBody>
      </p:sp>
      <p:graphicFrame>
        <p:nvGraphicFramePr>
          <p:cNvPr id="16" name="Object 7">
            <a:extLst>
              <a:ext uri="{FF2B5EF4-FFF2-40B4-BE49-F238E27FC236}">
                <a16:creationId xmlns:a16="http://schemas.microsoft.com/office/drawing/2014/main" id="{B5C921FB-518F-4A7A-AC65-275AD0E6116E}"/>
              </a:ext>
            </a:extLst>
          </p:cNvPr>
          <p:cNvGraphicFramePr>
            <a:graphicFrameLocks noChangeAspect="1"/>
          </p:cNvGraphicFramePr>
          <p:nvPr>
            <p:extLst>
              <p:ext uri="{D42A27DB-BD31-4B8C-83A1-F6EECF244321}">
                <p14:modId xmlns:p14="http://schemas.microsoft.com/office/powerpoint/2010/main" val="3437692114"/>
              </p:ext>
            </p:extLst>
          </p:nvPr>
        </p:nvGraphicFramePr>
        <p:xfrm>
          <a:off x="6844950" y="1937229"/>
          <a:ext cx="1034015" cy="740053"/>
        </p:xfrm>
        <a:graphic>
          <a:graphicData uri="http://schemas.openxmlformats.org/presentationml/2006/ole">
            <mc:AlternateContent xmlns:mc="http://schemas.openxmlformats.org/markup-compatibility/2006">
              <mc:Choice xmlns:v="urn:schemas-microsoft-com:vml" Requires="v">
                <p:oleObj name="Worksheet" r:id="rId3" imgW="1076481" imgH="771561" progId="Excel.Sheet.12">
                  <p:embed/>
                </p:oleObj>
              </mc:Choice>
              <mc:Fallback>
                <p:oleObj name="Worksheet" r:id="rId3" imgW="1076481" imgH="771561" progId="Excel.Sheet.12">
                  <p:embed/>
                  <p:pic>
                    <p:nvPicPr>
                      <p:cNvPr id="39" name="Object 7">
                        <a:extLst>
                          <a:ext uri="{FF2B5EF4-FFF2-40B4-BE49-F238E27FC236}">
                            <a16:creationId xmlns:a16="http://schemas.microsoft.com/office/drawing/2014/main" id="{B5C921FB-518F-4A7A-AC65-275AD0E6116E}"/>
                          </a:ext>
                        </a:extLst>
                      </p:cNvPr>
                      <p:cNvPicPr/>
                      <p:nvPr/>
                    </p:nvPicPr>
                    <p:blipFill>
                      <a:blip r:embed="rId4"/>
                      <a:stretch>
                        <a:fillRect/>
                      </a:stretch>
                    </p:blipFill>
                    <p:spPr>
                      <a:xfrm>
                        <a:off x="6844950" y="1937229"/>
                        <a:ext cx="1034015" cy="740053"/>
                      </a:xfrm>
                      <a:prstGeom prst="rect">
                        <a:avLst/>
                      </a:prstGeom>
                    </p:spPr>
                  </p:pic>
                </p:oleObj>
              </mc:Fallback>
            </mc:AlternateContent>
          </a:graphicData>
        </a:graphic>
      </p:graphicFrame>
      <p:graphicFrame>
        <p:nvGraphicFramePr>
          <p:cNvPr id="17" name="Object 4">
            <a:extLst>
              <a:ext uri="{FF2B5EF4-FFF2-40B4-BE49-F238E27FC236}">
                <a16:creationId xmlns:a16="http://schemas.microsoft.com/office/drawing/2014/main" id="{8AE42F9A-F4EE-40D6-8D58-767BD3CB12DD}"/>
              </a:ext>
            </a:extLst>
          </p:cNvPr>
          <p:cNvGraphicFramePr>
            <a:graphicFrameLocks noChangeAspect="1"/>
          </p:cNvGraphicFramePr>
          <p:nvPr>
            <p:extLst>
              <p:ext uri="{D42A27DB-BD31-4B8C-83A1-F6EECF244321}">
                <p14:modId xmlns:p14="http://schemas.microsoft.com/office/powerpoint/2010/main" val="1523856135"/>
              </p:ext>
            </p:extLst>
          </p:nvPr>
        </p:nvGraphicFramePr>
        <p:xfrm>
          <a:off x="2993517" y="2851073"/>
          <a:ext cx="2963643" cy="921920"/>
        </p:xfrm>
        <a:graphic>
          <a:graphicData uri="http://schemas.openxmlformats.org/presentationml/2006/ole">
            <mc:AlternateContent xmlns:mc="http://schemas.openxmlformats.org/markup-compatibility/2006">
              <mc:Choice xmlns:v="urn:schemas-microsoft-com:vml" Requires="v">
                <p:oleObj name="Worksheet" r:id="rId5" imgW="3095506" imgH="962141" progId="Excel.Sheet.12">
                  <p:embed/>
                </p:oleObj>
              </mc:Choice>
              <mc:Fallback>
                <p:oleObj name="Worksheet" r:id="rId5" imgW="3095506" imgH="962141" progId="Excel.Sheet.12">
                  <p:embed/>
                  <p:pic>
                    <p:nvPicPr>
                      <p:cNvPr id="40" name="Object 4">
                        <a:extLst>
                          <a:ext uri="{FF2B5EF4-FFF2-40B4-BE49-F238E27FC236}">
                            <a16:creationId xmlns:a16="http://schemas.microsoft.com/office/drawing/2014/main" id="{8AE42F9A-F4EE-40D6-8D58-767BD3CB12DD}"/>
                          </a:ext>
                        </a:extLst>
                      </p:cNvPr>
                      <p:cNvPicPr/>
                      <p:nvPr/>
                    </p:nvPicPr>
                    <p:blipFill>
                      <a:blip r:embed="rId6"/>
                      <a:stretch>
                        <a:fillRect/>
                      </a:stretch>
                    </p:blipFill>
                    <p:spPr>
                      <a:xfrm>
                        <a:off x="2993517" y="2851073"/>
                        <a:ext cx="2963643" cy="921920"/>
                      </a:xfrm>
                      <a:prstGeom prst="rect">
                        <a:avLst/>
                      </a:prstGeom>
                    </p:spPr>
                  </p:pic>
                </p:oleObj>
              </mc:Fallback>
            </mc:AlternateContent>
          </a:graphicData>
        </a:graphic>
      </p:graphicFrame>
      <p:graphicFrame>
        <p:nvGraphicFramePr>
          <p:cNvPr id="19" name="Object 75">
            <a:extLst>
              <a:ext uri="{FF2B5EF4-FFF2-40B4-BE49-F238E27FC236}">
                <a16:creationId xmlns:a16="http://schemas.microsoft.com/office/drawing/2014/main" id="{DC842798-688E-4054-B173-0C45C6B071B0}"/>
              </a:ext>
            </a:extLst>
          </p:cNvPr>
          <p:cNvGraphicFramePr>
            <a:graphicFrameLocks noChangeAspect="1"/>
          </p:cNvGraphicFramePr>
          <p:nvPr>
            <p:extLst>
              <p:ext uri="{D42A27DB-BD31-4B8C-83A1-F6EECF244321}">
                <p14:modId xmlns:p14="http://schemas.microsoft.com/office/powerpoint/2010/main" val="3014857856"/>
              </p:ext>
            </p:extLst>
          </p:nvPr>
        </p:nvGraphicFramePr>
        <p:xfrm>
          <a:off x="2976373" y="1763828"/>
          <a:ext cx="2963643" cy="920777"/>
        </p:xfrm>
        <a:graphic>
          <a:graphicData uri="http://schemas.openxmlformats.org/presentationml/2006/ole">
            <mc:AlternateContent xmlns:mc="http://schemas.openxmlformats.org/markup-compatibility/2006">
              <mc:Choice xmlns:v="urn:schemas-microsoft-com:vml" Requires="v">
                <p:oleObj name="Worksheet" r:id="rId7" imgW="3095506" imgH="962141" progId="Excel.Sheet.12">
                  <p:embed/>
                </p:oleObj>
              </mc:Choice>
              <mc:Fallback>
                <p:oleObj name="Worksheet" r:id="rId7" imgW="3095506" imgH="962141" progId="Excel.Sheet.12">
                  <p:embed/>
                  <p:pic>
                    <p:nvPicPr>
                      <p:cNvPr id="41" name="Object 75">
                        <a:extLst>
                          <a:ext uri="{FF2B5EF4-FFF2-40B4-BE49-F238E27FC236}">
                            <a16:creationId xmlns:a16="http://schemas.microsoft.com/office/drawing/2014/main" id="{DC842798-688E-4054-B173-0C45C6B071B0}"/>
                          </a:ext>
                        </a:extLst>
                      </p:cNvPr>
                      <p:cNvPicPr/>
                      <p:nvPr/>
                    </p:nvPicPr>
                    <p:blipFill>
                      <a:blip r:embed="rId8"/>
                      <a:stretch>
                        <a:fillRect/>
                      </a:stretch>
                    </p:blipFill>
                    <p:spPr>
                      <a:xfrm>
                        <a:off x="2976373" y="1763828"/>
                        <a:ext cx="2963643" cy="920777"/>
                      </a:xfrm>
                      <a:prstGeom prst="rect">
                        <a:avLst/>
                      </a:prstGeom>
                    </p:spPr>
                  </p:pic>
                </p:oleObj>
              </mc:Fallback>
            </mc:AlternateContent>
          </a:graphicData>
        </a:graphic>
      </p:graphicFrame>
      <p:graphicFrame>
        <p:nvGraphicFramePr>
          <p:cNvPr id="22" name="Object 85">
            <a:extLst>
              <a:ext uri="{FF2B5EF4-FFF2-40B4-BE49-F238E27FC236}">
                <a16:creationId xmlns:a16="http://schemas.microsoft.com/office/drawing/2014/main" id="{C66D27BC-D88E-452D-B9D9-FAECD4D61D3C}"/>
              </a:ext>
            </a:extLst>
          </p:cNvPr>
          <p:cNvGraphicFramePr>
            <a:graphicFrameLocks noChangeAspect="1"/>
          </p:cNvGraphicFramePr>
          <p:nvPr>
            <p:extLst>
              <p:ext uri="{D42A27DB-BD31-4B8C-83A1-F6EECF244321}">
                <p14:modId xmlns:p14="http://schemas.microsoft.com/office/powerpoint/2010/main" val="3682560877"/>
              </p:ext>
            </p:extLst>
          </p:nvPr>
        </p:nvGraphicFramePr>
        <p:xfrm>
          <a:off x="3017808" y="3909047"/>
          <a:ext cx="2963643" cy="920777"/>
        </p:xfrm>
        <a:graphic>
          <a:graphicData uri="http://schemas.openxmlformats.org/presentationml/2006/ole">
            <mc:AlternateContent xmlns:mc="http://schemas.openxmlformats.org/markup-compatibility/2006">
              <mc:Choice xmlns:v="urn:schemas-microsoft-com:vml" Requires="v">
                <p:oleObj name="Worksheet" r:id="rId9" imgW="3095506" imgH="962141" progId="Excel.Sheet.12">
                  <p:embed/>
                </p:oleObj>
              </mc:Choice>
              <mc:Fallback>
                <p:oleObj name="Worksheet" r:id="rId9" imgW="3095506" imgH="962141" progId="Excel.Sheet.12">
                  <p:embed/>
                  <p:pic>
                    <p:nvPicPr>
                      <p:cNvPr id="42" name="Object 85">
                        <a:extLst>
                          <a:ext uri="{FF2B5EF4-FFF2-40B4-BE49-F238E27FC236}">
                            <a16:creationId xmlns:a16="http://schemas.microsoft.com/office/drawing/2014/main" id="{C66D27BC-D88E-452D-B9D9-FAECD4D61D3C}"/>
                          </a:ext>
                        </a:extLst>
                      </p:cNvPr>
                      <p:cNvPicPr/>
                      <p:nvPr/>
                    </p:nvPicPr>
                    <p:blipFill>
                      <a:blip r:embed="rId10"/>
                      <a:stretch>
                        <a:fillRect/>
                      </a:stretch>
                    </p:blipFill>
                    <p:spPr>
                      <a:xfrm>
                        <a:off x="3017808" y="3909047"/>
                        <a:ext cx="2963643" cy="920777"/>
                      </a:xfrm>
                      <a:prstGeom prst="rect">
                        <a:avLst/>
                      </a:prstGeom>
                    </p:spPr>
                  </p:pic>
                </p:oleObj>
              </mc:Fallback>
            </mc:AlternateContent>
          </a:graphicData>
        </a:graphic>
      </p:graphicFrame>
      <p:sp>
        <p:nvSpPr>
          <p:cNvPr id="23" name="TextBox 22">
            <a:extLst>
              <a:ext uri="{FF2B5EF4-FFF2-40B4-BE49-F238E27FC236}">
                <a16:creationId xmlns:a16="http://schemas.microsoft.com/office/drawing/2014/main" id="{6DCD204E-D2D9-45C0-803C-22B8B7F3C755}"/>
              </a:ext>
            </a:extLst>
          </p:cNvPr>
          <p:cNvSpPr txBox="1"/>
          <p:nvPr/>
        </p:nvSpPr>
        <p:spPr>
          <a:xfrm>
            <a:off x="1460084" y="1763828"/>
            <a:ext cx="1168772" cy="243934"/>
          </a:xfrm>
          <a:prstGeom prst="rect">
            <a:avLst/>
          </a:prstGeom>
          <a:noFill/>
        </p:spPr>
        <p:txBody>
          <a:bodyPr wrap="square" rtlCol="0">
            <a:spAutoFit/>
          </a:bodyPr>
          <a:lstStyle/>
          <a:p>
            <a:pPr algn="ctr"/>
            <a:r>
              <a:rPr lang="ru-RU" sz="1600" u="sng" dirty="0">
                <a:solidFill>
                  <a:srgbClr val="002060"/>
                </a:solidFill>
              </a:rPr>
              <a:t>Сервер 1</a:t>
            </a:r>
          </a:p>
        </p:txBody>
      </p:sp>
      <p:sp>
        <p:nvSpPr>
          <p:cNvPr id="24" name="TextBox 23">
            <a:extLst>
              <a:ext uri="{FF2B5EF4-FFF2-40B4-BE49-F238E27FC236}">
                <a16:creationId xmlns:a16="http://schemas.microsoft.com/office/drawing/2014/main" id="{B04E7AE3-3EDB-4EEC-8687-1B54B4B1B44B}"/>
              </a:ext>
            </a:extLst>
          </p:cNvPr>
          <p:cNvSpPr txBox="1"/>
          <p:nvPr/>
        </p:nvSpPr>
        <p:spPr>
          <a:xfrm>
            <a:off x="1459526" y="2860702"/>
            <a:ext cx="1168772" cy="243934"/>
          </a:xfrm>
          <a:prstGeom prst="rect">
            <a:avLst/>
          </a:prstGeom>
          <a:noFill/>
        </p:spPr>
        <p:txBody>
          <a:bodyPr wrap="square" rtlCol="0">
            <a:spAutoFit/>
          </a:bodyPr>
          <a:lstStyle/>
          <a:p>
            <a:pPr algn="ctr"/>
            <a:r>
              <a:rPr lang="ru-RU" sz="1600" u="sng" dirty="0">
                <a:solidFill>
                  <a:srgbClr val="002060"/>
                </a:solidFill>
              </a:rPr>
              <a:t>Сервер </a:t>
            </a:r>
            <a:r>
              <a:rPr lang="en-US" sz="1600" u="sng" dirty="0">
                <a:solidFill>
                  <a:srgbClr val="002060"/>
                </a:solidFill>
              </a:rPr>
              <a:t>2</a:t>
            </a:r>
            <a:endParaRPr lang="ru-RU" sz="1600" u="sng" dirty="0">
              <a:solidFill>
                <a:srgbClr val="002060"/>
              </a:solidFill>
            </a:endParaRPr>
          </a:p>
        </p:txBody>
      </p:sp>
      <p:sp>
        <p:nvSpPr>
          <p:cNvPr id="25" name="TextBox 24">
            <a:extLst>
              <a:ext uri="{FF2B5EF4-FFF2-40B4-BE49-F238E27FC236}">
                <a16:creationId xmlns:a16="http://schemas.microsoft.com/office/drawing/2014/main" id="{8E6264AB-FA93-409D-A617-4A1C51515419}"/>
              </a:ext>
            </a:extLst>
          </p:cNvPr>
          <p:cNvSpPr txBox="1"/>
          <p:nvPr/>
        </p:nvSpPr>
        <p:spPr>
          <a:xfrm>
            <a:off x="1460084" y="3892655"/>
            <a:ext cx="1168772" cy="243934"/>
          </a:xfrm>
          <a:prstGeom prst="rect">
            <a:avLst/>
          </a:prstGeom>
          <a:noFill/>
        </p:spPr>
        <p:txBody>
          <a:bodyPr wrap="square" rtlCol="0">
            <a:spAutoFit/>
          </a:bodyPr>
          <a:lstStyle/>
          <a:p>
            <a:pPr algn="ctr"/>
            <a:r>
              <a:rPr lang="ru-RU" sz="1600" u="sng" dirty="0">
                <a:solidFill>
                  <a:srgbClr val="002060"/>
                </a:solidFill>
              </a:rPr>
              <a:t>Сервер </a:t>
            </a:r>
            <a:r>
              <a:rPr lang="en-US" sz="1600" u="sng" dirty="0">
                <a:solidFill>
                  <a:srgbClr val="002060"/>
                </a:solidFill>
              </a:rPr>
              <a:t>3</a:t>
            </a:r>
            <a:endParaRPr lang="ru-RU" sz="1600" u="sng" dirty="0">
              <a:solidFill>
                <a:srgbClr val="002060"/>
              </a:solidFill>
            </a:endParaRPr>
          </a:p>
        </p:txBody>
      </p:sp>
      <p:sp>
        <p:nvSpPr>
          <p:cNvPr id="26" name="Left Arrow 3">
            <a:extLst>
              <a:ext uri="{FF2B5EF4-FFF2-40B4-BE49-F238E27FC236}">
                <a16:creationId xmlns:a16="http://schemas.microsoft.com/office/drawing/2014/main" id="{4F08628E-6BAE-49C5-B34A-AE44DDD868F3}"/>
              </a:ext>
            </a:extLst>
          </p:cNvPr>
          <p:cNvSpPr/>
          <p:nvPr/>
        </p:nvSpPr>
        <p:spPr>
          <a:xfrm>
            <a:off x="6046174" y="2143107"/>
            <a:ext cx="671600" cy="328296"/>
          </a:xfrm>
          <a:prstGeom prst="lef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27" name="Object 20">
            <a:extLst>
              <a:ext uri="{FF2B5EF4-FFF2-40B4-BE49-F238E27FC236}">
                <a16:creationId xmlns:a16="http://schemas.microsoft.com/office/drawing/2014/main" id="{FD951F82-8EF7-48E2-8398-F094B95B0D5C}"/>
              </a:ext>
            </a:extLst>
          </p:cNvPr>
          <p:cNvGraphicFramePr>
            <a:graphicFrameLocks noChangeAspect="1"/>
          </p:cNvGraphicFramePr>
          <p:nvPr>
            <p:extLst>
              <p:ext uri="{D42A27DB-BD31-4B8C-83A1-F6EECF244321}">
                <p14:modId xmlns:p14="http://schemas.microsoft.com/office/powerpoint/2010/main" val="3112940793"/>
              </p:ext>
            </p:extLst>
          </p:nvPr>
        </p:nvGraphicFramePr>
        <p:xfrm>
          <a:off x="6844950" y="2949193"/>
          <a:ext cx="1034015" cy="740053"/>
        </p:xfrm>
        <a:graphic>
          <a:graphicData uri="http://schemas.openxmlformats.org/presentationml/2006/ole">
            <mc:AlternateContent xmlns:mc="http://schemas.openxmlformats.org/markup-compatibility/2006">
              <mc:Choice xmlns:v="urn:schemas-microsoft-com:vml" Requires="v">
                <p:oleObj name="Worksheet" r:id="rId11" imgW="1076481" imgH="771561" progId="Excel.Sheet.12">
                  <p:embed/>
                </p:oleObj>
              </mc:Choice>
              <mc:Fallback>
                <p:oleObj name="Worksheet" r:id="rId11" imgW="1076481" imgH="771561" progId="Excel.Sheet.12">
                  <p:embed/>
                  <p:pic>
                    <p:nvPicPr>
                      <p:cNvPr id="47" name="Object 20">
                        <a:extLst>
                          <a:ext uri="{FF2B5EF4-FFF2-40B4-BE49-F238E27FC236}">
                            <a16:creationId xmlns:a16="http://schemas.microsoft.com/office/drawing/2014/main" id="{FD951F82-8EF7-48E2-8398-F094B95B0D5C}"/>
                          </a:ext>
                        </a:extLst>
                      </p:cNvPr>
                      <p:cNvPicPr/>
                      <p:nvPr/>
                    </p:nvPicPr>
                    <p:blipFill>
                      <a:blip r:embed="rId4"/>
                      <a:stretch>
                        <a:fillRect/>
                      </a:stretch>
                    </p:blipFill>
                    <p:spPr>
                      <a:xfrm>
                        <a:off x="6844950" y="2949193"/>
                        <a:ext cx="1034015" cy="740053"/>
                      </a:xfrm>
                      <a:prstGeom prst="rect">
                        <a:avLst/>
                      </a:prstGeom>
                    </p:spPr>
                  </p:pic>
                </p:oleObj>
              </mc:Fallback>
            </mc:AlternateContent>
          </a:graphicData>
        </a:graphic>
      </p:graphicFrame>
      <p:graphicFrame>
        <p:nvGraphicFramePr>
          <p:cNvPr id="28" name="Object 21">
            <a:extLst>
              <a:ext uri="{FF2B5EF4-FFF2-40B4-BE49-F238E27FC236}">
                <a16:creationId xmlns:a16="http://schemas.microsoft.com/office/drawing/2014/main" id="{085C0FA4-DD34-490F-A010-6808DDDF8204}"/>
              </a:ext>
            </a:extLst>
          </p:cNvPr>
          <p:cNvGraphicFramePr>
            <a:graphicFrameLocks noChangeAspect="1"/>
          </p:cNvGraphicFramePr>
          <p:nvPr>
            <p:extLst>
              <p:ext uri="{D42A27DB-BD31-4B8C-83A1-F6EECF244321}">
                <p14:modId xmlns:p14="http://schemas.microsoft.com/office/powerpoint/2010/main" val="2099158781"/>
              </p:ext>
            </p:extLst>
          </p:nvPr>
        </p:nvGraphicFramePr>
        <p:xfrm>
          <a:off x="6844950" y="4089771"/>
          <a:ext cx="1034015" cy="740053"/>
        </p:xfrm>
        <a:graphic>
          <a:graphicData uri="http://schemas.openxmlformats.org/presentationml/2006/ole">
            <mc:AlternateContent xmlns:mc="http://schemas.openxmlformats.org/markup-compatibility/2006">
              <mc:Choice xmlns:v="urn:schemas-microsoft-com:vml" Requires="v">
                <p:oleObj name="Worksheet" r:id="rId12" imgW="1076481" imgH="771561" progId="Excel.Sheet.12">
                  <p:embed/>
                </p:oleObj>
              </mc:Choice>
              <mc:Fallback>
                <p:oleObj name="Worksheet" r:id="rId12" imgW="1076481" imgH="771561" progId="Excel.Sheet.12">
                  <p:embed/>
                  <p:pic>
                    <p:nvPicPr>
                      <p:cNvPr id="48" name="Object 21">
                        <a:extLst>
                          <a:ext uri="{FF2B5EF4-FFF2-40B4-BE49-F238E27FC236}">
                            <a16:creationId xmlns:a16="http://schemas.microsoft.com/office/drawing/2014/main" id="{085C0FA4-DD34-490F-A010-6808DDDF8204}"/>
                          </a:ext>
                        </a:extLst>
                      </p:cNvPr>
                      <p:cNvPicPr/>
                      <p:nvPr/>
                    </p:nvPicPr>
                    <p:blipFill>
                      <a:blip r:embed="rId4"/>
                      <a:stretch>
                        <a:fillRect/>
                      </a:stretch>
                    </p:blipFill>
                    <p:spPr>
                      <a:xfrm>
                        <a:off x="6844950" y="4089771"/>
                        <a:ext cx="1034015" cy="740053"/>
                      </a:xfrm>
                      <a:prstGeom prst="rect">
                        <a:avLst/>
                      </a:prstGeom>
                    </p:spPr>
                  </p:pic>
                </p:oleObj>
              </mc:Fallback>
            </mc:AlternateContent>
          </a:graphicData>
        </a:graphic>
      </p:graphicFrame>
      <p:sp>
        <p:nvSpPr>
          <p:cNvPr id="29" name="Left Arrow 22">
            <a:extLst>
              <a:ext uri="{FF2B5EF4-FFF2-40B4-BE49-F238E27FC236}">
                <a16:creationId xmlns:a16="http://schemas.microsoft.com/office/drawing/2014/main" id="{E73EA64F-B721-4989-9387-5C7BD06911F5}"/>
              </a:ext>
            </a:extLst>
          </p:cNvPr>
          <p:cNvSpPr/>
          <p:nvPr/>
        </p:nvSpPr>
        <p:spPr>
          <a:xfrm>
            <a:off x="6046174" y="3173334"/>
            <a:ext cx="671600" cy="328296"/>
          </a:xfrm>
          <a:prstGeom prst="lef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Left Arrow 23">
            <a:extLst>
              <a:ext uri="{FF2B5EF4-FFF2-40B4-BE49-F238E27FC236}">
                <a16:creationId xmlns:a16="http://schemas.microsoft.com/office/drawing/2014/main" id="{AFCB60FC-5775-4DDB-9AC9-4CFF7A8369C4}"/>
              </a:ext>
            </a:extLst>
          </p:cNvPr>
          <p:cNvSpPr/>
          <p:nvPr/>
        </p:nvSpPr>
        <p:spPr>
          <a:xfrm>
            <a:off x="6046174" y="4295649"/>
            <a:ext cx="671600" cy="328296"/>
          </a:xfrm>
          <a:prstGeom prst="lef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31" name="Picture 25">
            <a:extLst>
              <a:ext uri="{FF2B5EF4-FFF2-40B4-BE49-F238E27FC236}">
                <a16:creationId xmlns:a16="http://schemas.microsoft.com/office/drawing/2014/main" id="{F03752D3-E821-4DF5-B337-EA066A516624}"/>
              </a:ext>
            </a:extLst>
          </p:cNvPr>
          <p:cNvPicPr>
            <a:picLocks noChangeAspect="1"/>
          </p:cNvPicPr>
          <p:nvPr/>
        </p:nvPicPr>
        <p:blipFill>
          <a:blip r:embed="rId13"/>
          <a:stretch>
            <a:fillRect/>
          </a:stretch>
        </p:blipFill>
        <p:spPr>
          <a:xfrm>
            <a:off x="1905465" y="2167136"/>
            <a:ext cx="293150" cy="469271"/>
          </a:xfrm>
          <a:prstGeom prst="rect">
            <a:avLst/>
          </a:prstGeom>
        </p:spPr>
      </p:pic>
      <p:pic>
        <p:nvPicPr>
          <p:cNvPr id="32" name="Picture 16">
            <a:extLst>
              <a:ext uri="{FF2B5EF4-FFF2-40B4-BE49-F238E27FC236}">
                <a16:creationId xmlns:a16="http://schemas.microsoft.com/office/drawing/2014/main" id="{F38F27F9-CF65-411F-B379-7AC46B7AB4D2}"/>
              </a:ext>
            </a:extLst>
          </p:cNvPr>
          <p:cNvPicPr>
            <a:picLocks noChangeAspect="1"/>
          </p:cNvPicPr>
          <p:nvPr/>
        </p:nvPicPr>
        <p:blipFill>
          <a:blip r:embed="rId14"/>
          <a:stretch>
            <a:fillRect/>
          </a:stretch>
        </p:blipFill>
        <p:spPr>
          <a:xfrm>
            <a:off x="2793303" y="1849307"/>
            <a:ext cx="442495" cy="782875"/>
          </a:xfrm>
          <a:prstGeom prst="rect">
            <a:avLst/>
          </a:prstGeom>
        </p:spPr>
      </p:pic>
      <p:pic>
        <p:nvPicPr>
          <p:cNvPr id="33" name="Picture 37">
            <a:extLst>
              <a:ext uri="{FF2B5EF4-FFF2-40B4-BE49-F238E27FC236}">
                <a16:creationId xmlns:a16="http://schemas.microsoft.com/office/drawing/2014/main" id="{656E7770-AE56-4DA8-BC0E-AD27BC6F24E8}"/>
              </a:ext>
            </a:extLst>
          </p:cNvPr>
          <p:cNvPicPr>
            <a:picLocks noChangeAspect="1"/>
          </p:cNvPicPr>
          <p:nvPr/>
        </p:nvPicPr>
        <p:blipFill>
          <a:blip r:embed="rId14"/>
          <a:stretch>
            <a:fillRect/>
          </a:stretch>
        </p:blipFill>
        <p:spPr>
          <a:xfrm>
            <a:off x="2790340" y="2932290"/>
            <a:ext cx="442495" cy="782875"/>
          </a:xfrm>
          <a:prstGeom prst="rect">
            <a:avLst/>
          </a:prstGeom>
        </p:spPr>
      </p:pic>
      <p:pic>
        <p:nvPicPr>
          <p:cNvPr id="34" name="Picture 38">
            <a:extLst>
              <a:ext uri="{FF2B5EF4-FFF2-40B4-BE49-F238E27FC236}">
                <a16:creationId xmlns:a16="http://schemas.microsoft.com/office/drawing/2014/main" id="{6F7B618F-6A01-443A-8B76-FBF68B587B93}"/>
              </a:ext>
            </a:extLst>
          </p:cNvPr>
          <p:cNvPicPr>
            <a:picLocks noChangeAspect="1"/>
          </p:cNvPicPr>
          <p:nvPr/>
        </p:nvPicPr>
        <p:blipFill>
          <a:blip r:embed="rId14"/>
          <a:stretch>
            <a:fillRect/>
          </a:stretch>
        </p:blipFill>
        <p:spPr>
          <a:xfrm>
            <a:off x="2790340" y="4014622"/>
            <a:ext cx="442495" cy="782875"/>
          </a:xfrm>
          <a:prstGeom prst="rect">
            <a:avLst/>
          </a:prstGeom>
        </p:spPr>
      </p:pic>
      <p:pic>
        <p:nvPicPr>
          <p:cNvPr id="35" name="Picture 39">
            <a:extLst>
              <a:ext uri="{FF2B5EF4-FFF2-40B4-BE49-F238E27FC236}">
                <a16:creationId xmlns:a16="http://schemas.microsoft.com/office/drawing/2014/main" id="{F51A4156-C1B0-4389-BF15-C9ABC2B22C41}"/>
              </a:ext>
            </a:extLst>
          </p:cNvPr>
          <p:cNvPicPr>
            <a:picLocks noChangeAspect="1"/>
          </p:cNvPicPr>
          <p:nvPr/>
        </p:nvPicPr>
        <p:blipFill>
          <a:blip r:embed="rId13"/>
          <a:stretch>
            <a:fillRect/>
          </a:stretch>
        </p:blipFill>
        <p:spPr>
          <a:xfrm>
            <a:off x="1905465" y="3266994"/>
            <a:ext cx="293150" cy="469271"/>
          </a:xfrm>
          <a:prstGeom prst="rect">
            <a:avLst/>
          </a:prstGeom>
        </p:spPr>
      </p:pic>
      <p:pic>
        <p:nvPicPr>
          <p:cNvPr id="36" name="Picture 40">
            <a:extLst>
              <a:ext uri="{FF2B5EF4-FFF2-40B4-BE49-F238E27FC236}">
                <a16:creationId xmlns:a16="http://schemas.microsoft.com/office/drawing/2014/main" id="{DDADDBA3-CF9A-4A31-A15A-3CE959DFA871}"/>
              </a:ext>
            </a:extLst>
          </p:cNvPr>
          <p:cNvPicPr>
            <a:picLocks noChangeAspect="1"/>
          </p:cNvPicPr>
          <p:nvPr/>
        </p:nvPicPr>
        <p:blipFill>
          <a:blip r:embed="rId13"/>
          <a:stretch>
            <a:fillRect/>
          </a:stretch>
        </p:blipFill>
        <p:spPr>
          <a:xfrm>
            <a:off x="1888314" y="4286664"/>
            <a:ext cx="293150" cy="469271"/>
          </a:xfrm>
          <a:prstGeom prst="rect">
            <a:avLst/>
          </a:prstGeom>
        </p:spPr>
      </p:pic>
    </p:spTree>
    <p:extLst>
      <p:ext uri="{BB962C8B-B14F-4D97-AF65-F5344CB8AC3E}">
        <p14:creationId xmlns:p14="http://schemas.microsoft.com/office/powerpoint/2010/main" val="3826781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577549" y="535299"/>
            <a:ext cx="6834296" cy="769441"/>
          </a:xfrm>
          <a:prstGeom prst="rect">
            <a:avLst/>
          </a:prstGeom>
          <a:noFill/>
        </p:spPr>
        <p:txBody>
          <a:bodyPr wrap="square">
            <a:spAutoFit/>
          </a:bodyPr>
          <a:lstStyle/>
          <a:p>
            <a:r>
              <a:rPr lang="ru-RU" sz="4400" kern="1200" dirty="0">
                <a:solidFill>
                  <a:schemeClr val="accent3"/>
                </a:solidFill>
                <a:latin typeface="+mj-lt"/>
              </a:rPr>
              <a:t>Теорема </a:t>
            </a:r>
            <a:r>
              <a:rPr lang="en-US" sz="4400" kern="1200" dirty="0">
                <a:solidFill>
                  <a:schemeClr val="accent3"/>
                </a:solidFill>
                <a:latin typeface="+mj-lt"/>
              </a:rPr>
              <a:t>CAP</a:t>
            </a:r>
            <a:endParaRPr lang="ru-RU" sz="4400" dirty="0">
              <a:solidFill>
                <a:schemeClr val="accent3"/>
              </a:solidFill>
              <a:latin typeface="+mj-lt"/>
            </a:endParaRPr>
          </a:p>
        </p:txBody>
      </p:sp>
      <p:sp>
        <p:nvSpPr>
          <p:cNvPr id="2" name="Прямоугольник 1"/>
          <p:cNvSpPr/>
          <p:nvPr/>
        </p:nvSpPr>
        <p:spPr>
          <a:xfrm>
            <a:off x="577549" y="1339115"/>
            <a:ext cx="8078313" cy="3240887"/>
          </a:xfrm>
          <a:prstGeom prst="rect">
            <a:avLst/>
          </a:prstGeom>
        </p:spPr>
        <p:txBody>
          <a:bodyPr wrap="square">
            <a:spAutoFit/>
          </a:bodyPr>
          <a:lstStyle/>
          <a:p>
            <a:pPr>
              <a:lnSpc>
                <a:spcPct val="110000"/>
              </a:lnSpc>
            </a:pPr>
            <a:r>
              <a:rPr lang="ru-RU" altLang="ru-RU" dirty="0">
                <a:solidFill>
                  <a:schemeClr val="tx1"/>
                </a:solidFill>
                <a:latin typeface="+mn-lt"/>
              </a:rPr>
              <a:t>В любой реализации распределенной базы данных возможно одновременно обеспечить не более двух из трех следующих свойств (Wiki):</a:t>
            </a:r>
            <a:br>
              <a:rPr lang="ru-RU" altLang="ru-RU" dirty="0">
                <a:solidFill>
                  <a:schemeClr val="tx1"/>
                </a:solidFill>
                <a:latin typeface="+mn-lt"/>
              </a:rPr>
            </a:br>
            <a:endParaRPr lang="ru-RU" altLang="ru-RU" sz="800" dirty="0">
              <a:solidFill>
                <a:schemeClr val="tx1"/>
              </a:solidFill>
              <a:latin typeface="+mn-lt"/>
            </a:endParaRPr>
          </a:p>
          <a:p>
            <a:pPr marL="285750" indent="-285750">
              <a:lnSpc>
                <a:spcPct val="110000"/>
              </a:lnSpc>
              <a:buClr>
                <a:schemeClr val="accent3"/>
              </a:buClr>
              <a:buFont typeface="Arial" panose="020B0604020202020204" pitchFamily="34" charset="0"/>
              <a:buChar char="•"/>
            </a:pPr>
            <a:r>
              <a:rPr lang="ru-RU" altLang="ru-RU" b="1" dirty="0">
                <a:solidFill>
                  <a:schemeClr val="accent3"/>
                </a:solidFill>
                <a:latin typeface="+mn-lt"/>
              </a:rPr>
              <a:t>согласованность данных (Сonsistency)</a:t>
            </a:r>
            <a:r>
              <a:rPr lang="ru-RU" altLang="ru-RU" dirty="0">
                <a:solidFill>
                  <a:schemeClr val="tx1"/>
                </a:solidFill>
                <a:latin typeface="+mn-lt"/>
              </a:rPr>
              <a:t> — во всех вычислительных узлах в один момент времени данные не противоречат друг другу</a:t>
            </a:r>
            <a:br>
              <a:rPr lang="ru-RU" altLang="ru-RU" dirty="0">
                <a:solidFill>
                  <a:schemeClr val="tx1"/>
                </a:solidFill>
                <a:latin typeface="+mn-lt"/>
              </a:rPr>
            </a:br>
            <a:endParaRPr lang="ru-RU" altLang="ru-RU" sz="500" dirty="0">
              <a:solidFill>
                <a:schemeClr val="tx1"/>
              </a:solidFill>
              <a:latin typeface="+mn-lt"/>
            </a:endParaRPr>
          </a:p>
          <a:p>
            <a:pPr marL="285750" indent="-285750">
              <a:lnSpc>
                <a:spcPct val="110000"/>
              </a:lnSpc>
              <a:buClr>
                <a:schemeClr val="accent3"/>
              </a:buClr>
              <a:buFont typeface="Arial" panose="020B0604020202020204" pitchFamily="34" charset="0"/>
              <a:buChar char="•"/>
            </a:pPr>
            <a:r>
              <a:rPr lang="ru-RU" altLang="ru-RU" b="1" dirty="0">
                <a:solidFill>
                  <a:schemeClr val="accent3"/>
                </a:solidFill>
                <a:latin typeface="+mn-lt"/>
              </a:rPr>
              <a:t>доступность (Availability) </a:t>
            </a:r>
            <a:r>
              <a:rPr lang="ru-RU" altLang="ru-RU" dirty="0">
                <a:solidFill>
                  <a:schemeClr val="tx1"/>
                </a:solidFill>
                <a:latin typeface="+mn-lt"/>
              </a:rPr>
              <a:t>— любой запрос к распределенной системе завершается корректным откликом, однако без гарантии, что ответы всех узлов системы совпадают</a:t>
            </a:r>
            <a:br>
              <a:rPr lang="ru-RU" altLang="ru-RU" dirty="0">
                <a:solidFill>
                  <a:schemeClr val="tx1"/>
                </a:solidFill>
                <a:latin typeface="+mn-lt"/>
              </a:rPr>
            </a:br>
            <a:endParaRPr lang="ru-RU" altLang="ru-RU" sz="500" dirty="0">
              <a:solidFill>
                <a:schemeClr val="tx1"/>
              </a:solidFill>
              <a:latin typeface="+mn-lt"/>
            </a:endParaRPr>
          </a:p>
          <a:p>
            <a:pPr marL="285750" indent="-285750">
              <a:lnSpc>
                <a:spcPct val="110000"/>
              </a:lnSpc>
              <a:buClr>
                <a:schemeClr val="accent3"/>
              </a:buClr>
              <a:buFont typeface="Arial" panose="020B0604020202020204" pitchFamily="34" charset="0"/>
              <a:buChar char="•"/>
            </a:pPr>
            <a:r>
              <a:rPr lang="ru-RU" altLang="ru-RU" b="1" dirty="0">
                <a:solidFill>
                  <a:schemeClr val="accent3"/>
                </a:solidFill>
                <a:latin typeface="+mn-lt"/>
              </a:rPr>
              <a:t>устойчивость к разделению (Partition tolerance) </a:t>
            </a:r>
            <a:r>
              <a:rPr lang="ru-RU" altLang="ru-RU" dirty="0">
                <a:solidFill>
                  <a:schemeClr val="tx1"/>
                </a:solidFill>
                <a:latin typeface="+mn-lt"/>
              </a:rPr>
              <a:t>— расщепление распределенной системы на несколько изолированных секций не приводит к некорректности отклика от каждой из секций</a:t>
            </a:r>
          </a:p>
          <a:p>
            <a:pPr>
              <a:lnSpc>
                <a:spcPct val="110000"/>
              </a:lnSpc>
              <a:buClr>
                <a:schemeClr val="accent3"/>
              </a:buClr>
            </a:pPr>
            <a:endParaRPr lang="ru-RU" altLang="ru-RU" dirty="0">
              <a:solidFill>
                <a:schemeClr val="tx1"/>
              </a:solidFill>
              <a:latin typeface="+mn-lt"/>
            </a:endParaRPr>
          </a:p>
          <a:p>
            <a:pPr>
              <a:lnSpc>
                <a:spcPct val="110000"/>
              </a:lnSpc>
            </a:pPr>
            <a:r>
              <a:rPr lang="ru-RU" altLang="ru-RU" dirty="0">
                <a:solidFill>
                  <a:schemeClr val="tx1"/>
                </a:solidFill>
                <a:latin typeface="+mn-lt"/>
              </a:rPr>
              <a:t>Очевидно, если мы правильно проектируем распределенную систему, то 3-е свойство будет выполнено всегда. А вот между первыми двумя часто приходится делать выбор.</a:t>
            </a:r>
          </a:p>
        </p:txBody>
      </p:sp>
    </p:spTree>
    <p:extLst>
      <p:ext uri="{BB962C8B-B14F-4D97-AF65-F5344CB8AC3E}">
        <p14:creationId xmlns:p14="http://schemas.microsoft.com/office/powerpoint/2010/main" val="1525593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577549" y="253416"/>
            <a:ext cx="6834296" cy="769441"/>
          </a:xfrm>
          <a:prstGeom prst="rect">
            <a:avLst/>
          </a:prstGeom>
          <a:noFill/>
        </p:spPr>
        <p:txBody>
          <a:bodyPr wrap="square">
            <a:spAutoFit/>
          </a:bodyPr>
          <a:lstStyle/>
          <a:p>
            <a:r>
              <a:rPr lang="ru-RU" sz="4400" kern="1200" dirty="0">
                <a:solidFill>
                  <a:schemeClr val="accent3"/>
                </a:solidFill>
                <a:latin typeface="+mj-lt"/>
              </a:rPr>
              <a:t>Классы </a:t>
            </a:r>
            <a:r>
              <a:rPr lang="en-US" sz="4400" kern="1200" dirty="0">
                <a:solidFill>
                  <a:schemeClr val="accent3"/>
                </a:solidFill>
                <a:latin typeface="+mj-lt"/>
              </a:rPr>
              <a:t>CAP</a:t>
            </a:r>
            <a:endParaRPr lang="ru-RU" sz="4400" dirty="0">
              <a:solidFill>
                <a:schemeClr val="accent3"/>
              </a:solidFill>
              <a:latin typeface="+mj-lt"/>
            </a:endParaRPr>
          </a:p>
        </p:txBody>
      </p:sp>
      <p:sp>
        <p:nvSpPr>
          <p:cNvPr id="2" name="Прямоугольник 1"/>
          <p:cNvSpPr/>
          <p:nvPr/>
        </p:nvSpPr>
        <p:spPr>
          <a:xfrm>
            <a:off x="577549" y="1057232"/>
            <a:ext cx="8078313" cy="752514"/>
          </a:xfrm>
          <a:prstGeom prst="rect">
            <a:avLst/>
          </a:prstGeom>
        </p:spPr>
        <p:txBody>
          <a:bodyPr wrap="square">
            <a:spAutoFit/>
          </a:bodyPr>
          <a:lstStyle/>
          <a:p>
            <a:pPr>
              <a:lnSpc>
                <a:spcPct val="110000"/>
              </a:lnSpc>
            </a:pPr>
            <a:r>
              <a:rPr lang="ru-RU" altLang="ru-RU" dirty="0">
                <a:solidFill>
                  <a:schemeClr val="tx1"/>
                </a:solidFill>
                <a:latin typeface="+mn-lt"/>
              </a:rPr>
              <a:t>Реляционные системы (RDBMS) условно ближе к CP-классу (в приоритете — согласованность)</a:t>
            </a:r>
          </a:p>
          <a:p>
            <a:pPr>
              <a:lnSpc>
                <a:spcPct val="110000"/>
              </a:lnSpc>
            </a:pPr>
            <a:endParaRPr lang="ru-RU" altLang="ru-RU" sz="1050" dirty="0">
              <a:solidFill>
                <a:schemeClr val="tx1"/>
              </a:solidFill>
              <a:latin typeface="+mn-lt"/>
            </a:endParaRPr>
          </a:p>
          <a:p>
            <a:pPr>
              <a:lnSpc>
                <a:spcPct val="110000"/>
              </a:lnSpc>
            </a:pPr>
            <a:r>
              <a:rPr lang="ru-RU" altLang="ru-RU" dirty="0">
                <a:solidFill>
                  <a:schemeClr val="tx1"/>
                </a:solidFill>
                <a:latin typeface="+mn-lt"/>
              </a:rPr>
              <a:t>NoSQL-решения условно ближе к AP-классу (в приоритете — доступность и масштабируемость) </a:t>
            </a:r>
          </a:p>
        </p:txBody>
      </p:sp>
      <p:sp>
        <p:nvSpPr>
          <p:cNvPr id="4" name="Oval 1">
            <a:extLst>
              <a:ext uri="{FF2B5EF4-FFF2-40B4-BE49-F238E27FC236}">
                <a16:creationId xmlns:a16="http://schemas.microsoft.com/office/drawing/2014/main" id="{3EF53A9C-3007-4BB0-90BE-A9815B9618E8}"/>
              </a:ext>
            </a:extLst>
          </p:cNvPr>
          <p:cNvSpPr/>
          <p:nvPr/>
        </p:nvSpPr>
        <p:spPr>
          <a:xfrm>
            <a:off x="3274804" y="2117558"/>
            <a:ext cx="1434846" cy="1434846"/>
          </a:xfrm>
          <a:prstGeom prst="ellipse">
            <a:avLst/>
          </a:prstGeom>
          <a:solidFill>
            <a:schemeClr val="accent2">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solidFill>
                  <a:srgbClr val="002060"/>
                </a:solidFill>
              </a:rPr>
              <a:t>C</a:t>
            </a:r>
            <a:endParaRPr lang="ru-RU" sz="5400" dirty="0">
              <a:solidFill>
                <a:srgbClr val="002060"/>
              </a:solidFill>
            </a:endParaRPr>
          </a:p>
        </p:txBody>
      </p:sp>
      <p:sp>
        <p:nvSpPr>
          <p:cNvPr id="5" name="Oval 5">
            <a:extLst>
              <a:ext uri="{FF2B5EF4-FFF2-40B4-BE49-F238E27FC236}">
                <a16:creationId xmlns:a16="http://schemas.microsoft.com/office/drawing/2014/main" id="{8E17C5A3-F84E-4112-BCFA-2319001A29D3}"/>
              </a:ext>
            </a:extLst>
          </p:cNvPr>
          <p:cNvSpPr/>
          <p:nvPr/>
        </p:nvSpPr>
        <p:spPr>
          <a:xfrm>
            <a:off x="4544091" y="2117558"/>
            <a:ext cx="1434846" cy="1434846"/>
          </a:xfrm>
          <a:prstGeom prst="ellipse">
            <a:avLst/>
          </a:pr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solidFill>
                  <a:srgbClr val="002060"/>
                </a:solidFill>
              </a:rPr>
              <a:t>A</a:t>
            </a:r>
            <a:endParaRPr lang="ru-RU" sz="5400" dirty="0">
              <a:solidFill>
                <a:srgbClr val="002060"/>
              </a:solidFill>
            </a:endParaRPr>
          </a:p>
        </p:txBody>
      </p:sp>
      <p:sp>
        <p:nvSpPr>
          <p:cNvPr id="6" name="Oval 6">
            <a:extLst>
              <a:ext uri="{FF2B5EF4-FFF2-40B4-BE49-F238E27FC236}">
                <a16:creationId xmlns:a16="http://schemas.microsoft.com/office/drawing/2014/main" id="{5CCB28C1-08CE-4A60-83E7-80B03DC43D69}"/>
              </a:ext>
            </a:extLst>
          </p:cNvPr>
          <p:cNvSpPr/>
          <p:nvPr/>
        </p:nvSpPr>
        <p:spPr>
          <a:xfrm>
            <a:off x="3909447" y="3221286"/>
            <a:ext cx="1434846" cy="1434846"/>
          </a:xfrm>
          <a:prstGeom prst="ellipse">
            <a:avLst/>
          </a:prstGeom>
          <a:solidFill>
            <a:schemeClr val="accent6">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solidFill>
                  <a:srgbClr val="002060"/>
                </a:solidFill>
              </a:rPr>
              <a:t>P</a:t>
            </a:r>
            <a:endParaRPr lang="ru-RU" sz="5400" dirty="0">
              <a:solidFill>
                <a:srgbClr val="002060"/>
              </a:solidFill>
            </a:endParaRPr>
          </a:p>
        </p:txBody>
      </p:sp>
      <p:sp>
        <p:nvSpPr>
          <p:cNvPr id="7" name="TextBox 6">
            <a:extLst>
              <a:ext uri="{FF2B5EF4-FFF2-40B4-BE49-F238E27FC236}">
                <a16:creationId xmlns:a16="http://schemas.microsoft.com/office/drawing/2014/main" id="{50A8A779-83AC-46BC-B3FF-1A60F6FB3319}"/>
              </a:ext>
            </a:extLst>
          </p:cNvPr>
          <p:cNvSpPr txBox="1"/>
          <p:nvPr/>
        </p:nvSpPr>
        <p:spPr>
          <a:xfrm>
            <a:off x="1619212" y="3773150"/>
            <a:ext cx="1245854" cy="707886"/>
          </a:xfrm>
          <a:prstGeom prst="rect">
            <a:avLst/>
          </a:prstGeom>
          <a:noFill/>
        </p:spPr>
        <p:txBody>
          <a:bodyPr wrap="none" rtlCol="0">
            <a:spAutoFit/>
          </a:bodyPr>
          <a:lstStyle/>
          <a:p>
            <a:r>
              <a:rPr lang="en-US" sz="2000" dirty="0">
                <a:solidFill>
                  <a:schemeClr val="tx1"/>
                </a:solidFill>
                <a:latin typeface="+mn-lt"/>
              </a:rPr>
              <a:t>CP-</a:t>
            </a:r>
            <a:r>
              <a:rPr lang="ru-RU" sz="2000" dirty="0">
                <a:solidFill>
                  <a:schemeClr val="tx1"/>
                </a:solidFill>
                <a:latin typeface="+mn-lt"/>
              </a:rPr>
              <a:t>класс</a:t>
            </a:r>
            <a:endParaRPr lang="en-US" sz="2000" dirty="0">
              <a:solidFill>
                <a:schemeClr val="tx1"/>
              </a:solidFill>
              <a:latin typeface="+mn-lt"/>
            </a:endParaRPr>
          </a:p>
          <a:p>
            <a:r>
              <a:rPr lang="en-US" sz="2000" dirty="0">
                <a:solidFill>
                  <a:schemeClr val="tx1"/>
                </a:solidFill>
                <a:latin typeface="+mn-lt"/>
              </a:rPr>
              <a:t>(RDBMS)</a:t>
            </a:r>
            <a:endParaRPr lang="ru-RU" sz="2000" dirty="0">
              <a:solidFill>
                <a:schemeClr val="tx1"/>
              </a:solidFill>
              <a:latin typeface="+mn-lt"/>
            </a:endParaRPr>
          </a:p>
        </p:txBody>
      </p:sp>
      <p:cxnSp>
        <p:nvCxnSpPr>
          <p:cNvPr id="8" name="Straight Arrow Connector 8">
            <a:extLst>
              <a:ext uri="{FF2B5EF4-FFF2-40B4-BE49-F238E27FC236}">
                <a16:creationId xmlns:a16="http://schemas.microsoft.com/office/drawing/2014/main" id="{6ED1AC67-10A0-4BD5-A6C1-10475EDA86AE}"/>
              </a:ext>
            </a:extLst>
          </p:cNvPr>
          <p:cNvCxnSpPr>
            <a:stCxn id="7" idx="3"/>
          </p:cNvCxnSpPr>
          <p:nvPr/>
        </p:nvCxnSpPr>
        <p:spPr>
          <a:xfrm flipV="1">
            <a:off x="2865066" y="3375717"/>
            <a:ext cx="1460359" cy="751376"/>
          </a:xfrm>
          <a:prstGeom prst="straightConnector1">
            <a:avLst/>
          </a:prstGeom>
          <a:ln w="19050">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6E5E113-F3D0-4510-8AB6-C02A176A5330}"/>
              </a:ext>
            </a:extLst>
          </p:cNvPr>
          <p:cNvSpPr txBox="1"/>
          <p:nvPr/>
        </p:nvSpPr>
        <p:spPr>
          <a:xfrm>
            <a:off x="6954114" y="3773150"/>
            <a:ext cx="1241045" cy="707886"/>
          </a:xfrm>
          <a:prstGeom prst="rect">
            <a:avLst/>
          </a:prstGeom>
          <a:noFill/>
        </p:spPr>
        <p:txBody>
          <a:bodyPr wrap="none" rtlCol="0">
            <a:spAutoFit/>
          </a:bodyPr>
          <a:lstStyle/>
          <a:p>
            <a:r>
              <a:rPr lang="en-US" sz="2000" dirty="0">
                <a:solidFill>
                  <a:schemeClr val="tx1"/>
                </a:solidFill>
                <a:latin typeface="+mn-lt"/>
              </a:rPr>
              <a:t>AP</a:t>
            </a:r>
            <a:r>
              <a:rPr lang="ru-RU" sz="2000" dirty="0">
                <a:solidFill>
                  <a:schemeClr val="tx1"/>
                </a:solidFill>
                <a:latin typeface="+mn-lt"/>
              </a:rPr>
              <a:t>-класс</a:t>
            </a:r>
            <a:endParaRPr lang="en-US" sz="2000" dirty="0">
              <a:solidFill>
                <a:schemeClr val="tx1"/>
              </a:solidFill>
              <a:latin typeface="+mn-lt"/>
            </a:endParaRPr>
          </a:p>
          <a:p>
            <a:r>
              <a:rPr lang="en-US" sz="2000" dirty="0">
                <a:solidFill>
                  <a:schemeClr val="tx1"/>
                </a:solidFill>
                <a:latin typeface="+mn-lt"/>
              </a:rPr>
              <a:t>(NoSQL)</a:t>
            </a:r>
            <a:endParaRPr lang="ru-RU" sz="2000" dirty="0">
              <a:solidFill>
                <a:schemeClr val="tx1"/>
              </a:solidFill>
              <a:latin typeface="+mn-lt"/>
            </a:endParaRPr>
          </a:p>
        </p:txBody>
      </p:sp>
      <p:cxnSp>
        <p:nvCxnSpPr>
          <p:cNvPr id="10" name="Straight Arrow Connector 15">
            <a:extLst>
              <a:ext uri="{FF2B5EF4-FFF2-40B4-BE49-F238E27FC236}">
                <a16:creationId xmlns:a16="http://schemas.microsoft.com/office/drawing/2014/main" id="{7FDF1DB4-83FB-4591-B758-D7C5787438A6}"/>
              </a:ext>
            </a:extLst>
          </p:cNvPr>
          <p:cNvCxnSpPr>
            <a:stCxn id="9" idx="1"/>
          </p:cNvCxnSpPr>
          <p:nvPr/>
        </p:nvCxnSpPr>
        <p:spPr>
          <a:xfrm flipH="1" flipV="1">
            <a:off x="4902802" y="3375717"/>
            <a:ext cx="2051312" cy="751376"/>
          </a:xfrm>
          <a:prstGeom prst="straightConnector1">
            <a:avLst/>
          </a:prstGeom>
          <a:ln w="19050">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0472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577549" y="253416"/>
            <a:ext cx="6834296" cy="769441"/>
          </a:xfrm>
          <a:prstGeom prst="rect">
            <a:avLst/>
          </a:prstGeom>
          <a:noFill/>
        </p:spPr>
        <p:txBody>
          <a:bodyPr wrap="square">
            <a:spAutoFit/>
          </a:bodyPr>
          <a:lstStyle/>
          <a:p>
            <a:r>
              <a:rPr lang="en-US" sz="4400" kern="1200" dirty="0">
                <a:solidFill>
                  <a:schemeClr val="accent3"/>
                </a:solidFill>
                <a:latin typeface="+mj-lt"/>
              </a:rPr>
              <a:t>NoSQL </a:t>
            </a:r>
            <a:r>
              <a:rPr lang="ru-RU" sz="4400" kern="1200" dirty="0">
                <a:solidFill>
                  <a:schemeClr val="accent3"/>
                </a:solidFill>
                <a:latin typeface="+mj-lt"/>
              </a:rPr>
              <a:t>базы данных</a:t>
            </a:r>
            <a:endParaRPr lang="ru-RU" sz="4400" dirty="0">
              <a:solidFill>
                <a:schemeClr val="accent3"/>
              </a:solidFill>
              <a:latin typeface="+mj-lt"/>
            </a:endParaRPr>
          </a:p>
        </p:txBody>
      </p:sp>
      <p:sp>
        <p:nvSpPr>
          <p:cNvPr id="11" name="TextBox 10">
            <a:extLst>
              <a:ext uri="{FF2B5EF4-FFF2-40B4-BE49-F238E27FC236}">
                <a16:creationId xmlns:a16="http://schemas.microsoft.com/office/drawing/2014/main" id="{EAFED7BC-88AB-4414-9553-B22BB517D250}"/>
              </a:ext>
            </a:extLst>
          </p:cNvPr>
          <p:cNvSpPr txBox="1"/>
          <p:nvPr/>
        </p:nvSpPr>
        <p:spPr>
          <a:xfrm>
            <a:off x="563582" y="1330940"/>
            <a:ext cx="1096775" cy="338554"/>
          </a:xfrm>
          <a:prstGeom prst="rect">
            <a:avLst/>
          </a:prstGeom>
          <a:noFill/>
        </p:spPr>
        <p:txBody>
          <a:bodyPr wrap="none" rtlCol="0">
            <a:spAutoFit/>
          </a:bodyPr>
          <a:lstStyle/>
          <a:p>
            <a:r>
              <a:rPr lang="en-US" sz="1600" b="1" dirty="0">
                <a:solidFill>
                  <a:schemeClr val="accent3"/>
                </a:solidFill>
                <a:latin typeface="+mn-lt"/>
              </a:rPr>
              <a:t>Key-value</a:t>
            </a:r>
            <a:endParaRPr lang="ru-RU" sz="1600" b="1" dirty="0">
              <a:solidFill>
                <a:schemeClr val="accent3"/>
              </a:solidFill>
              <a:latin typeface="+mn-lt"/>
            </a:endParaRPr>
          </a:p>
        </p:txBody>
      </p:sp>
      <p:pic>
        <p:nvPicPr>
          <p:cNvPr id="12" name="Picture 3">
            <a:extLst>
              <a:ext uri="{FF2B5EF4-FFF2-40B4-BE49-F238E27FC236}">
                <a16:creationId xmlns:a16="http://schemas.microsoft.com/office/drawing/2014/main" id="{EA52EDBD-7EAD-4B54-ADED-D1B5144115FE}"/>
              </a:ext>
            </a:extLst>
          </p:cNvPr>
          <p:cNvPicPr>
            <a:picLocks noChangeAspect="1"/>
          </p:cNvPicPr>
          <p:nvPr/>
        </p:nvPicPr>
        <p:blipFill>
          <a:blip r:embed="rId3"/>
          <a:stretch>
            <a:fillRect/>
          </a:stretch>
        </p:blipFill>
        <p:spPr>
          <a:xfrm>
            <a:off x="5822290" y="1394100"/>
            <a:ext cx="1293521" cy="452020"/>
          </a:xfrm>
          <a:prstGeom prst="rect">
            <a:avLst/>
          </a:prstGeom>
        </p:spPr>
      </p:pic>
      <p:sp>
        <p:nvSpPr>
          <p:cNvPr id="14" name="Rectangle 5">
            <a:extLst>
              <a:ext uri="{FF2B5EF4-FFF2-40B4-BE49-F238E27FC236}">
                <a16:creationId xmlns:a16="http://schemas.microsoft.com/office/drawing/2014/main" id="{555CEA98-8556-4783-AC4C-1D825DBE7C9A}"/>
              </a:ext>
            </a:extLst>
          </p:cNvPr>
          <p:cNvSpPr/>
          <p:nvPr/>
        </p:nvSpPr>
        <p:spPr>
          <a:xfrm>
            <a:off x="2178374" y="1397505"/>
            <a:ext cx="461586" cy="1889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cs typeface="Times New Roman" panose="02020603050405020304" pitchFamily="18" charset="0"/>
              </a:rPr>
              <a:t>key</a:t>
            </a:r>
            <a:endParaRPr lang="ru-RU" sz="900" dirty="0">
              <a:solidFill>
                <a:schemeClr val="tx1"/>
              </a:solidFill>
              <a:cs typeface="Times New Roman" panose="02020603050405020304" pitchFamily="18" charset="0"/>
            </a:endParaRPr>
          </a:p>
        </p:txBody>
      </p:sp>
      <p:sp>
        <p:nvSpPr>
          <p:cNvPr id="15" name="Rectangle 8">
            <a:extLst>
              <a:ext uri="{FF2B5EF4-FFF2-40B4-BE49-F238E27FC236}">
                <a16:creationId xmlns:a16="http://schemas.microsoft.com/office/drawing/2014/main" id="{0D9DBC14-11EB-453B-9413-00AA11B10BBF}"/>
              </a:ext>
            </a:extLst>
          </p:cNvPr>
          <p:cNvSpPr/>
          <p:nvPr/>
        </p:nvSpPr>
        <p:spPr>
          <a:xfrm>
            <a:off x="2178374" y="1771764"/>
            <a:ext cx="461586" cy="1717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cs typeface="Times New Roman" panose="02020603050405020304" pitchFamily="18" charset="0"/>
              </a:rPr>
              <a:t>value</a:t>
            </a:r>
            <a:endParaRPr lang="ru-RU" sz="900" dirty="0">
              <a:solidFill>
                <a:schemeClr val="tx1"/>
              </a:solidFill>
              <a:cs typeface="Times New Roman" panose="02020603050405020304" pitchFamily="18" charset="0"/>
            </a:endParaRPr>
          </a:p>
        </p:txBody>
      </p:sp>
      <p:cxnSp>
        <p:nvCxnSpPr>
          <p:cNvPr id="16" name="Straight Arrow Connector 7">
            <a:extLst>
              <a:ext uri="{FF2B5EF4-FFF2-40B4-BE49-F238E27FC236}">
                <a16:creationId xmlns:a16="http://schemas.microsoft.com/office/drawing/2014/main" id="{128F57A2-FEEF-404C-887A-F47C4B7EC6A5}"/>
              </a:ext>
            </a:extLst>
          </p:cNvPr>
          <p:cNvCxnSpPr>
            <a:stCxn id="14" idx="2"/>
            <a:endCxn id="15" idx="0"/>
          </p:cNvCxnSpPr>
          <p:nvPr/>
        </p:nvCxnSpPr>
        <p:spPr>
          <a:xfrm>
            <a:off x="2409167" y="1586413"/>
            <a:ext cx="0" cy="185351"/>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sp>
        <p:nvSpPr>
          <p:cNvPr id="17" name="Rectangle 14">
            <a:extLst>
              <a:ext uri="{FF2B5EF4-FFF2-40B4-BE49-F238E27FC236}">
                <a16:creationId xmlns:a16="http://schemas.microsoft.com/office/drawing/2014/main" id="{4C8F5686-E7AC-4D2E-AD6C-D51240048C62}"/>
              </a:ext>
            </a:extLst>
          </p:cNvPr>
          <p:cNvSpPr/>
          <p:nvPr/>
        </p:nvSpPr>
        <p:spPr>
          <a:xfrm>
            <a:off x="2756237" y="1397505"/>
            <a:ext cx="461586" cy="1889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key</a:t>
            </a:r>
            <a:endParaRPr lang="ru-RU" sz="900" dirty="0">
              <a:solidFill>
                <a:schemeClr val="tx1"/>
              </a:solidFill>
            </a:endParaRPr>
          </a:p>
        </p:txBody>
      </p:sp>
      <p:sp>
        <p:nvSpPr>
          <p:cNvPr id="19" name="Rectangle 15">
            <a:extLst>
              <a:ext uri="{FF2B5EF4-FFF2-40B4-BE49-F238E27FC236}">
                <a16:creationId xmlns:a16="http://schemas.microsoft.com/office/drawing/2014/main" id="{952E3ADB-B4FD-40C2-BCAB-61A02C3458DE}"/>
              </a:ext>
            </a:extLst>
          </p:cNvPr>
          <p:cNvSpPr/>
          <p:nvPr/>
        </p:nvSpPr>
        <p:spPr>
          <a:xfrm>
            <a:off x="2756237" y="1771764"/>
            <a:ext cx="461586" cy="1717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cs typeface="Times New Roman" panose="02020603050405020304" pitchFamily="18" charset="0"/>
              </a:rPr>
              <a:t>value</a:t>
            </a:r>
            <a:endParaRPr lang="ru-RU" sz="900" dirty="0">
              <a:solidFill>
                <a:schemeClr val="tx1"/>
              </a:solidFill>
              <a:cs typeface="Times New Roman" panose="02020603050405020304" pitchFamily="18" charset="0"/>
            </a:endParaRPr>
          </a:p>
        </p:txBody>
      </p:sp>
      <p:cxnSp>
        <p:nvCxnSpPr>
          <p:cNvPr id="20" name="Straight Arrow Connector 16">
            <a:extLst>
              <a:ext uri="{FF2B5EF4-FFF2-40B4-BE49-F238E27FC236}">
                <a16:creationId xmlns:a16="http://schemas.microsoft.com/office/drawing/2014/main" id="{E6323CC9-5F91-41D8-9EAE-9705EFA85D09}"/>
              </a:ext>
            </a:extLst>
          </p:cNvPr>
          <p:cNvCxnSpPr>
            <a:stCxn id="17" idx="2"/>
            <a:endCxn id="19" idx="0"/>
          </p:cNvCxnSpPr>
          <p:nvPr/>
        </p:nvCxnSpPr>
        <p:spPr>
          <a:xfrm>
            <a:off x="2987030" y="1586413"/>
            <a:ext cx="0" cy="185351"/>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sp>
        <p:nvSpPr>
          <p:cNvPr id="21" name="Rectangle 17">
            <a:extLst>
              <a:ext uri="{FF2B5EF4-FFF2-40B4-BE49-F238E27FC236}">
                <a16:creationId xmlns:a16="http://schemas.microsoft.com/office/drawing/2014/main" id="{D5B89484-1A3C-41DD-84F4-08FC97584F5F}"/>
              </a:ext>
            </a:extLst>
          </p:cNvPr>
          <p:cNvSpPr/>
          <p:nvPr/>
        </p:nvSpPr>
        <p:spPr>
          <a:xfrm>
            <a:off x="3492604" y="1402087"/>
            <a:ext cx="461586" cy="1889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key</a:t>
            </a:r>
            <a:endParaRPr lang="ru-RU" sz="900" dirty="0">
              <a:solidFill>
                <a:schemeClr val="tx1"/>
              </a:solidFill>
            </a:endParaRPr>
          </a:p>
        </p:txBody>
      </p:sp>
      <p:sp>
        <p:nvSpPr>
          <p:cNvPr id="22" name="Rectangle 18">
            <a:extLst>
              <a:ext uri="{FF2B5EF4-FFF2-40B4-BE49-F238E27FC236}">
                <a16:creationId xmlns:a16="http://schemas.microsoft.com/office/drawing/2014/main" id="{636AFC3D-7F41-4C83-A4D6-D089DD73C56B}"/>
              </a:ext>
            </a:extLst>
          </p:cNvPr>
          <p:cNvSpPr/>
          <p:nvPr/>
        </p:nvSpPr>
        <p:spPr>
          <a:xfrm>
            <a:off x="3492604" y="1776346"/>
            <a:ext cx="461586" cy="1717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cs typeface="Times New Roman" panose="02020603050405020304" pitchFamily="18" charset="0"/>
              </a:rPr>
              <a:t>value</a:t>
            </a:r>
            <a:endParaRPr lang="ru-RU" sz="900" dirty="0">
              <a:solidFill>
                <a:schemeClr val="tx1"/>
              </a:solidFill>
              <a:cs typeface="Times New Roman" panose="02020603050405020304" pitchFamily="18" charset="0"/>
            </a:endParaRPr>
          </a:p>
        </p:txBody>
      </p:sp>
      <p:cxnSp>
        <p:nvCxnSpPr>
          <p:cNvPr id="23" name="Straight Arrow Connector 19">
            <a:extLst>
              <a:ext uri="{FF2B5EF4-FFF2-40B4-BE49-F238E27FC236}">
                <a16:creationId xmlns:a16="http://schemas.microsoft.com/office/drawing/2014/main" id="{E99D9699-31A1-4F77-A91C-6588283082CF}"/>
              </a:ext>
            </a:extLst>
          </p:cNvPr>
          <p:cNvCxnSpPr>
            <a:stCxn id="21" idx="2"/>
            <a:endCxn id="22" idx="0"/>
          </p:cNvCxnSpPr>
          <p:nvPr/>
        </p:nvCxnSpPr>
        <p:spPr>
          <a:xfrm>
            <a:off x="3723397" y="1590995"/>
            <a:ext cx="0" cy="185351"/>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0CC73CB-F494-4B64-850D-EC3D768DC44E}"/>
              </a:ext>
            </a:extLst>
          </p:cNvPr>
          <p:cNvSpPr txBox="1"/>
          <p:nvPr/>
        </p:nvSpPr>
        <p:spPr>
          <a:xfrm>
            <a:off x="3217822" y="1402087"/>
            <a:ext cx="264816" cy="230832"/>
          </a:xfrm>
          <a:prstGeom prst="rect">
            <a:avLst/>
          </a:prstGeom>
          <a:noFill/>
        </p:spPr>
        <p:txBody>
          <a:bodyPr wrap="none" rtlCol="0">
            <a:spAutoFit/>
          </a:bodyPr>
          <a:lstStyle/>
          <a:p>
            <a:r>
              <a:rPr lang="en-US" sz="900" dirty="0">
                <a:solidFill>
                  <a:schemeClr val="tx1"/>
                </a:solidFill>
                <a:latin typeface="+mn-lt"/>
                <a:cs typeface="Times New Roman" panose="02020603050405020304" pitchFamily="18" charset="0"/>
              </a:rPr>
              <a:t>…</a:t>
            </a:r>
            <a:endParaRPr lang="ru-RU" sz="900" dirty="0">
              <a:solidFill>
                <a:schemeClr val="tx1"/>
              </a:solidFill>
              <a:latin typeface="+mn-lt"/>
              <a:cs typeface="Times New Roman" panose="02020603050405020304" pitchFamily="18" charset="0"/>
            </a:endParaRPr>
          </a:p>
        </p:txBody>
      </p:sp>
      <p:cxnSp>
        <p:nvCxnSpPr>
          <p:cNvPr id="25" name="Straight Arrow Connector 25">
            <a:extLst>
              <a:ext uri="{FF2B5EF4-FFF2-40B4-BE49-F238E27FC236}">
                <a16:creationId xmlns:a16="http://schemas.microsoft.com/office/drawing/2014/main" id="{D798C715-F112-4CED-8AE8-AC99192CCD41}"/>
              </a:ext>
            </a:extLst>
          </p:cNvPr>
          <p:cNvCxnSpPr/>
          <p:nvPr/>
        </p:nvCxnSpPr>
        <p:spPr>
          <a:xfrm>
            <a:off x="1745378" y="1503753"/>
            <a:ext cx="330180" cy="1"/>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grpSp>
        <p:nvGrpSpPr>
          <p:cNvPr id="26" name="Group 68">
            <a:extLst>
              <a:ext uri="{FF2B5EF4-FFF2-40B4-BE49-F238E27FC236}">
                <a16:creationId xmlns:a16="http://schemas.microsoft.com/office/drawing/2014/main" id="{204429BC-4D23-4815-9503-4EF66383F120}"/>
              </a:ext>
            </a:extLst>
          </p:cNvPr>
          <p:cNvGrpSpPr/>
          <p:nvPr/>
        </p:nvGrpSpPr>
        <p:grpSpPr>
          <a:xfrm>
            <a:off x="783771" y="2642547"/>
            <a:ext cx="4745751" cy="1939725"/>
            <a:chOff x="1077843" y="3068960"/>
            <a:chExt cx="6518493" cy="2664296"/>
          </a:xfrm>
        </p:grpSpPr>
        <p:grpSp>
          <p:nvGrpSpPr>
            <p:cNvPr id="27" name="Group 66">
              <a:extLst>
                <a:ext uri="{FF2B5EF4-FFF2-40B4-BE49-F238E27FC236}">
                  <a16:creationId xmlns:a16="http://schemas.microsoft.com/office/drawing/2014/main" id="{E5E65258-DBD2-4534-A2CD-27AB61504C43}"/>
                </a:ext>
              </a:extLst>
            </p:cNvPr>
            <p:cNvGrpSpPr/>
            <p:nvPr/>
          </p:nvGrpSpPr>
          <p:grpSpPr>
            <a:xfrm>
              <a:off x="2721261" y="3068960"/>
              <a:ext cx="2287605" cy="2664296"/>
              <a:chOff x="2721261" y="3068960"/>
              <a:chExt cx="2287605" cy="2664296"/>
            </a:xfrm>
          </p:grpSpPr>
          <p:sp>
            <p:nvSpPr>
              <p:cNvPr id="45" name="Rectangle 32">
                <a:extLst>
                  <a:ext uri="{FF2B5EF4-FFF2-40B4-BE49-F238E27FC236}">
                    <a16:creationId xmlns:a16="http://schemas.microsoft.com/office/drawing/2014/main" id="{3B820798-2C74-4BFF-8461-F6F284CB9303}"/>
                  </a:ext>
                </a:extLst>
              </p:cNvPr>
              <p:cNvSpPr/>
              <p:nvPr/>
            </p:nvSpPr>
            <p:spPr>
              <a:xfrm>
                <a:off x="2721261" y="3068960"/>
                <a:ext cx="2287605" cy="2664296"/>
              </a:xfrm>
              <a:prstGeom prst="rect">
                <a:avLst/>
              </a:prstGeom>
              <a:noFill/>
              <a:ln w="1905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100">
                  <a:solidFill>
                    <a:schemeClr val="tx1"/>
                  </a:solidFill>
                </a:endParaRPr>
              </a:p>
            </p:txBody>
          </p:sp>
          <p:sp>
            <p:nvSpPr>
              <p:cNvPr id="46" name="Rectangle 34">
                <a:extLst>
                  <a:ext uri="{FF2B5EF4-FFF2-40B4-BE49-F238E27FC236}">
                    <a16:creationId xmlns:a16="http://schemas.microsoft.com/office/drawing/2014/main" id="{1F7A41C4-BDB0-41A8-9EE9-DAAF181B4AEA}"/>
                  </a:ext>
                </a:extLst>
              </p:cNvPr>
              <p:cNvSpPr/>
              <p:nvPr/>
            </p:nvSpPr>
            <p:spPr>
              <a:xfrm>
                <a:off x="2843808" y="3614635"/>
                <a:ext cx="933173" cy="3488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cs typeface="Times New Roman" panose="02020603050405020304" pitchFamily="18" charset="0"/>
                  </a:rPr>
                  <a:t>Col A:a</a:t>
                </a:r>
                <a:endParaRPr lang="ru-RU" sz="1200" dirty="0">
                  <a:solidFill>
                    <a:schemeClr val="tx1"/>
                  </a:solidFill>
                  <a:cs typeface="Times New Roman" panose="02020603050405020304" pitchFamily="18" charset="0"/>
                </a:endParaRPr>
              </a:p>
            </p:txBody>
          </p:sp>
          <p:sp>
            <p:nvSpPr>
              <p:cNvPr id="47" name="TextBox 46">
                <a:extLst>
                  <a:ext uri="{FF2B5EF4-FFF2-40B4-BE49-F238E27FC236}">
                    <a16:creationId xmlns:a16="http://schemas.microsoft.com/office/drawing/2014/main" id="{6A110173-0885-46C8-AB6E-5608DA7CD68D}"/>
                  </a:ext>
                </a:extLst>
              </p:cNvPr>
              <p:cNvSpPr txBox="1"/>
              <p:nvPr/>
            </p:nvSpPr>
            <p:spPr>
              <a:xfrm>
                <a:off x="2721261" y="3090446"/>
                <a:ext cx="2287605" cy="380470"/>
              </a:xfrm>
              <a:prstGeom prst="rect">
                <a:avLst/>
              </a:prstGeom>
              <a:noFill/>
            </p:spPr>
            <p:txBody>
              <a:bodyPr wrap="square" rtlCol="0">
                <a:spAutoFit/>
              </a:bodyPr>
              <a:lstStyle/>
              <a:p>
                <a:pPr algn="ctr"/>
                <a:r>
                  <a:rPr lang="en-US" sz="1200" dirty="0">
                    <a:solidFill>
                      <a:schemeClr val="tx1"/>
                    </a:solidFill>
                    <a:latin typeface="+mn-lt"/>
                    <a:cs typeface="Times New Roman" panose="02020603050405020304" pitchFamily="18" charset="0"/>
                  </a:rPr>
                  <a:t>Column Family A</a:t>
                </a:r>
                <a:endParaRPr lang="ru-RU" sz="1200" dirty="0">
                  <a:solidFill>
                    <a:schemeClr val="tx1"/>
                  </a:solidFill>
                  <a:latin typeface="+mn-lt"/>
                  <a:cs typeface="Times New Roman" panose="02020603050405020304" pitchFamily="18" charset="0"/>
                </a:endParaRPr>
              </a:p>
            </p:txBody>
          </p:sp>
          <p:sp>
            <p:nvSpPr>
              <p:cNvPr id="48" name="Rectangle 39">
                <a:extLst>
                  <a:ext uri="{FF2B5EF4-FFF2-40B4-BE49-F238E27FC236}">
                    <a16:creationId xmlns:a16="http://schemas.microsoft.com/office/drawing/2014/main" id="{55BF2D27-F600-4FF0-B532-6E04E044EC2D}"/>
                  </a:ext>
                </a:extLst>
              </p:cNvPr>
              <p:cNvSpPr/>
              <p:nvPr/>
            </p:nvSpPr>
            <p:spPr>
              <a:xfrm>
                <a:off x="3869972" y="3614635"/>
                <a:ext cx="933172" cy="3488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cs typeface="Times New Roman" panose="02020603050405020304" pitchFamily="18" charset="0"/>
                  </a:rPr>
                  <a:t>Col A:b</a:t>
                </a:r>
                <a:endParaRPr lang="ru-RU" sz="1200" dirty="0">
                  <a:solidFill>
                    <a:schemeClr val="tx1"/>
                  </a:solidFill>
                  <a:cs typeface="Times New Roman" panose="02020603050405020304" pitchFamily="18" charset="0"/>
                </a:endParaRPr>
              </a:p>
            </p:txBody>
          </p:sp>
          <p:sp>
            <p:nvSpPr>
              <p:cNvPr id="49" name="TextBox 48">
                <a:extLst>
                  <a:ext uri="{FF2B5EF4-FFF2-40B4-BE49-F238E27FC236}">
                    <a16:creationId xmlns:a16="http://schemas.microsoft.com/office/drawing/2014/main" id="{757E35FD-8D53-4DF7-8200-20899FF9D629}"/>
                  </a:ext>
                </a:extLst>
              </p:cNvPr>
              <p:cNvSpPr txBox="1"/>
              <p:nvPr/>
            </p:nvSpPr>
            <p:spPr>
              <a:xfrm>
                <a:off x="2843808" y="4046683"/>
                <a:ext cx="933173"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ru-RU"/>
                </a:defPPr>
                <a:lvl1pPr algn="ctr">
                  <a:defRPr>
                    <a:solidFill>
                      <a:schemeClr val="lt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sz="1200" dirty="0">
                    <a:solidFill>
                      <a:schemeClr val="tx1"/>
                    </a:solidFill>
                    <a:cs typeface="Times New Roman" panose="02020603050405020304" pitchFamily="18" charset="0"/>
                  </a:rPr>
                  <a:t>Value</a:t>
                </a:r>
                <a:endParaRPr lang="ru-RU" sz="1200" dirty="0">
                  <a:solidFill>
                    <a:schemeClr val="tx1"/>
                  </a:solidFill>
                  <a:cs typeface="Times New Roman" panose="02020603050405020304" pitchFamily="18" charset="0"/>
                </a:endParaRPr>
              </a:p>
            </p:txBody>
          </p:sp>
          <p:sp>
            <p:nvSpPr>
              <p:cNvPr id="50" name="TextBox 49">
                <a:extLst>
                  <a:ext uri="{FF2B5EF4-FFF2-40B4-BE49-F238E27FC236}">
                    <a16:creationId xmlns:a16="http://schemas.microsoft.com/office/drawing/2014/main" id="{7BBD6BC2-73BE-47E5-AE80-C2CE47118A7B}"/>
                  </a:ext>
                </a:extLst>
              </p:cNvPr>
              <p:cNvSpPr txBox="1"/>
              <p:nvPr/>
            </p:nvSpPr>
            <p:spPr>
              <a:xfrm>
                <a:off x="3869972" y="4046683"/>
                <a:ext cx="924742"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ru-RU"/>
                </a:defPPr>
                <a:lvl1pPr algn="ctr">
                  <a:defRPr>
                    <a:solidFill>
                      <a:schemeClr val="lt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sz="1200" dirty="0">
                    <a:solidFill>
                      <a:schemeClr val="tx1"/>
                    </a:solidFill>
                    <a:cs typeface="Times New Roman" panose="02020603050405020304" pitchFamily="18" charset="0"/>
                  </a:rPr>
                  <a:t>Value</a:t>
                </a:r>
                <a:endParaRPr lang="ru-RU" sz="1200" dirty="0">
                  <a:solidFill>
                    <a:schemeClr val="tx1"/>
                  </a:solidFill>
                  <a:cs typeface="Times New Roman" panose="02020603050405020304" pitchFamily="18" charset="0"/>
                </a:endParaRPr>
              </a:p>
            </p:txBody>
          </p:sp>
          <p:sp>
            <p:nvSpPr>
              <p:cNvPr id="51" name="Rectangle 44">
                <a:extLst>
                  <a:ext uri="{FF2B5EF4-FFF2-40B4-BE49-F238E27FC236}">
                    <a16:creationId xmlns:a16="http://schemas.microsoft.com/office/drawing/2014/main" id="{9EA67A25-6D3A-4EEE-AFCB-5B3CA152910D}"/>
                  </a:ext>
                </a:extLst>
              </p:cNvPr>
              <p:cNvSpPr/>
              <p:nvPr/>
            </p:nvSpPr>
            <p:spPr>
              <a:xfrm>
                <a:off x="2852238" y="4643844"/>
                <a:ext cx="933173" cy="3488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cs typeface="Times New Roman" panose="02020603050405020304" pitchFamily="18" charset="0"/>
                  </a:rPr>
                  <a:t>Col A:a</a:t>
                </a:r>
                <a:endParaRPr lang="ru-RU" sz="1200" dirty="0">
                  <a:solidFill>
                    <a:schemeClr val="tx1"/>
                  </a:solidFill>
                  <a:cs typeface="Times New Roman" panose="02020603050405020304" pitchFamily="18" charset="0"/>
                </a:endParaRPr>
              </a:p>
            </p:txBody>
          </p:sp>
          <p:sp>
            <p:nvSpPr>
              <p:cNvPr id="52" name="Rectangle 45">
                <a:extLst>
                  <a:ext uri="{FF2B5EF4-FFF2-40B4-BE49-F238E27FC236}">
                    <a16:creationId xmlns:a16="http://schemas.microsoft.com/office/drawing/2014/main" id="{216BC4A2-99D1-420B-AFF8-2110C09B2F02}"/>
                  </a:ext>
                </a:extLst>
              </p:cNvPr>
              <p:cNvSpPr/>
              <p:nvPr/>
            </p:nvSpPr>
            <p:spPr>
              <a:xfrm>
                <a:off x="3878402" y="4643844"/>
                <a:ext cx="933172" cy="3488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cs typeface="Times New Roman" panose="02020603050405020304" pitchFamily="18" charset="0"/>
                  </a:rPr>
                  <a:t>Col A:b</a:t>
                </a:r>
                <a:endParaRPr lang="ru-RU" sz="1200" dirty="0">
                  <a:solidFill>
                    <a:schemeClr val="tx1"/>
                  </a:solidFill>
                  <a:cs typeface="Times New Roman" panose="02020603050405020304" pitchFamily="18" charset="0"/>
                </a:endParaRPr>
              </a:p>
            </p:txBody>
          </p:sp>
          <p:sp>
            <p:nvSpPr>
              <p:cNvPr id="53" name="TextBox 52">
                <a:extLst>
                  <a:ext uri="{FF2B5EF4-FFF2-40B4-BE49-F238E27FC236}">
                    <a16:creationId xmlns:a16="http://schemas.microsoft.com/office/drawing/2014/main" id="{705AC288-AAB8-4838-AE6F-3476442ECC61}"/>
                  </a:ext>
                </a:extLst>
              </p:cNvPr>
              <p:cNvSpPr txBox="1"/>
              <p:nvPr/>
            </p:nvSpPr>
            <p:spPr>
              <a:xfrm>
                <a:off x="2852238" y="5075892"/>
                <a:ext cx="933173"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ru-RU"/>
                </a:defPPr>
                <a:lvl1pPr algn="ctr">
                  <a:defRPr>
                    <a:solidFill>
                      <a:schemeClr val="lt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sz="1200" dirty="0">
                    <a:solidFill>
                      <a:schemeClr val="tx1"/>
                    </a:solidFill>
                    <a:cs typeface="Times New Roman" panose="02020603050405020304" pitchFamily="18" charset="0"/>
                  </a:rPr>
                  <a:t>Value</a:t>
                </a:r>
                <a:endParaRPr lang="ru-RU" sz="1200" dirty="0">
                  <a:solidFill>
                    <a:schemeClr val="tx1"/>
                  </a:solidFill>
                  <a:cs typeface="Times New Roman" panose="02020603050405020304" pitchFamily="18" charset="0"/>
                </a:endParaRPr>
              </a:p>
            </p:txBody>
          </p:sp>
          <p:sp>
            <p:nvSpPr>
              <p:cNvPr id="54" name="TextBox 53">
                <a:extLst>
                  <a:ext uri="{FF2B5EF4-FFF2-40B4-BE49-F238E27FC236}">
                    <a16:creationId xmlns:a16="http://schemas.microsoft.com/office/drawing/2014/main" id="{39996F64-AAF5-4FF9-AE9B-FE0BB6A0C475}"/>
                  </a:ext>
                </a:extLst>
              </p:cNvPr>
              <p:cNvSpPr txBox="1"/>
              <p:nvPr/>
            </p:nvSpPr>
            <p:spPr>
              <a:xfrm>
                <a:off x="3878402" y="5075892"/>
                <a:ext cx="924742"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ru-RU"/>
                </a:defPPr>
                <a:lvl1pPr algn="ctr">
                  <a:defRPr>
                    <a:solidFill>
                      <a:schemeClr val="lt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sz="1200" dirty="0">
                    <a:solidFill>
                      <a:schemeClr val="tx1"/>
                    </a:solidFill>
                    <a:cs typeface="Times New Roman" panose="02020603050405020304" pitchFamily="18" charset="0"/>
                  </a:rPr>
                  <a:t>Value</a:t>
                </a:r>
                <a:endParaRPr lang="ru-RU" sz="1200" dirty="0">
                  <a:solidFill>
                    <a:schemeClr val="tx1"/>
                  </a:solidFill>
                  <a:cs typeface="Times New Roman" panose="02020603050405020304" pitchFamily="18" charset="0"/>
                </a:endParaRPr>
              </a:p>
            </p:txBody>
          </p:sp>
        </p:grpSp>
        <p:grpSp>
          <p:nvGrpSpPr>
            <p:cNvPr id="28" name="Group 67">
              <a:extLst>
                <a:ext uri="{FF2B5EF4-FFF2-40B4-BE49-F238E27FC236}">
                  <a16:creationId xmlns:a16="http://schemas.microsoft.com/office/drawing/2014/main" id="{574317AA-4B61-4EF1-8C0F-6DCDA5320C7B}"/>
                </a:ext>
              </a:extLst>
            </p:cNvPr>
            <p:cNvGrpSpPr/>
            <p:nvPr/>
          </p:nvGrpSpPr>
          <p:grpSpPr>
            <a:xfrm>
              <a:off x="5101857" y="3068960"/>
              <a:ext cx="2249750" cy="2664296"/>
              <a:chOff x="5101857" y="3068960"/>
              <a:chExt cx="2249750" cy="2664296"/>
            </a:xfrm>
          </p:grpSpPr>
          <p:sp>
            <p:nvSpPr>
              <p:cNvPr id="35" name="Rectangle 48">
                <a:extLst>
                  <a:ext uri="{FF2B5EF4-FFF2-40B4-BE49-F238E27FC236}">
                    <a16:creationId xmlns:a16="http://schemas.microsoft.com/office/drawing/2014/main" id="{D9E36321-8B6C-421C-A4FC-5E24298E5B5E}"/>
                  </a:ext>
                </a:extLst>
              </p:cNvPr>
              <p:cNvSpPr/>
              <p:nvPr/>
            </p:nvSpPr>
            <p:spPr>
              <a:xfrm>
                <a:off x="5101857" y="3068960"/>
                <a:ext cx="2249750" cy="2664296"/>
              </a:xfrm>
              <a:prstGeom prst="rect">
                <a:avLst/>
              </a:prstGeom>
              <a:noFill/>
              <a:ln w="1905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100">
                  <a:solidFill>
                    <a:schemeClr val="tx1"/>
                  </a:solidFill>
                </a:endParaRPr>
              </a:p>
            </p:txBody>
          </p:sp>
          <p:sp>
            <p:nvSpPr>
              <p:cNvPr id="36" name="Rectangle 49">
                <a:extLst>
                  <a:ext uri="{FF2B5EF4-FFF2-40B4-BE49-F238E27FC236}">
                    <a16:creationId xmlns:a16="http://schemas.microsoft.com/office/drawing/2014/main" id="{D5A775D8-2FED-4A83-962B-5C5732B4CFD7}"/>
                  </a:ext>
                </a:extLst>
              </p:cNvPr>
              <p:cNvSpPr/>
              <p:nvPr/>
            </p:nvSpPr>
            <p:spPr>
              <a:xfrm>
                <a:off x="5224404" y="3614635"/>
                <a:ext cx="933173" cy="3488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cs typeface="Times New Roman" panose="02020603050405020304" pitchFamily="18" charset="0"/>
                  </a:rPr>
                  <a:t>Col B:a</a:t>
                </a:r>
                <a:endParaRPr lang="ru-RU" sz="1200" dirty="0">
                  <a:solidFill>
                    <a:schemeClr val="tx1"/>
                  </a:solidFill>
                  <a:cs typeface="Times New Roman" panose="02020603050405020304" pitchFamily="18" charset="0"/>
                </a:endParaRPr>
              </a:p>
            </p:txBody>
          </p:sp>
          <p:sp>
            <p:nvSpPr>
              <p:cNvPr id="37" name="TextBox 36">
                <a:extLst>
                  <a:ext uri="{FF2B5EF4-FFF2-40B4-BE49-F238E27FC236}">
                    <a16:creationId xmlns:a16="http://schemas.microsoft.com/office/drawing/2014/main" id="{B298A3A6-E58B-49D8-B1B5-B17C24792CB1}"/>
                  </a:ext>
                </a:extLst>
              </p:cNvPr>
              <p:cNvSpPr txBox="1"/>
              <p:nvPr/>
            </p:nvSpPr>
            <p:spPr>
              <a:xfrm>
                <a:off x="5101857" y="3090446"/>
                <a:ext cx="2035465" cy="380470"/>
              </a:xfrm>
              <a:prstGeom prst="rect">
                <a:avLst/>
              </a:prstGeom>
              <a:noFill/>
            </p:spPr>
            <p:txBody>
              <a:bodyPr wrap="square" rtlCol="0">
                <a:spAutoFit/>
              </a:bodyPr>
              <a:lstStyle/>
              <a:p>
                <a:pPr algn="ctr"/>
                <a:r>
                  <a:rPr lang="en-US" sz="1200" dirty="0">
                    <a:solidFill>
                      <a:schemeClr val="tx1"/>
                    </a:solidFill>
                    <a:latin typeface="+mn-lt"/>
                    <a:cs typeface="Times New Roman" panose="02020603050405020304" pitchFamily="18" charset="0"/>
                  </a:rPr>
                  <a:t>Column Family B</a:t>
                </a:r>
                <a:endParaRPr lang="ru-RU" sz="1200" dirty="0">
                  <a:solidFill>
                    <a:schemeClr val="tx1"/>
                  </a:solidFill>
                  <a:latin typeface="+mn-lt"/>
                  <a:cs typeface="Times New Roman" panose="02020603050405020304" pitchFamily="18" charset="0"/>
                </a:endParaRPr>
              </a:p>
            </p:txBody>
          </p:sp>
          <p:sp>
            <p:nvSpPr>
              <p:cNvPr id="38" name="Rectangle 51">
                <a:extLst>
                  <a:ext uri="{FF2B5EF4-FFF2-40B4-BE49-F238E27FC236}">
                    <a16:creationId xmlns:a16="http://schemas.microsoft.com/office/drawing/2014/main" id="{D8DABC2A-482A-4065-8752-ECAC9F6653F9}"/>
                  </a:ext>
                </a:extLst>
              </p:cNvPr>
              <p:cNvSpPr/>
              <p:nvPr/>
            </p:nvSpPr>
            <p:spPr>
              <a:xfrm>
                <a:off x="6250568" y="3614635"/>
                <a:ext cx="933172" cy="3488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cs typeface="Times New Roman" panose="02020603050405020304" pitchFamily="18" charset="0"/>
                  </a:rPr>
                  <a:t>Col B:b</a:t>
                </a:r>
                <a:endParaRPr lang="ru-RU" sz="1200" dirty="0">
                  <a:solidFill>
                    <a:schemeClr val="tx1"/>
                  </a:solidFill>
                  <a:cs typeface="Times New Roman" panose="02020603050405020304" pitchFamily="18" charset="0"/>
                </a:endParaRPr>
              </a:p>
            </p:txBody>
          </p:sp>
          <p:sp>
            <p:nvSpPr>
              <p:cNvPr id="39" name="TextBox 38">
                <a:extLst>
                  <a:ext uri="{FF2B5EF4-FFF2-40B4-BE49-F238E27FC236}">
                    <a16:creationId xmlns:a16="http://schemas.microsoft.com/office/drawing/2014/main" id="{8CDFE774-EE2E-43A4-B869-EB632F5C1462}"/>
                  </a:ext>
                </a:extLst>
              </p:cNvPr>
              <p:cNvSpPr txBox="1"/>
              <p:nvPr/>
            </p:nvSpPr>
            <p:spPr>
              <a:xfrm>
                <a:off x="5224404" y="4046683"/>
                <a:ext cx="933173"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ru-RU"/>
                </a:defPPr>
                <a:lvl1pPr algn="ctr">
                  <a:defRPr>
                    <a:solidFill>
                      <a:schemeClr val="lt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sz="1200" dirty="0">
                    <a:solidFill>
                      <a:schemeClr val="tx1"/>
                    </a:solidFill>
                    <a:cs typeface="Times New Roman" panose="02020603050405020304" pitchFamily="18" charset="0"/>
                  </a:rPr>
                  <a:t>Value</a:t>
                </a:r>
                <a:endParaRPr lang="ru-RU" sz="1200" dirty="0">
                  <a:solidFill>
                    <a:schemeClr val="tx1"/>
                  </a:solidFill>
                  <a:cs typeface="Times New Roman" panose="02020603050405020304" pitchFamily="18" charset="0"/>
                </a:endParaRPr>
              </a:p>
            </p:txBody>
          </p:sp>
          <p:sp>
            <p:nvSpPr>
              <p:cNvPr id="40" name="TextBox 39">
                <a:extLst>
                  <a:ext uri="{FF2B5EF4-FFF2-40B4-BE49-F238E27FC236}">
                    <a16:creationId xmlns:a16="http://schemas.microsoft.com/office/drawing/2014/main" id="{83A9E679-181B-44FC-A854-F74FFE29DDAA}"/>
                  </a:ext>
                </a:extLst>
              </p:cNvPr>
              <p:cNvSpPr txBox="1"/>
              <p:nvPr/>
            </p:nvSpPr>
            <p:spPr>
              <a:xfrm>
                <a:off x="6250568" y="4046683"/>
                <a:ext cx="924742"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ru-RU"/>
                </a:defPPr>
                <a:lvl1pPr algn="ctr">
                  <a:defRPr>
                    <a:solidFill>
                      <a:schemeClr val="lt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sz="1200" dirty="0">
                    <a:solidFill>
                      <a:schemeClr val="tx1"/>
                    </a:solidFill>
                    <a:cs typeface="Times New Roman" panose="02020603050405020304" pitchFamily="18" charset="0"/>
                  </a:rPr>
                  <a:t>Value</a:t>
                </a:r>
                <a:endParaRPr lang="ru-RU" sz="1200" dirty="0">
                  <a:solidFill>
                    <a:schemeClr val="tx1"/>
                  </a:solidFill>
                  <a:cs typeface="Times New Roman" panose="02020603050405020304" pitchFamily="18" charset="0"/>
                </a:endParaRPr>
              </a:p>
            </p:txBody>
          </p:sp>
          <p:sp>
            <p:nvSpPr>
              <p:cNvPr id="41" name="Rectangle 54">
                <a:extLst>
                  <a:ext uri="{FF2B5EF4-FFF2-40B4-BE49-F238E27FC236}">
                    <a16:creationId xmlns:a16="http://schemas.microsoft.com/office/drawing/2014/main" id="{5F207CD1-B9F2-423C-A512-B339599FB431}"/>
                  </a:ext>
                </a:extLst>
              </p:cNvPr>
              <p:cNvSpPr/>
              <p:nvPr/>
            </p:nvSpPr>
            <p:spPr>
              <a:xfrm>
                <a:off x="5232834" y="4643844"/>
                <a:ext cx="933173" cy="3488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cs typeface="Times New Roman" panose="02020603050405020304" pitchFamily="18" charset="0"/>
                  </a:rPr>
                  <a:t>Col B:a</a:t>
                </a:r>
                <a:endParaRPr lang="ru-RU" sz="1200" dirty="0">
                  <a:solidFill>
                    <a:schemeClr val="tx1"/>
                  </a:solidFill>
                  <a:cs typeface="Times New Roman" panose="02020603050405020304" pitchFamily="18" charset="0"/>
                </a:endParaRPr>
              </a:p>
            </p:txBody>
          </p:sp>
          <p:sp>
            <p:nvSpPr>
              <p:cNvPr id="42" name="Rectangle 55">
                <a:extLst>
                  <a:ext uri="{FF2B5EF4-FFF2-40B4-BE49-F238E27FC236}">
                    <a16:creationId xmlns:a16="http://schemas.microsoft.com/office/drawing/2014/main" id="{33EDC537-F4A6-4A74-8C9F-99EF66962E6F}"/>
                  </a:ext>
                </a:extLst>
              </p:cNvPr>
              <p:cNvSpPr/>
              <p:nvPr/>
            </p:nvSpPr>
            <p:spPr>
              <a:xfrm>
                <a:off x="6258998" y="4643844"/>
                <a:ext cx="933172" cy="3488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cs typeface="Times New Roman" panose="02020603050405020304" pitchFamily="18" charset="0"/>
                  </a:rPr>
                  <a:t>Col B:b</a:t>
                </a:r>
                <a:endParaRPr lang="ru-RU" sz="1200" dirty="0">
                  <a:solidFill>
                    <a:schemeClr val="tx1"/>
                  </a:solidFill>
                  <a:cs typeface="Times New Roman" panose="02020603050405020304" pitchFamily="18" charset="0"/>
                </a:endParaRPr>
              </a:p>
            </p:txBody>
          </p:sp>
          <p:sp>
            <p:nvSpPr>
              <p:cNvPr id="43" name="TextBox 42">
                <a:extLst>
                  <a:ext uri="{FF2B5EF4-FFF2-40B4-BE49-F238E27FC236}">
                    <a16:creationId xmlns:a16="http://schemas.microsoft.com/office/drawing/2014/main" id="{1A8B49DA-3001-4569-9230-1D069DB1C73E}"/>
                  </a:ext>
                </a:extLst>
              </p:cNvPr>
              <p:cNvSpPr txBox="1"/>
              <p:nvPr/>
            </p:nvSpPr>
            <p:spPr>
              <a:xfrm>
                <a:off x="5232834" y="5075892"/>
                <a:ext cx="933173"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ru-RU"/>
                </a:defPPr>
                <a:lvl1pPr algn="ctr">
                  <a:defRPr>
                    <a:solidFill>
                      <a:schemeClr val="lt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sz="1200" dirty="0">
                    <a:solidFill>
                      <a:schemeClr val="tx1"/>
                    </a:solidFill>
                    <a:cs typeface="Times New Roman" panose="02020603050405020304" pitchFamily="18" charset="0"/>
                  </a:rPr>
                  <a:t>Value</a:t>
                </a:r>
                <a:endParaRPr lang="ru-RU" sz="1200" dirty="0">
                  <a:solidFill>
                    <a:schemeClr val="tx1"/>
                  </a:solidFill>
                  <a:cs typeface="Times New Roman" panose="02020603050405020304" pitchFamily="18" charset="0"/>
                </a:endParaRPr>
              </a:p>
            </p:txBody>
          </p:sp>
          <p:sp>
            <p:nvSpPr>
              <p:cNvPr id="44" name="TextBox 43">
                <a:extLst>
                  <a:ext uri="{FF2B5EF4-FFF2-40B4-BE49-F238E27FC236}">
                    <a16:creationId xmlns:a16="http://schemas.microsoft.com/office/drawing/2014/main" id="{4B19DA50-D3D6-4BC1-9A6E-2F03A8CB813D}"/>
                  </a:ext>
                </a:extLst>
              </p:cNvPr>
              <p:cNvSpPr txBox="1"/>
              <p:nvPr/>
            </p:nvSpPr>
            <p:spPr>
              <a:xfrm>
                <a:off x="6258998" y="5075892"/>
                <a:ext cx="924742"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ru-RU"/>
                </a:defPPr>
                <a:lvl1pPr algn="ctr">
                  <a:defRPr>
                    <a:solidFill>
                      <a:schemeClr val="lt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sz="1200" dirty="0">
                    <a:solidFill>
                      <a:schemeClr val="tx1"/>
                    </a:solidFill>
                    <a:cs typeface="Times New Roman" panose="02020603050405020304" pitchFamily="18" charset="0"/>
                  </a:rPr>
                  <a:t>Value</a:t>
                </a:r>
                <a:endParaRPr lang="ru-RU" sz="1200" dirty="0">
                  <a:solidFill>
                    <a:schemeClr val="tx1"/>
                  </a:solidFill>
                  <a:cs typeface="Times New Roman" panose="02020603050405020304" pitchFamily="18" charset="0"/>
                </a:endParaRPr>
              </a:p>
            </p:txBody>
          </p:sp>
        </p:grpSp>
        <p:sp>
          <p:nvSpPr>
            <p:cNvPr id="29" name="Rectangle 60">
              <a:extLst>
                <a:ext uri="{FF2B5EF4-FFF2-40B4-BE49-F238E27FC236}">
                  <a16:creationId xmlns:a16="http://schemas.microsoft.com/office/drawing/2014/main" id="{D0B38962-9976-4069-AEAE-6FED12DA57DB}"/>
                </a:ext>
              </a:extLst>
            </p:cNvPr>
            <p:cNvSpPr/>
            <p:nvPr/>
          </p:nvSpPr>
          <p:spPr>
            <a:xfrm>
              <a:off x="1955818" y="3571076"/>
              <a:ext cx="5496502" cy="938044"/>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100">
                <a:solidFill>
                  <a:schemeClr val="tx1"/>
                </a:solidFill>
              </a:endParaRPr>
            </a:p>
          </p:txBody>
        </p:sp>
        <p:sp>
          <p:nvSpPr>
            <p:cNvPr id="30" name="TextBox 29">
              <a:extLst>
                <a:ext uri="{FF2B5EF4-FFF2-40B4-BE49-F238E27FC236}">
                  <a16:creationId xmlns:a16="http://schemas.microsoft.com/office/drawing/2014/main" id="{BD80402D-004F-4FCA-A503-F58FE5C4E0ED}"/>
                </a:ext>
              </a:extLst>
            </p:cNvPr>
            <p:cNvSpPr txBox="1"/>
            <p:nvPr/>
          </p:nvSpPr>
          <p:spPr>
            <a:xfrm>
              <a:off x="1955819" y="3717032"/>
              <a:ext cx="765443" cy="634117"/>
            </a:xfrm>
            <a:prstGeom prst="rect">
              <a:avLst/>
            </a:prstGeom>
            <a:noFill/>
          </p:spPr>
          <p:txBody>
            <a:bodyPr wrap="square" rtlCol="0">
              <a:spAutoFit/>
            </a:bodyPr>
            <a:lstStyle/>
            <a:p>
              <a:r>
                <a:rPr lang="en-US" sz="1200" dirty="0">
                  <a:solidFill>
                    <a:schemeClr val="tx1"/>
                  </a:solidFill>
                  <a:latin typeface="+mn-lt"/>
                  <a:cs typeface="Times New Roman" panose="02020603050405020304" pitchFamily="18" charset="0"/>
                </a:rPr>
                <a:t>Row</a:t>
              </a:r>
            </a:p>
            <a:p>
              <a:r>
                <a:rPr lang="en-US" sz="1200" dirty="0">
                  <a:solidFill>
                    <a:schemeClr val="tx1"/>
                  </a:solidFill>
                  <a:latin typeface="+mn-lt"/>
                  <a:cs typeface="Times New Roman" panose="02020603050405020304" pitchFamily="18" charset="0"/>
                </a:rPr>
                <a:t>Key 1</a:t>
              </a:r>
              <a:endParaRPr lang="ru-RU" sz="1200" dirty="0">
                <a:solidFill>
                  <a:schemeClr val="tx1"/>
                </a:solidFill>
                <a:latin typeface="+mn-lt"/>
                <a:cs typeface="Times New Roman" panose="02020603050405020304" pitchFamily="18" charset="0"/>
              </a:endParaRPr>
            </a:p>
          </p:txBody>
        </p:sp>
        <p:sp>
          <p:nvSpPr>
            <p:cNvPr id="31" name="Rectangle 62">
              <a:extLst>
                <a:ext uri="{FF2B5EF4-FFF2-40B4-BE49-F238E27FC236}">
                  <a16:creationId xmlns:a16="http://schemas.microsoft.com/office/drawing/2014/main" id="{406F7B14-57F7-45A4-B312-5D92CA705644}"/>
                </a:ext>
              </a:extLst>
            </p:cNvPr>
            <p:cNvSpPr/>
            <p:nvPr/>
          </p:nvSpPr>
          <p:spPr>
            <a:xfrm>
              <a:off x="1955818" y="4579188"/>
              <a:ext cx="5496502" cy="938044"/>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100">
                <a:solidFill>
                  <a:schemeClr val="tx1"/>
                </a:solidFill>
              </a:endParaRPr>
            </a:p>
          </p:txBody>
        </p:sp>
        <p:sp>
          <p:nvSpPr>
            <p:cNvPr id="32" name="TextBox 31">
              <a:extLst>
                <a:ext uri="{FF2B5EF4-FFF2-40B4-BE49-F238E27FC236}">
                  <a16:creationId xmlns:a16="http://schemas.microsoft.com/office/drawing/2014/main" id="{48A5AF49-6E9C-46E9-B307-38F9B3548574}"/>
                </a:ext>
              </a:extLst>
            </p:cNvPr>
            <p:cNvSpPr txBox="1"/>
            <p:nvPr/>
          </p:nvSpPr>
          <p:spPr>
            <a:xfrm>
              <a:off x="1955819" y="4629468"/>
              <a:ext cx="765443" cy="887764"/>
            </a:xfrm>
            <a:prstGeom prst="rect">
              <a:avLst/>
            </a:prstGeom>
            <a:noFill/>
          </p:spPr>
          <p:txBody>
            <a:bodyPr wrap="square" rtlCol="0">
              <a:spAutoFit/>
            </a:bodyPr>
            <a:lstStyle/>
            <a:p>
              <a:r>
                <a:rPr lang="en-US" sz="1200" dirty="0" err="1">
                  <a:solidFill>
                    <a:schemeClr val="tx1"/>
                  </a:solidFill>
                  <a:latin typeface="+mn-lt"/>
                  <a:cs typeface="Times New Roman" panose="02020603050405020304" pitchFamily="18" charset="0"/>
                </a:rPr>
                <a:t>RowKey</a:t>
              </a:r>
              <a:r>
                <a:rPr lang="en-US" sz="1200" dirty="0">
                  <a:solidFill>
                    <a:schemeClr val="tx1"/>
                  </a:solidFill>
                  <a:latin typeface="+mn-lt"/>
                  <a:cs typeface="Times New Roman" panose="02020603050405020304" pitchFamily="18" charset="0"/>
                </a:rPr>
                <a:t> 2</a:t>
              </a:r>
              <a:endParaRPr lang="ru-RU" sz="1200" dirty="0">
                <a:solidFill>
                  <a:schemeClr val="tx1"/>
                </a:solidFill>
                <a:latin typeface="+mn-lt"/>
                <a:cs typeface="Times New Roman" panose="02020603050405020304" pitchFamily="18" charset="0"/>
              </a:endParaRPr>
            </a:p>
          </p:txBody>
        </p:sp>
        <p:sp>
          <p:nvSpPr>
            <p:cNvPr id="33" name="Rectangle 64">
              <a:extLst>
                <a:ext uri="{FF2B5EF4-FFF2-40B4-BE49-F238E27FC236}">
                  <a16:creationId xmlns:a16="http://schemas.microsoft.com/office/drawing/2014/main" id="{EB14F773-4B09-4682-BE1A-6FB82248FE68}"/>
                </a:ext>
              </a:extLst>
            </p:cNvPr>
            <p:cNvSpPr/>
            <p:nvPr/>
          </p:nvSpPr>
          <p:spPr>
            <a:xfrm>
              <a:off x="1115616" y="3478339"/>
              <a:ext cx="6480720" cy="2110901"/>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100">
                <a:solidFill>
                  <a:schemeClr val="tx1"/>
                </a:solidFill>
              </a:endParaRPr>
            </a:p>
          </p:txBody>
        </p:sp>
        <p:sp>
          <p:nvSpPr>
            <p:cNvPr id="34" name="TextBox 33">
              <a:extLst>
                <a:ext uri="{FF2B5EF4-FFF2-40B4-BE49-F238E27FC236}">
                  <a16:creationId xmlns:a16="http://schemas.microsoft.com/office/drawing/2014/main" id="{CCB16FAA-AC33-496B-A04B-C963BB14D576}"/>
                </a:ext>
              </a:extLst>
            </p:cNvPr>
            <p:cNvSpPr txBox="1"/>
            <p:nvPr/>
          </p:nvSpPr>
          <p:spPr>
            <a:xfrm>
              <a:off x="1077843" y="4182040"/>
              <a:ext cx="929178" cy="634117"/>
            </a:xfrm>
            <a:prstGeom prst="rect">
              <a:avLst/>
            </a:prstGeom>
            <a:noFill/>
          </p:spPr>
          <p:txBody>
            <a:bodyPr wrap="square" rtlCol="0">
              <a:spAutoFit/>
            </a:bodyPr>
            <a:lstStyle/>
            <a:p>
              <a:pPr algn="ctr"/>
              <a:r>
                <a:rPr lang="en-US" sz="1200" dirty="0">
                  <a:solidFill>
                    <a:schemeClr val="tx1"/>
                  </a:solidFill>
                  <a:latin typeface="+mn-lt"/>
                  <a:cs typeface="Times New Roman" panose="02020603050405020304" pitchFamily="18" charset="0"/>
                </a:rPr>
                <a:t>Region 1</a:t>
              </a:r>
              <a:endParaRPr lang="ru-RU" sz="1200" dirty="0">
                <a:solidFill>
                  <a:schemeClr val="tx1"/>
                </a:solidFill>
                <a:latin typeface="+mn-lt"/>
                <a:cs typeface="Times New Roman" panose="02020603050405020304" pitchFamily="18" charset="0"/>
              </a:endParaRPr>
            </a:p>
          </p:txBody>
        </p:sp>
      </p:grpSp>
      <p:pic>
        <p:nvPicPr>
          <p:cNvPr id="55" name="Picture 71">
            <a:extLst>
              <a:ext uri="{FF2B5EF4-FFF2-40B4-BE49-F238E27FC236}">
                <a16:creationId xmlns:a16="http://schemas.microsoft.com/office/drawing/2014/main" id="{E49F74D1-A019-4E87-92B8-0F3935D26E2B}"/>
              </a:ext>
            </a:extLst>
          </p:cNvPr>
          <p:cNvPicPr>
            <a:picLocks noChangeAspect="1"/>
          </p:cNvPicPr>
          <p:nvPr/>
        </p:nvPicPr>
        <p:blipFill>
          <a:blip r:embed="rId4"/>
          <a:stretch>
            <a:fillRect/>
          </a:stretch>
        </p:blipFill>
        <p:spPr>
          <a:xfrm>
            <a:off x="5933065" y="2689754"/>
            <a:ext cx="1182746" cy="933508"/>
          </a:xfrm>
          <a:prstGeom prst="rect">
            <a:avLst/>
          </a:prstGeom>
        </p:spPr>
      </p:pic>
      <p:pic>
        <p:nvPicPr>
          <p:cNvPr id="56" name="Picture 72">
            <a:extLst>
              <a:ext uri="{FF2B5EF4-FFF2-40B4-BE49-F238E27FC236}">
                <a16:creationId xmlns:a16="http://schemas.microsoft.com/office/drawing/2014/main" id="{273868EC-66E1-4FB7-94E3-56B3B3CD4FB7}"/>
              </a:ext>
            </a:extLst>
          </p:cNvPr>
          <p:cNvPicPr>
            <a:picLocks noChangeAspect="1"/>
          </p:cNvPicPr>
          <p:nvPr/>
        </p:nvPicPr>
        <p:blipFill>
          <a:blip r:embed="rId5"/>
          <a:stretch>
            <a:fillRect/>
          </a:stretch>
        </p:blipFill>
        <p:spPr>
          <a:xfrm>
            <a:off x="7419999" y="2645138"/>
            <a:ext cx="1281162" cy="900619"/>
          </a:xfrm>
          <a:prstGeom prst="rect">
            <a:avLst/>
          </a:prstGeom>
        </p:spPr>
      </p:pic>
      <p:sp>
        <p:nvSpPr>
          <p:cNvPr id="57" name="TextBox 56">
            <a:extLst>
              <a:ext uri="{FF2B5EF4-FFF2-40B4-BE49-F238E27FC236}">
                <a16:creationId xmlns:a16="http://schemas.microsoft.com/office/drawing/2014/main" id="{2EF6D5D9-70EC-4646-9494-69B816E76766}"/>
              </a:ext>
            </a:extLst>
          </p:cNvPr>
          <p:cNvSpPr txBox="1"/>
          <p:nvPr/>
        </p:nvSpPr>
        <p:spPr>
          <a:xfrm>
            <a:off x="563582" y="2210358"/>
            <a:ext cx="1402948" cy="338554"/>
          </a:xfrm>
          <a:prstGeom prst="rect">
            <a:avLst/>
          </a:prstGeom>
          <a:noFill/>
        </p:spPr>
        <p:txBody>
          <a:bodyPr wrap="none" rtlCol="0">
            <a:spAutoFit/>
          </a:bodyPr>
          <a:lstStyle/>
          <a:p>
            <a:r>
              <a:rPr lang="en-US" sz="1600" b="1" dirty="0">
                <a:solidFill>
                  <a:schemeClr val="accent3"/>
                </a:solidFill>
                <a:latin typeface="+mn-lt"/>
              </a:rPr>
              <a:t>Wide-column</a:t>
            </a:r>
            <a:endParaRPr lang="ru-RU" sz="1600" b="1" dirty="0">
              <a:solidFill>
                <a:schemeClr val="accent3"/>
              </a:solidFill>
              <a:latin typeface="+mn-lt"/>
            </a:endParaRPr>
          </a:p>
        </p:txBody>
      </p:sp>
      <p:pic>
        <p:nvPicPr>
          <p:cNvPr id="58" name="Picture 2" descr="ScyllaDB | The Real-Time Big Data Database">
            <a:extLst>
              <a:ext uri="{FF2B5EF4-FFF2-40B4-BE49-F238E27FC236}">
                <a16:creationId xmlns:a16="http://schemas.microsoft.com/office/drawing/2014/main" id="{F6AC7ED2-0B11-476D-B3A1-8CEA8E0795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3552" y="3948379"/>
            <a:ext cx="2064312" cy="477400"/>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1">
            <a:extLst>
              <a:ext uri="{FF2B5EF4-FFF2-40B4-BE49-F238E27FC236}">
                <a16:creationId xmlns:a16="http://schemas.microsoft.com/office/drawing/2014/main" id="{C05C1191-BB00-4E62-B8E3-9072E53C2DAF}"/>
              </a:ext>
            </a:extLst>
          </p:cNvPr>
          <p:cNvPicPr>
            <a:picLocks noChangeAspect="1"/>
          </p:cNvPicPr>
          <p:nvPr/>
        </p:nvPicPr>
        <p:blipFill>
          <a:blip r:embed="rId7"/>
          <a:stretch>
            <a:fillRect/>
          </a:stretch>
        </p:blipFill>
        <p:spPr>
          <a:xfrm>
            <a:off x="4615345" y="1292582"/>
            <a:ext cx="776581" cy="707243"/>
          </a:xfrm>
          <a:prstGeom prst="rect">
            <a:avLst/>
          </a:prstGeom>
        </p:spPr>
      </p:pic>
    </p:spTree>
    <p:extLst>
      <p:ext uri="{BB962C8B-B14F-4D97-AF65-F5344CB8AC3E}">
        <p14:creationId xmlns:p14="http://schemas.microsoft.com/office/powerpoint/2010/main" val="4275834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1084908" y="165783"/>
            <a:ext cx="6834296" cy="769441"/>
          </a:xfrm>
          <a:prstGeom prst="rect">
            <a:avLst/>
          </a:prstGeom>
          <a:noFill/>
        </p:spPr>
        <p:txBody>
          <a:bodyPr wrap="square">
            <a:spAutoFit/>
          </a:bodyPr>
          <a:lstStyle/>
          <a:p>
            <a:pPr algn="ctr"/>
            <a:r>
              <a:rPr lang="en-US" sz="4400" kern="1200" dirty="0">
                <a:solidFill>
                  <a:schemeClr val="accent3"/>
                </a:solidFill>
                <a:latin typeface="+mj-lt"/>
              </a:rPr>
              <a:t>NoSQL </a:t>
            </a:r>
            <a:r>
              <a:rPr lang="ru-RU" sz="4400" kern="1200" dirty="0">
                <a:solidFill>
                  <a:schemeClr val="accent3"/>
                </a:solidFill>
                <a:latin typeface="+mj-lt"/>
              </a:rPr>
              <a:t>базы данных</a:t>
            </a:r>
            <a:endParaRPr lang="ru-RU" sz="4400" dirty="0">
              <a:solidFill>
                <a:schemeClr val="accent3"/>
              </a:solidFill>
              <a:latin typeface="+mj-lt"/>
            </a:endParaRPr>
          </a:p>
        </p:txBody>
      </p:sp>
      <p:sp>
        <p:nvSpPr>
          <p:cNvPr id="60" name="TextBox 59">
            <a:extLst>
              <a:ext uri="{FF2B5EF4-FFF2-40B4-BE49-F238E27FC236}">
                <a16:creationId xmlns:a16="http://schemas.microsoft.com/office/drawing/2014/main" id="{FC37AAE5-C1E5-4BA0-8F62-E6BB088D42D8}"/>
              </a:ext>
            </a:extLst>
          </p:cNvPr>
          <p:cNvSpPr txBox="1"/>
          <p:nvPr/>
        </p:nvSpPr>
        <p:spPr>
          <a:xfrm>
            <a:off x="1670168" y="988321"/>
            <a:ext cx="1537600" cy="276999"/>
          </a:xfrm>
          <a:prstGeom prst="rect">
            <a:avLst/>
          </a:prstGeom>
          <a:noFill/>
        </p:spPr>
        <p:txBody>
          <a:bodyPr wrap="none" rtlCol="0">
            <a:spAutoFit/>
          </a:bodyPr>
          <a:lstStyle/>
          <a:p>
            <a:r>
              <a:rPr lang="en-US" sz="1200" b="1" dirty="0">
                <a:solidFill>
                  <a:schemeClr val="accent3"/>
                </a:solidFill>
                <a:latin typeface="+mn-lt"/>
              </a:rPr>
              <a:t>Document-oriented</a:t>
            </a:r>
            <a:endParaRPr lang="ru-RU" sz="1200" b="1" dirty="0">
              <a:solidFill>
                <a:schemeClr val="accent3"/>
              </a:solidFill>
              <a:latin typeface="+mn-lt"/>
            </a:endParaRPr>
          </a:p>
        </p:txBody>
      </p:sp>
      <p:sp>
        <p:nvSpPr>
          <p:cNvPr id="61" name="TextBox 60">
            <a:extLst>
              <a:ext uri="{FF2B5EF4-FFF2-40B4-BE49-F238E27FC236}">
                <a16:creationId xmlns:a16="http://schemas.microsoft.com/office/drawing/2014/main" id="{3D0A546C-A152-4A4B-B7BC-7E6A26B8898A}"/>
              </a:ext>
            </a:extLst>
          </p:cNvPr>
          <p:cNvSpPr txBox="1"/>
          <p:nvPr/>
        </p:nvSpPr>
        <p:spPr>
          <a:xfrm>
            <a:off x="1683193" y="3047969"/>
            <a:ext cx="611065" cy="276999"/>
          </a:xfrm>
          <a:prstGeom prst="rect">
            <a:avLst/>
          </a:prstGeom>
          <a:noFill/>
        </p:spPr>
        <p:txBody>
          <a:bodyPr wrap="none" rtlCol="0">
            <a:spAutoFit/>
          </a:bodyPr>
          <a:lstStyle/>
          <a:p>
            <a:r>
              <a:rPr lang="en-US" sz="1200" b="1" dirty="0">
                <a:solidFill>
                  <a:schemeClr val="accent3"/>
                </a:solidFill>
                <a:latin typeface="+mn-lt"/>
              </a:rPr>
              <a:t>Graph</a:t>
            </a:r>
            <a:endParaRPr lang="ru-RU" sz="1200" b="1" dirty="0">
              <a:solidFill>
                <a:schemeClr val="accent3"/>
              </a:solidFill>
              <a:latin typeface="+mn-lt"/>
            </a:endParaRPr>
          </a:p>
        </p:txBody>
      </p:sp>
      <p:grpSp>
        <p:nvGrpSpPr>
          <p:cNvPr id="62" name="Group 112">
            <a:extLst>
              <a:ext uri="{FF2B5EF4-FFF2-40B4-BE49-F238E27FC236}">
                <a16:creationId xmlns:a16="http://schemas.microsoft.com/office/drawing/2014/main" id="{A2DD26A3-BB1D-4E42-B0E2-662286A49536}"/>
              </a:ext>
            </a:extLst>
          </p:cNvPr>
          <p:cNvGrpSpPr/>
          <p:nvPr/>
        </p:nvGrpSpPr>
        <p:grpSpPr>
          <a:xfrm>
            <a:off x="1763259" y="1360210"/>
            <a:ext cx="1378314" cy="1325424"/>
            <a:chOff x="611560" y="2060849"/>
            <a:chExt cx="1868160" cy="1796474"/>
          </a:xfrm>
        </p:grpSpPr>
        <p:sp>
          <p:nvSpPr>
            <p:cNvPr id="63" name="Rectangle 6">
              <a:extLst>
                <a:ext uri="{FF2B5EF4-FFF2-40B4-BE49-F238E27FC236}">
                  <a16:creationId xmlns:a16="http://schemas.microsoft.com/office/drawing/2014/main" id="{A88647F5-1040-430D-ACF3-D92301145969}"/>
                </a:ext>
              </a:extLst>
            </p:cNvPr>
            <p:cNvSpPr/>
            <p:nvPr/>
          </p:nvSpPr>
          <p:spPr>
            <a:xfrm>
              <a:off x="611560" y="2066270"/>
              <a:ext cx="1868160" cy="17910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00">
                <a:solidFill>
                  <a:schemeClr val="tx1"/>
                </a:solidFill>
              </a:endParaRPr>
            </a:p>
          </p:txBody>
        </p:sp>
        <p:sp>
          <p:nvSpPr>
            <p:cNvPr id="64" name="TextBox 63">
              <a:extLst>
                <a:ext uri="{FF2B5EF4-FFF2-40B4-BE49-F238E27FC236}">
                  <a16:creationId xmlns:a16="http://schemas.microsoft.com/office/drawing/2014/main" id="{2533569F-FF42-4B4D-9514-93A684097A98}"/>
                </a:ext>
              </a:extLst>
            </p:cNvPr>
            <p:cNvSpPr txBox="1"/>
            <p:nvPr/>
          </p:nvSpPr>
          <p:spPr>
            <a:xfrm>
              <a:off x="611560" y="2060849"/>
              <a:ext cx="1868160" cy="333727"/>
            </a:xfrm>
            <a:prstGeom prst="rect">
              <a:avLst/>
            </a:prstGeom>
            <a:noFill/>
            <a:ln>
              <a:noFill/>
            </a:ln>
          </p:spPr>
          <p:txBody>
            <a:bodyPr wrap="square" rtlCol="0">
              <a:spAutoFit/>
            </a:bodyPr>
            <a:lstStyle/>
            <a:p>
              <a:pPr algn="ctr"/>
              <a:r>
                <a:rPr lang="en-US" sz="1000" dirty="0">
                  <a:solidFill>
                    <a:schemeClr val="tx1"/>
                  </a:solidFill>
                  <a:latin typeface="+mn-lt"/>
                  <a:cs typeface="Times New Roman" panose="02020603050405020304" pitchFamily="18" charset="0"/>
                </a:rPr>
                <a:t>collection 1</a:t>
              </a:r>
              <a:endParaRPr lang="ru-RU" sz="1000" dirty="0">
                <a:solidFill>
                  <a:schemeClr val="tx1"/>
                </a:solidFill>
                <a:latin typeface="+mn-lt"/>
                <a:cs typeface="Times New Roman" panose="02020603050405020304" pitchFamily="18" charset="0"/>
              </a:endParaRPr>
            </a:p>
          </p:txBody>
        </p:sp>
        <p:grpSp>
          <p:nvGrpSpPr>
            <p:cNvPr id="65" name="Group 111">
              <a:extLst>
                <a:ext uri="{FF2B5EF4-FFF2-40B4-BE49-F238E27FC236}">
                  <a16:creationId xmlns:a16="http://schemas.microsoft.com/office/drawing/2014/main" id="{5D9B5F81-4079-44CB-8A3C-8FD868D7BE8F}"/>
                </a:ext>
              </a:extLst>
            </p:cNvPr>
            <p:cNvGrpSpPr/>
            <p:nvPr/>
          </p:nvGrpSpPr>
          <p:grpSpPr>
            <a:xfrm>
              <a:off x="730203" y="2338854"/>
              <a:ext cx="1580067" cy="1423380"/>
              <a:chOff x="730203" y="2338854"/>
              <a:chExt cx="1580067" cy="1423380"/>
            </a:xfrm>
          </p:grpSpPr>
          <p:sp>
            <p:nvSpPr>
              <p:cNvPr id="66" name="TextBox 65">
                <a:extLst>
                  <a:ext uri="{FF2B5EF4-FFF2-40B4-BE49-F238E27FC236}">
                    <a16:creationId xmlns:a16="http://schemas.microsoft.com/office/drawing/2014/main" id="{FEB17AB7-5B8C-461C-A792-133487CE84AE}"/>
                  </a:ext>
                </a:extLst>
              </p:cNvPr>
              <p:cNvSpPr txBox="1"/>
              <p:nvPr/>
            </p:nvSpPr>
            <p:spPr>
              <a:xfrm>
                <a:off x="730203" y="2338854"/>
                <a:ext cx="1382666" cy="1251477"/>
              </a:xfrm>
              <a:prstGeom prst="rect">
                <a:avLst/>
              </a:prstGeom>
              <a:solidFill>
                <a:schemeClr val="bg1"/>
              </a:solidFill>
              <a:ln>
                <a:solidFill>
                  <a:srgbClr val="2572BB"/>
                </a:solidFill>
              </a:ln>
            </p:spPr>
            <p:txBody>
              <a:bodyPr wrap="square" rtlCol="0">
                <a:spAutoFit/>
              </a:bodyPr>
              <a:lstStyle/>
              <a:p>
                <a:pPr algn="ctr"/>
                <a:r>
                  <a:rPr lang="en-US" sz="900" dirty="0">
                    <a:solidFill>
                      <a:schemeClr val="tx1"/>
                    </a:solidFill>
                    <a:latin typeface="+mn-lt"/>
                    <a:cs typeface="Times New Roman" panose="02020603050405020304" pitchFamily="18" charset="0"/>
                  </a:rPr>
                  <a:t>document 5</a:t>
                </a:r>
              </a:p>
              <a:p>
                <a:r>
                  <a:rPr lang="en-US" sz="900" dirty="0">
                    <a:solidFill>
                      <a:schemeClr val="tx1"/>
                    </a:solidFill>
                    <a:latin typeface="+mn-lt"/>
                    <a:cs typeface="Times New Roman" panose="02020603050405020304" pitchFamily="18" charset="0"/>
                  </a:rPr>
                  <a:t>{</a:t>
                </a:r>
              </a:p>
              <a:p>
                <a:r>
                  <a:rPr lang="en-US" sz="900" dirty="0">
                    <a:solidFill>
                      <a:schemeClr val="tx1"/>
                    </a:solidFill>
                    <a:latin typeface="+mn-lt"/>
                    <a:cs typeface="Times New Roman" panose="02020603050405020304" pitchFamily="18" charset="0"/>
                  </a:rPr>
                  <a:t>    field_1: value,</a:t>
                </a:r>
              </a:p>
              <a:p>
                <a:r>
                  <a:rPr lang="en-US" sz="900" dirty="0">
                    <a:solidFill>
                      <a:schemeClr val="tx1"/>
                    </a:solidFill>
                    <a:latin typeface="+mn-lt"/>
                    <a:cs typeface="Times New Roman" panose="02020603050405020304" pitchFamily="18" charset="0"/>
                  </a:rPr>
                  <a:t>    field_2: value,</a:t>
                </a:r>
              </a:p>
              <a:p>
                <a:r>
                  <a:rPr lang="en-US" sz="900" dirty="0">
                    <a:solidFill>
                      <a:schemeClr val="tx1"/>
                    </a:solidFill>
                    <a:latin typeface="+mn-lt"/>
                    <a:cs typeface="Times New Roman" panose="02020603050405020304" pitchFamily="18" charset="0"/>
                  </a:rPr>
                  <a:t>    field_3: value</a:t>
                </a:r>
              </a:p>
              <a:p>
                <a:r>
                  <a:rPr lang="en-US" sz="900" dirty="0">
                    <a:solidFill>
                      <a:schemeClr val="tx1"/>
                    </a:solidFill>
                    <a:latin typeface="+mn-lt"/>
                    <a:cs typeface="Times New Roman" panose="02020603050405020304" pitchFamily="18" charset="0"/>
                  </a:rPr>
                  <a:t> }</a:t>
                </a:r>
                <a:endParaRPr lang="ru-RU" sz="900" dirty="0">
                  <a:solidFill>
                    <a:schemeClr val="tx1"/>
                  </a:solidFill>
                  <a:latin typeface="+mn-lt"/>
                  <a:cs typeface="Times New Roman" panose="02020603050405020304" pitchFamily="18" charset="0"/>
                </a:endParaRPr>
              </a:p>
            </p:txBody>
          </p:sp>
          <p:sp>
            <p:nvSpPr>
              <p:cNvPr id="67" name="TextBox 66">
                <a:extLst>
                  <a:ext uri="{FF2B5EF4-FFF2-40B4-BE49-F238E27FC236}">
                    <a16:creationId xmlns:a16="http://schemas.microsoft.com/office/drawing/2014/main" id="{6B4F0092-3B32-4CBC-BBF6-E70BC0D75E8D}"/>
                  </a:ext>
                </a:extLst>
              </p:cNvPr>
              <p:cNvSpPr txBox="1"/>
              <p:nvPr/>
            </p:nvSpPr>
            <p:spPr>
              <a:xfrm>
                <a:off x="775851" y="2380030"/>
                <a:ext cx="1382666" cy="1251477"/>
              </a:xfrm>
              <a:prstGeom prst="rect">
                <a:avLst/>
              </a:prstGeom>
              <a:solidFill>
                <a:schemeClr val="bg1"/>
              </a:solidFill>
              <a:ln>
                <a:solidFill>
                  <a:srgbClr val="2572BB"/>
                </a:solidFill>
              </a:ln>
            </p:spPr>
            <p:txBody>
              <a:bodyPr wrap="square" rtlCol="0">
                <a:spAutoFit/>
              </a:bodyPr>
              <a:lstStyle/>
              <a:p>
                <a:pPr algn="ctr"/>
                <a:r>
                  <a:rPr lang="en-US" sz="900" dirty="0">
                    <a:solidFill>
                      <a:schemeClr val="tx1"/>
                    </a:solidFill>
                    <a:latin typeface="+mn-lt"/>
                    <a:cs typeface="Times New Roman" panose="02020603050405020304" pitchFamily="18" charset="0"/>
                  </a:rPr>
                  <a:t>document 4</a:t>
                </a:r>
              </a:p>
              <a:p>
                <a:r>
                  <a:rPr lang="en-US" sz="900" dirty="0">
                    <a:solidFill>
                      <a:schemeClr val="tx1"/>
                    </a:solidFill>
                    <a:latin typeface="+mn-lt"/>
                    <a:cs typeface="Times New Roman" panose="02020603050405020304" pitchFamily="18" charset="0"/>
                  </a:rPr>
                  <a:t>{</a:t>
                </a:r>
              </a:p>
              <a:p>
                <a:r>
                  <a:rPr lang="en-US" sz="900" dirty="0">
                    <a:solidFill>
                      <a:schemeClr val="tx1"/>
                    </a:solidFill>
                    <a:latin typeface="+mn-lt"/>
                    <a:cs typeface="Times New Roman" panose="02020603050405020304" pitchFamily="18" charset="0"/>
                  </a:rPr>
                  <a:t>    field_1: value,</a:t>
                </a:r>
              </a:p>
              <a:p>
                <a:r>
                  <a:rPr lang="en-US" sz="900" dirty="0">
                    <a:solidFill>
                      <a:schemeClr val="tx1"/>
                    </a:solidFill>
                    <a:latin typeface="+mn-lt"/>
                    <a:cs typeface="Times New Roman" panose="02020603050405020304" pitchFamily="18" charset="0"/>
                  </a:rPr>
                  <a:t>    field_2: value,</a:t>
                </a:r>
              </a:p>
              <a:p>
                <a:r>
                  <a:rPr lang="en-US" sz="900" dirty="0">
                    <a:solidFill>
                      <a:schemeClr val="tx1"/>
                    </a:solidFill>
                    <a:latin typeface="+mn-lt"/>
                    <a:cs typeface="Times New Roman" panose="02020603050405020304" pitchFamily="18" charset="0"/>
                  </a:rPr>
                  <a:t>    field_3: value</a:t>
                </a:r>
              </a:p>
              <a:p>
                <a:r>
                  <a:rPr lang="en-US" sz="900" dirty="0">
                    <a:solidFill>
                      <a:schemeClr val="tx1"/>
                    </a:solidFill>
                    <a:latin typeface="+mn-lt"/>
                    <a:cs typeface="Times New Roman" panose="02020603050405020304" pitchFamily="18" charset="0"/>
                  </a:rPr>
                  <a:t> }</a:t>
                </a:r>
                <a:endParaRPr lang="ru-RU" sz="900" dirty="0">
                  <a:solidFill>
                    <a:schemeClr val="tx1"/>
                  </a:solidFill>
                  <a:latin typeface="+mn-lt"/>
                  <a:cs typeface="Times New Roman" panose="02020603050405020304" pitchFamily="18" charset="0"/>
                </a:endParaRPr>
              </a:p>
            </p:txBody>
          </p:sp>
          <p:sp>
            <p:nvSpPr>
              <p:cNvPr id="68" name="TextBox 67">
                <a:extLst>
                  <a:ext uri="{FF2B5EF4-FFF2-40B4-BE49-F238E27FC236}">
                    <a16:creationId xmlns:a16="http://schemas.microsoft.com/office/drawing/2014/main" id="{3BE720CA-A8C9-4696-813B-A7582607ED5B}"/>
                  </a:ext>
                </a:extLst>
              </p:cNvPr>
              <p:cNvSpPr txBox="1"/>
              <p:nvPr/>
            </p:nvSpPr>
            <p:spPr>
              <a:xfrm>
                <a:off x="819532" y="2420888"/>
                <a:ext cx="1382666" cy="1251477"/>
              </a:xfrm>
              <a:prstGeom prst="rect">
                <a:avLst/>
              </a:prstGeom>
              <a:solidFill>
                <a:schemeClr val="bg1"/>
              </a:solidFill>
              <a:ln>
                <a:solidFill>
                  <a:srgbClr val="2572BB"/>
                </a:solidFill>
              </a:ln>
            </p:spPr>
            <p:txBody>
              <a:bodyPr wrap="square" rtlCol="0">
                <a:spAutoFit/>
              </a:bodyPr>
              <a:lstStyle/>
              <a:p>
                <a:pPr algn="ctr"/>
                <a:r>
                  <a:rPr lang="en-US" sz="900" dirty="0">
                    <a:solidFill>
                      <a:schemeClr val="tx1"/>
                    </a:solidFill>
                    <a:latin typeface="+mn-lt"/>
                    <a:cs typeface="Times New Roman" panose="02020603050405020304" pitchFamily="18" charset="0"/>
                  </a:rPr>
                  <a:t>document 3</a:t>
                </a:r>
              </a:p>
              <a:p>
                <a:r>
                  <a:rPr lang="en-US" sz="900" dirty="0">
                    <a:solidFill>
                      <a:schemeClr val="tx1"/>
                    </a:solidFill>
                    <a:latin typeface="+mn-lt"/>
                    <a:cs typeface="Times New Roman" panose="02020603050405020304" pitchFamily="18" charset="0"/>
                  </a:rPr>
                  <a:t>{</a:t>
                </a:r>
              </a:p>
              <a:p>
                <a:r>
                  <a:rPr lang="en-US" sz="900" dirty="0">
                    <a:solidFill>
                      <a:schemeClr val="tx1"/>
                    </a:solidFill>
                    <a:latin typeface="+mn-lt"/>
                    <a:cs typeface="Times New Roman" panose="02020603050405020304" pitchFamily="18" charset="0"/>
                  </a:rPr>
                  <a:t>    field_1: value,</a:t>
                </a:r>
              </a:p>
              <a:p>
                <a:r>
                  <a:rPr lang="en-US" sz="900" dirty="0">
                    <a:solidFill>
                      <a:schemeClr val="tx1"/>
                    </a:solidFill>
                    <a:latin typeface="+mn-lt"/>
                    <a:cs typeface="Times New Roman" panose="02020603050405020304" pitchFamily="18" charset="0"/>
                  </a:rPr>
                  <a:t>    field_2: value,</a:t>
                </a:r>
              </a:p>
              <a:p>
                <a:r>
                  <a:rPr lang="en-US" sz="900" dirty="0">
                    <a:solidFill>
                      <a:schemeClr val="tx1"/>
                    </a:solidFill>
                    <a:latin typeface="+mn-lt"/>
                    <a:cs typeface="Times New Roman" panose="02020603050405020304" pitchFamily="18" charset="0"/>
                  </a:rPr>
                  <a:t>    field_3: value</a:t>
                </a:r>
              </a:p>
              <a:p>
                <a:r>
                  <a:rPr lang="en-US" sz="900" dirty="0">
                    <a:solidFill>
                      <a:schemeClr val="tx1"/>
                    </a:solidFill>
                    <a:latin typeface="+mn-lt"/>
                    <a:cs typeface="Times New Roman" panose="02020603050405020304" pitchFamily="18" charset="0"/>
                  </a:rPr>
                  <a:t> }</a:t>
                </a:r>
                <a:endParaRPr lang="ru-RU" sz="900" dirty="0">
                  <a:solidFill>
                    <a:schemeClr val="tx1"/>
                  </a:solidFill>
                  <a:latin typeface="+mn-lt"/>
                  <a:cs typeface="Times New Roman" panose="02020603050405020304" pitchFamily="18" charset="0"/>
                </a:endParaRPr>
              </a:p>
            </p:txBody>
          </p:sp>
          <p:sp>
            <p:nvSpPr>
              <p:cNvPr id="69" name="TextBox 68">
                <a:extLst>
                  <a:ext uri="{FF2B5EF4-FFF2-40B4-BE49-F238E27FC236}">
                    <a16:creationId xmlns:a16="http://schemas.microsoft.com/office/drawing/2014/main" id="{D966D9BC-C561-4503-9129-6E83DB5FEEF7}"/>
                  </a:ext>
                </a:extLst>
              </p:cNvPr>
              <p:cNvSpPr txBox="1"/>
              <p:nvPr/>
            </p:nvSpPr>
            <p:spPr>
              <a:xfrm>
                <a:off x="876598" y="2470411"/>
                <a:ext cx="1382666" cy="1251477"/>
              </a:xfrm>
              <a:prstGeom prst="rect">
                <a:avLst/>
              </a:prstGeom>
              <a:solidFill>
                <a:schemeClr val="bg1"/>
              </a:solidFill>
              <a:ln>
                <a:solidFill>
                  <a:srgbClr val="2572BB"/>
                </a:solidFill>
              </a:ln>
            </p:spPr>
            <p:txBody>
              <a:bodyPr wrap="square" rtlCol="0">
                <a:spAutoFit/>
              </a:bodyPr>
              <a:lstStyle/>
              <a:p>
                <a:pPr algn="ctr"/>
                <a:r>
                  <a:rPr lang="en-US" sz="900" dirty="0">
                    <a:solidFill>
                      <a:schemeClr val="tx1"/>
                    </a:solidFill>
                    <a:latin typeface="+mn-lt"/>
                    <a:cs typeface="Times New Roman" panose="02020603050405020304" pitchFamily="18" charset="0"/>
                  </a:rPr>
                  <a:t>document 2</a:t>
                </a:r>
              </a:p>
              <a:p>
                <a:r>
                  <a:rPr lang="en-US" sz="900" dirty="0">
                    <a:solidFill>
                      <a:schemeClr val="tx1"/>
                    </a:solidFill>
                    <a:latin typeface="+mn-lt"/>
                    <a:cs typeface="Times New Roman" panose="02020603050405020304" pitchFamily="18" charset="0"/>
                  </a:rPr>
                  <a:t>{</a:t>
                </a:r>
              </a:p>
              <a:p>
                <a:r>
                  <a:rPr lang="en-US" sz="900" dirty="0">
                    <a:solidFill>
                      <a:schemeClr val="tx1"/>
                    </a:solidFill>
                    <a:latin typeface="+mn-lt"/>
                    <a:cs typeface="Times New Roman" panose="02020603050405020304" pitchFamily="18" charset="0"/>
                  </a:rPr>
                  <a:t>    field_1: value,</a:t>
                </a:r>
              </a:p>
              <a:p>
                <a:r>
                  <a:rPr lang="en-US" sz="900" dirty="0">
                    <a:solidFill>
                      <a:schemeClr val="tx1"/>
                    </a:solidFill>
                    <a:latin typeface="+mn-lt"/>
                    <a:cs typeface="Times New Roman" panose="02020603050405020304" pitchFamily="18" charset="0"/>
                  </a:rPr>
                  <a:t>    field_2: value</a:t>
                </a:r>
              </a:p>
              <a:p>
                <a:r>
                  <a:rPr lang="en-US" sz="900" dirty="0">
                    <a:solidFill>
                      <a:schemeClr val="tx1"/>
                    </a:solidFill>
                    <a:latin typeface="+mn-lt"/>
                    <a:cs typeface="Times New Roman" panose="02020603050405020304" pitchFamily="18" charset="0"/>
                  </a:rPr>
                  <a:t>}</a:t>
                </a:r>
              </a:p>
              <a:p>
                <a:endParaRPr lang="ru-RU" sz="900" dirty="0">
                  <a:solidFill>
                    <a:schemeClr val="tx1"/>
                  </a:solidFill>
                  <a:latin typeface="+mn-lt"/>
                  <a:cs typeface="Times New Roman" panose="02020603050405020304" pitchFamily="18" charset="0"/>
                </a:endParaRPr>
              </a:p>
            </p:txBody>
          </p:sp>
          <p:sp>
            <p:nvSpPr>
              <p:cNvPr id="70" name="TextBox 69">
                <a:extLst>
                  <a:ext uri="{FF2B5EF4-FFF2-40B4-BE49-F238E27FC236}">
                    <a16:creationId xmlns:a16="http://schemas.microsoft.com/office/drawing/2014/main" id="{73982D61-2F23-45CC-88B9-6DA6B4AE93E8}"/>
                  </a:ext>
                </a:extLst>
              </p:cNvPr>
              <p:cNvSpPr txBox="1"/>
              <p:nvPr/>
            </p:nvSpPr>
            <p:spPr>
              <a:xfrm>
                <a:off x="927604" y="2510757"/>
                <a:ext cx="1382666" cy="1251477"/>
              </a:xfrm>
              <a:prstGeom prst="rect">
                <a:avLst/>
              </a:prstGeom>
              <a:solidFill>
                <a:schemeClr val="bg1"/>
              </a:solidFill>
              <a:ln>
                <a:solidFill>
                  <a:srgbClr val="2572BB"/>
                </a:solidFill>
              </a:ln>
            </p:spPr>
            <p:txBody>
              <a:bodyPr wrap="square" rtlCol="0">
                <a:spAutoFit/>
              </a:bodyPr>
              <a:lstStyle/>
              <a:p>
                <a:pPr algn="ctr"/>
                <a:r>
                  <a:rPr lang="en-US" sz="900" dirty="0">
                    <a:solidFill>
                      <a:schemeClr val="tx1"/>
                    </a:solidFill>
                    <a:latin typeface="+mn-lt"/>
                    <a:cs typeface="Times New Roman" panose="02020603050405020304" pitchFamily="18" charset="0"/>
                  </a:rPr>
                  <a:t>document 1</a:t>
                </a:r>
              </a:p>
              <a:p>
                <a:r>
                  <a:rPr lang="en-US" sz="900" dirty="0">
                    <a:solidFill>
                      <a:schemeClr val="tx1"/>
                    </a:solidFill>
                    <a:latin typeface="+mn-lt"/>
                    <a:cs typeface="Times New Roman" panose="02020603050405020304" pitchFamily="18" charset="0"/>
                  </a:rPr>
                  <a:t>{</a:t>
                </a:r>
              </a:p>
              <a:p>
                <a:r>
                  <a:rPr lang="en-US" sz="900" dirty="0">
                    <a:solidFill>
                      <a:schemeClr val="tx1"/>
                    </a:solidFill>
                    <a:latin typeface="+mn-lt"/>
                    <a:cs typeface="Times New Roman" panose="02020603050405020304" pitchFamily="18" charset="0"/>
                  </a:rPr>
                  <a:t>    field_1: value,</a:t>
                </a:r>
              </a:p>
              <a:p>
                <a:r>
                  <a:rPr lang="en-US" sz="900" dirty="0">
                    <a:solidFill>
                      <a:schemeClr val="tx1"/>
                    </a:solidFill>
                    <a:latin typeface="+mn-lt"/>
                    <a:cs typeface="Times New Roman" panose="02020603050405020304" pitchFamily="18" charset="0"/>
                  </a:rPr>
                  <a:t>    field_2: value,</a:t>
                </a:r>
              </a:p>
              <a:p>
                <a:r>
                  <a:rPr lang="en-US" sz="900" dirty="0">
                    <a:solidFill>
                      <a:schemeClr val="tx1"/>
                    </a:solidFill>
                    <a:latin typeface="+mn-lt"/>
                    <a:cs typeface="Times New Roman" panose="02020603050405020304" pitchFamily="18" charset="0"/>
                  </a:rPr>
                  <a:t>    field_3: value</a:t>
                </a:r>
              </a:p>
              <a:p>
                <a:r>
                  <a:rPr lang="en-US" sz="900" dirty="0">
                    <a:solidFill>
                      <a:schemeClr val="tx1"/>
                    </a:solidFill>
                    <a:latin typeface="+mn-lt"/>
                    <a:cs typeface="Times New Roman" panose="02020603050405020304" pitchFamily="18" charset="0"/>
                  </a:rPr>
                  <a:t>}</a:t>
                </a:r>
                <a:endParaRPr lang="ru-RU" sz="900" dirty="0">
                  <a:solidFill>
                    <a:schemeClr val="tx1"/>
                  </a:solidFill>
                  <a:latin typeface="+mn-lt"/>
                  <a:cs typeface="Times New Roman" panose="02020603050405020304" pitchFamily="18" charset="0"/>
                </a:endParaRPr>
              </a:p>
            </p:txBody>
          </p:sp>
        </p:grpSp>
      </p:grpSp>
      <p:sp>
        <p:nvSpPr>
          <p:cNvPr id="71" name="TextBox 70">
            <a:extLst>
              <a:ext uri="{FF2B5EF4-FFF2-40B4-BE49-F238E27FC236}">
                <a16:creationId xmlns:a16="http://schemas.microsoft.com/office/drawing/2014/main" id="{E15D7468-D2D5-4D68-8EFD-C5232F97C29B}"/>
              </a:ext>
            </a:extLst>
          </p:cNvPr>
          <p:cNvSpPr txBox="1"/>
          <p:nvPr/>
        </p:nvSpPr>
        <p:spPr>
          <a:xfrm>
            <a:off x="3144559" y="2196429"/>
            <a:ext cx="521391" cy="246221"/>
          </a:xfrm>
          <a:prstGeom prst="rect">
            <a:avLst/>
          </a:prstGeom>
          <a:noFill/>
        </p:spPr>
        <p:txBody>
          <a:bodyPr wrap="square" rtlCol="0">
            <a:spAutoFit/>
          </a:bodyPr>
          <a:lstStyle/>
          <a:p>
            <a:pPr algn="ctr"/>
            <a:r>
              <a:rPr lang="en-US" sz="1000" dirty="0">
                <a:latin typeface="+mn-lt"/>
                <a:cs typeface="Times New Roman" panose="02020603050405020304" pitchFamily="18" charset="0"/>
              </a:rPr>
              <a:t>…</a:t>
            </a:r>
            <a:endParaRPr lang="ru-RU" sz="1000" dirty="0">
              <a:latin typeface="+mn-lt"/>
              <a:cs typeface="Times New Roman" panose="02020603050405020304" pitchFamily="18" charset="0"/>
            </a:endParaRPr>
          </a:p>
        </p:txBody>
      </p:sp>
      <p:pic>
        <p:nvPicPr>
          <p:cNvPr id="72" name="Picture 23">
            <a:extLst>
              <a:ext uri="{FF2B5EF4-FFF2-40B4-BE49-F238E27FC236}">
                <a16:creationId xmlns:a16="http://schemas.microsoft.com/office/drawing/2014/main" id="{D3609218-066B-42DF-82F9-D354CF0898E5}"/>
              </a:ext>
            </a:extLst>
          </p:cNvPr>
          <p:cNvPicPr>
            <a:picLocks noChangeAspect="1"/>
          </p:cNvPicPr>
          <p:nvPr/>
        </p:nvPicPr>
        <p:blipFill>
          <a:blip r:embed="rId3"/>
          <a:stretch>
            <a:fillRect/>
          </a:stretch>
        </p:blipFill>
        <p:spPr>
          <a:xfrm>
            <a:off x="5644929" y="1500332"/>
            <a:ext cx="850031" cy="1006359"/>
          </a:xfrm>
          <a:prstGeom prst="rect">
            <a:avLst/>
          </a:prstGeom>
        </p:spPr>
      </p:pic>
      <p:pic>
        <p:nvPicPr>
          <p:cNvPr id="73" name="Picture 2" descr="Картинки по запросу &quot;couchdb&quot;&quot;">
            <a:extLst>
              <a:ext uri="{FF2B5EF4-FFF2-40B4-BE49-F238E27FC236}">
                <a16:creationId xmlns:a16="http://schemas.microsoft.com/office/drawing/2014/main" id="{6640F71C-1172-4A73-8A69-4C9FE0395E6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971" t="7388" r="58917" b="7404"/>
          <a:stretch/>
        </p:blipFill>
        <p:spPr bwMode="auto">
          <a:xfrm>
            <a:off x="6843814" y="1646188"/>
            <a:ext cx="743777" cy="759946"/>
          </a:xfrm>
          <a:prstGeom prst="rect">
            <a:avLst/>
          </a:prstGeom>
          <a:noFill/>
          <a:extLst>
            <a:ext uri="{909E8E84-426E-40DD-AFC4-6F175D3DCCD1}">
              <a14:hiddenFill xmlns:a14="http://schemas.microsoft.com/office/drawing/2010/main">
                <a:solidFill>
                  <a:srgbClr val="FFFFFF"/>
                </a:solidFill>
              </a14:hiddenFill>
            </a:ext>
          </a:extLst>
        </p:spPr>
      </p:pic>
      <p:grpSp>
        <p:nvGrpSpPr>
          <p:cNvPr id="74" name="Group 114">
            <a:extLst>
              <a:ext uri="{FF2B5EF4-FFF2-40B4-BE49-F238E27FC236}">
                <a16:creationId xmlns:a16="http://schemas.microsoft.com/office/drawing/2014/main" id="{A2B575D0-B896-4E83-AA77-8AFC2DD094A3}"/>
              </a:ext>
            </a:extLst>
          </p:cNvPr>
          <p:cNvGrpSpPr/>
          <p:nvPr/>
        </p:nvGrpSpPr>
        <p:grpSpPr>
          <a:xfrm>
            <a:off x="3634862" y="1360210"/>
            <a:ext cx="1378314" cy="1325424"/>
            <a:chOff x="611560" y="2060849"/>
            <a:chExt cx="1868160" cy="1796474"/>
          </a:xfrm>
        </p:grpSpPr>
        <p:sp>
          <p:nvSpPr>
            <p:cNvPr id="75" name="Rectangle 115">
              <a:extLst>
                <a:ext uri="{FF2B5EF4-FFF2-40B4-BE49-F238E27FC236}">
                  <a16:creationId xmlns:a16="http://schemas.microsoft.com/office/drawing/2014/main" id="{2EA2306F-A394-42F0-876B-F8260B3F34C4}"/>
                </a:ext>
              </a:extLst>
            </p:cNvPr>
            <p:cNvSpPr/>
            <p:nvPr/>
          </p:nvSpPr>
          <p:spPr>
            <a:xfrm>
              <a:off x="611560" y="2066270"/>
              <a:ext cx="1868160" cy="17910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00">
                <a:solidFill>
                  <a:schemeClr val="tx1"/>
                </a:solidFill>
              </a:endParaRPr>
            </a:p>
          </p:txBody>
        </p:sp>
        <p:sp>
          <p:nvSpPr>
            <p:cNvPr id="76" name="TextBox 75">
              <a:extLst>
                <a:ext uri="{FF2B5EF4-FFF2-40B4-BE49-F238E27FC236}">
                  <a16:creationId xmlns:a16="http://schemas.microsoft.com/office/drawing/2014/main" id="{D8470C1D-DDFB-4EFC-8873-59F6511EC226}"/>
                </a:ext>
              </a:extLst>
            </p:cNvPr>
            <p:cNvSpPr txBox="1"/>
            <p:nvPr/>
          </p:nvSpPr>
          <p:spPr>
            <a:xfrm>
              <a:off x="611560" y="2060849"/>
              <a:ext cx="1868160" cy="333727"/>
            </a:xfrm>
            <a:prstGeom prst="rect">
              <a:avLst/>
            </a:prstGeom>
            <a:noFill/>
            <a:ln>
              <a:noFill/>
            </a:ln>
          </p:spPr>
          <p:txBody>
            <a:bodyPr wrap="square" rtlCol="0">
              <a:spAutoFit/>
            </a:bodyPr>
            <a:lstStyle/>
            <a:p>
              <a:pPr algn="ctr"/>
              <a:r>
                <a:rPr lang="en-US" sz="1000" dirty="0">
                  <a:solidFill>
                    <a:schemeClr val="tx1"/>
                  </a:solidFill>
                  <a:latin typeface="+mn-lt"/>
                  <a:cs typeface="Times New Roman" panose="02020603050405020304" pitchFamily="18" charset="0"/>
                </a:rPr>
                <a:t>collection 2</a:t>
              </a:r>
              <a:endParaRPr lang="ru-RU" sz="1000" dirty="0">
                <a:solidFill>
                  <a:schemeClr val="tx1"/>
                </a:solidFill>
                <a:latin typeface="+mn-lt"/>
                <a:cs typeface="Times New Roman" panose="02020603050405020304" pitchFamily="18" charset="0"/>
              </a:endParaRPr>
            </a:p>
          </p:txBody>
        </p:sp>
        <p:grpSp>
          <p:nvGrpSpPr>
            <p:cNvPr id="77" name="Group 117">
              <a:extLst>
                <a:ext uri="{FF2B5EF4-FFF2-40B4-BE49-F238E27FC236}">
                  <a16:creationId xmlns:a16="http://schemas.microsoft.com/office/drawing/2014/main" id="{805D942E-D6EA-4411-9F53-B1C3532E7083}"/>
                </a:ext>
              </a:extLst>
            </p:cNvPr>
            <p:cNvGrpSpPr/>
            <p:nvPr/>
          </p:nvGrpSpPr>
          <p:grpSpPr>
            <a:xfrm>
              <a:off x="730203" y="2338854"/>
              <a:ext cx="1580067" cy="1423380"/>
              <a:chOff x="730203" y="2338854"/>
              <a:chExt cx="1580067" cy="1423380"/>
            </a:xfrm>
          </p:grpSpPr>
          <p:sp>
            <p:nvSpPr>
              <p:cNvPr id="78" name="TextBox 77">
                <a:extLst>
                  <a:ext uri="{FF2B5EF4-FFF2-40B4-BE49-F238E27FC236}">
                    <a16:creationId xmlns:a16="http://schemas.microsoft.com/office/drawing/2014/main" id="{65B2201E-DD28-4D3C-83F3-8D8B93BA3055}"/>
                  </a:ext>
                </a:extLst>
              </p:cNvPr>
              <p:cNvSpPr txBox="1"/>
              <p:nvPr/>
            </p:nvSpPr>
            <p:spPr>
              <a:xfrm>
                <a:off x="730203" y="2338854"/>
                <a:ext cx="1382666" cy="1251477"/>
              </a:xfrm>
              <a:prstGeom prst="rect">
                <a:avLst/>
              </a:prstGeom>
              <a:solidFill>
                <a:schemeClr val="bg1"/>
              </a:solidFill>
              <a:ln>
                <a:solidFill>
                  <a:srgbClr val="2572BB"/>
                </a:solidFill>
              </a:ln>
            </p:spPr>
            <p:txBody>
              <a:bodyPr wrap="square" rtlCol="0">
                <a:spAutoFit/>
              </a:bodyPr>
              <a:lstStyle/>
              <a:p>
                <a:pPr algn="ctr"/>
                <a:r>
                  <a:rPr lang="en-US" sz="900" dirty="0">
                    <a:solidFill>
                      <a:schemeClr val="tx1"/>
                    </a:solidFill>
                    <a:latin typeface="+mn-lt"/>
                    <a:cs typeface="Times New Roman" panose="02020603050405020304" pitchFamily="18" charset="0"/>
                  </a:rPr>
                  <a:t>document 5</a:t>
                </a:r>
              </a:p>
              <a:p>
                <a:r>
                  <a:rPr lang="en-US" sz="900" dirty="0">
                    <a:solidFill>
                      <a:schemeClr val="tx1"/>
                    </a:solidFill>
                    <a:latin typeface="+mn-lt"/>
                    <a:cs typeface="Times New Roman" panose="02020603050405020304" pitchFamily="18" charset="0"/>
                  </a:rPr>
                  <a:t>{</a:t>
                </a:r>
              </a:p>
              <a:p>
                <a:r>
                  <a:rPr lang="en-US" sz="900" dirty="0">
                    <a:solidFill>
                      <a:schemeClr val="tx1"/>
                    </a:solidFill>
                    <a:latin typeface="+mn-lt"/>
                    <a:cs typeface="Times New Roman" panose="02020603050405020304" pitchFamily="18" charset="0"/>
                  </a:rPr>
                  <a:t>    field_1: value,</a:t>
                </a:r>
              </a:p>
              <a:p>
                <a:r>
                  <a:rPr lang="en-US" sz="900" dirty="0">
                    <a:solidFill>
                      <a:schemeClr val="tx1"/>
                    </a:solidFill>
                    <a:latin typeface="+mn-lt"/>
                    <a:cs typeface="Times New Roman" panose="02020603050405020304" pitchFamily="18" charset="0"/>
                  </a:rPr>
                  <a:t>    field_2: value,</a:t>
                </a:r>
              </a:p>
              <a:p>
                <a:r>
                  <a:rPr lang="en-US" sz="900" dirty="0">
                    <a:solidFill>
                      <a:schemeClr val="tx1"/>
                    </a:solidFill>
                    <a:latin typeface="+mn-lt"/>
                    <a:cs typeface="Times New Roman" panose="02020603050405020304" pitchFamily="18" charset="0"/>
                  </a:rPr>
                  <a:t>    field_3: value</a:t>
                </a:r>
              </a:p>
              <a:p>
                <a:r>
                  <a:rPr lang="en-US" sz="900" dirty="0">
                    <a:solidFill>
                      <a:schemeClr val="tx1"/>
                    </a:solidFill>
                    <a:latin typeface="+mn-lt"/>
                    <a:cs typeface="Times New Roman" panose="02020603050405020304" pitchFamily="18" charset="0"/>
                  </a:rPr>
                  <a:t> }</a:t>
                </a:r>
                <a:endParaRPr lang="ru-RU" sz="900" dirty="0">
                  <a:solidFill>
                    <a:schemeClr val="tx1"/>
                  </a:solidFill>
                  <a:latin typeface="+mn-lt"/>
                  <a:cs typeface="Times New Roman" panose="02020603050405020304" pitchFamily="18" charset="0"/>
                </a:endParaRPr>
              </a:p>
            </p:txBody>
          </p:sp>
          <p:sp>
            <p:nvSpPr>
              <p:cNvPr id="79" name="TextBox 78">
                <a:extLst>
                  <a:ext uri="{FF2B5EF4-FFF2-40B4-BE49-F238E27FC236}">
                    <a16:creationId xmlns:a16="http://schemas.microsoft.com/office/drawing/2014/main" id="{2BEDF942-A9BE-4D5A-B77A-8A4432D8E13C}"/>
                  </a:ext>
                </a:extLst>
              </p:cNvPr>
              <p:cNvSpPr txBox="1"/>
              <p:nvPr/>
            </p:nvSpPr>
            <p:spPr>
              <a:xfrm>
                <a:off x="775851" y="2380030"/>
                <a:ext cx="1382666" cy="1251477"/>
              </a:xfrm>
              <a:prstGeom prst="rect">
                <a:avLst/>
              </a:prstGeom>
              <a:solidFill>
                <a:schemeClr val="bg1"/>
              </a:solidFill>
              <a:ln>
                <a:solidFill>
                  <a:srgbClr val="2572BB"/>
                </a:solidFill>
              </a:ln>
            </p:spPr>
            <p:txBody>
              <a:bodyPr wrap="square" rtlCol="0">
                <a:spAutoFit/>
              </a:bodyPr>
              <a:lstStyle/>
              <a:p>
                <a:pPr algn="ctr"/>
                <a:r>
                  <a:rPr lang="en-US" sz="900" dirty="0">
                    <a:solidFill>
                      <a:schemeClr val="tx1"/>
                    </a:solidFill>
                    <a:latin typeface="+mn-lt"/>
                    <a:cs typeface="Times New Roman" panose="02020603050405020304" pitchFamily="18" charset="0"/>
                  </a:rPr>
                  <a:t>document 4</a:t>
                </a:r>
              </a:p>
              <a:p>
                <a:r>
                  <a:rPr lang="en-US" sz="900" dirty="0">
                    <a:solidFill>
                      <a:schemeClr val="tx1"/>
                    </a:solidFill>
                    <a:latin typeface="+mn-lt"/>
                    <a:cs typeface="Times New Roman" panose="02020603050405020304" pitchFamily="18" charset="0"/>
                  </a:rPr>
                  <a:t>{</a:t>
                </a:r>
              </a:p>
              <a:p>
                <a:r>
                  <a:rPr lang="en-US" sz="900" dirty="0">
                    <a:solidFill>
                      <a:schemeClr val="tx1"/>
                    </a:solidFill>
                    <a:latin typeface="+mn-lt"/>
                    <a:cs typeface="Times New Roman" panose="02020603050405020304" pitchFamily="18" charset="0"/>
                  </a:rPr>
                  <a:t>    field_1: value,</a:t>
                </a:r>
              </a:p>
              <a:p>
                <a:r>
                  <a:rPr lang="en-US" sz="900" dirty="0">
                    <a:solidFill>
                      <a:schemeClr val="tx1"/>
                    </a:solidFill>
                    <a:latin typeface="+mn-lt"/>
                    <a:cs typeface="Times New Roman" panose="02020603050405020304" pitchFamily="18" charset="0"/>
                  </a:rPr>
                  <a:t>    field_2: value,</a:t>
                </a:r>
              </a:p>
              <a:p>
                <a:r>
                  <a:rPr lang="en-US" sz="900" dirty="0">
                    <a:solidFill>
                      <a:schemeClr val="tx1"/>
                    </a:solidFill>
                    <a:latin typeface="+mn-lt"/>
                    <a:cs typeface="Times New Roman" panose="02020603050405020304" pitchFamily="18" charset="0"/>
                  </a:rPr>
                  <a:t>    field_3: value</a:t>
                </a:r>
              </a:p>
              <a:p>
                <a:r>
                  <a:rPr lang="en-US" sz="900" dirty="0">
                    <a:solidFill>
                      <a:schemeClr val="tx1"/>
                    </a:solidFill>
                    <a:latin typeface="+mn-lt"/>
                    <a:cs typeface="Times New Roman" panose="02020603050405020304" pitchFamily="18" charset="0"/>
                  </a:rPr>
                  <a:t> }</a:t>
                </a:r>
                <a:endParaRPr lang="ru-RU" sz="900" dirty="0">
                  <a:solidFill>
                    <a:schemeClr val="tx1"/>
                  </a:solidFill>
                  <a:latin typeface="+mn-lt"/>
                  <a:cs typeface="Times New Roman" panose="02020603050405020304" pitchFamily="18" charset="0"/>
                </a:endParaRPr>
              </a:p>
            </p:txBody>
          </p:sp>
          <p:sp>
            <p:nvSpPr>
              <p:cNvPr id="80" name="TextBox 79">
                <a:extLst>
                  <a:ext uri="{FF2B5EF4-FFF2-40B4-BE49-F238E27FC236}">
                    <a16:creationId xmlns:a16="http://schemas.microsoft.com/office/drawing/2014/main" id="{1D6ED1BB-5BF4-4E3C-9637-0EEF39AF3227}"/>
                  </a:ext>
                </a:extLst>
              </p:cNvPr>
              <p:cNvSpPr txBox="1"/>
              <p:nvPr/>
            </p:nvSpPr>
            <p:spPr>
              <a:xfrm>
                <a:off x="819532" y="2420888"/>
                <a:ext cx="1382666" cy="1251477"/>
              </a:xfrm>
              <a:prstGeom prst="rect">
                <a:avLst/>
              </a:prstGeom>
              <a:solidFill>
                <a:schemeClr val="bg1"/>
              </a:solidFill>
              <a:ln>
                <a:solidFill>
                  <a:srgbClr val="2572BB"/>
                </a:solidFill>
              </a:ln>
            </p:spPr>
            <p:txBody>
              <a:bodyPr wrap="square" rtlCol="0">
                <a:spAutoFit/>
              </a:bodyPr>
              <a:lstStyle/>
              <a:p>
                <a:pPr algn="ctr"/>
                <a:r>
                  <a:rPr lang="en-US" sz="900" dirty="0">
                    <a:solidFill>
                      <a:schemeClr val="tx1"/>
                    </a:solidFill>
                    <a:latin typeface="+mn-lt"/>
                    <a:cs typeface="Times New Roman" panose="02020603050405020304" pitchFamily="18" charset="0"/>
                  </a:rPr>
                  <a:t>document 3</a:t>
                </a:r>
              </a:p>
              <a:p>
                <a:r>
                  <a:rPr lang="en-US" sz="900" dirty="0">
                    <a:solidFill>
                      <a:schemeClr val="tx1"/>
                    </a:solidFill>
                    <a:latin typeface="+mn-lt"/>
                    <a:cs typeface="Times New Roman" panose="02020603050405020304" pitchFamily="18" charset="0"/>
                  </a:rPr>
                  <a:t>{</a:t>
                </a:r>
              </a:p>
              <a:p>
                <a:r>
                  <a:rPr lang="en-US" sz="900" dirty="0">
                    <a:solidFill>
                      <a:schemeClr val="tx1"/>
                    </a:solidFill>
                    <a:latin typeface="+mn-lt"/>
                    <a:cs typeface="Times New Roman" panose="02020603050405020304" pitchFamily="18" charset="0"/>
                  </a:rPr>
                  <a:t>    field_1: value,</a:t>
                </a:r>
              </a:p>
              <a:p>
                <a:r>
                  <a:rPr lang="en-US" sz="900" dirty="0">
                    <a:solidFill>
                      <a:schemeClr val="tx1"/>
                    </a:solidFill>
                    <a:latin typeface="+mn-lt"/>
                    <a:cs typeface="Times New Roman" panose="02020603050405020304" pitchFamily="18" charset="0"/>
                  </a:rPr>
                  <a:t>    field_2: value,</a:t>
                </a:r>
              </a:p>
              <a:p>
                <a:r>
                  <a:rPr lang="en-US" sz="900" dirty="0">
                    <a:solidFill>
                      <a:schemeClr val="tx1"/>
                    </a:solidFill>
                    <a:latin typeface="+mn-lt"/>
                    <a:cs typeface="Times New Roman" panose="02020603050405020304" pitchFamily="18" charset="0"/>
                  </a:rPr>
                  <a:t>    field_3: value</a:t>
                </a:r>
              </a:p>
              <a:p>
                <a:r>
                  <a:rPr lang="en-US" sz="900" dirty="0">
                    <a:solidFill>
                      <a:schemeClr val="tx1"/>
                    </a:solidFill>
                    <a:latin typeface="+mn-lt"/>
                    <a:cs typeface="Times New Roman" panose="02020603050405020304" pitchFamily="18" charset="0"/>
                  </a:rPr>
                  <a:t> }</a:t>
                </a:r>
                <a:endParaRPr lang="ru-RU" sz="900" dirty="0">
                  <a:solidFill>
                    <a:schemeClr val="tx1"/>
                  </a:solidFill>
                  <a:latin typeface="+mn-lt"/>
                  <a:cs typeface="Times New Roman" panose="02020603050405020304" pitchFamily="18" charset="0"/>
                </a:endParaRPr>
              </a:p>
            </p:txBody>
          </p:sp>
          <p:sp>
            <p:nvSpPr>
              <p:cNvPr id="81" name="TextBox 80">
                <a:extLst>
                  <a:ext uri="{FF2B5EF4-FFF2-40B4-BE49-F238E27FC236}">
                    <a16:creationId xmlns:a16="http://schemas.microsoft.com/office/drawing/2014/main" id="{E1122BF7-FADA-4D3A-8BA7-E14BEE1604D0}"/>
                  </a:ext>
                </a:extLst>
              </p:cNvPr>
              <p:cNvSpPr txBox="1"/>
              <p:nvPr/>
            </p:nvSpPr>
            <p:spPr>
              <a:xfrm>
                <a:off x="876598" y="2470411"/>
                <a:ext cx="1382666" cy="1251477"/>
              </a:xfrm>
              <a:prstGeom prst="rect">
                <a:avLst/>
              </a:prstGeom>
              <a:solidFill>
                <a:schemeClr val="bg1"/>
              </a:solidFill>
              <a:ln>
                <a:solidFill>
                  <a:srgbClr val="2572BB"/>
                </a:solidFill>
              </a:ln>
            </p:spPr>
            <p:txBody>
              <a:bodyPr wrap="square" rtlCol="0">
                <a:spAutoFit/>
              </a:bodyPr>
              <a:lstStyle/>
              <a:p>
                <a:pPr algn="ctr"/>
                <a:r>
                  <a:rPr lang="en-US" sz="900" dirty="0">
                    <a:solidFill>
                      <a:schemeClr val="tx1"/>
                    </a:solidFill>
                    <a:latin typeface="+mn-lt"/>
                    <a:cs typeface="Times New Roman" panose="02020603050405020304" pitchFamily="18" charset="0"/>
                  </a:rPr>
                  <a:t>document 2</a:t>
                </a:r>
              </a:p>
              <a:p>
                <a:r>
                  <a:rPr lang="en-US" sz="900" dirty="0">
                    <a:solidFill>
                      <a:schemeClr val="tx1"/>
                    </a:solidFill>
                    <a:latin typeface="+mn-lt"/>
                    <a:cs typeface="Times New Roman" panose="02020603050405020304" pitchFamily="18" charset="0"/>
                  </a:rPr>
                  <a:t>{</a:t>
                </a:r>
              </a:p>
              <a:p>
                <a:r>
                  <a:rPr lang="en-US" sz="900" dirty="0">
                    <a:solidFill>
                      <a:schemeClr val="tx1"/>
                    </a:solidFill>
                    <a:latin typeface="+mn-lt"/>
                    <a:cs typeface="Times New Roman" panose="02020603050405020304" pitchFamily="18" charset="0"/>
                  </a:rPr>
                  <a:t>    field_1: value,</a:t>
                </a:r>
              </a:p>
              <a:p>
                <a:r>
                  <a:rPr lang="en-US" sz="900" dirty="0">
                    <a:solidFill>
                      <a:schemeClr val="tx1"/>
                    </a:solidFill>
                    <a:latin typeface="+mn-lt"/>
                    <a:cs typeface="Times New Roman" panose="02020603050405020304" pitchFamily="18" charset="0"/>
                  </a:rPr>
                  <a:t>    field_2: value</a:t>
                </a:r>
              </a:p>
              <a:p>
                <a:r>
                  <a:rPr lang="en-US" sz="900" dirty="0">
                    <a:solidFill>
                      <a:schemeClr val="tx1"/>
                    </a:solidFill>
                    <a:latin typeface="+mn-lt"/>
                    <a:cs typeface="Times New Roman" panose="02020603050405020304" pitchFamily="18" charset="0"/>
                  </a:rPr>
                  <a:t>}</a:t>
                </a:r>
              </a:p>
              <a:p>
                <a:endParaRPr lang="ru-RU" sz="900" dirty="0">
                  <a:solidFill>
                    <a:schemeClr val="tx1"/>
                  </a:solidFill>
                  <a:latin typeface="+mn-lt"/>
                  <a:cs typeface="Times New Roman" panose="02020603050405020304" pitchFamily="18" charset="0"/>
                </a:endParaRPr>
              </a:p>
            </p:txBody>
          </p:sp>
          <p:sp>
            <p:nvSpPr>
              <p:cNvPr id="82" name="TextBox 81">
                <a:extLst>
                  <a:ext uri="{FF2B5EF4-FFF2-40B4-BE49-F238E27FC236}">
                    <a16:creationId xmlns:a16="http://schemas.microsoft.com/office/drawing/2014/main" id="{A3F324DB-9D4F-4C2E-A787-2AB93ED3026E}"/>
                  </a:ext>
                </a:extLst>
              </p:cNvPr>
              <p:cNvSpPr txBox="1"/>
              <p:nvPr/>
            </p:nvSpPr>
            <p:spPr>
              <a:xfrm>
                <a:off x="927604" y="2510757"/>
                <a:ext cx="1382666" cy="1251477"/>
              </a:xfrm>
              <a:prstGeom prst="rect">
                <a:avLst/>
              </a:prstGeom>
              <a:solidFill>
                <a:schemeClr val="bg1"/>
              </a:solidFill>
              <a:ln>
                <a:solidFill>
                  <a:srgbClr val="2572BB"/>
                </a:solidFill>
              </a:ln>
            </p:spPr>
            <p:txBody>
              <a:bodyPr wrap="square" rtlCol="0">
                <a:spAutoFit/>
              </a:bodyPr>
              <a:lstStyle/>
              <a:p>
                <a:pPr algn="ctr"/>
                <a:r>
                  <a:rPr lang="en-US" sz="900" dirty="0">
                    <a:solidFill>
                      <a:schemeClr val="tx1"/>
                    </a:solidFill>
                    <a:latin typeface="+mn-lt"/>
                    <a:cs typeface="Times New Roman" panose="02020603050405020304" pitchFamily="18" charset="0"/>
                  </a:rPr>
                  <a:t>document 1</a:t>
                </a:r>
              </a:p>
              <a:p>
                <a:r>
                  <a:rPr lang="en-US" sz="900" dirty="0">
                    <a:solidFill>
                      <a:schemeClr val="tx1"/>
                    </a:solidFill>
                    <a:latin typeface="+mn-lt"/>
                    <a:cs typeface="Times New Roman" panose="02020603050405020304" pitchFamily="18" charset="0"/>
                  </a:rPr>
                  <a:t>{</a:t>
                </a:r>
              </a:p>
              <a:p>
                <a:r>
                  <a:rPr lang="en-US" sz="900" dirty="0">
                    <a:solidFill>
                      <a:schemeClr val="tx1"/>
                    </a:solidFill>
                    <a:latin typeface="+mn-lt"/>
                    <a:cs typeface="Times New Roman" panose="02020603050405020304" pitchFamily="18" charset="0"/>
                  </a:rPr>
                  <a:t>    field_1: value,</a:t>
                </a:r>
              </a:p>
              <a:p>
                <a:r>
                  <a:rPr lang="en-US" sz="900" dirty="0">
                    <a:solidFill>
                      <a:schemeClr val="tx1"/>
                    </a:solidFill>
                    <a:latin typeface="+mn-lt"/>
                    <a:cs typeface="Times New Roman" panose="02020603050405020304" pitchFamily="18" charset="0"/>
                  </a:rPr>
                  <a:t>    field_2: value,</a:t>
                </a:r>
              </a:p>
              <a:p>
                <a:r>
                  <a:rPr lang="en-US" sz="900" dirty="0">
                    <a:solidFill>
                      <a:schemeClr val="tx1"/>
                    </a:solidFill>
                    <a:latin typeface="+mn-lt"/>
                    <a:cs typeface="Times New Roman" panose="02020603050405020304" pitchFamily="18" charset="0"/>
                  </a:rPr>
                  <a:t>    field_3: value</a:t>
                </a:r>
              </a:p>
              <a:p>
                <a:r>
                  <a:rPr lang="en-US" sz="900" dirty="0">
                    <a:solidFill>
                      <a:schemeClr val="tx1"/>
                    </a:solidFill>
                    <a:latin typeface="+mn-lt"/>
                    <a:cs typeface="Times New Roman" panose="02020603050405020304" pitchFamily="18" charset="0"/>
                  </a:rPr>
                  <a:t>}</a:t>
                </a:r>
                <a:endParaRPr lang="ru-RU" sz="900" dirty="0">
                  <a:solidFill>
                    <a:schemeClr val="tx1"/>
                  </a:solidFill>
                  <a:latin typeface="+mn-lt"/>
                  <a:cs typeface="Times New Roman" panose="02020603050405020304" pitchFamily="18" charset="0"/>
                </a:endParaRPr>
              </a:p>
            </p:txBody>
          </p:sp>
        </p:grpSp>
      </p:grpSp>
      <p:grpSp>
        <p:nvGrpSpPr>
          <p:cNvPr id="83" name="Group 51213">
            <a:extLst>
              <a:ext uri="{FF2B5EF4-FFF2-40B4-BE49-F238E27FC236}">
                <a16:creationId xmlns:a16="http://schemas.microsoft.com/office/drawing/2014/main" id="{62E254D7-DBB1-41EF-9D82-922BFED4D668}"/>
              </a:ext>
            </a:extLst>
          </p:cNvPr>
          <p:cNvGrpSpPr/>
          <p:nvPr/>
        </p:nvGrpSpPr>
        <p:grpSpPr>
          <a:xfrm>
            <a:off x="1724560" y="2955674"/>
            <a:ext cx="4353797" cy="1987125"/>
            <a:chOff x="559108" y="4223333"/>
            <a:chExt cx="5901117" cy="2693341"/>
          </a:xfrm>
        </p:grpSpPr>
        <p:grpSp>
          <p:nvGrpSpPr>
            <p:cNvPr id="84" name="Group 27">
              <a:extLst>
                <a:ext uri="{FF2B5EF4-FFF2-40B4-BE49-F238E27FC236}">
                  <a16:creationId xmlns:a16="http://schemas.microsoft.com/office/drawing/2014/main" id="{81756F79-AA05-4AAD-B130-7DD9BE998442}"/>
                </a:ext>
              </a:extLst>
            </p:cNvPr>
            <p:cNvGrpSpPr/>
            <p:nvPr/>
          </p:nvGrpSpPr>
          <p:grpSpPr>
            <a:xfrm>
              <a:off x="559108" y="5407206"/>
              <a:ext cx="1332148" cy="1353041"/>
              <a:chOff x="559108" y="5407206"/>
              <a:chExt cx="1332148" cy="1353041"/>
            </a:xfrm>
          </p:grpSpPr>
          <p:sp>
            <p:nvSpPr>
              <p:cNvPr id="103" name="Oval 24">
                <a:extLst>
                  <a:ext uri="{FF2B5EF4-FFF2-40B4-BE49-F238E27FC236}">
                    <a16:creationId xmlns:a16="http://schemas.microsoft.com/office/drawing/2014/main" id="{03DD6B45-761A-4E63-B25A-9F1E41B73C72}"/>
                  </a:ext>
                </a:extLst>
              </p:cNvPr>
              <p:cNvSpPr/>
              <p:nvPr/>
            </p:nvSpPr>
            <p:spPr>
              <a:xfrm>
                <a:off x="559108" y="5407206"/>
                <a:ext cx="1332148" cy="1353041"/>
              </a:xfrm>
              <a:prstGeom prst="ellipse">
                <a:avLst/>
              </a:prstGeom>
              <a:no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00">
                  <a:solidFill>
                    <a:schemeClr val="tx1"/>
                  </a:solidFill>
                </a:endParaRPr>
              </a:p>
            </p:txBody>
          </p:sp>
          <p:sp>
            <p:nvSpPr>
              <p:cNvPr id="104" name="TextBox 103">
                <a:extLst>
                  <a:ext uri="{FF2B5EF4-FFF2-40B4-BE49-F238E27FC236}">
                    <a16:creationId xmlns:a16="http://schemas.microsoft.com/office/drawing/2014/main" id="{A6147041-C820-45D4-9327-FBC6EE0876B2}"/>
                  </a:ext>
                </a:extLst>
              </p:cNvPr>
              <p:cNvSpPr txBox="1"/>
              <p:nvPr/>
            </p:nvSpPr>
            <p:spPr>
              <a:xfrm>
                <a:off x="903545" y="5569336"/>
                <a:ext cx="916548" cy="1063755"/>
              </a:xfrm>
              <a:prstGeom prst="rect">
                <a:avLst/>
              </a:prstGeom>
              <a:noFill/>
            </p:spPr>
            <p:txBody>
              <a:bodyPr wrap="square" rtlCol="0">
                <a:spAutoFit/>
              </a:bodyPr>
              <a:lstStyle/>
              <a:p>
                <a:r>
                  <a:rPr lang="en-US" sz="900" dirty="0">
                    <a:solidFill>
                      <a:schemeClr val="tx1"/>
                    </a:solidFill>
                    <a:latin typeface="+mn-lt"/>
                    <a:cs typeface="Times New Roman" panose="02020603050405020304" pitchFamily="18" charset="0"/>
                  </a:rPr>
                  <a:t>Id: 1</a:t>
                </a:r>
              </a:p>
              <a:p>
                <a:r>
                  <a:rPr lang="en-US" sz="900" dirty="0">
                    <a:solidFill>
                      <a:schemeClr val="tx1"/>
                    </a:solidFill>
                    <a:latin typeface="+mn-lt"/>
                    <a:cs typeface="Times New Roman" panose="02020603050405020304" pitchFamily="18" charset="0"/>
                  </a:rPr>
                  <a:t>Type: User</a:t>
                </a:r>
              </a:p>
              <a:p>
                <a:r>
                  <a:rPr lang="en-US" sz="900" dirty="0">
                    <a:solidFill>
                      <a:schemeClr val="tx1"/>
                    </a:solidFill>
                    <a:latin typeface="+mn-lt"/>
                    <a:cs typeface="Times New Roman" panose="02020603050405020304" pitchFamily="18" charset="0"/>
                  </a:rPr>
                  <a:t>Name: John</a:t>
                </a:r>
                <a:endParaRPr lang="ru-RU" sz="900" dirty="0">
                  <a:solidFill>
                    <a:schemeClr val="tx1"/>
                  </a:solidFill>
                  <a:latin typeface="+mn-lt"/>
                  <a:cs typeface="Times New Roman" panose="02020603050405020304" pitchFamily="18" charset="0"/>
                </a:endParaRPr>
              </a:p>
            </p:txBody>
          </p:sp>
        </p:grpSp>
        <p:grpSp>
          <p:nvGrpSpPr>
            <p:cNvPr id="85" name="Group 89">
              <a:extLst>
                <a:ext uri="{FF2B5EF4-FFF2-40B4-BE49-F238E27FC236}">
                  <a16:creationId xmlns:a16="http://schemas.microsoft.com/office/drawing/2014/main" id="{FD049940-064B-4000-B6B6-1B6F3B1BFDEB}"/>
                </a:ext>
              </a:extLst>
            </p:cNvPr>
            <p:cNvGrpSpPr/>
            <p:nvPr/>
          </p:nvGrpSpPr>
          <p:grpSpPr>
            <a:xfrm>
              <a:off x="2871084" y="4223333"/>
              <a:ext cx="1332148" cy="1353041"/>
              <a:chOff x="559108" y="5407206"/>
              <a:chExt cx="1332148" cy="1353041"/>
            </a:xfrm>
          </p:grpSpPr>
          <p:sp>
            <p:nvSpPr>
              <p:cNvPr id="101" name="Oval 90">
                <a:extLst>
                  <a:ext uri="{FF2B5EF4-FFF2-40B4-BE49-F238E27FC236}">
                    <a16:creationId xmlns:a16="http://schemas.microsoft.com/office/drawing/2014/main" id="{EECA4027-2503-4B5B-8048-61EC25628152}"/>
                  </a:ext>
                </a:extLst>
              </p:cNvPr>
              <p:cNvSpPr/>
              <p:nvPr/>
            </p:nvSpPr>
            <p:spPr>
              <a:xfrm>
                <a:off x="559108" y="5407206"/>
                <a:ext cx="1332148" cy="1353041"/>
              </a:xfrm>
              <a:prstGeom prst="ellipse">
                <a:avLst/>
              </a:prstGeom>
              <a:no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00">
                  <a:solidFill>
                    <a:schemeClr val="tx1"/>
                  </a:solidFill>
                </a:endParaRPr>
              </a:p>
            </p:txBody>
          </p:sp>
          <p:sp>
            <p:nvSpPr>
              <p:cNvPr id="102" name="TextBox 101">
                <a:extLst>
                  <a:ext uri="{FF2B5EF4-FFF2-40B4-BE49-F238E27FC236}">
                    <a16:creationId xmlns:a16="http://schemas.microsoft.com/office/drawing/2014/main" id="{7395703F-387F-47F1-BB43-2909F14AA41B}"/>
                  </a:ext>
                </a:extLst>
              </p:cNvPr>
              <p:cNvSpPr txBox="1"/>
              <p:nvPr/>
            </p:nvSpPr>
            <p:spPr>
              <a:xfrm>
                <a:off x="899403" y="5571067"/>
                <a:ext cx="908828" cy="1063755"/>
              </a:xfrm>
              <a:prstGeom prst="rect">
                <a:avLst/>
              </a:prstGeom>
              <a:noFill/>
            </p:spPr>
            <p:txBody>
              <a:bodyPr wrap="square" rtlCol="0">
                <a:spAutoFit/>
              </a:bodyPr>
              <a:lstStyle/>
              <a:p>
                <a:r>
                  <a:rPr lang="en-US" sz="900" dirty="0">
                    <a:solidFill>
                      <a:schemeClr val="tx1"/>
                    </a:solidFill>
                    <a:latin typeface="+mn-lt"/>
                    <a:cs typeface="Times New Roman" panose="02020603050405020304" pitchFamily="18" charset="0"/>
                  </a:rPr>
                  <a:t>Id: 2</a:t>
                </a:r>
              </a:p>
              <a:p>
                <a:r>
                  <a:rPr lang="en-US" sz="900" dirty="0">
                    <a:solidFill>
                      <a:schemeClr val="tx1"/>
                    </a:solidFill>
                    <a:latin typeface="+mn-lt"/>
                    <a:cs typeface="Times New Roman" panose="02020603050405020304" pitchFamily="18" charset="0"/>
                  </a:rPr>
                  <a:t>Type: User</a:t>
                </a:r>
              </a:p>
              <a:p>
                <a:r>
                  <a:rPr lang="en-US" sz="900" dirty="0">
                    <a:solidFill>
                      <a:schemeClr val="tx1"/>
                    </a:solidFill>
                    <a:latin typeface="+mn-lt"/>
                    <a:cs typeface="Times New Roman" panose="02020603050405020304" pitchFamily="18" charset="0"/>
                  </a:rPr>
                  <a:t>Name: Jack</a:t>
                </a:r>
                <a:endParaRPr lang="ru-RU" sz="900" dirty="0">
                  <a:solidFill>
                    <a:schemeClr val="tx1"/>
                  </a:solidFill>
                  <a:latin typeface="+mn-lt"/>
                  <a:cs typeface="Times New Roman" panose="02020603050405020304" pitchFamily="18" charset="0"/>
                </a:endParaRPr>
              </a:p>
            </p:txBody>
          </p:sp>
        </p:grpSp>
        <p:grpSp>
          <p:nvGrpSpPr>
            <p:cNvPr id="86" name="Group 92">
              <a:extLst>
                <a:ext uri="{FF2B5EF4-FFF2-40B4-BE49-F238E27FC236}">
                  <a16:creationId xmlns:a16="http://schemas.microsoft.com/office/drawing/2014/main" id="{47792532-97D7-440E-ABEF-DD75DFB343F7}"/>
                </a:ext>
              </a:extLst>
            </p:cNvPr>
            <p:cNvGrpSpPr/>
            <p:nvPr/>
          </p:nvGrpSpPr>
          <p:grpSpPr>
            <a:xfrm>
              <a:off x="5116674" y="5402275"/>
              <a:ext cx="1343551" cy="1353041"/>
              <a:chOff x="559108" y="5407206"/>
              <a:chExt cx="1343551" cy="1353041"/>
            </a:xfrm>
          </p:grpSpPr>
          <p:sp>
            <p:nvSpPr>
              <p:cNvPr id="99" name="Oval 93">
                <a:extLst>
                  <a:ext uri="{FF2B5EF4-FFF2-40B4-BE49-F238E27FC236}">
                    <a16:creationId xmlns:a16="http://schemas.microsoft.com/office/drawing/2014/main" id="{E166B663-1608-4C6F-9288-A656BEFF8F6C}"/>
                  </a:ext>
                </a:extLst>
              </p:cNvPr>
              <p:cNvSpPr/>
              <p:nvPr/>
            </p:nvSpPr>
            <p:spPr>
              <a:xfrm>
                <a:off x="559108" y="5407206"/>
                <a:ext cx="1332148" cy="1353041"/>
              </a:xfrm>
              <a:prstGeom prst="ellipse">
                <a:avLst/>
              </a:prstGeom>
              <a:no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00">
                  <a:solidFill>
                    <a:schemeClr val="tx1"/>
                  </a:solidFill>
                </a:endParaRPr>
              </a:p>
            </p:txBody>
          </p:sp>
          <p:sp>
            <p:nvSpPr>
              <p:cNvPr id="100" name="TextBox 99">
                <a:extLst>
                  <a:ext uri="{FF2B5EF4-FFF2-40B4-BE49-F238E27FC236}">
                    <a16:creationId xmlns:a16="http://schemas.microsoft.com/office/drawing/2014/main" id="{F83859C9-6707-4624-B34B-D8BB1132FA41}"/>
                  </a:ext>
                </a:extLst>
              </p:cNvPr>
              <p:cNvSpPr txBox="1"/>
              <p:nvPr/>
            </p:nvSpPr>
            <p:spPr>
              <a:xfrm>
                <a:off x="909489" y="5590887"/>
                <a:ext cx="993170" cy="1063754"/>
              </a:xfrm>
              <a:prstGeom prst="rect">
                <a:avLst/>
              </a:prstGeom>
              <a:noFill/>
            </p:spPr>
            <p:txBody>
              <a:bodyPr wrap="square" rtlCol="0">
                <a:spAutoFit/>
              </a:bodyPr>
              <a:lstStyle/>
              <a:p>
                <a:r>
                  <a:rPr lang="en-US" sz="900" dirty="0">
                    <a:solidFill>
                      <a:schemeClr val="tx1"/>
                    </a:solidFill>
                    <a:latin typeface="+mn-lt"/>
                    <a:cs typeface="Times New Roman" panose="02020603050405020304" pitchFamily="18" charset="0"/>
                  </a:rPr>
                  <a:t>Id: 3</a:t>
                </a:r>
              </a:p>
              <a:p>
                <a:r>
                  <a:rPr lang="en-US" sz="900" dirty="0">
                    <a:solidFill>
                      <a:schemeClr val="tx1"/>
                    </a:solidFill>
                    <a:latin typeface="+mn-lt"/>
                    <a:cs typeface="Times New Roman" panose="02020603050405020304" pitchFamily="18" charset="0"/>
                  </a:rPr>
                  <a:t>Type: Group</a:t>
                </a:r>
              </a:p>
              <a:p>
                <a:r>
                  <a:rPr lang="en-US" sz="900" dirty="0">
                    <a:solidFill>
                      <a:schemeClr val="tx1"/>
                    </a:solidFill>
                    <a:latin typeface="+mn-lt"/>
                    <a:cs typeface="Times New Roman" panose="02020603050405020304" pitchFamily="18" charset="0"/>
                  </a:rPr>
                  <a:t>Name: WoT</a:t>
                </a:r>
                <a:endParaRPr lang="ru-RU" sz="900" dirty="0">
                  <a:solidFill>
                    <a:schemeClr val="tx1"/>
                  </a:solidFill>
                  <a:latin typeface="+mn-lt"/>
                  <a:cs typeface="Times New Roman" panose="02020603050405020304" pitchFamily="18" charset="0"/>
                </a:endParaRPr>
              </a:p>
            </p:txBody>
          </p:sp>
        </p:grpSp>
        <p:cxnSp>
          <p:nvCxnSpPr>
            <p:cNvPr id="87" name="Straight Arrow Connector 97">
              <a:extLst>
                <a:ext uri="{FF2B5EF4-FFF2-40B4-BE49-F238E27FC236}">
                  <a16:creationId xmlns:a16="http://schemas.microsoft.com/office/drawing/2014/main" id="{A80FC9AD-D5E9-43FD-9678-D173E3C917F7}"/>
                </a:ext>
              </a:extLst>
            </p:cNvPr>
            <p:cNvCxnSpPr>
              <a:stCxn id="103" idx="7"/>
              <a:endCxn id="101" idx="2"/>
            </p:cNvCxnSpPr>
            <p:nvPr/>
          </p:nvCxnSpPr>
          <p:spPr>
            <a:xfrm flipV="1">
              <a:off x="1696167" y="4899854"/>
              <a:ext cx="1174917" cy="705500"/>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F67D8243-16C1-45B2-9C57-8A6645283201}"/>
                </a:ext>
              </a:extLst>
            </p:cNvPr>
            <p:cNvSpPr txBox="1"/>
            <p:nvPr/>
          </p:nvSpPr>
          <p:spPr>
            <a:xfrm rot="19723113">
              <a:off x="1540471" y="4817827"/>
              <a:ext cx="1241666" cy="500591"/>
            </a:xfrm>
            <a:prstGeom prst="rect">
              <a:avLst/>
            </a:prstGeom>
            <a:noFill/>
          </p:spPr>
          <p:txBody>
            <a:bodyPr wrap="square" rtlCol="0">
              <a:spAutoFit/>
            </a:bodyPr>
            <a:lstStyle/>
            <a:p>
              <a:r>
                <a:rPr lang="en-US" sz="900" dirty="0">
                  <a:solidFill>
                    <a:schemeClr val="tx1"/>
                  </a:solidFill>
                  <a:latin typeface="+mn-lt"/>
                  <a:cs typeface="Times New Roman" panose="02020603050405020304" pitchFamily="18" charset="0"/>
                </a:rPr>
                <a:t>link_id: 100</a:t>
              </a:r>
            </a:p>
            <a:p>
              <a:r>
                <a:rPr lang="en-US" sz="900" dirty="0">
                  <a:solidFill>
                    <a:schemeClr val="tx1"/>
                  </a:solidFill>
                  <a:latin typeface="+mn-lt"/>
                  <a:cs typeface="Times New Roman" panose="02020603050405020304" pitchFamily="18" charset="0"/>
                </a:rPr>
                <a:t>label: friend</a:t>
              </a:r>
              <a:endParaRPr lang="ru-RU" sz="900" dirty="0">
                <a:solidFill>
                  <a:schemeClr val="tx1"/>
                </a:solidFill>
                <a:latin typeface="+mn-lt"/>
                <a:cs typeface="Times New Roman" panose="02020603050405020304" pitchFamily="18" charset="0"/>
              </a:endParaRPr>
            </a:p>
          </p:txBody>
        </p:sp>
        <p:sp>
          <p:nvSpPr>
            <p:cNvPr id="89" name="TextBox 88">
              <a:extLst>
                <a:ext uri="{FF2B5EF4-FFF2-40B4-BE49-F238E27FC236}">
                  <a16:creationId xmlns:a16="http://schemas.microsoft.com/office/drawing/2014/main" id="{9AB43FBA-5507-404F-9BF6-66B54571DEFC}"/>
                </a:ext>
              </a:extLst>
            </p:cNvPr>
            <p:cNvSpPr txBox="1"/>
            <p:nvPr/>
          </p:nvSpPr>
          <p:spPr>
            <a:xfrm rot="19796230">
              <a:off x="1843812" y="5359229"/>
              <a:ext cx="1241666" cy="500591"/>
            </a:xfrm>
            <a:prstGeom prst="rect">
              <a:avLst/>
            </a:prstGeom>
            <a:noFill/>
          </p:spPr>
          <p:txBody>
            <a:bodyPr wrap="square" rtlCol="0">
              <a:spAutoFit/>
            </a:bodyPr>
            <a:lstStyle/>
            <a:p>
              <a:r>
                <a:rPr lang="en-US" sz="900" dirty="0">
                  <a:solidFill>
                    <a:schemeClr val="tx1"/>
                  </a:solidFill>
                  <a:latin typeface="+mn-lt"/>
                  <a:cs typeface="Times New Roman" panose="02020603050405020304" pitchFamily="18" charset="0"/>
                </a:rPr>
                <a:t>link_id: 101</a:t>
              </a:r>
            </a:p>
            <a:p>
              <a:r>
                <a:rPr lang="en-US" sz="900" dirty="0">
                  <a:solidFill>
                    <a:schemeClr val="tx1"/>
                  </a:solidFill>
                  <a:latin typeface="+mn-lt"/>
                  <a:cs typeface="Times New Roman" panose="02020603050405020304" pitchFamily="18" charset="0"/>
                </a:rPr>
                <a:t>label: friend</a:t>
              </a:r>
              <a:endParaRPr lang="ru-RU" sz="900" dirty="0">
                <a:solidFill>
                  <a:schemeClr val="tx1"/>
                </a:solidFill>
                <a:latin typeface="+mn-lt"/>
                <a:cs typeface="Times New Roman" panose="02020603050405020304" pitchFamily="18" charset="0"/>
              </a:endParaRPr>
            </a:p>
          </p:txBody>
        </p:sp>
        <p:cxnSp>
          <p:nvCxnSpPr>
            <p:cNvPr id="90" name="Straight Arrow Connector 103">
              <a:extLst>
                <a:ext uri="{FF2B5EF4-FFF2-40B4-BE49-F238E27FC236}">
                  <a16:creationId xmlns:a16="http://schemas.microsoft.com/office/drawing/2014/main" id="{4A01F5FE-1D94-4D81-88A1-A9F552D0FBD8}"/>
                </a:ext>
              </a:extLst>
            </p:cNvPr>
            <p:cNvCxnSpPr/>
            <p:nvPr/>
          </p:nvCxnSpPr>
          <p:spPr>
            <a:xfrm flipH="1">
              <a:off x="1785447" y="5073788"/>
              <a:ext cx="1102085" cy="650028"/>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cxnSp>
          <p:nvCxnSpPr>
            <p:cNvPr id="91" name="Straight Arrow Connector 109">
              <a:extLst>
                <a:ext uri="{FF2B5EF4-FFF2-40B4-BE49-F238E27FC236}">
                  <a16:creationId xmlns:a16="http://schemas.microsoft.com/office/drawing/2014/main" id="{B039137D-DAC4-4344-9AFA-57236ABE4091}"/>
                </a:ext>
              </a:extLst>
            </p:cNvPr>
            <p:cNvCxnSpPr/>
            <p:nvPr/>
          </p:nvCxnSpPr>
          <p:spPr>
            <a:xfrm flipV="1">
              <a:off x="1878763" y="6212800"/>
              <a:ext cx="3254359" cy="18368"/>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FADF685D-C42B-44B7-BA7E-DDF5B6DF25A6}"/>
                </a:ext>
              </a:extLst>
            </p:cNvPr>
            <p:cNvSpPr txBox="1"/>
            <p:nvPr/>
          </p:nvSpPr>
          <p:spPr>
            <a:xfrm>
              <a:off x="2861486" y="5573639"/>
              <a:ext cx="1306937" cy="688312"/>
            </a:xfrm>
            <a:prstGeom prst="rect">
              <a:avLst/>
            </a:prstGeom>
            <a:noFill/>
          </p:spPr>
          <p:txBody>
            <a:bodyPr wrap="square" rtlCol="0">
              <a:spAutoFit/>
            </a:bodyPr>
            <a:lstStyle/>
            <a:p>
              <a:r>
                <a:rPr lang="en-US" sz="900" dirty="0">
                  <a:solidFill>
                    <a:schemeClr val="tx1"/>
                  </a:solidFill>
                  <a:latin typeface="+mn-lt"/>
                  <a:cs typeface="Times New Roman" panose="02020603050405020304" pitchFamily="18" charset="0"/>
                </a:rPr>
                <a:t>link_id: 104</a:t>
              </a:r>
            </a:p>
            <a:p>
              <a:r>
                <a:rPr lang="en-US" sz="900" dirty="0">
                  <a:solidFill>
                    <a:schemeClr val="tx1"/>
                  </a:solidFill>
                  <a:latin typeface="+mn-lt"/>
                  <a:cs typeface="Times New Roman" panose="02020603050405020304" pitchFamily="18" charset="0"/>
                </a:rPr>
                <a:t>label: is_member</a:t>
              </a:r>
              <a:endParaRPr lang="ru-RU" sz="900" dirty="0">
                <a:solidFill>
                  <a:schemeClr val="tx1"/>
                </a:solidFill>
                <a:latin typeface="+mn-lt"/>
                <a:cs typeface="Times New Roman" panose="02020603050405020304" pitchFamily="18" charset="0"/>
              </a:endParaRPr>
            </a:p>
          </p:txBody>
        </p:sp>
        <p:cxnSp>
          <p:nvCxnSpPr>
            <p:cNvPr id="93" name="Straight Arrow Connector 125">
              <a:extLst>
                <a:ext uri="{FF2B5EF4-FFF2-40B4-BE49-F238E27FC236}">
                  <a16:creationId xmlns:a16="http://schemas.microsoft.com/office/drawing/2014/main" id="{EA301F50-6659-4EE1-B850-086CC2483610}"/>
                </a:ext>
              </a:extLst>
            </p:cNvPr>
            <p:cNvCxnSpPr/>
            <p:nvPr/>
          </p:nvCxnSpPr>
          <p:spPr>
            <a:xfrm flipH="1" flipV="1">
              <a:off x="1811692" y="6355219"/>
              <a:ext cx="3376992" cy="2770"/>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C505B6D8-80CA-4EB5-B413-A7C218A5F832}"/>
                </a:ext>
              </a:extLst>
            </p:cNvPr>
            <p:cNvSpPr txBox="1"/>
            <p:nvPr/>
          </p:nvSpPr>
          <p:spPr>
            <a:xfrm>
              <a:off x="2850496" y="6416083"/>
              <a:ext cx="1306937" cy="500591"/>
            </a:xfrm>
            <a:prstGeom prst="rect">
              <a:avLst/>
            </a:prstGeom>
            <a:noFill/>
          </p:spPr>
          <p:txBody>
            <a:bodyPr wrap="square" rtlCol="0">
              <a:spAutoFit/>
            </a:bodyPr>
            <a:lstStyle/>
            <a:p>
              <a:r>
                <a:rPr lang="en-US" sz="900" dirty="0">
                  <a:solidFill>
                    <a:schemeClr val="tx1"/>
                  </a:solidFill>
                  <a:latin typeface="+mn-lt"/>
                  <a:cs typeface="Times New Roman" panose="02020603050405020304" pitchFamily="18" charset="0"/>
                </a:rPr>
                <a:t>link_id: 105</a:t>
              </a:r>
            </a:p>
            <a:p>
              <a:r>
                <a:rPr lang="en-US" sz="900" dirty="0">
                  <a:solidFill>
                    <a:schemeClr val="tx1"/>
                  </a:solidFill>
                  <a:latin typeface="+mn-lt"/>
                  <a:cs typeface="Times New Roman" panose="02020603050405020304" pitchFamily="18" charset="0"/>
                </a:rPr>
                <a:t>label: members</a:t>
              </a:r>
              <a:endParaRPr lang="ru-RU" sz="900" dirty="0">
                <a:solidFill>
                  <a:schemeClr val="tx1"/>
                </a:solidFill>
                <a:latin typeface="+mn-lt"/>
                <a:cs typeface="Times New Roman" panose="02020603050405020304" pitchFamily="18" charset="0"/>
              </a:endParaRPr>
            </a:p>
          </p:txBody>
        </p:sp>
        <p:sp>
          <p:nvSpPr>
            <p:cNvPr id="95" name="TextBox 94">
              <a:extLst>
                <a:ext uri="{FF2B5EF4-FFF2-40B4-BE49-F238E27FC236}">
                  <a16:creationId xmlns:a16="http://schemas.microsoft.com/office/drawing/2014/main" id="{EF31BDAE-194B-463C-AB22-5859670135BA}"/>
                </a:ext>
              </a:extLst>
            </p:cNvPr>
            <p:cNvSpPr txBox="1"/>
            <p:nvPr/>
          </p:nvSpPr>
          <p:spPr>
            <a:xfrm rot="1944667">
              <a:off x="4406570" y="4600591"/>
              <a:ext cx="1304541" cy="688312"/>
            </a:xfrm>
            <a:prstGeom prst="rect">
              <a:avLst/>
            </a:prstGeom>
            <a:noFill/>
          </p:spPr>
          <p:txBody>
            <a:bodyPr wrap="square" rtlCol="0">
              <a:spAutoFit/>
            </a:bodyPr>
            <a:lstStyle/>
            <a:p>
              <a:r>
                <a:rPr lang="en-US" sz="900" dirty="0">
                  <a:solidFill>
                    <a:schemeClr val="tx1"/>
                  </a:solidFill>
                  <a:latin typeface="+mn-lt"/>
                  <a:cs typeface="Times New Roman" panose="02020603050405020304" pitchFamily="18" charset="0"/>
                </a:rPr>
                <a:t>link_id: 102</a:t>
              </a:r>
            </a:p>
            <a:p>
              <a:r>
                <a:rPr lang="en-US" sz="900" dirty="0">
                  <a:solidFill>
                    <a:schemeClr val="tx1"/>
                  </a:solidFill>
                  <a:latin typeface="+mn-lt"/>
                  <a:cs typeface="Times New Roman" panose="02020603050405020304" pitchFamily="18" charset="0"/>
                </a:rPr>
                <a:t>label: is_member</a:t>
              </a:r>
              <a:endParaRPr lang="ru-RU" sz="900" dirty="0">
                <a:solidFill>
                  <a:schemeClr val="tx1"/>
                </a:solidFill>
                <a:latin typeface="+mn-lt"/>
                <a:cs typeface="Times New Roman" panose="02020603050405020304" pitchFamily="18" charset="0"/>
              </a:endParaRPr>
            </a:p>
          </p:txBody>
        </p:sp>
        <p:cxnSp>
          <p:nvCxnSpPr>
            <p:cNvPr id="96" name="Straight Arrow Connector 136">
              <a:extLst>
                <a:ext uri="{FF2B5EF4-FFF2-40B4-BE49-F238E27FC236}">
                  <a16:creationId xmlns:a16="http://schemas.microsoft.com/office/drawing/2014/main" id="{3EDF6421-2509-448A-9163-3DDF5A4DA599}"/>
                </a:ext>
              </a:extLst>
            </p:cNvPr>
            <p:cNvCxnSpPr>
              <a:stCxn id="101" idx="6"/>
              <a:endCxn id="99" idx="1"/>
            </p:cNvCxnSpPr>
            <p:nvPr/>
          </p:nvCxnSpPr>
          <p:spPr>
            <a:xfrm>
              <a:off x="4203232" y="4899854"/>
              <a:ext cx="1108531" cy="700569"/>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cxnSp>
          <p:nvCxnSpPr>
            <p:cNvPr id="97" name="Straight Arrow Connector 142">
              <a:extLst>
                <a:ext uri="{FF2B5EF4-FFF2-40B4-BE49-F238E27FC236}">
                  <a16:creationId xmlns:a16="http://schemas.microsoft.com/office/drawing/2014/main" id="{F2B70591-F03F-46E9-B24C-6107A3211413}"/>
                </a:ext>
              </a:extLst>
            </p:cNvPr>
            <p:cNvCxnSpPr/>
            <p:nvPr/>
          </p:nvCxnSpPr>
          <p:spPr>
            <a:xfrm flipH="1" flipV="1">
              <a:off x="4184272" y="5069001"/>
              <a:ext cx="1048730" cy="655496"/>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86A572AE-C358-49E8-8BD8-024A446B4AD7}"/>
                </a:ext>
              </a:extLst>
            </p:cNvPr>
            <p:cNvSpPr txBox="1"/>
            <p:nvPr/>
          </p:nvSpPr>
          <p:spPr>
            <a:xfrm rot="1944667">
              <a:off x="3920244" y="5396451"/>
              <a:ext cx="1206410" cy="688312"/>
            </a:xfrm>
            <a:prstGeom prst="rect">
              <a:avLst/>
            </a:prstGeom>
            <a:noFill/>
          </p:spPr>
          <p:txBody>
            <a:bodyPr wrap="square" rtlCol="0">
              <a:spAutoFit/>
            </a:bodyPr>
            <a:lstStyle/>
            <a:p>
              <a:r>
                <a:rPr lang="en-US" sz="900" dirty="0">
                  <a:solidFill>
                    <a:schemeClr val="tx1"/>
                  </a:solidFill>
                  <a:latin typeface="+mn-lt"/>
                  <a:cs typeface="Times New Roman" panose="02020603050405020304" pitchFamily="18" charset="0"/>
                </a:rPr>
                <a:t>link_id: 103</a:t>
              </a:r>
            </a:p>
            <a:p>
              <a:r>
                <a:rPr lang="en-US" sz="900" dirty="0">
                  <a:solidFill>
                    <a:schemeClr val="tx1"/>
                  </a:solidFill>
                  <a:latin typeface="+mn-lt"/>
                  <a:cs typeface="Times New Roman" panose="02020603050405020304" pitchFamily="18" charset="0"/>
                </a:rPr>
                <a:t>label: members</a:t>
              </a:r>
              <a:endParaRPr lang="ru-RU" sz="900" dirty="0">
                <a:solidFill>
                  <a:schemeClr val="tx1"/>
                </a:solidFill>
                <a:latin typeface="+mn-lt"/>
                <a:cs typeface="Times New Roman" panose="02020603050405020304" pitchFamily="18" charset="0"/>
              </a:endParaRPr>
            </a:p>
          </p:txBody>
        </p:sp>
      </p:grpSp>
      <p:pic>
        <p:nvPicPr>
          <p:cNvPr id="105" name="Picture 4" descr="Картинки по запросу &quot;Neo4j&quot;&quot;">
            <a:extLst>
              <a:ext uri="{FF2B5EF4-FFF2-40B4-BE49-F238E27FC236}">
                <a16:creationId xmlns:a16="http://schemas.microsoft.com/office/drawing/2014/main" id="{B718226E-D3EC-4C55-B427-222BCA4400E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51846" y="3195568"/>
            <a:ext cx="1339871" cy="698647"/>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6" descr="https://upload.wikimedia.org/wikipedia/commons/b/ba/OrientDB_Logo_2014_280x177.jpg">
            <a:extLst>
              <a:ext uri="{FF2B5EF4-FFF2-40B4-BE49-F238E27FC236}">
                <a16:creationId xmlns:a16="http://schemas.microsoft.com/office/drawing/2014/main" id="{A0823222-9A81-49B5-8CCF-84B823FE24A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51846" y="3948744"/>
            <a:ext cx="1280389" cy="8093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043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1084908" y="293530"/>
            <a:ext cx="6834296" cy="769441"/>
          </a:xfrm>
          <a:prstGeom prst="rect">
            <a:avLst/>
          </a:prstGeom>
          <a:noFill/>
        </p:spPr>
        <p:txBody>
          <a:bodyPr wrap="square">
            <a:spAutoFit/>
          </a:bodyPr>
          <a:lstStyle/>
          <a:p>
            <a:pPr algn="ctr"/>
            <a:r>
              <a:rPr lang="en-US" sz="4400" kern="1200" dirty="0">
                <a:solidFill>
                  <a:schemeClr val="accent3"/>
                </a:solidFill>
                <a:latin typeface="+mj-lt"/>
              </a:rPr>
              <a:t>ACID</a:t>
            </a:r>
            <a:endParaRPr lang="ru-RU" sz="4400" dirty="0">
              <a:solidFill>
                <a:schemeClr val="accent3"/>
              </a:solidFill>
              <a:latin typeface="+mj-lt"/>
            </a:endParaRPr>
          </a:p>
        </p:txBody>
      </p:sp>
      <p:sp>
        <p:nvSpPr>
          <p:cNvPr id="50" name="Прямоугольник 49"/>
          <p:cNvSpPr/>
          <p:nvPr/>
        </p:nvSpPr>
        <p:spPr>
          <a:xfrm>
            <a:off x="577549" y="1117238"/>
            <a:ext cx="8078313" cy="3681008"/>
          </a:xfrm>
          <a:prstGeom prst="rect">
            <a:avLst/>
          </a:prstGeom>
        </p:spPr>
        <p:txBody>
          <a:bodyPr wrap="square">
            <a:spAutoFit/>
          </a:bodyPr>
          <a:lstStyle/>
          <a:p>
            <a:pPr>
              <a:lnSpc>
                <a:spcPct val="110000"/>
              </a:lnSpc>
            </a:pPr>
            <a:r>
              <a:rPr lang="ru-RU" altLang="ru-RU" dirty="0">
                <a:solidFill>
                  <a:schemeClr val="tx1"/>
                </a:solidFill>
                <a:latin typeface="+mn-lt"/>
              </a:rPr>
              <a:t>Набор основных технических требований к СУБД и к проектируемой базе данных состоит из четырех свойств, описываемых аббревиатурой ACID. Соблюдение этих требований вкупе с требованиями безопасности позволяет обеспечить целостность данных, а также надежную и предсказуемую работу системы в целом.</a:t>
            </a:r>
            <a:br>
              <a:rPr lang="ru-RU" altLang="ru-RU" dirty="0">
                <a:solidFill>
                  <a:schemeClr val="tx1"/>
                </a:solidFill>
                <a:latin typeface="+mn-lt"/>
              </a:rPr>
            </a:br>
            <a:endParaRPr lang="ru-RU" altLang="ru-RU" dirty="0">
              <a:solidFill>
                <a:schemeClr val="tx1"/>
              </a:solidFill>
              <a:latin typeface="+mn-lt"/>
            </a:endParaRPr>
          </a:p>
          <a:p>
            <a:pPr marL="285750" indent="-285750">
              <a:lnSpc>
                <a:spcPct val="110000"/>
              </a:lnSpc>
              <a:buClr>
                <a:schemeClr val="accent3"/>
              </a:buClr>
              <a:buFont typeface="Arial" panose="020B0604020202020204" pitchFamily="34" charset="0"/>
              <a:buChar char="•"/>
            </a:pPr>
            <a:r>
              <a:rPr lang="ru-RU" altLang="ru-RU" b="1" dirty="0">
                <a:solidFill>
                  <a:schemeClr val="accent3"/>
                </a:solidFill>
                <a:latin typeface="+mn-lt"/>
              </a:rPr>
              <a:t>Atomicity (Атомарность) </a:t>
            </a:r>
            <a:r>
              <a:rPr lang="ru-RU" altLang="ru-RU" dirty="0">
                <a:solidFill>
                  <a:schemeClr val="tx1"/>
                </a:solidFill>
                <a:latin typeface="+mn-lt"/>
              </a:rPr>
              <a:t>— транзакция не может быть зафиксирована в системе частично: либо полное выполнение, либо полная отмена</a:t>
            </a:r>
            <a:br>
              <a:rPr lang="ru-RU" altLang="ru-RU" dirty="0">
                <a:solidFill>
                  <a:schemeClr val="tx1"/>
                </a:solidFill>
                <a:latin typeface="+mn-lt"/>
              </a:rPr>
            </a:br>
            <a:endParaRPr lang="ru-RU" altLang="ru-RU" sz="800" dirty="0">
              <a:solidFill>
                <a:schemeClr val="tx1"/>
              </a:solidFill>
              <a:latin typeface="+mn-lt"/>
            </a:endParaRPr>
          </a:p>
          <a:p>
            <a:pPr marL="285750" indent="-285750">
              <a:lnSpc>
                <a:spcPct val="110000"/>
              </a:lnSpc>
              <a:buClr>
                <a:schemeClr val="accent3"/>
              </a:buClr>
              <a:buFont typeface="Arial" panose="020B0604020202020204" pitchFamily="34" charset="0"/>
              <a:buChar char="•"/>
            </a:pPr>
            <a:r>
              <a:rPr lang="ru-RU" altLang="ru-RU" b="1" dirty="0">
                <a:solidFill>
                  <a:schemeClr val="accent3"/>
                </a:solidFill>
                <a:latin typeface="+mn-lt"/>
              </a:rPr>
              <a:t>Consistency (Согласованность)</a:t>
            </a:r>
            <a:r>
              <a:rPr lang="ru-RU" altLang="ru-RU" dirty="0">
                <a:solidFill>
                  <a:schemeClr val="tx1"/>
                </a:solidFill>
                <a:latin typeface="+mn-lt"/>
              </a:rPr>
              <a:t> — завершенная транзакция сохраняет согласованность базы данных</a:t>
            </a:r>
            <a:br>
              <a:rPr lang="ru-RU" altLang="ru-RU" dirty="0">
                <a:solidFill>
                  <a:schemeClr val="tx1"/>
                </a:solidFill>
                <a:latin typeface="+mn-lt"/>
              </a:rPr>
            </a:br>
            <a:endParaRPr lang="ru-RU" altLang="ru-RU" sz="800" dirty="0">
              <a:solidFill>
                <a:schemeClr val="tx1"/>
              </a:solidFill>
              <a:latin typeface="+mn-lt"/>
            </a:endParaRPr>
          </a:p>
          <a:p>
            <a:pPr marL="285750" indent="-285750">
              <a:lnSpc>
                <a:spcPct val="110000"/>
              </a:lnSpc>
              <a:buClr>
                <a:schemeClr val="accent3"/>
              </a:buClr>
              <a:buFont typeface="Arial" panose="020B0604020202020204" pitchFamily="34" charset="0"/>
              <a:buChar char="•"/>
            </a:pPr>
            <a:r>
              <a:rPr lang="ru-RU" altLang="ru-RU" b="1" dirty="0">
                <a:solidFill>
                  <a:schemeClr val="accent3"/>
                </a:solidFill>
                <a:latin typeface="+mn-lt"/>
              </a:rPr>
              <a:t>Isolation (Изолированность) </a:t>
            </a:r>
            <a:r>
              <a:rPr lang="ru-RU" altLang="ru-RU" dirty="0">
                <a:solidFill>
                  <a:schemeClr val="tx1"/>
                </a:solidFill>
                <a:latin typeface="+mn-lt"/>
              </a:rPr>
              <a:t>— во время выполнения транзакции параллельные транзакции не должны оказывать влияния на ее результат</a:t>
            </a:r>
            <a:br>
              <a:rPr lang="ru-RU" altLang="ru-RU" dirty="0">
                <a:solidFill>
                  <a:schemeClr val="tx1"/>
                </a:solidFill>
                <a:latin typeface="+mn-lt"/>
              </a:rPr>
            </a:br>
            <a:endParaRPr lang="ru-RU" altLang="ru-RU" sz="800" dirty="0">
              <a:solidFill>
                <a:schemeClr val="tx1"/>
              </a:solidFill>
              <a:latin typeface="+mn-lt"/>
            </a:endParaRPr>
          </a:p>
          <a:p>
            <a:pPr marL="285750" indent="-285750">
              <a:lnSpc>
                <a:spcPct val="110000"/>
              </a:lnSpc>
              <a:buClr>
                <a:schemeClr val="accent3"/>
              </a:buClr>
              <a:buFont typeface="Arial" panose="020B0604020202020204" pitchFamily="34" charset="0"/>
              <a:buChar char="•"/>
            </a:pPr>
            <a:r>
              <a:rPr lang="ru-RU" altLang="ru-RU" b="1" dirty="0">
                <a:solidFill>
                  <a:schemeClr val="accent3"/>
                </a:solidFill>
                <a:latin typeface="+mn-lt"/>
              </a:rPr>
              <a:t>Durability (Долговечность) </a:t>
            </a:r>
            <a:r>
              <a:rPr lang="ru-RU" altLang="ru-RU" dirty="0">
                <a:solidFill>
                  <a:schemeClr val="tx1"/>
                </a:solidFill>
                <a:latin typeface="+mn-lt"/>
              </a:rPr>
              <a:t>— низкоуровневые проблемы (например, обесточивание системы) не должны менять результат завершенной транзакции</a:t>
            </a:r>
          </a:p>
        </p:txBody>
      </p:sp>
    </p:spTree>
    <p:extLst>
      <p:ext uri="{BB962C8B-B14F-4D97-AF65-F5344CB8AC3E}">
        <p14:creationId xmlns:p14="http://schemas.microsoft.com/office/powerpoint/2010/main" val="3401773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1084908" y="293530"/>
            <a:ext cx="6834296" cy="769441"/>
          </a:xfrm>
          <a:prstGeom prst="rect">
            <a:avLst/>
          </a:prstGeom>
          <a:noFill/>
        </p:spPr>
        <p:txBody>
          <a:bodyPr wrap="square">
            <a:spAutoFit/>
          </a:bodyPr>
          <a:lstStyle/>
          <a:p>
            <a:pPr algn="ctr"/>
            <a:r>
              <a:rPr lang="en-US" sz="4400" kern="1200" dirty="0">
                <a:solidFill>
                  <a:schemeClr val="accent3"/>
                </a:solidFill>
                <a:latin typeface="+mj-lt"/>
              </a:rPr>
              <a:t>BASE</a:t>
            </a:r>
            <a:endParaRPr lang="ru-RU" sz="4400" dirty="0">
              <a:solidFill>
                <a:schemeClr val="accent3"/>
              </a:solidFill>
              <a:latin typeface="+mj-lt"/>
            </a:endParaRPr>
          </a:p>
        </p:txBody>
      </p:sp>
      <p:sp>
        <p:nvSpPr>
          <p:cNvPr id="50" name="Прямоугольник 49"/>
          <p:cNvSpPr/>
          <p:nvPr/>
        </p:nvSpPr>
        <p:spPr>
          <a:xfrm>
            <a:off x="678403" y="1117238"/>
            <a:ext cx="7867204" cy="3613297"/>
          </a:xfrm>
          <a:prstGeom prst="rect">
            <a:avLst/>
          </a:prstGeom>
        </p:spPr>
        <p:txBody>
          <a:bodyPr wrap="square">
            <a:spAutoFit/>
          </a:bodyPr>
          <a:lstStyle/>
          <a:p>
            <a:pPr>
              <a:lnSpc>
                <a:spcPct val="110000"/>
              </a:lnSpc>
            </a:pPr>
            <a:r>
              <a:rPr lang="ru-RU" altLang="ru-RU" sz="1600" b="1" dirty="0">
                <a:solidFill>
                  <a:schemeClr val="accent3"/>
                </a:solidFill>
                <a:latin typeface="+mn-lt"/>
              </a:rPr>
              <a:t>Basic Availability (Базовая доступность) </a:t>
            </a:r>
            <a:r>
              <a:rPr lang="ru-RU" altLang="ru-RU" sz="1600" dirty="0">
                <a:solidFill>
                  <a:schemeClr val="tx1"/>
                </a:solidFill>
                <a:latin typeface="+mn-lt"/>
              </a:rPr>
              <a:t>— допускается отказ в обслуживании для незначительной части сессий при сохранении доступности для большинства из них.</a:t>
            </a:r>
            <a:br>
              <a:rPr lang="ru-RU" altLang="ru-RU" sz="1600" dirty="0">
                <a:solidFill>
                  <a:schemeClr val="tx1"/>
                </a:solidFill>
                <a:latin typeface="+mn-lt"/>
              </a:rPr>
            </a:br>
            <a:endParaRPr lang="ru-RU" altLang="ru-RU" sz="1600" dirty="0">
              <a:solidFill>
                <a:schemeClr val="tx1"/>
              </a:solidFill>
              <a:latin typeface="+mn-lt"/>
            </a:endParaRPr>
          </a:p>
          <a:p>
            <a:pPr>
              <a:lnSpc>
                <a:spcPct val="110000"/>
              </a:lnSpc>
            </a:pPr>
            <a:r>
              <a:rPr lang="ru-RU" altLang="ru-RU" sz="1600" b="1" dirty="0">
                <a:solidFill>
                  <a:schemeClr val="accent3"/>
                </a:solidFill>
                <a:latin typeface="+mn-lt"/>
              </a:rPr>
              <a:t>Soft state (Неустойчивое состояние) </a:t>
            </a:r>
            <a:r>
              <a:rPr lang="ru-RU" altLang="ru-RU" sz="1600" dirty="0">
                <a:solidFill>
                  <a:schemeClr val="tx1"/>
                </a:solidFill>
                <a:latin typeface="+mn-lt"/>
              </a:rPr>
              <a:t>— допускается жертвовать долговременным хранением состояния сессии (например, промежуточных результатов выборок) при обеспечении фиксации обновлений для критичных операций.</a:t>
            </a:r>
            <a:br>
              <a:rPr lang="ru-RU" altLang="ru-RU" sz="1600" dirty="0">
                <a:solidFill>
                  <a:schemeClr val="tx1"/>
                </a:solidFill>
                <a:latin typeface="+mn-lt"/>
              </a:rPr>
            </a:br>
            <a:endParaRPr lang="ru-RU" altLang="ru-RU" sz="1600" dirty="0">
              <a:solidFill>
                <a:schemeClr val="tx1"/>
              </a:solidFill>
              <a:latin typeface="+mn-lt"/>
            </a:endParaRPr>
          </a:p>
          <a:p>
            <a:pPr>
              <a:lnSpc>
                <a:spcPct val="110000"/>
              </a:lnSpc>
            </a:pPr>
            <a:r>
              <a:rPr lang="ru-RU" altLang="ru-RU" sz="1600" b="1" dirty="0">
                <a:solidFill>
                  <a:schemeClr val="accent3"/>
                </a:solidFill>
                <a:latin typeface="+mn-lt"/>
              </a:rPr>
              <a:t>Eventual consistency (Согласованность в конечном счете) </a:t>
            </a:r>
            <a:r>
              <a:rPr lang="ru-RU" altLang="ru-RU" sz="1600" dirty="0">
                <a:solidFill>
                  <a:schemeClr val="tx1"/>
                </a:solidFill>
                <a:latin typeface="+mn-lt"/>
              </a:rPr>
              <a:t>— допускается обеспечивать согласованность только для отдельных частей БД (в основном, для конкретных записей), при условии последующей синхронизация всех узлов БД в фоновом режиме</a:t>
            </a:r>
          </a:p>
        </p:txBody>
      </p:sp>
    </p:spTree>
    <p:extLst>
      <p:ext uri="{BB962C8B-B14F-4D97-AF65-F5344CB8AC3E}">
        <p14:creationId xmlns:p14="http://schemas.microsoft.com/office/powerpoint/2010/main" val="560695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1084908" y="959160"/>
            <a:ext cx="6834296" cy="769441"/>
          </a:xfrm>
          <a:prstGeom prst="rect">
            <a:avLst/>
          </a:prstGeom>
          <a:noFill/>
        </p:spPr>
        <p:txBody>
          <a:bodyPr wrap="square">
            <a:spAutoFit/>
          </a:bodyPr>
          <a:lstStyle/>
          <a:p>
            <a:pPr algn="ctr"/>
            <a:r>
              <a:rPr lang="en-US" sz="4400" kern="1200" dirty="0">
                <a:solidFill>
                  <a:schemeClr val="accent3"/>
                </a:solidFill>
                <a:latin typeface="+mj-lt"/>
              </a:rPr>
              <a:t>BASE </a:t>
            </a:r>
            <a:r>
              <a:rPr lang="ru-RU" sz="4400" kern="1200" dirty="0">
                <a:solidFill>
                  <a:schemeClr val="accent3"/>
                </a:solidFill>
                <a:latin typeface="+mj-lt"/>
              </a:rPr>
              <a:t>вместо </a:t>
            </a:r>
            <a:r>
              <a:rPr lang="en-US" sz="4400" kern="1200" dirty="0">
                <a:solidFill>
                  <a:schemeClr val="accent3"/>
                </a:solidFill>
                <a:latin typeface="+mj-lt"/>
              </a:rPr>
              <a:t>ACID</a:t>
            </a:r>
            <a:endParaRPr lang="ru-RU" sz="4400" dirty="0">
              <a:solidFill>
                <a:schemeClr val="accent3"/>
              </a:solidFill>
              <a:latin typeface="+mj-lt"/>
            </a:endParaRPr>
          </a:p>
        </p:txBody>
      </p:sp>
      <p:sp>
        <p:nvSpPr>
          <p:cNvPr id="4" name="Text Box 10">
            <a:extLst>
              <a:ext uri="{FF2B5EF4-FFF2-40B4-BE49-F238E27FC236}">
                <a16:creationId xmlns:a16="http://schemas.microsoft.com/office/drawing/2014/main" id="{6D174E0F-53D7-4CAB-86AD-EA73F91A617C}"/>
              </a:ext>
            </a:extLst>
          </p:cNvPr>
          <p:cNvSpPr txBox="1">
            <a:spLocks noChangeArrowheads="1"/>
          </p:cNvSpPr>
          <p:nvPr/>
        </p:nvSpPr>
        <p:spPr bwMode="auto">
          <a:xfrm>
            <a:off x="699247" y="2332127"/>
            <a:ext cx="3294530"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ctr" fontAlgn="base">
              <a:spcBef>
                <a:spcPct val="0"/>
              </a:spcBef>
              <a:spcAft>
                <a:spcPct val="0"/>
              </a:spcAft>
              <a:buFontTx/>
              <a:buNone/>
            </a:pPr>
            <a:r>
              <a:rPr lang="en-US" sz="2800" b="1" dirty="0">
                <a:solidFill>
                  <a:schemeClr val="accent3"/>
                </a:solidFill>
                <a:latin typeface="+mn-lt"/>
              </a:rPr>
              <a:t>ACID</a:t>
            </a:r>
          </a:p>
          <a:p>
            <a:pPr marL="180975" indent="-180975" algn="just" fontAlgn="base">
              <a:spcBef>
                <a:spcPct val="0"/>
              </a:spcBef>
              <a:spcAft>
                <a:spcPct val="0"/>
              </a:spcAft>
            </a:pPr>
            <a:r>
              <a:rPr lang="en-US" sz="1600" dirty="0">
                <a:solidFill>
                  <a:schemeClr val="tx1"/>
                </a:solidFill>
                <a:latin typeface="+mn-lt"/>
              </a:rPr>
              <a:t>Atomicity (</a:t>
            </a:r>
            <a:r>
              <a:rPr lang="ru-RU" sz="1600" dirty="0">
                <a:solidFill>
                  <a:schemeClr val="tx1"/>
                </a:solidFill>
                <a:latin typeface="+mn-lt"/>
              </a:rPr>
              <a:t>Атомарность</a:t>
            </a:r>
            <a:r>
              <a:rPr lang="en-US" sz="1600" dirty="0">
                <a:solidFill>
                  <a:schemeClr val="tx1"/>
                </a:solidFill>
                <a:latin typeface="+mn-lt"/>
              </a:rPr>
              <a:t>)</a:t>
            </a:r>
          </a:p>
          <a:p>
            <a:pPr marL="180975" indent="-180975" algn="just" fontAlgn="base">
              <a:spcBef>
                <a:spcPct val="0"/>
              </a:spcBef>
              <a:spcAft>
                <a:spcPct val="0"/>
              </a:spcAft>
            </a:pPr>
            <a:r>
              <a:rPr lang="en-US" sz="1600" dirty="0">
                <a:solidFill>
                  <a:schemeClr val="tx1"/>
                </a:solidFill>
                <a:latin typeface="+mn-lt"/>
              </a:rPr>
              <a:t>Consistency (</a:t>
            </a:r>
            <a:r>
              <a:rPr lang="ru-RU" sz="1600" dirty="0">
                <a:solidFill>
                  <a:schemeClr val="tx1"/>
                </a:solidFill>
                <a:latin typeface="+mn-lt"/>
              </a:rPr>
              <a:t>Согласованность</a:t>
            </a:r>
            <a:r>
              <a:rPr lang="en-US" sz="1600" dirty="0">
                <a:solidFill>
                  <a:schemeClr val="tx1"/>
                </a:solidFill>
                <a:latin typeface="+mn-lt"/>
              </a:rPr>
              <a:t>)</a:t>
            </a:r>
          </a:p>
          <a:p>
            <a:pPr marL="180975" indent="-180975" algn="just" fontAlgn="base">
              <a:spcBef>
                <a:spcPct val="0"/>
              </a:spcBef>
              <a:spcAft>
                <a:spcPct val="0"/>
              </a:spcAft>
            </a:pPr>
            <a:r>
              <a:rPr lang="en-US" sz="1600" dirty="0">
                <a:solidFill>
                  <a:schemeClr val="tx1"/>
                </a:solidFill>
                <a:latin typeface="+mn-lt"/>
              </a:rPr>
              <a:t>Isolation </a:t>
            </a:r>
            <a:r>
              <a:rPr lang="ru-RU" sz="1600" dirty="0">
                <a:solidFill>
                  <a:schemeClr val="tx1"/>
                </a:solidFill>
                <a:latin typeface="+mn-lt"/>
              </a:rPr>
              <a:t>(Изолированность</a:t>
            </a:r>
            <a:endParaRPr lang="en-US" sz="1600" dirty="0">
              <a:solidFill>
                <a:schemeClr val="tx1"/>
              </a:solidFill>
              <a:latin typeface="+mn-lt"/>
            </a:endParaRPr>
          </a:p>
          <a:p>
            <a:pPr marL="180975" indent="-180975" algn="just" fontAlgn="base">
              <a:spcBef>
                <a:spcPct val="0"/>
              </a:spcBef>
              <a:spcAft>
                <a:spcPct val="0"/>
              </a:spcAft>
            </a:pPr>
            <a:r>
              <a:rPr lang="en-US" sz="1600" dirty="0">
                <a:solidFill>
                  <a:schemeClr val="tx1"/>
                </a:solidFill>
                <a:latin typeface="+mn-lt"/>
              </a:rPr>
              <a:t>Durability </a:t>
            </a:r>
            <a:r>
              <a:rPr lang="ru-RU" sz="1600" dirty="0">
                <a:solidFill>
                  <a:schemeClr val="tx1"/>
                </a:solidFill>
                <a:latin typeface="+mn-lt"/>
              </a:rPr>
              <a:t>(Долговечность</a:t>
            </a:r>
            <a:r>
              <a:rPr lang="en-US" sz="1600" dirty="0">
                <a:solidFill>
                  <a:schemeClr val="tx1"/>
                </a:solidFill>
                <a:latin typeface="+mn-lt"/>
              </a:rPr>
              <a:t>)</a:t>
            </a:r>
          </a:p>
        </p:txBody>
      </p:sp>
      <p:sp>
        <p:nvSpPr>
          <p:cNvPr id="5" name="Text Box 10">
            <a:extLst>
              <a:ext uri="{FF2B5EF4-FFF2-40B4-BE49-F238E27FC236}">
                <a16:creationId xmlns:a16="http://schemas.microsoft.com/office/drawing/2014/main" id="{B7EF6AB6-B3EA-43ED-A0FE-008297EEB8D8}"/>
              </a:ext>
            </a:extLst>
          </p:cNvPr>
          <p:cNvSpPr txBox="1">
            <a:spLocks noChangeArrowheads="1"/>
          </p:cNvSpPr>
          <p:nvPr/>
        </p:nvSpPr>
        <p:spPr bwMode="auto">
          <a:xfrm>
            <a:off x="4572000" y="2332047"/>
            <a:ext cx="4047565"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algn="ctr" fontAlgn="base">
              <a:spcBef>
                <a:spcPct val="0"/>
              </a:spcBef>
              <a:spcAft>
                <a:spcPct val="0"/>
              </a:spcAft>
              <a:buFontTx/>
              <a:buNone/>
            </a:pPr>
            <a:r>
              <a:rPr lang="en-US" sz="2800" b="1" dirty="0">
                <a:solidFill>
                  <a:schemeClr val="accent3"/>
                </a:solidFill>
                <a:latin typeface="+mn-lt"/>
              </a:rPr>
              <a:t>BASE</a:t>
            </a:r>
          </a:p>
          <a:p>
            <a:pPr marL="180975" indent="-180975" fontAlgn="base">
              <a:spcBef>
                <a:spcPct val="0"/>
              </a:spcBef>
              <a:spcAft>
                <a:spcPct val="0"/>
              </a:spcAft>
            </a:pPr>
            <a:r>
              <a:rPr lang="en-US" sz="1600" dirty="0">
                <a:solidFill>
                  <a:schemeClr val="tx1"/>
                </a:solidFill>
                <a:latin typeface="+mn-lt"/>
              </a:rPr>
              <a:t>Basic Availability (</a:t>
            </a:r>
            <a:r>
              <a:rPr lang="ru-RU" sz="1600" dirty="0">
                <a:solidFill>
                  <a:schemeClr val="tx1"/>
                </a:solidFill>
                <a:latin typeface="+mn-lt"/>
              </a:rPr>
              <a:t>Базовая доступность</a:t>
            </a:r>
            <a:r>
              <a:rPr lang="en-US" sz="1600" dirty="0">
                <a:solidFill>
                  <a:schemeClr val="tx1"/>
                </a:solidFill>
                <a:latin typeface="+mn-lt"/>
              </a:rPr>
              <a:t>)</a:t>
            </a:r>
            <a:endParaRPr lang="ru-RU" sz="1600" dirty="0">
              <a:solidFill>
                <a:schemeClr val="tx1"/>
              </a:solidFill>
              <a:latin typeface="+mn-lt"/>
            </a:endParaRPr>
          </a:p>
          <a:p>
            <a:pPr marL="180975" indent="-180975" fontAlgn="base">
              <a:spcBef>
                <a:spcPct val="0"/>
              </a:spcBef>
              <a:spcAft>
                <a:spcPct val="0"/>
              </a:spcAft>
            </a:pPr>
            <a:r>
              <a:rPr lang="en-US" sz="1600" dirty="0">
                <a:solidFill>
                  <a:schemeClr val="tx1"/>
                </a:solidFill>
                <a:latin typeface="+mn-lt"/>
              </a:rPr>
              <a:t>Soft state (</a:t>
            </a:r>
            <a:r>
              <a:rPr lang="ru-RU" sz="1600" dirty="0">
                <a:solidFill>
                  <a:schemeClr val="tx1"/>
                </a:solidFill>
                <a:latin typeface="+mn-lt"/>
              </a:rPr>
              <a:t>Неустойчивое состояние</a:t>
            </a:r>
            <a:r>
              <a:rPr lang="en-US" sz="1600" dirty="0">
                <a:solidFill>
                  <a:schemeClr val="tx1"/>
                </a:solidFill>
                <a:latin typeface="+mn-lt"/>
              </a:rPr>
              <a:t>)</a:t>
            </a:r>
            <a:endParaRPr lang="ru-RU" sz="1600" dirty="0">
              <a:solidFill>
                <a:schemeClr val="tx1"/>
              </a:solidFill>
              <a:latin typeface="+mn-lt"/>
            </a:endParaRPr>
          </a:p>
          <a:p>
            <a:pPr marL="180975" indent="-180975" fontAlgn="base">
              <a:spcBef>
                <a:spcPct val="0"/>
              </a:spcBef>
              <a:spcAft>
                <a:spcPct val="0"/>
              </a:spcAft>
            </a:pPr>
            <a:r>
              <a:rPr lang="en-US" sz="1600" dirty="0">
                <a:solidFill>
                  <a:schemeClr val="tx1"/>
                </a:solidFill>
                <a:latin typeface="+mn-lt"/>
              </a:rPr>
              <a:t>Eventual consistency</a:t>
            </a:r>
            <a:r>
              <a:rPr lang="ru-RU" sz="1600" dirty="0">
                <a:solidFill>
                  <a:schemeClr val="tx1"/>
                </a:solidFill>
                <a:latin typeface="+mn-lt"/>
              </a:rPr>
              <a:t> (Согласованность в конечном счете)</a:t>
            </a:r>
            <a:endParaRPr lang="en-US" sz="1600" dirty="0">
              <a:solidFill>
                <a:schemeClr val="tx1"/>
              </a:solidFill>
              <a:latin typeface="+mn-lt"/>
            </a:endParaRPr>
          </a:p>
        </p:txBody>
      </p:sp>
      <p:cxnSp>
        <p:nvCxnSpPr>
          <p:cNvPr id="6" name="Прямая со стрелкой 5">
            <a:extLst>
              <a:ext uri="{FF2B5EF4-FFF2-40B4-BE49-F238E27FC236}">
                <a16:creationId xmlns:a16="http://schemas.microsoft.com/office/drawing/2014/main" id="{0EBB077A-C513-47E3-9058-46A44BB5EBFA}"/>
              </a:ext>
            </a:extLst>
          </p:cNvPr>
          <p:cNvCxnSpPr>
            <a:stCxn id="4" idx="3"/>
          </p:cNvCxnSpPr>
          <p:nvPr/>
        </p:nvCxnSpPr>
        <p:spPr>
          <a:xfrm>
            <a:off x="3993777" y="3086180"/>
            <a:ext cx="508279"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5850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1608829" y="293530"/>
            <a:ext cx="6006352" cy="1200329"/>
          </a:xfrm>
          <a:prstGeom prst="rect">
            <a:avLst/>
          </a:prstGeom>
          <a:noFill/>
        </p:spPr>
        <p:txBody>
          <a:bodyPr wrap="square">
            <a:spAutoFit/>
          </a:bodyPr>
          <a:lstStyle/>
          <a:p>
            <a:pPr algn="ctr"/>
            <a:r>
              <a:rPr lang="ru-RU" sz="3600" kern="1200" dirty="0">
                <a:solidFill>
                  <a:schemeClr val="accent3"/>
                </a:solidFill>
                <a:latin typeface="+mj-lt"/>
              </a:rPr>
              <a:t>Пример организации данных в NoSQL БД</a:t>
            </a:r>
            <a:endParaRPr lang="ru-RU" sz="3600" dirty="0">
              <a:solidFill>
                <a:schemeClr val="accent3"/>
              </a:solidFill>
              <a:latin typeface="+mj-lt"/>
            </a:endParaRPr>
          </a:p>
        </p:txBody>
      </p:sp>
      <p:sp>
        <p:nvSpPr>
          <p:cNvPr id="50" name="Прямоугольник 49"/>
          <p:cNvSpPr/>
          <p:nvPr/>
        </p:nvSpPr>
        <p:spPr>
          <a:xfrm>
            <a:off x="678403" y="1583873"/>
            <a:ext cx="7867204" cy="498598"/>
          </a:xfrm>
          <a:prstGeom prst="rect">
            <a:avLst/>
          </a:prstGeom>
        </p:spPr>
        <p:txBody>
          <a:bodyPr wrap="square">
            <a:spAutoFit/>
          </a:bodyPr>
          <a:lstStyle/>
          <a:p>
            <a:pPr>
              <a:lnSpc>
                <a:spcPct val="110000"/>
              </a:lnSpc>
            </a:pPr>
            <a:r>
              <a:rPr lang="en-US" altLang="ru-RU" sz="1200" dirty="0">
                <a:solidFill>
                  <a:schemeClr val="tx1"/>
                </a:solidFill>
                <a:latin typeface="+mn-lt"/>
              </a:rPr>
              <a:t>db.users.find({id: 1});   # </a:t>
            </a:r>
            <a:r>
              <a:rPr lang="ru-RU" altLang="ru-RU" sz="1200" dirty="0">
                <a:solidFill>
                  <a:schemeClr val="tx1"/>
                </a:solidFill>
                <a:latin typeface="+mn-lt"/>
              </a:rPr>
              <a:t>выполняется очень быстро </a:t>
            </a:r>
          </a:p>
          <a:p>
            <a:pPr>
              <a:lnSpc>
                <a:spcPct val="110000"/>
              </a:lnSpc>
            </a:pPr>
            <a:r>
              <a:rPr lang="en-US" altLang="ru-RU" sz="1200" dirty="0">
                <a:solidFill>
                  <a:schemeClr val="tx1"/>
                </a:solidFill>
                <a:latin typeface="+mn-lt"/>
              </a:rPr>
              <a:t>db.users.find({group_ids: 1});   # </a:t>
            </a:r>
            <a:r>
              <a:rPr lang="ru-RU" altLang="ru-RU" sz="1200" dirty="0">
                <a:solidFill>
                  <a:schemeClr val="tx1"/>
                </a:solidFill>
                <a:latin typeface="+mn-lt"/>
              </a:rPr>
              <a:t>выполняется медленно</a:t>
            </a:r>
          </a:p>
        </p:txBody>
      </p:sp>
      <p:grpSp>
        <p:nvGrpSpPr>
          <p:cNvPr id="6" name="Группа 5">
            <a:extLst>
              <a:ext uri="{FF2B5EF4-FFF2-40B4-BE49-F238E27FC236}">
                <a16:creationId xmlns:a16="http://schemas.microsoft.com/office/drawing/2014/main" id="{3EEA4BAB-AE33-4CDD-B6E0-D3698E15612E}"/>
              </a:ext>
            </a:extLst>
          </p:cNvPr>
          <p:cNvGrpSpPr/>
          <p:nvPr/>
        </p:nvGrpSpPr>
        <p:grpSpPr>
          <a:xfrm>
            <a:off x="1155625" y="2251998"/>
            <a:ext cx="6832750" cy="2522334"/>
            <a:chOff x="1082180" y="2281806"/>
            <a:chExt cx="9339946" cy="3447875"/>
          </a:xfrm>
        </p:grpSpPr>
        <p:sp>
          <p:nvSpPr>
            <p:cNvPr id="7" name="Rectangle 6">
              <a:extLst>
                <a:ext uri="{FF2B5EF4-FFF2-40B4-BE49-F238E27FC236}">
                  <a16:creationId xmlns:a16="http://schemas.microsoft.com/office/drawing/2014/main" id="{6A00D4AF-0BA2-4955-A98E-F1D02EFA9FC2}"/>
                </a:ext>
              </a:extLst>
            </p:cNvPr>
            <p:cNvSpPr/>
            <p:nvPr/>
          </p:nvSpPr>
          <p:spPr>
            <a:xfrm>
              <a:off x="1082180" y="2281806"/>
              <a:ext cx="9339946" cy="3447875"/>
            </a:xfrm>
            <a:prstGeom prst="rect">
              <a:avLst/>
            </a:prstGeom>
            <a:noFill/>
            <a:ln w="12700" cap="flat" cmpd="sng" algn="ctr">
              <a:solidFill>
                <a:srgbClr val="5B9BD5">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b="0" i="0" u="none" strike="noStrike" kern="0" cap="none" spc="0" normalizeH="0" baseline="0" noProof="0">
                <a:ln>
                  <a:noFill/>
                </a:ln>
                <a:solidFill>
                  <a:schemeClr val="tx1"/>
                </a:solidFill>
                <a:effectLst/>
                <a:uLnTx/>
                <a:uFillTx/>
                <a:latin typeface="+mn-lt"/>
                <a:ea typeface="+mn-ea"/>
                <a:cs typeface="+mn-cs"/>
              </a:endParaRPr>
            </a:p>
          </p:txBody>
        </p:sp>
        <p:sp>
          <p:nvSpPr>
            <p:cNvPr id="8" name="TextBox 7">
              <a:extLst>
                <a:ext uri="{FF2B5EF4-FFF2-40B4-BE49-F238E27FC236}">
                  <a16:creationId xmlns:a16="http://schemas.microsoft.com/office/drawing/2014/main" id="{623975A5-83FF-4257-A395-7B205B96C2E3}"/>
                </a:ext>
              </a:extLst>
            </p:cNvPr>
            <p:cNvSpPr txBox="1"/>
            <p:nvPr/>
          </p:nvSpPr>
          <p:spPr>
            <a:xfrm>
              <a:off x="1082180" y="2289362"/>
              <a:ext cx="2002592" cy="378640"/>
            </a:xfrm>
            <a:prstGeom prst="rect">
              <a:avLst/>
            </a:prstGeom>
            <a:noFill/>
            <a:ln>
              <a:no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collection </a:t>
              </a:r>
              <a:r>
                <a:rPr kumimoji="0" lang="en-US" sz="1200" b="1" i="0" u="none" strike="noStrike" kern="0" cap="none" spc="0" normalizeH="0" baseline="0" noProof="0" dirty="0">
                  <a:ln>
                    <a:noFill/>
                  </a:ln>
                  <a:solidFill>
                    <a:schemeClr val="tx1"/>
                  </a:solidFill>
                  <a:effectLst/>
                  <a:uLnTx/>
                  <a:uFillTx/>
                  <a:latin typeface="+mn-lt"/>
                  <a:cs typeface="Times New Roman" panose="02020603050405020304" pitchFamily="18" charset="0"/>
                </a:rPr>
                <a:t>users</a:t>
              </a:r>
              <a:endParaRPr kumimoji="0" lang="ru-RU" sz="1200" b="1" i="0" u="none" strike="noStrike" kern="0" cap="none" spc="0" normalizeH="0" baseline="0" noProof="0" dirty="0">
                <a:ln>
                  <a:noFill/>
                </a:ln>
                <a:solidFill>
                  <a:schemeClr val="tx1"/>
                </a:solidFill>
                <a:effectLst/>
                <a:uLnTx/>
                <a:uFillTx/>
                <a:latin typeface="+mn-lt"/>
                <a:cs typeface="Times New Roman" panose="02020603050405020304" pitchFamily="18" charset="0"/>
              </a:endParaRPr>
            </a:p>
          </p:txBody>
        </p:sp>
        <p:sp>
          <p:nvSpPr>
            <p:cNvPr id="9" name="TextBox 8">
              <a:extLst>
                <a:ext uri="{FF2B5EF4-FFF2-40B4-BE49-F238E27FC236}">
                  <a16:creationId xmlns:a16="http://schemas.microsoft.com/office/drawing/2014/main" id="{7B213AA5-26E2-46C5-9835-8141231EC507}"/>
                </a:ext>
              </a:extLst>
            </p:cNvPr>
            <p:cNvSpPr txBox="1"/>
            <p:nvPr/>
          </p:nvSpPr>
          <p:spPr>
            <a:xfrm>
              <a:off x="1236559" y="2682829"/>
              <a:ext cx="2745830" cy="2902909"/>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    id: 1,</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    name: "</a:t>
              </a:r>
              <a:r>
                <a:rPr kumimoji="0" lang="ru-RU"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Иванов И.И.</a:t>
              </a: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    role: "</a:t>
              </a:r>
              <a:r>
                <a:rPr kumimoji="0" lang="ru-RU"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участник</a:t>
              </a: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r>
                <a:rPr kumimoji="0" lang="ru-RU"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    rating: 300,</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    login: "ivanovi",</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    password: "ivanov123",</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accent4"/>
                  </a:solidFill>
                  <a:effectLst/>
                  <a:uLnTx/>
                  <a:uFillTx/>
                  <a:latin typeface="+mn-lt"/>
                  <a:cs typeface="Times New Roman" panose="02020603050405020304" pitchFamily="18" charset="0"/>
                </a:rPr>
                <a:t>    group_ids: [1]</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endParaRPr kumimoji="0" lang="ru-RU" sz="1200" b="0" i="0" u="none" strike="noStrike" kern="0" cap="none" spc="0" normalizeH="0" baseline="0" noProof="0" dirty="0">
                <a:ln>
                  <a:noFill/>
                </a:ln>
                <a:solidFill>
                  <a:schemeClr val="tx1"/>
                </a:solidFill>
                <a:effectLst/>
                <a:uLnTx/>
                <a:uFillTx/>
                <a:latin typeface="+mn-lt"/>
                <a:cs typeface="Times New Roman" panose="02020603050405020304" pitchFamily="18" charset="0"/>
              </a:endParaRPr>
            </a:p>
          </p:txBody>
        </p:sp>
        <p:sp>
          <p:nvSpPr>
            <p:cNvPr id="10" name="TextBox 9">
              <a:extLst>
                <a:ext uri="{FF2B5EF4-FFF2-40B4-BE49-F238E27FC236}">
                  <a16:creationId xmlns:a16="http://schemas.microsoft.com/office/drawing/2014/main" id="{3C49167A-541F-4129-A545-CBA972B8F9B6}"/>
                </a:ext>
              </a:extLst>
            </p:cNvPr>
            <p:cNvSpPr txBox="1"/>
            <p:nvPr/>
          </p:nvSpPr>
          <p:spPr>
            <a:xfrm>
              <a:off x="4125575" y="2682826"/>
              <a:ext cx="2745830" cy="2944981"/>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    id: 2,</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    name: "</a:t>
              </a:r>
              <a:r>
                <a:rPr kumimoji="0" lang="ru-RU"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Петров И.И.</a:t>
              </a: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    role: "</a:t>
              </a:r>
              <a:r>
                <a:rPr kumimoji="0" lang="ru-RU"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участник</a:t>
              </a: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r>
                <a:rPr kumimoji="0" lang="ru-RU"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    rating: </a:t>
              </a:r>
              <a:r>
                <a:rPr kumimoji="0" lang="ru-RU"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25</a:t>
              </a: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0,</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    login: "petrovp",</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    password: "p1e2t3",</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    </a:t>
              </a:r>
              <a:r>
                <a:rPr kumimoji="0" lang="en-US" sz="1200" b="0" i="0" u="none" strike="noStrike" kern="0" cap="none" spc="0" normalizeH="0" baseline="0" noProof="0" dirty="0">
                  <a:ln>
                    <a:noFill/>
                  </a:ln>
                  <a:solidFill>
                    <a:schemeClr val="accent4"/>
                  </a:solidFill>
                  <a:effectLst/>
                  <a:uLnTx/>
                  <a:uFillTx/>
                  <a:latin typeface="+mn-lt"/>
                  <a:cs typeface="Times New Roman" panose="02020603050405020304" pitchFamily="18" charset="0"/>
                </a:rPr>
                <a:t>group_ids: [1, 2]</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endParaRPr kumimoji="0" lang="ru-RU" sz="1200" b="0" i="0" u="none" strike="noStrike" kern="0" cap="none" spc="0" normalizeH="0" baseline="0" noProof="0" dirty="0">
                <a:ln>
                  <a:noFill/>
                </a:ln>
                <a:solidFill>
                  <a:schemeClr val="tx1"/>
                </a:solidFill>
                <a:effectLst/>
                <a:uLnTx/>
                <a:uFillTx/>
                <a:latin typeface="+mn-lt"/>
                <a:cs typeface="Times New Roman" panose="02020603050405020304" pitchFamily="18" charset="0"/>
              </a:endParaRPr>
            </a:p>
          </p:txBody>
        </p:sp>
        <p:sp>
          <p:nvSpPr>
            <p:cNvPr id="11" name="TextBox 10">
              <a:extLst>
                <a:ext uri="{FF2B5EF4-FFF2-40B4-BE49-F238E27FC236}">
                  <a16:creationId xmlns:a16="http://schemas.microsoft.com/office/drawing/2014/main" id="{2DDA215E-0641-409A-84A4-547A0BF54CC4}"/>
                </a:ext>
              </a:extLst>
            </p:cNvPr>
            <p:cNvSpPr txBox="1"/>
            <p:nvPr/>
          </p:nvSpPr>
          <p:spPr>
            <a:xfrm>
              <a:off x="7566109" y="2682829"/>
              <a:ext cx="2745830" cy="2944982"/>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    id: </a:t>
              </a:r>
              <a:r>
                <a:rPr kumimoji="0" lang="ru-RU"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1000</a:t>
              </a: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    name: "</a:t>
              </a:r>
              <a:r>
                <a:rPr kumimoji="0" lang="ru-RU"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Юрьев Ю.Ю.</a:t>
              </a: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    role: "</a:t>
              </a:r>
              <a:r>
                <a:rPr kumimoji="0" lang="ru-RU"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модератор</a:t>
              </a: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r>
                <a:rPr kumimoji="0" lang="ru-RU"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    rating: </a:t>
              </a:r>
              <a:r>
                <a:rPr kumimoji="0" lang="ru-RU"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10</a:t>
              </a: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0,</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    login: </a:t>
              </a:r>
              <a:r>
                <a:rPr lang="en-US" sz="1200" kern="0" dirty="0">
                  <a:solidFill>
                    <a:schemeClr val="tx1"/>
                  </a:solidFill>
                  <a:latin typeface="+mn-lt"/>
                  <a:cs typeface="Times New Roman" panose="02020603050405020304" pitchFamily="18" charset="0"/>
                </a:rPr>
                <a:t>"</a:t>
              </a: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yourievy",</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    password: "yoyo",</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    </a:t>
              </a:r>
              <a:r>
                <a:rPr kumimoji="0" lang="en-US" sz="1200" b="0" i="0" u="none" strike="noStrike" kern="0" cap="none" spc="0" normalizeH="0" baseline="0" noProof="0" dirty="0">
                  <a:ln>
                    <a:noFill/>
                  </a:ln>
                  <a:solidFill>
                    <a:schemeClr val="accent4"/>
                  </a:solidFill>
                  <a:effectLst/>
                  <a:uLnTx/>
                  <a:uFillTx/>
                  <a:latin typeface="+mn-lt"/>
                  <a:cs typeface="Times New Roman" panose="02020603050405020304" pitchFamily="18" charset="0"/>
                </a:rPr>
                <a:t>avatar: "file1.jpg",</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accent4"/>
                  </a:solidFill>
                  <a:effectLst/>
                  <a:uLnTx/>
                  <a:uFillTx/>
                  <a:latin typeface="+mn-lt"/>
                  <a:cs typeface="Times New Roman" panose="02020603050405020304" pitchFamily="18" charset="0"/>
                </a:rPr>
                <a:t>    status: "</a:t>
              </a:r>
              <a:r>
                <a:rPr kumimoji="0" lang="ru-RU" sz="1200" b="0" i="0" u="none" strike="noStrike" kern="0" cap="none" spc="0" normalizeH="0" baseline="0" noProof="0" dirty="0">
                  <a:ln>
                    <a:noFill/>
                  </a:ln>
                  <a:solidFill>
                    <a:schemeClr val="accent4"/>
                  </a:solidFill>
                  <a:effectLst/>
                  <a:uLnTx/>
                  <a:uFillTx/>
                  <a:latin typeface="+mn-lt"/>
                  <a:cs typeface="Times New Roman" panose="02020603050405020304" pitchFamily="18" charset="0"/>
                </a:rPr>
                <a:t>в сети</a:t>
              </a:r>
              <a:r>
                <a:rPr kumimoji="0" lang="en-US" sz="1200" b="0" i="0" u="none" strike="noStrike" kern="0" cap="none" spc="0" normalizeH="0" baseline="0" noProof="0" dirty="0">
                  <a:ln>
                    <a:noFill/>
                  </a:ln>
                  <a:solidFill>
                    <a:schemeClr val="accent4"/>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endParaRPr kumimoji="0" lang="ru-RU" sz="1200" b="0" i="0" u="none" strike="noStrike" kern="0" cap="none" spc="0" normalizeH="0" baseline="0" noProof="0" dirty="0">
                <a:ln>
                  <a:noFill/>
                </a:ln>
                <a:solidFill>
                  <a:schemeClr val="tx1"/>
                </a:solidFill>
                <a:effectLst/>
                <a:uLnTx/>
                <a:uFillTx/>
                <a:latin typeface="+mn-lt"/>
                <a:cs typeface="Times New Roman" panose="02020603050405020304" pitchFamily="18" charset="0"/>
              </a:endParaRPr>
            </a:p>
          </p:txBody>
        </p:sp>
        <p:sp>
          <p:nvSpPr>
            <p:cNvPr id="12" name="TextBox 11">
              <a:extLst>
                <a:ext uri="{FF2B5EF4-FFF2-40B4-BE49-F238E27FC236}">
                  <a16:creationId xmlns:a16="http://schemas.microsoft.com/office/drawing/2014/main" id="{CCD09AF3-3646-497B-AEA6-865A0898DF00}"/>
                </a:ext>
              </a:extLst>
            </p:cNvPr>
            <p:cNvSpPr txBox="1"/>
            <p:nvPr/>
          </p:nvSpPr>
          <p:spPr>
            <a:xfrm>
              <a:off x="6882597" y="4142871"/>
              <a:ext cx="683511" cy="46278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ru-RU" sz="16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p:txBody>
        </p:sp>
      </p:grpSp>
    </p:spTree>
    <p:extLst>
      <p:ext uri="{BB962C8B-B14F-4D97-AF65-F5344CB8AC3E}">
        <p14:creationId xmlns:p14="http://schemas.microsoft.com/office/powerpoint/2010/main" val="204668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7"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4683318" y="513183"/>
            <a:ext cx="4333461" cy="411713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lvl="0" eaLnBrk="0" fontAlgn="base" hangingPunct="0">
              <a:spcBef>
                <a:spcPct val="0"/>
              </a:spcBef>
              <a:spcAft>
                <a:spcPct val="0"/>
              </a:spcAft>
              <a:buClrTx/>
              <a:buNone/>
              <a:defRPr/>
            </a:pPr>
            <a:r>
              <a:rPr lang="en-US" sz="1000" kern="1200" dirty="0">
                <a:solidFill>
                  <a:prstClr val="black"/>
                </a:solidFill>
                <a:latin typeface="+mn-lt"/>
                <a:cs typeface="Courier New" panose="02070309020205020404" pitchFamily="49" charset="0"/>
              </a:rPr>
              <a:t>INSERT INTO Employees (Name, Position, Bonus, Login, Password)</a:t>
            </a:r>
          </a:p>
          <a:p>
            <a:pPr lvl="0" eaLnBrk="0" fontAlgn="base" hangingPunct="0">
              <a:spcBef>
                <a:spcPct val="0"/>
              </a:spcBef>
              <a:spcAft>
                <a:spcPct val="0"/>
              </a:spcAft>
              <a:buClrTx/>
              <a:buNone/>
              <a:defRPr/>
            </a:pPr>
            <a:r>
              <a:rPr lang="en-US" sz="1000" kern="1200" dirty="0">
                <a:solidFill>
                  <a:prstClr val="black"/>
                </a:solidFill>
                <a:latin typeface="+mn-lt"/>
                <a:cs typeface="Courier New" panose="02070309020205020404" pitchFamily="49" charset="0"/>
              </a:rPr>
              <a:t>VALUES ('</a:t>
            </a:r>
            <a:r>
              <a:rPr lang="ru-RU" sz="1000" kern="1200" dirty="0">
                <a:solidFill>
                  <a:prstClr val="black"/>
                </a:solidFill>
                <a:latin typeface="+mn-lt"/>
                <a:cs typeface="Courier New" panose="02070309020205020404" pitchFamily="49" charset="0"/>
              </a:rPr>
              <a:t>Иванов И.И.', 'инженер', 30000, '</a:t>
            </a:r>
            <a:r>
              <a:rPr lang="en-US" sz="1000" kern="1200" dirty="0">
                <a:solidFill>
                  <a:prstClr val="black"/>
                </a:solidFill>
                <a:latin typeface="+mn-lt"/>
                <a:cs typeface="Courier New" panose="02070309020205020404" pitchFamily="49" charset="0"/>
              </a:rPr>
              <a:t>ivanovi', 'ivanov123');</a:t>
            </a:r>
            <a:endParaRPr lang="ru-RU" sz="1000" kern="1200" dirty="0">
              <a:solidFill>
                <a:prstClr val="black"/>
              </a:solidFill>
              <a:latin typeface="+mn-lt"/>
              <a:cs typeface="Courier New" panose="02070309020205020404" pitchFamily="49" charset="0"/>
            </a:endParaRPr>
          </a:p>
          <a:p>
            <a:pPr lvl="0" fontAlgn="base">
              <a:spcBef>
                <a:spcPct val="0"/>
              </a:spcBef>
              <a:spcAft>
                <a:spcPct val="0"/>
              </a:spcAft>
              <a:buClrTx/>
              <a:buNone/>
              <a:defRPr/>
            </a:pPr>
            <a:endParaRPr lang="ru-RU" sz="1000" b="1" kern="1200" dirty="0">
              <a:solidFill>
                <a:srgbClr val="002060"/>
              </a:solidFill>
              <a:latin typeface="+mn-lt"/>
            </a:endParaRPr>
          </a:p>
          <a:p>
            <a:pPr lvl="0" fontAlgn="base">
              <a:spcBef>
                <a:spcPct val="0"/>
              </a:spcBef>
              <a:spcAft>
                <a:spcPct val="0"/>
              </a:spcAft>
              <a:buClrTx/>
              <a:buNone/>
              <a:defRPr/>
            </a:pPr>
            <a:r>
              <a:rPr lang="en-US" sz="1000" b="1" kern="1200" dirty="0">
                <a:solidFill>
                  <a:srgbClr val="002060"/>
                </a:solidFill>
                <a:latin typeface="+mn-lt"/>
              </a:rPr>
              <a:t>db.users.insert({</a:t>
            </a:r>
            <a:r>
              <a:rPr lang="en-US" sz="1000" kern="1200" dirty="0">
                <a:solidFill>
                  <a:srgbClr val="002060"/>
                </a:solidFill>
                <a:latin typeface="+mn-lt"/>
              </a:rPr>
              <a:t>id: 1, name: "</a:t>
            </a:r>
            <a:r>
              <a:rPr lang="ru-RU" sz="1000" kern="1200" dirty="0">
                <a:solidFill>
                  <a:srgbClr val="002060"/>
                </a:solidFill>
                <a:latin typeface="+mn-lt"/>
              </a:rPr>
              <a:t>Иванов И.И.", </a:t>
            </a:r>
            <a:r>
              <a:rPr lang="en-US" sz="1000" kern="1200" dirty="0">
                <a:solidFill>
                  <a:srgbClr val="002060"/>
                </a:solidFill>
                <a:latin typeface="+mn-lt"/>
              </a:rPr>
              <a:t>role: "</a:t>
            </a:r>
            <a:r>
              <a:rPr lang="ru-RU" sz="1000" kern="1200" dirty="0">
                <a:solidFill>
                  <a:srgbClr val="002060"/>
                </a:solidFill>
                <a:latin typeface="+mn-lt"/>
              </a:rPr>
              <a:t>участник", </a:t>
            </a:r>
            <a:r>
              <a:rPr lang="en-US" sz="1000" kern="1200" dirty="0">
                <a:solidFill>
                  <a:srgbClr val="002060"/>
                </a:solidFill>
                <a:latin typeface="+mn-lt"/>
              </a:rPr>
              <a:t>rating: 300, login: "ivanovi", password: "ivanov123", group_ids: [1]</a:t>
            </a:r>
            <a:r>
              <a:rPr lang="en-US" sz="1000" b="1" kern="1200" dirty="0">
                <a:solidFill>
                  <a:srgbClr val="002060"/>
                </a:solidFill>
                <a:latin typeface="+mn-lt"/>
              </a:rPr>
              <a:t>});</a:t>
            </a:r>
            <a:endParaRPr lang="ru-RU" sz="1000" b="1" kern="1200" dirty="0">
              <a:solidFill>
                <a:srgbClr val="002060"/>
              </a:solidFill>
              <a:latin typeface="+mn-lt"/>
            </a:endParaRPr>
          </a:p>
          <a:p>
            <a:pPr lvl="0" fontAlgn="base">
              <a:spcBef>
                <a:spcPct val="0"/>
              </a:spcBef>
              <a:spcAft>
                <a:spcPct val="0"/>
              </a:spcAft>
              <a:buClrTx/>
              <a:buNone/>
              <a:defRPr/>
            </a:pPr>
            <a:endParaRPr lang="ru-RU" sz="1000" b="1" dirty="0">
              <a:solidFill>
                <a:srgbClr val="002060"/>
              </a:solidFill>
              <a:latin typeface="+mn-lt"/>
            </a:endParaRPr>
          </a:p>
          <a:p>
            <a:pPr lvl="0" fontAlgn="base">
              <a:spcBef>
                <a:spcPct val="0"/>
              </a:spcBef>
              <a:spcAft>
                <a:spcPct val="0"/>
              </a:spcAft>
              <a:buClrTx/>
              <a:buNone/>
              <a:defRPr/>
            </a:pPr>
            <a:endParaRPr lang="ru-RU" sz="1000" b="1" dirty="0">
              <a:solidFill>
                <a:srgbClr val="002060"/>
              </a:solidFill>
              <a:latin typeface="+mn-lt"/>
            </a:endParaRPr>
          </a:p>
          <a:p>
            <a:pPr lvl="0" eaLnBrk="0" fontAlgn="base" hangingPunct="0">
              <a:spcBef>
                <a:spcPct val="0"/>
              </a:spcBef>
              <a:spcAft>
                <a:spcPct val="0"/>
              </a:spcAft>
              <a:buClrTx/>
              <a:buNone/>
              <a:defRPr/>
            </a:pPr>
            <a:r>
              <a:rPr lang="en-US" sz="1000" kern="1200" dirty="0">
                <a:solidFill>
                  <a:prstClr val="black"/>
                </a:solidFill>
                <a:latin typeface="+mn-lt"/>
                <a:cs typeface="Courier New" panose="02070309020205020404" pitchFamily="49" charset="0"/>
              </a:rPr>
              <a:t>SELECT * FROM Employees;</a:t>
            </a:r>
          </a:p>
          <a:p>
            <a:pPr lvl="0" eaLnBrk="0" fontAlgn="base" hangingPunct="0">
              <a:spcBef>
                <a:spcPct val="0"/>
              </a:spcBef>
              <a:spcAft>
                <a:spcPct val="0"/>
              </a:spcAft>
              <a:buClrTx/>
              <a:buNone/>
              <a:defRPr/>
            </a:pPr>
            <a:r>
              <a:rPr lang="en-US" sz="1000" kern="1200" dirty="0">
                <a:solidFill>
                  <a:prstClr val="black"/>
                </a:solidFill>
                <a:latin typeface="+mn-lt"/>
                <a:cs typeface="Courier New" panose="02070309020205020404" pitchFamily="49" charset="0"/>
              </a:rPr>
              <a:t>SELECT Id, Name, Bonus FROM Employees WHERE Bonus &gt; 20000 ORDER BY Bonus DESC LIMIT 3;</a:t>
            </a:r>
            <a:endParaRPr lang="ru-RU" sz="1000" kern="1200" dirty="0">
              <a:solidFill>
                <a:prstClr val="black"/>
              </a:solidFill>
              <a:latin typeface="+mn-lt"/>
              <a:cs typeface="Courier New" panose="02070309020205020404" pitchFamily="49" charset="0"/>
            </a:endParaRPr>
          </a:p>
          <a:p>
            <a:pPr lvl="0" eaLnBrk="0" fontAlgn="base" hangingPunct="0">
              <a:spcBef>
                <a:spcPct val="0"/>
              </a:spcBef>
              <a:spcAft>
                <a:spcPct val="0"/>
              </a:spcAft>
              <a:buClrTx/>
              <a:buNone/>
              <a:defRPr/>
            </a:pPr>
            <a:endParaRPr lang="ru-RU" sz="1000" dirty="0">
              <a:solidFill>
                <a:prstClr val="black"/>
              </a:solidFill>
              <a:latin typeface="+mn-lt"/>
              <a:cs typeface="Courier New" panose="02070309020205020404" pitchFamily="49" charset="0"/>
            </a:endParaRPr>
          </a:p>
          <a:p>
            <a:pPr lvl="0" fontAlgn="base">
              <a:spcBef>
                <a:spcPct val="0"/>
              </a:spcBef>
              <a:spcAft>
                <a:spcPct val="0"/>
              </a:spcAft>
              <a:buClrTx/>
              <a:buNone/>
              <a:defRPr/>
            </a:pPr>
            <a:r>
              <a:rPr lang="en-US" sz="1000" b="1" kern="1200" dirty="0">
                <a:solidFill>
                  <a:srgbClr val="002060"/>
                </a:solidFill>
                <a:latin typeface="+mn-lt"/>
              </a:rPr>
              <a:t>db.users.find();</a:t>
            </a:r>
          </a:p>
          <a:p>
            <a:pPr lvl="0" fontAlgn="base">
              <a:spcBef>
                <a:spcPct val="0"/>
              </a:spcBef>
              <a:spcAft>
                <a:spcPct val="0"/>
              </a:spcAft>
              <a:buClrTx/>
              <a:buNone/>
              <a:defRPr/>
            </a:pPr>
            <a:r>
              <a:rPr lang="en-US" sz="1000" b="1" kern="1200" dirty="0">
                <a:solidFill>
                  <a:srgbClr val="002060"/>
                </a:solidFill>
                <a:latin typeface="+mn-lt"/>
              </a:rPr>
              <a:t>db.users.find({</a:t>
            </a:r>
            <a:r>
              <a:rPr lang="en-US" sz="1000" kern="1200" dirty="0">
                <a:solidFill>
                  <a:srgbClr val="002060"/>
                </a:solidFill>
                <a:latin typeface="+mn-lt"/>
              </a:rPr>
              <a:t>rating: </a:t>
            </a:r>
            <a:r>
              <a:rPr lang="en-US" sz="1000" b="1" kern="1200" dirty="0">
                <a:solidFill>
                  <a:srgbClr val="002060"/>
                </a:solidFill>
                <a:latin typeface="+mn-lt"/>
              </a:rPr>
              <a:t>{$gt</a:t>
            </a:r>
            <a:r>
              <a:rPr lang="en-US" sz="1000" kern="1200" dirty="0">
                <a:solidFill>
                  <a:srgbClr val="002060"/>
                </a:solidFill>
                <a:latin typeface="+mn-lt"/>
              </a:rPr>
              <a:t>: 200</a:t>
            </a:r>
            <a:r>
              <a:rPr lang="en-US" sz="1000" b="1" kern="1200" dirty="0">
                <a:solidFill>
                  <a:srgbClr val="002060"/>
                </a:solidFill>
                <a:latin typeface="+mn-lt"/>
              </a:rPr>
              <a:t>}}</a:t>
            </a:r>
            <a:r>
              <a:rPr lang="en-US" sz="1000" kern="1200" dirty="0">
                <a:solidFill>
                  <a:srgbClr val="002060"/>
                </a:solidFill>
                <a:latin typeface="+mn-lt"/>
              </a:rPr>
              <a:t>, </a:t>
            </a:r>
            <a:r>
              <a:rPr lang="en-US" sz="1000" b="1" kern="1200" dirty="0">
                <a:solidFill>
                  <a:srgbClr val="002060"/>
                </a:solidFill>
                <a:latin typeface="+mn-lt"/>
              </a:rPr>
              <a:t>{</a:t>
            </a:r>
            <a:r>
              <a:rPr lang="en-US" sz="1000" kern="1200" dirty="0">
                <a:solidFill>
                  <a:srgbClr val="002060"/>
                </a:solidFill>
                <a:latin typeface="+mn-lt"/>
              </a:rPr>
              <a:t>id: 1, name: 1, rating: 1</a:t>
            </a:r>
            <a:r>
              <a:rPr lang="en-US" sz="1000" b="1" kern="1200" dirty="0">
                <a:solidFill>
                  <a:srgbClr val="002060"/>
                </a:solidFill>
                <a:latin typeface="+mn-lt"/>
              </a:rPr>
              <a:t>})</a:t>
            </a:r>
            <a:r>
              <a:rPr lang="en-US" sz="1000" kern="1200" dirty="0">
                <a:solidFill>
                  <a:srgbClr val="002060"/>
                </a:solidFill>
                <a:latin typeface="+mn-lt"/>
              </a:rPr>
              <a:t>.</a:t>
            </a:r>
            <a:r>
              <a:rPr lang="en-US" sz="1000" b="1" kern="1200" dirty="0">
                <a:solidFill>
                  <a:srgbClr val="002060"/>
                </a:solidFill>
                <a:latin typeface="+mn-lt"/>
              </a:rPr>
              <a:t>sort({</a:t>
            </a:r>
            <a:r>
              <a:rPr lang="en-US" sz="1000" kern="1200" dirty="0">
                <a:solidFill>
                  <a:srgbClr val="002060"/>
                </a:solidFill>
                <a:latin typeface="+mn-lt"/>
              </a:rPr>
              <a:t>rating : -1</a:t>
            </a:r>
            <a:r>
              <a:rPr lang="en-US" sz="1000" b="1" kern="1200" dirty="0">
                <a:solidFill>
                  <a:srgbClr val="002060"/>
                </a:solidFill>
                <a:latin typeface="+mn-lt"/>
              </a:rPr>
              <a:t>})</a:t>
            </a:r>
            <a:r>
              <a:rPr lang="en-US" sz="1000" kern="1200" dirty="0">
                <a:solidFill>
                  <a:srgbClr val="002060"/>
                </a:solidFill>
                <a:latin typeface="+mn-lt"/>
              </a:rPr>
              <a:t>.</a:t>
            </a:r>
            <a:r>
              <a:rPr lang="en-US" sz="1000" b="1" kern="1200" dirty="0">
                <a:solidFill>
                  <a:srgbClr val="002060"/>
                </a:solidFill>
                <a:latin typeface="+mn-lt"/>
              </a:rPr>
              <a:t>limit(</a:t>
            </a:r>
            <a:r>
              <a:rPr lang="en-US" sz="1000" kern="1200" dirty="0">
                <a:solidFill>
                  <a:srgbClr val="002060"/>
                </a:solidFill>
                <a:latin typeface="+mn-lt"/>
              </a:rPr>
              <a:t>3</a:t>
            </a:r>
            <a:r>
              <a:rPr lang="en-US" sz="1000" b="1" kern="1200" dirty="0">
                <a:solidFill>
                  <a:srgbClr val="002060"/>
                </a:solidFill>
                <a:latin typeface="+mn-lt"/>
              </a:rPr>
              <a:t>);</a:t>
            </a:r>
            <a:r>
              <a:rPr lang="en-US" sz="1000" kern="1200" dirty="0">
                <a:solidFill>
                  <a:srgbClr val="002060"/>
                </a:solidFill>
                <a:latin typeface="+mn-lt"/>
              </a:rPr>
              <a:t> </a:t>
            </a:r>
            <a:endParaRPr lang="ru-RU" sz="1000" kern="1200" dirty="0">
              <a:solidFill>
                <a:srgbClr val="002060"/>
              </a:solidFill>
              <a:latin typeface="+mn-lt"/>
            </a:endParaRPr>
          </a:p>
          <a:p>
            <a:pPr lvl="0" fontAlgn="base">
              <a:spcBef>
                <a:spcPct val="0"/>
              </a:spcBef>
              <a:spcAft>
                <a:spcPct val="0"/>
              </a:spcAft>
              <a:buClrTx/>
              <a:buNone/>
              <a:defRPr/>
            </a:pPr>
            <a:endParaRPr lang="ru-RU" sz="1000" dirty="0">
              <a:solidFill>
                <a:srgbClr val="002060"/>
              </a:solidFill>
              <a:latin typeface="+mn-lt"/>
            </a:endParaRPr>
          </a:p>
          <a:p>
            <a:pPr lvl="0" fontAlgn="base">
              <a:spcBef>
                <a:spcPct val="0"/>
              </a:spcBef>
              <a:spcAft>
                <a:spcPct val="0"/>
              </a:spcAft>
              <a:buClrTx/>
              <a:buNone/>
              <a:defRPr/>
            </a:pPr>
            <a:endParaRPr lang="ru-RU" sz="1000" dirty="0">
              <a:solidFill>
                <a:srgbClr val="002060"/>
              </a:solidFill>
              <a:latin typeface="+mn-lt"/>
            </a:endParaRPr>
          </a:p>
          <a:p>
            <a:pPr lvl="0" eaLnBrk="0" fontAlgn="base" hangingPunct="0">
              <a:spcBef>
                <a:spcPct val="0"/>
              </a:spcBef>
              <a:spcAft>
                <a:spcPct val="0"/>
              </a:spcAft>
              <a:buClrTx/>
              <a:buNone/>
              <a:defRPr/>
            </a:pPr>
            <a:r>
              <a:rPr lang="en-US" sz="1000" kern="1200" dirty="0">
                <a:solidFill>
                  <a:prstClr val="black"/>
                </a:solidFill>
                <a:latin typeface="+mn-lt"/>
                <a:cs typeface="Courier New" panose="02070309020205020404" pitchFamily="49" charset="0"/>
              </a:rPr>
              <a:t>UPDATE Employees SET Bonus = 40000 WHERE Id = 1;</a:t>
            </a:r>
            <a:endParaRPr lang="ru-RU" sz="1000" kern="1200" dirty="0">
              <a:solidFill>
                <a:prstClr val="black"/>
              </a:solidFill>
              <a:latin typeface="+mn-lt"/>
              <a:cs typeface="Courier New" panose="02070309020205020404" pitchFamily="49" charset="0"/>
            </a:endParaRPr>
          </a:p>
          <a:p>
            <a:pPr lvl="0" eaLnBrk="0" fontAlgn="base" hangingPunct="0">
              <a:spcBef>
                <a:spcPct val="0"/>
              </a:spcBef>
              <a:spcAft>
                <a:spcPct val="0"/>
              </a:spcAft>
              <a:buClrTx/>
              <a:buNone/>
              <a:defRPr/>
            </a:pPr>
            <a:endParaRPr lang="ru-RU" sz="1000" dirty="0">
              <a:solidFill>
                <a:prstClr val="black"/>
              </a:solidFill>
              <a:latin typeface="+mn-lt"/>
              <a:cs typeface="Courier New" panose="02070309020205020404" pitchFamily="49" charset="0"/>
            </a:endParaRPr>
          </a:p>
          <a:p>
            <a:pPr lvl="0" fontAlgn="base">
              <a:spcBef>
                <a:spcPct val="0"/>
              </a:spcBef>
              <a:spcAft>
                <a:spcPct val="0"/>
              </a:spcAft>
              <a:buClrTx/>
              <a:buNone/>
              <a:defRPr/>
            </a:pPr>
            <a:r>
              <a:rPr lang="en-US" sz="1000" b="1" kern="1200" dirty="0">
                <a:solidFill>
                  <a:srgbClr val="002060"/>
                </a:solidFill>
                <a:latin typeface="+mn-lt"/>
              </a:rPr>
              <a:t>db.users.update({</a:t>
            </a:r>
            <a:r>
              <a:rPr lang="en-US" sz="1000" kern="1200" dirty="0">
                <a:solidFill>
                  <a:srgbClr val="002060"/>
                </a:solidFill>
                <a:latin typeface="+mn-lt"/>
              </a:rPr>
              <a:t>id: 1</a:t>
            </a:r>
            <a:r>
              <a:rPr lang="en-US" sz="1000" b="1" kern="1200" dirty="0">
                <a:solidFill>
                  <a:srgbClr val="002060"/>
                </a:solidFill>
                <a:latin typeface="+mn-lt"/>
              </a:rPr>
              <a:t>}</a:t>
            </a:r>
            <a:r>
              <a:rPr lang="en-US" sz="1000" kern="1200" dirty="0">
                <a:solidFill>
                  <a:srgbClr val="002060"/>
                </a:solidFill>
                <a:latin typeface="+mn-lt"/>
              </a:rPr>
              <a:t>, </a:t>
            </a:r>
            <a:r>
              <a:rPr lang="en-US" sz="1000" b="1" kern="1200" dirty="0">
                <a:solidFill>
                  <a:srgbClr val="002060"/>
                </a:solidFill>
                <a:latin typeface="+mn-lt"/>
              </a:rPr>
              <a:t>{$set: {</a:t>
            </a:r>
            <a:r>
              <a:rPr lang="en-US" sz="1000" kern="1200" dirty="0">
                <a:solidFill>
                  <a:srgbClr val="002060"/>
                </a:solidFill>
                <a:latin typeface="+mn-lt"/>
              </a:rPr>
              <a:t>rating: 400</a:t>
            </a:r>
            <a:r>
              <a:rPr lang="en-US" sz="1000" b="1" kern="1200" dirty="0">
                <a:solidFill>
                  <a:srgbClr val="002060"/>
                </a:solidFill>
                <a:latin typeface="+mn-lt"/>
              </a:rPr>
              <a:t>}});</a:t>
            </a:r>
            <a:endParaRPr lang="ru-RU" sz="1000" b="1" kern="1200" dirty="0">
              <a:solidFill>
                <a:srgbClr val="002060"/>
              </a:solidFill>
              <a:latin typeface="+mn-lt"/>
            </a:endParaRPr>
          </a:p>
          <a:p>
            <a:pPr lvl="0" fontAlgn="base">
              <a:spcBef>
                <a:spcPct val="0"/>
              </a:spcBef>
              <a:spcAft>
                <a:spcPct val="0"/>
              </a:spcAft>
              <a:buClrTx/>
              <a:buNone/>
              <a:defRPr/>
            </a:pPr>
            <a:endParaRPr lang="ru-RU" sz="1000" b="1" dirty="0">
              <a:solidFill>
                <a:srgbClr val="002060"/>
              </a:solidFill>
              <a:latin typeface="+mn-lt"/>
            </a:endParaRPr>
          </a:p>
          <a:p>
            <a:pPr lvl="0" fontAlgn="base">
              <a:spcBef>
                <a:spcPct val="0"/>
              </a:spcBef>
              <a:spcAft>
                <a:spcPct val="0"/>
              </a:spcAft>
              <a:buClrTx/>
              <a:buNone/>
              <a:defRPr/>
            </a:pPr>
            <a:endParaRPr lang="ru-RU" sz="1000" b="1" dirty="0">
              <a:solidFill>
                <a:srgbClr val="002060"/>
              </a:solidFill>
              <a:latin typeface="+mn-lt"/>
            </a:endParaRPr>
          </a:p>
          <a:p>
            <a:pPr lvl="0" eaLnBrk="0" fontAlgn="base" hangingPunct="0">
              <a:spcBef>
                <a:spcPct val="0"/>
              </a:spcBef>
              <a:spcAft>
                <a:spcPct val="0"/>
              </a:spcAft>
              <a:buClrTx/>
              <a:buNone/>
              <a:defRPr/>
            </a:pPr>
            <a:r>
              <a:rPr lang="en-US" sz="1000" kern="1200" dirty="0">
                <a:solidFill>
                  <a:prstClr val="black"/>
                </a:solidFill>
                <a:latin typeface="+mn-lt"/>
                <a:cs typeface="Courier New" panose="02070309020205020404" pitchFamily="49" charset="0"/>
              </a:rPr>
              <a:t>DELETE FROM Employees WHERE Id = 5;</a:t>
            </a:r>
            <a:endParaRPr lang="ru-RU" sz="1000" kern="1200" dirty="0">
              <a:solidFill>
                <a:prstClr val="black"/>
              </a:solidFill>
              <a:latin typeface="+mn-lt"/>
              <a:cs typeface="Courier New" panose="02070309020205020404" pitchFamily="49" charset="0"/>
            </a:endParaRPr>
          </a:p>
          <a:p>
            <a:pPr lvl="0" eaLnBrk="0" fontAlgn="base" hangingPunct="0">
              <a:spcBef>
                <a:spcPct val="0"/>
              </a:spcBef>
              <a:spcAft>
                <a:spcPct val="0"/>
              </a:spcAft>
              <a:buClrTx/>
              <a:buNone/>
              <a:defRPr/>
            </a:pPr>
            <a:r>
              <a:rPr lang="en-US" sz="1000" dirty="0">
                <a:solidFill>
                  <a:prstClr val="black"/>
                </a:solidFill>
                <a:latin typeface="+mn-lt"/>
                <a:cs typeface="Courier New" panose="02070309020205020404" pitchFamily="49" charset="0"/>
              </a:rPr>
              <a:t>DELETE FROM Employees;</a:t>
            </a:r>
          </a:p>
          <a:p>
            <a:pPr lvl="0" fontAlgn="base">
              <a:spcBef>
                <a:spcPct val="0"/>
              </a:spcBef>
              <a:spcAft>
                <a:spcPct val="0"/>
              </a:spcAft>
              <a:buClrTx/>
              <a:buNone/>
              <a:defRPr/>
            </a:pPr>
            <a:endParaRPr lang="ru-RU" sz="1000" b="1" kern="1200" dirty="0">
              <a:solidFill>
                <a:srgbClr val="002060"/>
              </a:solidFill>
              <a:latin typeface="+mn-lt"/>
            </a:endParaRPr>
          </a:p>
          <a:p>
            <a:pPr lvl="0" fontAlgn="base">
              <a:spcBef>
                <a:spcPct val="0"/>
              </a:spcBef>
              <a:spcAft>
                <a:spcPct val="0"/>
              </a:spcAft>
              <a:buClrTx/>
              <a:buNone/>
              <a:defRPr/>
            </a:pPr>
            <a:r>
              <a:rPr lang="en-US" sz="1000" b="1" kern="1200" dirty="0">
                <a:solidFill>
                  <a:srgbClr val="002060"/>
                </a:solidFill>
                <a:latin typeface="+mn-lt"/>
              </a:rPr>
              <a:t>db.users.remove({</a:t>
            </a:r>
            <a:r>
              <a:rPr lang="en-US" sz="1000" kern="1200" dirty="0">
                <a:solidFill>
                  <a:srgbClr val="002060"/>
                </a:solidFill>
                <a:latin typeface="+mn-lt"/>
              </a:rPr>
              <a:t>id: 5</a:t>
            </a:r>
            <a:r>
              <a:rPr lang="en-US" sz="1000" b="1" kern="1200" dirty="0">
                <a:solidFill>
                  <a:srgbClr val="002060"/>
                </a:solidFill>
                <a:latin typeface="+mn-lt"/>
              </a:rPr>
              <a:t>});</a:t>
            </a:r>
          </a:p>
          <a:p>
            <a:pPr lvl="0" fontAlgn="base">
              <a:spcBef>
                <a:spcPct val="0"/>
              </a:spcBef>
              <a:spcAft>
                <a:spcPct val="0"/>
              </a:spcAft>
              <a:buClrTx/>
              <a:buNone/>
              <a:defRPr/>
            </a:pPr>
            <a:r>
              <a:rPr lang="en-US" sz="1000" b="1" kern="1200" dirty="0">
                <a:solidFill>
                  <a:srgbClr val="002060"/>
                </a:solidFill>
                <a:latin typeface="+mn-lt"/>
              </a:rPr>
              <a:t>db.users.remove({});</a:t>
            </a:r>
          </a:p>
        </p:txBody>
      </p:sp>
      <p:pic>
        <p:nvPicPr>
          <p:cNvPr id="8" name="Picture 2" descr="https://blog.rubrain.com/wp-content/uploads/2020/08/3-1.jpg">
            <a:extLst>
              <a:ext uri="{FF2B5EF4-FFF2-40B4-BE49-F238E27FC236}">
                <a16:creationId xmlns:a16="http://schemas.microsoft.com/office/drawing/2014/main" id="{428174DA-ECEE-4663-BEC1-624C82278A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841" r="25528"/>
          <a:stretch/>
        </p:blipFill>
        <p:spPr bwMode="auto">
          <a:xfrm>
            <a:off x="-143219" y="0"/>
            <a:ext cx="4572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9" name="Прямоугольник 8">
            <a:extLst>
              <a:ext uri="{FF2B5EF4-FFF2-40B4-BE49-F238E27FC236}">
                <a16:creationId xmlns:a16="http://schemas.microsoft.com/office/drawing/2014/main" id="{FF659AD8-5F22-46FB-B8C7-75DFB45DC6BD}"/>
              </a:ext>
            </a:extLst>
          </p:cNvPr>
          <p:cNvSpPr/>
          <p:nvPr/>
        </p:nvSpPr>
        <p:spPr>
          <a:xfrm>
            <a:off x="-143219" y="0"/>
            <a:ext cx="4572000" cy="5143500"/>
          </a:xfrm>
          <a:prstGeom prst="rect">
            <a:avLst/>
          </a:prstGeom>
          <a:gradFill>
            <a:gsLst>
              <a:gs pos="0">
                <a:schemeClr val="accent1">
                  <a:alpha val="60000"/>
                </a:schemeClr>
              </a:gs>
              <a:gs pos="100000">
                <a:schemeClr val="tx2">
                  <a:alpha val="6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Box 17">
            <a:extLst>
              <a:ext uri="{FF2B5EF4-FFF2-40B4-BE49-F238E27FC236}">
                <a16:creationId xmlns:a16="http://schemas.microsoft.com/office/drawing/2014/main" id="{C395706E-6585-475C-9C3C-2EC9DC4818D5}"/>
              </a:ext>
            </a:extLst>
          </p:cNvPr>
          <p:cNvSpPr txBox="1"/>
          <p:nvPr/>
        </p:nvSpPr>
        <p:spPr>
          <a:xfrm>
            <a:off x="279823" y="1792963"/>
            <a:ext cx="3743537" cy="1077218"/>
          </a:xfrm>
          <a:prstGeom prst="rect">
            <a:avLst/>
          </a:prstGeom>
          <a:noFill/>
        </p:spPr>
        <p:txBody>
          <a:bodyPr wrap="square">
            <a:spAutoFit/>
          </a:bodyPr>
          <a:lstStyle/>
          <a:p>
            <a:r>
              <a:rPr lang="en-US" sz="3200" kern="1200" dirty="0">
                <a:solidFill>
                  <a:schemeClr val="bg1"/>
                </a:solidFill>
                <a:latin typeface="+mj-lt"/>
              </a:rPr>
              <a:t>SQL </a:t>
            </a:r>
            <a:r>
              <a:rPr lang="ru-RU" sz="3200" kern="1200" dirty="0">
                <a:solidFill>
                  <a:schemeClr val="bg1"/>
                </a:solidFill>
                <a:latin typeface="+mj-lt"/>
              </a:rPr>
              <a:t>и </a:t>
            </a:r>
            <a:r>
              <a:rPr lang="en-US" sz="3200" kern="1200" dirty="0">
                <a:solidFill>
                  <a:schemeClr val="bg1"/>
                </a:solidFill>
                <a:latin typeface="+mj-lt"/>
              </a:rPr>
              <a:t>NoSQL </a:t>
            </a:r>
            <a:r>
              <a:rPr lang="ru-RU" sz="3200" kern="1200" dirty="0">
                <a:solidFill>
                  <a:schemeClr val="bg1"/>
                </a:solidFill>
                <a:latin typeface="+mj-lt"/>
              </a:rPr>
              <a:t>интерфейсы</a:t>
            </a:r>
            <a:endParaRPr lang="ru-RU" sz="3200" dirty="0">
              <a:solidFill>
                <a:schemeClr val="bg1"/>
              </a:solidFill>
              <a:latin typeface="+mj-lt"/>
            </a:endParaRPr>
          </a:p>
        </p:txBody>
      </p:sp>
    </p:spTree>
    <p:extLst>
      <p:ext uri="{BB962C8B-B14F-4D97-AF65-F5344CB8AC3E}">
        <p14:creationId xmlns:p14="http://schemas.microsoft.com/office/powerpoint/2010/main" val="3076902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907782" y="293530"/>
            <a:ext cx="7328437" cy="1015663"/>
          </a:xfrm>
          <a:prstGeom prst="rect">
            <a:avLst/>
          </a:prstGeom>
          <a:noFill/>
        </p:spPr>
        <p:txBody>
          <a:bodyPr wrap="square">
            <a:spAutoFit/>
          </a:bodyPr>
          <a:lstStyle/>
          <a:p>
            <a:pPr algn="ctr"/>
            <a:r>
              <a:rPr lang="ru-RU" sz="3600" kern="1200" dirty="0">
                <a:solidFill>
                  <a:schemeClr val="accent3"/>
                </a:solidFill>
                <a:latin typeface="+mj-lt"/>
              </a:rPr>
              <a:t>SQL vs NoSQL </a:t>
            </a:r>
            <a:br>
              <a:rPr lang="ru-RU" sz="3600" kern="1200" dirty="0">
                <a:solidFill>
                  <a:schemeClr val="accent3"/>
                </a:solidFill>
                <a:latin typeface="+mj-lt"/>
              </a:rPr>
            </a:br>
            <a:r>
              <a:rPr lang="ru-RU" sz="2400" kern="1200" dirty="0">
                <a:solidFill>
                  <a:schemeClr val="accent3"/>
                </a:solidFill>
                <a:latin typeface="+mj-lt"/>
              </a:rPr>
              <a:t>(критерий №1: реляционность данных)</a:t>
            </a:r>
            <a:endParaRPr lang="ru-RU" sz="2400" dirty="0">
              <a:solidFill>
                <a:schemeClr val="accent3"/>
              </a:solidFill>
              <a:latin typeface="+mj-lt"/>
            </a:endParaRPr>
          </a:p>
        </p:txBody>
      </p:sp>
      <p:sp>
        <p:nvSpPr>
          <p:cNvPr id="50" name="Прямоугольник 49"/>
          <p:cNvSpPr/>
          <p:nvPr/>
        </p:nvSpPr>
        <p:spPr>
          <a:xfrm>
            <a:off x="452827" y="1378302"/>
            <a:ext cx="7867204" cy="289823"/>
          </a:xfrm>
          <a:prstGeom prst="rect">
            <a:avLst/>
          </a:prstGeom>
        </p:spPr>
        <p:txBody>
          <a:bodyPr wrap="square">
            <a:spAutoFit/>
          </a:bodyPr>
          <a:lstStyle/>
          <a:p>
            <a:pPr>
              <a:lnSpc>
                <a:spcPct val="110000"/>
              </a:lnSpc>
            </a:pPr>
            <a:r>
              <a:rPr lang="ru-RU" altLang="ru-RU" sz="1200" dirty="0">
                <a:solidFill>
                  <a:schemeClr val="tx1"/>
                </a:solidFill>
                <a:latin typeface="+mn-lt"/>
              </a:rPr>
              <a:t>Пробуем применить NoSQL-решение для задачи проектирования БД некоторой организации:</a:t>
            </a:r>
          </a:p>
        </p:txBody>
      </p:sp>
      <p:grpSp>
        <p:nvGrpSpPr>
          <p:cNvPr id="2" name="Группа 1"/>
          <p:cNvGrpSpPr/>
          <p:nvPr/>
        </p:nvGrpSpPr>
        <p:grpSpPr>
          <a:xfrm>
            <a:off x="1678189" y="1815285"/>
            <a:ext cx="5787623" cy="1895128"/>
            <a:chOff x="1702506" y="1544940"/>
            <a:chExt cx="9125121" cy="2987974"/>
          </a:xfrm>
        </p:grpSpPr>
        <p:grpSp>
          <p:nvGrpSpPr>
            <p:cNvPr id="13" name="Group 32">
              <a:extLst>
                <a:ext uri="{FF2B5EF4-FFF2-40B4-BE49-F238E27FC236}">
                  <a16:creationId xmlns:a16="http://schemas.microsoft.com/office/drawing/2014/main" id="{27AE1AFF-1A04-48AE-B265-CF3D85843930}"/>
                </a:ext>
              </a:extLst>
            </p:cNvPr>
            <p:cNvGrpSpPr/>
            <p:nvPr/>
          </p:nvGrpSpPr>
          <p:grpSpPr>
            <a:xfrm>
              <a:off x="1702506" y="1544941"/>
              <a:ext cx="2808312" cy="2808312"/>
              <a:chOff x="179512" y="2852936"/>
              <a:chExt cx="2808312" cy="2808312"/>
            </a:xfrm>
          </p:grpSpPr>
          <p:sp>
            <p:nvSpPr>
              <p:cNvPr id="14" name="TextBox 13">
                <a:extLst>
                  <a:ext uri="{FF2B5EF4-FFF2-40B4-BE49-F238E27FC236}">
                    <a16:creationId xmlns:a16="http://schemas.microsoft.com/office/drawing/2014/main" id="{80799C7A-C598-4DE3-B552-3EFD769F3102}"/>
                  </a:ext>
                </a:extLst>
              </p:cNvPr>
              <p:cNvSpPr txBox="1"/>
              <p:nvPr/>
            </p:nvSpPr>
            <p:spPr>
              <a:xfrm>
                <a:off x="179512" y="2869001"/>
                <a:ext cx="2160240" cy="363944"/>
              </a:xfrm>
              <a:prstGeom prst="rect">
                <a:avLst/>
              </a:prstGeom>
              <a:noFill/>
              <a:ln>
                <a:no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collection </a:t>
                </a:r>
                <a:r>
                  <a:rPr kumimoji="0" lang="ru-RU" sz="900" b="1" i="0" u="none" strike="noStrike" kern="0" cap="none" spc="0" normalizeH="0" baseline="0" noProof="0" dirty="0">
                    <a:ln>
                      <a:noFill/>
                    </a:ln>
                    <a:solidFill>
                      <a:schemeClr val="tx1"/>
                    </a:solidFill>
                    <a:effectLst/>
                    <a:uLnTx/>
                    <a:uFillTx/>
                    <a:latin typeface="+mn-lt"/>
                    <a:cs typeface="Times New Roman" panose="02020603050405020304" pitchFamily="18" charset="0"/>
                  </a:rPr>
                  <a:t>сотрудники</a:t>
                </a:r>
              </a:p>
            </p:txBody>
          </p:sp>
          <p:sp>
            <p:nvSpPr>
              <p:cNvPr id="15" name="Rectangle 10">
                <a:extLst>
                  <a:ext uri="{FF2B5EF4-FFF2-40B4-BE49-F238E27FC236}">
                    <a16:creationId xmlns:a16="http://schemas.microsoft.com/office/drawing/2014/main" id="{47808792-99CE-49CC-8FCB-268EFAFEA4F2}"/>
                  </a:ext>
                </a:extLst>
              </p:cNvPr>
              <p:cNvSpPr/>
              <p:nvPr/>
            </p:nvSpPr>
            <p:spPr>
              <a:xfrm>
                <a:off x="179512" y="2852936"/>
                <a:ext cx="2808312" cy="2808312"/>
              </a:xfrm>
              <a:prstGeom prst="rect">
                <a:avLst/>
              </a:prstGeom>
              <a:noFill/>
              <a:ln w="12700" cap="flat" cmpd="sng" algn="ctr">
                <a:solidFill>
                  <a:srgbClr val="5B9BD5">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000" b="0" i="0" u="none" strike="noStrike" kern="0" cap="none" spc="0" normalizeH="0" baseline="0" noProof="0">
                  <a:ln>
                    <a:noFill/>
                  </a:ln>
                  <a:solidFill>
                    <a:schemeClr val="tx1"/>
                  </a:solidFill>
                  <a:effectLst/>
                  <a:uLnTx/>
                  <a:uFillTx/>
                  <a:latin typeface="+mn-lt"/>
                  <a:ea typeface="+mn-ea"/>
                  <a:cs typeface="+mn-cs"/>
                </a:endParaRPr>
              </a:p>
            </p:txBody>
          </p:sp>
          <p:sp>
            <p:nvSpPr>
              <p:cNvPr id="16" name="TextBox 15">
                <a:extLst>
                  <a:ext uri="{FF2B5EF4-FFF2-40B4-BE49-F238E27FC236}">
                    <a16:creationId xmlns:a16="http://schemas.microsoft.com/office/drawing/2014/main" id="{846C2AE8-ED46-402B-8B98-1835098DE3D8}"/>
                  </a:ext>
                </a:extLst>
              </p:cNvPr>
              <p:cNvSpPr txBox="1"/>
              <p:nvPr/>
            </p:nvSpPr>
            <p:spPr>
              <a:xfrm>
                <a:off x="323527" y="3414090"/>
                <a:ext cx="2561506" cy="1892511"/>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    </a:t>
                </a:r>
                <a:r>
                  <a:rPr kumimoji="0" lang="ru-RU" sz="900" b="0" i="0" u="none" strike="noStrike" kern="0" cap="none" spc="0" normalizeH="0" baseline="0" noProof="0" dirty="0">
                    <a:ln>
                      <a:noFill/>
                    </a:ln>
                    <a:solidFill>
                      <a:schemeClr val="tx1"/>
                    </a:solidFill>
                    <a:effectLst/>
                    <a:uLnTx/>
                    <a:uFillTx/>
                    <a:latin typeface="+mn-lt"/>
                    <a:cs typeface="Times New Roman" panose="02020603050405020304" pitchFamily="18" charset="0"/>
                  </a:rPr>
                  <a:t>таб_номер</a:t>
                </a: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 1,</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    </a:t>
                </a:r>
                <a:r>
                  <a:rPr kumimoji="0" lang="ru-RU" sz="900" b="0" i="0" u="none" strike="noStrike" kern="0" cap="none" spc="0" normalizeH="0" baseline="0" noProof="0" dirty="0">
                    <a:ln>
                      <a:noFill/>
                    </a:ln>
                    <a:solidFill>
                      <a:schemeClr val="tx1"/>
                    </a:solidFill>
                    <a:effectLst/>
                    <a:uLnTx/>
                    <a:uFillTx/>
                    <a:latin typeface="+mn-lt"/>
                    <a:cs typeface="Times New Roman" panose="02020603050405020304" pitchFamily="18" charset="0"/>
                  </a:rPr>
                  <a:t>фио</a:t>
                </a: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 </a:t>
                </a:r>
                <a:r>
                  <a:rPr lang="en-US" sz="900" kern="0" dirty="0">
                    <a:solidFill>
                      <a:schemeClr val="tx1"/>
                    </a:solidFill>
                    <a:latin typeface="+mn-lt"/>
                    <a:cs typeface="Times New Roman" panose="02020603050405020304" pitchFamily="18" charset="0"/>
                  </a:rPr>
                  <a:t>"</a:t>
                </a:r>
                <a:r>
                  <a:rPr kumimoji="0" lang="ru-RU" sz="900" b="0" i="0" u="none" strike="noStrike" kern="0" cap="none" spc="0" normalizeH="0" baseline="0" noProof="0" dirty="0">
                    <a:ln>
                      <a:noFill/>
                    </a:ln>
                    <a:solidFill>
                      <a:schemeClr val="tx1"/>
                    </a:solidFill>
                    <a:effectLst/>
                    <a:uLnTx/>
                    <a:uFillTx/>
                    <a:latin typeface="+mn-lt"/>
                    <a:cs typeface="Times New Roman" panose="02020603050405020304" pitchFamily="18" charset="0"/>
                  </a:rPr>
                  <a:t>Иванов И.И.</a:t>
                </a: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    </a:t>
                </a:r>
                <a:r>
                  <a:rPr kumimoji="0" lang="ru-RU" sz="900" b="0" i="0" u="none" strike="noStrike" kern="0" cap="none" spc="0" normalizeH="0" baseline="0" noProof="0" dirty="0">
                    <a:ln>
                      <a:noFill/>
                    </a:ln>
                    <a:solidFill>
                      <a:schemeClr val="tx1"/>
                    </a:solidFill>
                    <a:effectLst/>
                    <a:uLnTx/>
                    <a:uFillTx/>
                    <a:latin typeface="+mn-lt"/>
                    <a:cs typeface="Times New Roman" panose="02020603050405020304" pitchFamily="18" charset="0"/>
                  </a:rPr>
                  <a:t>должность</a:t>
                </a: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 "</a:t>
                </a:r>
                <a:r>
                  <a:rPr kumimoji="0" lang="ru-RU" sz="900" b="0" i="0" u="none" strike="noStrike" kern="0" cap="none" spc="0" normalizeH="0" baseline="0" noProof="0" dirty="0">
                    <a:ln>
                      <a:noFill/>
                    </a:ln>
                    <a:solidFill>
                      <a:schemeClr val="tx1"/>
                    </a:solidFill>
                    <a:effectLst/>
                    <a:uLnTx/>
                    <a:uFillTx/>
                    <a:latin typeface="+mn-lt"/>
                    <a:cs typeface="Times New Roman" panose="02020603050405020304" pitchFamily="18" charset="0"/>
                  </a:rPr>
                  <a:t>инженер</a:t>
                </a: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r>
                  <a:rPr kumimoji="0" lang="ru-RU" sz="9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    </a:t>
                </a:r>
                <a:r>
                  <a:rPr kumimoji="0" lang="ru-RU" sz="900" b="0" i="0" u="none" strike="noStrike" kern="0" cap="none" spc="0" normalizeH="0" baseline="0" noProof="0" dirty="0">
                    <a:ln>
                      <a:noFill/>
                    </a:ln>
                    <a:solidFill>
                      <a:schemeClr val="tx1"/>
                    </a:solidFill>
                    <a:effectLst/>
                    <a:uLnTx/>
                    <a:uFillTx/>
                    <a:latin typeface="+mn-lt"/>
                    <a:cs typeface="Times New Roman" panose="02020603050405020304" pitchFamily="18" charset="0"/>
                  </a:rPr>
                  <a:t>бонус</a:t>
                </a: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 300</a:t>
                </a:r>
                <a:r>
                  <a:rPr kumimoji="0" lang="ru-RU" sz="900" b="0" i="0" u="none" strike="noStrike" kern="0" cap="none" spc="0" normalizeH="0" baseline="0" noProof="0" dirty="0">
                    <a:ln>
                      <a:noFill/>
                    </a:ln>
                    <a:solidFill>
                      <a:schemeClr val="tx1"/>
                    </a:solidFill>
                    <a:effectLst/>
                    <a:uLnTx/>
                    <a:uFillTx/>
                    <a:latin typeface="+mn-lt"/>
                    <a:cs typeface="Times New Roman" panose="02020603050405020304" pitchFamily="18" charset="0"/>
                  </a:rPr>
                  <a:t>00</a:t>
                </a: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ru-RU" sz="900" b="0" i="0" u="none" strike="noStrike" kern="0" cap="none" spc="0" normalizeH="0" baseline="0" noProof="0" dirty="0">
                    <a:ln>
                      <a:noFill/>
                    </a:ln>
                    <a:solidFill>
                      <a:schemeClr val="tx1"/>
                    </a:solidFill>
                    <a:effectLst/>
                    <a:uLnTx/>
                    <a:uFillTx/>
                    <a:latin typeface="+mn-lt"/>
                    <a:cs typeface="Times New Roman" panose="02020603050405020304" pitchFamily="18" charset="0"/>
                  </a:rPr>
                  <a:t>    </a:t>
                </a: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id_</a:t>
                </a:r>
                <a:r>
                  <a:rPr kumimoji="0" lang="ru-RU" sz="900" b="0" i="0" u="none" strike="noStrike" kern="0" cap="none" spc="0" normalizeH="0" baseline="0" noProof="0" dirty="0">
                    <a:ln>
                      <a:noFill/>
                    </a:ln>
                    <a:solidFill>
                      <a:schemeClr val="tx1"/>
                    </a:solidFill>
                    <a:effectLst/>
                    <a:uLnTx/>
                    <a:uFillTx/>
                    <a:latin typeface="+mn-lt"/>
                    <a:cs typeface="Times New Roman" panose="02020603050405020304" pitchFamily="18" charset="0"/>
                  </a:rPr>
                  <a:t>проекта</a:t>
                </a: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 </a:t>
                </a:r>
                <a:r>
                  <a:rPr kumimoji="0" lang="ru-RU" sz="900" b="0" i="0" u="none" strike="noStrike" kern="0" cap="none" spc="0" normalizeH="0" baseline="0" noProof="0" dirty="0">
                    <a:ln>
                      <a:noFill/>
                    </a:ln>
                    <a:solidFill>
                      <a:schemeClr val="tx1"/>
                    </a:solidFill>
                    <a:effectLst/>
                    <a:uLnTx/>
                    <a:uFillTx/>
                    <a:latin typeface="+mn-lt"/>
                    <a:cs typeface="Times New Roman" panose="02020603050405020304" pitchFamily="18" charset="0"/>
                  </a:rPr>
                  <a:t>1</a:t>
                </a:r>
                <a:endPar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p:txBody>
          </p:sp>
        </p:grpSp>
        <p:grpSp>
          <p:nvGrpSpPr>
            <p:cNvPr id="17" name="Group 33">
              <a:extLst>
                <a:ext uri="{FF2B5EF4-FFF2-40B4-BE49-F238E27FC236}">
                  <a16:creationId xmlns:a16="http://schemas.microsoft.com/office/drawing/2014/main" id="{8DED0F9D-A720-4077-8678-4C417B2829D0}"/>
                </a:ext>
              </a:extLst>
            </p:cNvPr>
            <p:cNvGrpSpPr/>
            <p:nvPr/>
          </p:nvGrpSpPr>
          <p:grpSpPr>
            <a:xfrm>
              <a:off x="4676378" y="1544940"/>
              <a:ext cx="2808312" cy="2808313"/>
              <a:chOff x="3153384" y="2852935"/>
              <a:chExt cx="2808312" cy="2808313"/>
            </a:xfrm>
          </p:grpSpPr>
          <p:sp>
            <p:nvSpPr>
              <p:cNvPr id="19" name="TextBox 18">
                <a:extLst>
                  <a:ext uri="{FF2B5EF4-FFF2-40B4-BE49-F238E27FC236}">
                    <a16:creationId xmlns:a16="http://schemas.microsoft.com/office/drawing/2014/main" id="{9BD980F5-6E52-4FDE-A7C6-DF5253305E8E}"/>
                  </a:ext>
                </a:extLst>
              </p:cNvPr>
              <p:cNvSpPr txBox="1"/>
              <p:nvPr/>
            </p:nvSpPr>
            <p:spPr>
              <a:xfrm>
                <a:off x="3153384" y="2869000"/>
                <a:ext cx="2160240" cy="363944"/>
              </a:xfrm>
              <a:prstGeom prst="rect">
                <a:avLst/>
              </a:prstGeom>
              <a:noFill/>
              <a:ln>
                <a:no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collection </a:t>
                </a:r>
                <a:r>
                  <a:rPr kumimoji="0" lang="ru-RU" sz="900" b="1" i="0" u="none" strike="noStrike" kern="0" cap="none" spc="0" normalizeH="0" baseline="0" noProof="0" dirty="0">
                    <a:ln>
                      <a:noFill/>
                    </a:ln>
                    <a:solidFill>
                      <a:schemeClr val="tx1"/>
                    </a:solidFill>
                    <a:effectLst/>
                    <a:uLnTx/>
                    <a:uFillTx/>
                    <a:latin typeface="+mn-lt"/>
                    <a:cs typeface="Times New Roman" panose="02020603050405020304" pitchFamily="18" charset="0"/>
                  </a:rPr>
                  <a:t>должности</a:t>
                </a:r>
              </a:p>
            </p:txBody>
          </p:sp>
          <p:sp>
            <p:nvSpPr>
              <p:cNvPr id="20" name="Rectangle 24">
                <a:extLst>
                  <a:ext uri="{FF2B5EF4-FFF2-40B4-BE49-F238E27FC236}">
                    <a16:creationId xmlns:a16="http://schemas.microsoft.com/office/drawing/2014/main" id="{AAD0A471-EADD-446A-B6AD-1EF7D6CCCE66}"/>
                  </a:ext>
                </a:extLst>
              </p:cNvPr>
              <p:cNvSpPr/>
              <p:nvPr/>
            </p:nvSpPr>
            <p:spPr>
              <a:xfrm>
                <a:off x="3153384" y="2852935"/>
                <a:ext cx="2808312" cy="2808313"/>
              </a:xfrm>
              <a:prstGeom prst="rect">
                <a:avLst/>
              </a:prstGeom>
              <a:noFill/>
              <a:ln w="12700" cap="flat" cmpd="sng" algn="ctr">
                <a:solidFill>
                  <a:srgbClr val="5B9BD5">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000" b="0" i="0" u="none" strike="noStrike" kern="0" cap="none" spc="0" normalizeH="0" baseline="0" noProof="0">
                  <a:ln>
                    <a:noFill/>
                  </a:ln>
                  <a:solidFill>
                    <a:schemeClr val="tx1"/>
                  </a:solidFill>
                  <a:effectLst/>
                  <a:uLnTx/>
                  <a:uFillTx/>
                  <a:latin typeface="+mn-lt"/>
                  <a:ea typeface="+mn-ea"/>
                  <a:cs typeface="+mn-cs"/>
                </a:endParaRPr>
              </a:p>
            </p:txBody>
          </p:sp>
          <p:sp>
            <p:nvSpPr>
              <p:cNvPr id="21" name="TextBox 20">
                <a:extLst>
                  <a:ext uri="{FF2B5EF4-FFF2-40B4-BE49-F238E27FC236}">
                    <a16:creationId xmlns:a16="http://schemas.microsoft.com/office/drawing/2014/main" id="{1A14399E-5ED7-4DCA-9D12-C706199F82FF}"/>
                  </a:ext>
                </a:extLst>
              </p:cNvPr>
              <p:cNvSpPr txBox="1"/>
              <p:nvPr/>
            </p:nvSpPr>
            <p:spPr>
              <a:xfrm>
                <a:off x="3297399" y="3414089"/>
                <a:ext cx="2561506" cy="1237410"/>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    </a:t>
                </a:r>
                <a:r>
                  <a:rPr kumimoji="0" lang="ru-RU" sz="900" b="0" i="0" u="none" strike="noStrike" kern="0" cap="none" spc="0" normalizeH="0" baseline="0" noProof="0" dirty="0">
                    <a:ln>
                      <a:noFill/>
                    </a:ln>
                    <a:solidFill>
                      <a:schemeClr val="tx1"/>
                    </a:solidFill>
                    <a:effectLst/>
                    <a:uLnTx/>
                    <a:uFillTx/>
                    <a:latin typeface="+mn-lt"/>
                    <a:cs typeface="Times New Roman" panose="02020603050405020304" pitchFamily="18" charset="0"/>
                  </a:rPr>
                  <a:t>должность</a:t>
                </a: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 "</a:t>
                </a:r>
                <a:r>
                  <a:rPr kumimoji="0" lang="ru-RU" sz="900" b="0" i="0" u="none" strike="noStrike" kern="0" cap="none" spc="0" normalizeH="0" baseline="0" noProof="0" dirty="0">
                    <a:ln>
                      <a:noFill/>
                    </a:ln>
                    <a:solidFill>
                      <a:schemeClr val="tx1"/>
                    </a:solidFill>
                    <a:effectLst/>
                    <a:uLnTx/>
                    <a:uFillTx/>
                    <a:latin typeface="+mn-lt"/>
                    <a:cs typeface="Times New Roman" panose="02020603050405020304" pitchFamily="18" charset="0"/>
                  </a:rPr>
                  <a:t>инженер</a:t>
                </a: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endParaRPr kumimoji="0" lang="ru-RU" sz="900" b="0" i="0" u="none" strike="noStrike" kern="0" cap="none" spc="0" normalizeH="0" baseline="0" noProof="0" dirty="0">
                  <a:ln>
                    <a:noFill/>
                  </a:ln>
                  <a:solidFill>
                    <a:schemeClr val="tx1"/>
                  </a:solidFill>
                  <a:effectLst/>
                  <a:uLnTx/>
                  <a:uFillTx/>
                  <a:latin typeface="+mn-lt"/>
                  <a:cs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ru-RU" sz="900" b="0" i="0" u="none" strike="noStrike" kern="0" cap="none" spc="0" normalizeH="0" baseline="0" noProof="0" dirty="0">
                    <a:ln>
                      <a:noFill/>
                    </a:ln>
                    <a:solidFill>
                      <a:schemeClr val="tx1"/>
                    </a:solidFill>
                    <a:effectLst/>
                    <a:uLnTx/>
                    <a:uFillTx/>
                    <a:latin typeface="+mn-lt"/>
                    <a:cs typeface="Times New Roman" panose="02020603050405020304" pitchFamily="18" charset="0"/>
                  </a:rPr>
                  <a:t>    оклад</a:t>
                </a: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 </a:t>
                </a:r>
                <a:r>
                  <a:rPr kumimoji="0" lang="ru-RU" sz="900" b="0" i="0" u="none" strike="noStrike" kern="0" cap="none" spc="0" normalizeH="0" baseline="0" noProof="0" dirty="0">
                    <a:ln>
                      <a:noFill/>
                    </a:ln>
                    <a:solidFill>
                      <a:schemeClr val="tx1"/>
                    </a:solidFill>
                    <a:effectLst/>
                    <a:uLnTx/>
                    <a:uFillTx/>
                    <a:latin typeface="+mn-lt"/>
                    <a:cs typeface="Times New Roman" panose="02020603050405020304" pitchFamily="18" charset="0"/>
                  </a:rPr>
                  <a:t>500</a:t>
                </a: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00</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p:txBody>
          </p:sp>
        </p:grpSp>
        <p:grpSp>
          <p:nvGrpSpPr>
            <p:cNvPr id="22" name="Group 34">
              <a:extLst>
                <a:ext uri="{FF2B5EF4-FFF2-40B4-BE49-F238E27FC236}">
                  <a16:creationId xmlns:a16="http://schemas.microsoft.com/office/drawing/2014/main" id="{358C0665-2538-49B9-BC67-CB5BC811E454}"/>
                </a:ext>
              </a:extLst>
            </p:cNvPr>
            <p:cNvGrpSpPr/>
            <p:nvPr/>
          </p:nvGrpSpPr>
          <p:grpSpPr>
            <a:xfrm>
              <a:off x="7679170" y="1544940"/>
              <a:ext cx="2808312" cy="2808313"/>
              <a:chOff x="6156176" y="2852935"/>
              <a:chExt cx="2808312" cy="2808313"/>
            </a:xfrm>
          </p:grpSpPr>
          <p:sp>
            <p:nvSpPr>
              <p:cNvPr id="23" name="Rectangle 28">
                <a:extLst>
                  <a:ext uri="{FF2B5EF4-FFF2-40B4-BE49-F238E27FC236}">
                    <a16:creationId xmlns:a16="http://schemas.microsoft.com/office/drawing/2014/main" id="{2768AD30-EDA3-4212-9145-AAE85B9221D6}"/>
                  </a:ext>
                </a:extLst>
              </p:cNvPr>
              <p:cNvSpPr/>
              <p:nvPr/>
            </p:nvSpPr>
            <p:spPr>
              <a:xfrm>
                <a:off x="6156176" y="2852935"/>
                <a:ext cx="2808312" cy="2808313"/>
              </a:xfrm>
              <a:prstGeom prst="rect">
                <a:avLst/>
              </a:prstGeom>
              <a:noFill/>
              <a:ln w="12700" cap="flat" cmpd="sng" algn="ctr">
                <a:solidFill>
                  <a:srgbClr val="5B9BD5">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000" b="0" i="0" u="none" strike="noStrike" kern="0" cap="none" spc="0" normalizeH="0" baseline="0" noProof="0">
                  <a:ln>
                    <a:noFill/>
                  </a:ln>
                  <a:solidFill>
                    <a:schemeClr val="tx1"/>
                  </a:solidFill>
                  <a:effectLst/>
                  <a:uLnTx/>
                  <a:uFillTx/>
                  <a:latin typeface="+mn-lt"/>
                  <a:ea typeface="+mn-ea"/>
                  <a:cs typeface="+mn-cs"/>
                </a:endParaRPr>
              </a:p>
            </p:txBody>
          </p:sp>
          <p:sp>
            <p:nvSpPr>
              <p:cNvPr id="24" name="TextBox 23">
                <a:extLst>
                  <a:ext uri="{FF2B5EF4-FFF2-40B4-BE49-F238E27FC236}">
                    <a16:creationId xmlns:a16="http://schemas.microsoft.com/office/drawing/2014/main" id="{5303F047-D04C-481B-838E-C1F3A49A1BD5}"/>
                  </a:ext>
                </a:extLst>
              </p:cNvPr>
              <p:cNvSpPr txBox="1"/>
              <p:nvPr/>
            </p:nvSpPr>
            <p:spPr>
              <a:xfrm>
                <a:off x="6300191" y="3414089"/>
                <a:ext cx="2561506" cy="1237410"/>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    id</a:t>
                </a:r>
                <a:r>
                  <a:rPr kumimoji="0" lang="ru-RU" sz="900" b="0" i="0" u="none" strike="noStrike" kern="0" cap="none" spc="0" normalizeH="0" baseline="0" noProof="0" dirty="0">
                    <a:ln>
                      <a:noFill/>
                    </a:ln>
                    <a:solidFill>
                      <a:schemeClr val="tx1"/>
                    </a:solidFill>
                    <a:effectLst/>
                    <a:uLnTx/>
                    <a:uFillTx/>
                    <a:latin typeface="+mn-lt"/>
                    <a:cs typeface="Times New Roman" panose="02020603050405020304" pitchFamily="18" charset="0"/>
                  </a:rPr>
                  <a:t>_проекта</a:t>
                </a: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 1,</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    name: "</a:t>
                </a:r>
                <a:r>
                  <a:rPr kumimoji="0" lang="ru-RU" sz="900" b="0" i="0" u="none" strike="noStrike" kern="0" cap="none" spc="0" normalizeH="0" baseline="0" noProof="0" dirty="0">
                    <a:ln>
                      <a:noFill/>
                    </a:ln>
                    <a:solidFill>
                      <a:schemeClr val="tx1"/>
                    </a:solidFill>
                    <a:effectLst/>
                    <a:uLnTx/>
                    <a:uFillTx/>
                    <a:latin typeface="+mn-lt"/>
                    <a:cs typeface="Times New Roman" panose="02020603050405020304" pitchFamily="18" charset="0"/>
                  </a:rPr>
                  <a:t>Важный</a:t>
                </a: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a:t>
                </a:r>
              </a:p>
            </p:txBody>
          </p:sp>
          <p:sp>
            <p:nvSpPr>
              <p:cNvPr id="25" name="TextBox 24">
                <a:extLst>
                  <a:ext uri="{FF2B5EF4-FFF2-40B4-BE49-F238E27FC236}">
                    <a16:creationId xmlns:a16="http://schemas.microsoft.com/office/drawing/2014/main" id="{64494043-5050-45E0-8FC0-746F769CF632}"/>
                  </a:ext>
                </a:extLst>
              </p:cNvPr>
              <p:cNvSpPr txBox="1"/>
              <p:nvPr/>
            </p:nvSpPr>
            <p:spPr>
              <a:xfrm>
                <a:off x="6156176" y="2874422"/>
                <a:ext cx="2160240" cy="363944"/>
              </a:xfrm>
              <a:prstGeom prst="rect">
                <a:avLst/>
              </a:prstGeom>
              <a:noFill/>
              <a:ln>
                <a:no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chemeClr val="tx1"/>
                    </a:solidFill>
                    <a:effectLst/>
                    <a:uLnTx/>
                    <a:uFillTx/>
                    <a:latin typeface="+mn-lt"/>
                    <a:cs typeface="Times New Roman" panose="02020603050405020304" pitchFamily="18" charset="0"/>
                  </a:rPr>
                  <a:t>collection </a:t>
                </a:r>
                <a:r>
                  <a:rPr kumimoji="0" lang="ru-RU" sz="900" b="1" i="0" u="none" strike="noStrike" kern="0" cap="none" spc="0" normalizeH="0" baseline="0" noProof="0" dirty="0">
                    <a:ln>
                      <a:noFill/>
                    </a:ln>
                    <a:solidFill>
                      <a:schemeClr val="tx1"/>
                    </a:solidFill>
                    <a:effectLst/>
                    <a:uLnTx/>
                    <a:uFillTx/>
                    <a:latin typeface="+mn-lt"/>
                    <a:cs typeface="Times New Roman" panose="02020603050405020304" pitchFamily="18" charset="0"/>
                  </a:rPr>
                  <a:t>проекты</a:t>
                </a:r>
              </a:p>
            </p:txBody>
          </p:sp>
        </p:grpSp>
        <p:pic>
          <p:nvPicPr>
            <p:cNvPr id="26" name="Picture 2" descr="Картинки по запросу &quot;смайлики&quot;&quot;">
              <a:extLst>
                <a:ext uri="{FF2B5EF4-FFF2-40B4-BE49-F238E27FC236}">
                  <a16:creationId xmlns:a16="http://schemas.microsoft.com/office/drawing/2014/main" id="{6A22E4EA-8E8A-4DF3-9945-79684CFD42B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38026" y="3770193"/>
              <a:ext cx="1089601" cy="762721"/>
            </a:xfrm>
            <a:prstGeom prst="rect">
              <a:avLst/>
            </a:prstGeom>
            <a:noFill/>
            <a:extLst>
              <a:ext uri="{909E8E84-426E-40DD-AFC4-6F175D3DCCD1}">
                <a14:hiddenFill xmlns:a14="http://schemas.microsoft.com/office/drawing/2010/main">
                  <a:solidFill>
                    <a:srgbClr val="FFFFFF"/>
                  </a:solidFill>
                </a14:hiddenFill>
              </a:ext>
            </a:extLst>
          </p:spPr>
        </p:pic>
      </p:grpSp>
      <p:sp>
        <p:nvSpPr>
          <p:cNvPr id="27" name="Прямоугольник 26"/>
          <p:cNvSpPr/>
          <p:nvPr/>
        </p:nvSpPr>
        <p:spPr>
          <a:xfrm>
            <a:off x="452826" y="3881845"/>
            <a:ext cx="8031215" cy="899221"/>
          </a:xfrm>
          <a:prstGeom prst="rect">
            <a:avLst/>
          </a:prstGeom>
        </p:spPr>
        <p:txBody>
          <a:bodyPr wrap="square">
            <a:spAutoFit/>
          </a:bodyPr>
          <a:lstStyle/>
          <a:p>
            <a:pPr>
              <a:lnSpc>
                <a:spcPct val="110000"/>
              </a:lnSpc>
            </a:pPr>
            <a:r>
              <a:rPr lang="ru-RU" altLang="ru-RU" sz="1200" dirty="0">
                <a:solidFill>
                  <a:schemeClr val="tx1"/>
                </a:solidFill>
                <a:latin typeface="+mn-lt"/>
              </a:rPr>
              <a:t>Если сотрудник участвует сразу в нескольких проектах, можно поменять тип id_проекта сотрудника на Array: id_проектов: [1] </a:t>
            </a:r>
          </a:p>
          <a:p>
            <a:pPr>
              <a:lnSpc>
                <a:spcPct val="110000"/>
              </a:lnSpc>
            </a:pPr>
            <a:r>
              <a:rPr lang="ru-RU" altLang="ru-RU" sz="1200" dirty="0">
                <a:solidFill>
                  <a:schemeClr val="accent4"/>
                </a:solidFill>
                <a:latin typeface="+mn-lt"/>
              </a:rPr>
              <a:t>Но что, если в разных проектах у сотрудника разные должности? </a:t>
            </a:r>
            <a:r>
              <a:rPr lang="ru-RU" altLang="ru-RU" sz="1200" dirty="0">
                <a:solidFill>
                  <a:schemeClr val="tx1"/>
                </a:solidFill>
                <a:latin typeface="+mn-lt"/>
              </a:rPr>
              <a:t>Найти решение при нереляционном подходе можно, но это сложно.</a:t>
            </a:r>
          </a:p>
        </p:txBody>
      </p:sp>
    </p:spTree>
    <p:extLst>
      <p:ext uri="{BB962C8B-B14F-4D97-AF65-F5344CB8AC3E}">
        <p14:creationId xmlns:p14="http://schemas.microsoft.com/office/powerpoint/2010/main" val="10792870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907782" y="293530"/>
            <a:ext cx="7328437" cy="1015663"/>
          </a:xfrm>
          <a:prstGeom prst="rect">
            <a:avLst/>
          </a:prstGeom>
          <a:noFill/>
        </p:spPr>
        <p:txBody>
          <a:bodyPr wrap="square">
            <a:spAutoFit/>
          </a:bodyPr>
          <a:lstStyle/>
          <a:p>
            <a:pPr algn="ctr"/>
            <a:r>
              <a:rPr lang="ru-RU" sz="3600" kern="1200" dirty="0">
                <a:solidFill>
                  <a:schemeClr val="accent3"/>
                </a:solidFill>
                <a:latin typeface="+mj-lt"/>
              </a:rPr>
              <a:t>SQL vs NoSQL </a:t>
            </a:r>
            <a:br>
              <a:rPr lang="ru-RU" sz="3600" kern="1200" dirty="0">
                <a:solidFill>
                  <a:schemeClr val="accent3"/>
                </a:solidFill>
                <a:latin typeface="+mj-lt"/>
              </a:rPr>
            </a:br>
            <a:r>
              <a:rPr lang="ru-RU" sz="2400" kern="1200" dirty="0">
                <a:solidFill>
                  <a:schemeClr val="accent3"/>
                </a:solidFill>
                <a:latin typeface="+mj-lt"/>
              </a:rPr>
              <a:t>(критерий №1: реляционность данных)</a:t>
            </a:r>
            <a:endParaRPr lang="ru-RU" sz="2400" dirty="0">
              <a:solidFill>
                <a:schemeClr val="accent3"/>
              </a:solidFill>
              <a:latin typeface="+mj-lt"/>
            </a:endParaRPr>
          </a:p>
        </p:txBody>
      </p:sp>
      <p:sp>
        <p:nvSpPr>
          <p:cNvPr id="50" name="Прямоугольник 49"/>
          <p:cNvSpPr/>
          <p:nvPr/>
        </p:nvSpPr>
        <p:spPr>
          <a:xfrm>
            <a:off x="394056" y="1889830"/>
            <a:ext cx="1874653" cy="2123658"/>
          </a:xfrm>
          <a:prstGeom prst="rect">
            <a:avLst/>
          </a:prstGeom>
        </p:spPr>
        <p:txBody>
          <a:bodyPr wrap="square">
            <a:spAutoFit/>
          </a:bodyPr>
          <a:lstStyle/>
          <a:p>
            <a:pPr>
              <a:lnSpc>
                <a:spcPct val="110000"/>
              </a:lnSpc>
            </a:pPr>
            <a:r>
              <a:rPr lang="ru-RU" altLang="ru-RU" sz="1200" dirty="0">
                <a:solidFill>
                  <a:schemeClr val="tx1"/>
                </a:solidFill>
                <a:latin typeface="+mn-lt"/>
              </a:rPr>
              <a:t>При реляционном подходе задача решается элементарно: делаем должность атрибутом связи сотрудника и проекта. Данная предметная область реляционна, поэтому выбор в пользу SQL очевиден.</a:t>
            </a:r>
          </a:p>
        </p:txBody>
      </p:sp>
      <p:grpSp>
        <p:nvGrpSpPr>
          <p:cNvPr id="3" name="Группа 2"/>
          <p:cNvGrpSpPr/>
          <p:nvPr/>
        </p:nvGrpSpPr>
        <p:grpSpPr>
          <a:xfrm>
            <a:off x="2629914" y="1642313"/>
            <a:ext cx="6100617" cy="3018174"/>
            <a:chOff x="1969957" y="1944462"/>
            <a:chExt cx="8323215" cy="4117765"/>
          </a:xfrm>
        </p:grpSpPr>
        <p:graphicFrame>
          <p:nvGraphicFramePr>
            <p:cNvPr id="28" name="Object 5">
              <a:extLst>
                <a:ext uri="{FF2B5EF4-FFF2-40B4-BE49-F238E27FC236}">
                  <a16:creationId xmlns:a16="http://schemas.microsoft.com/office/drawing/2014/main" id="{2671C600-4E56-43AD-B328-13B4850CF521}"/>
                </a:ext>
              </a:extLst>
            </p:cNvPr>
            <p:cNvGraphicFramePr>
              <a:graphicFrameLocks noChangeAspect="1"/>
            </p:cNvGraphicFramePr>
            <p:nvPr>
              <p:extLst>
                <p:ext uri="{D42A27DB-BD31-4B8C-83A1-F6EECF244321}">
                  <p14:modId xmlns:p14="http://schemas.microsoft.com/office/powerpoint/2010/main" val="3654120872"/>
                </p:ext>
              </p:extLst>
            </p:nvPr>
          </p:nvGraphicFramePr>
          <p:xfrm>
            <a:off x="8103139" y="1944462"/>
            <a:ext cx="1782318" cy="1343389"/>
          </p:xfrm>
          <a:graphic>
            <a:graphicData uri="http://schemas.openxmlformats.org/presentationml/2006/ole">
              <mc:AlternateContent xmlns:mc="http://schemas.openxmlformats.org/markup-compatibility/2006">
                <mc:Choice xmlns:v="urn:schemas-microsoft-com:vml" Requires="v">
                  <p:oleObj name="Worksheet" r:id="rId3" imgW="1276241" imgH="962141" progId="Excel.Sheet.12">
                    <p:embed/>
                  </p:oleObj>
                </mc:Choice>
                <mc:Fallback>
                  <p:oleObj name="Worksheet" r:id="rId3" imgW="1276241" imgH="962141" progId="Excel.Sheet.12">
                    <p:embed/>
                    <p:pic>
                      <p:nvPicPr>
                        <p:cNvPr id="32" name="Object 5">
                          <a:extLst>
                            <a:ext uri="{FF2B5EF4-FFF2-40B4-BE49-F238E27FC236}">
                              <a16:creationId xmlns:a16="http://schemas.microsoft.com/office/drawing/2014/main" id="{2671C600-4E56-43AD-B328-13B4850CF521}"/>
                            </a:ext>
                          </a:extLst>
                        </p:cNvPr>
                        <p:cNvPicPr/>
                        <p:nvPr/>
                      </p:nvPicPr>
                      <p:blipFill>
                        <a:blip r:embed="rId4"/>
                        <a:stretch>
                          <a:fillRect/>
                        </a:stretch>
                      </p:blipFill>
                      <p:spPr>
                        <a:xfrm>
                          <a:off x="8103139" y="1944462"/>
                          <a:ext cx="1782318" cy="1343389"/>
                        </a:xfrm>
                        <a:prstGeom prst="rect">
                          <a:avLst/>
                        </a:prstGeom>
                        <a:solidFill>
                          <a:schemeClr val="bg1"/>
                        </a:solidFill>
                      </p:spPr>
                    </p:pic>
                  </p:oleObj>
                </mc:Fallback>
              </mc:AlternateContent>
            </a:graphicData>
          </a:graphic>
        </p:graphicFrame>
        <p:graphicFrame>
          <p:nvGraphicFramePr>
            <p:cNvPr id="29" name="Object 6">
              <a:extLst>
                <a:ext uri="{FF2B5EF4-FFF2-40B4-BE49-F238E27FC236}">
                  <a16:creationId xmlns:a16="http://schemas.microsoft.com/office/drawing/2014/main" id="{90F02A28-F1D6-44A0-8D0F-FD2C6DC7BB25}"/>
                </a:ext>
              </a:extLst>
            </p:cNvPr>
            <p:cNvGraphicFramePr>
              <a:graphicFrameLocks noChangeAspect="1"/>
            </p:cNvGraphicFramePr>
            <p:nvPr>
              <p:extLst>
                <p:ext uri="{D42A27DB-BD31-4B8C-83A1-F6EECF244321}">
                  <p14:modId xmlns:p14="http://schemas.microsoft.com/office/powerpoint/2010/main" val="1388831990"/>
                </p:ext>
              </p:extLst>
            </p:nvPr>
          </p:nvGraphicFramePr>
          <p:xfrm>
            <a:off x="5955226" y="3926101"/>
            <a:ext cx="3948112" cy="1789113"/>
          </p:xfrm>
          <a:graphic>
            <a:graphicData uri="http://schemas.openxmlformats.org/presentationml/2006/ole">
              <mc:AlternateContent xmlns:mc="http://schemas.openxmlformats.org/markup-compatibility/2006">
                <mc:Choice xmlns:v="urn:schemas-microsoft-com:vml" Requires="v">
                  <p:oleObj name="Worksheet" r:id="rId5" imgW="2962333" imgH="1342917" progId="Excel.Sheet.12">
                    <p:embed/>
                  </p:oleObj>
                </mc:Choice>
                <mc:Fallback>
                  <p:oleObj name="Worksheet" r:id="rId5" imgW="2962333" imgH="1342917" progId="Excel.Sheet.12">
                    <p:embed/>
                    <p:pic>
                      <p:nvPicPr>
                        <p:cNvPr id="33" name="Object 6">
                          <a:extLst>
                            <a:ext uri="{FF2B5EF4-FFF2-40B4-BE49-F238E27FC236}">
                              <a16:creationId xmlns:a16="http://schemas.microsoft.com/office/drawing/2014/main" id="{90F02A28-F1D6-44A0-8D0F-FD2C6DC7BB25}"/>
                            </a:ext>
                          </a:extLst>
                        </p:cNvPr>
                        <p:cNvPicPr/>
                        <p:nvPr/>
                      </p:nvPicPr>
                      <p:blipFill>
                        <a:blip r:embed="rId6"/>
                        <a:stretch>
                          <a:fillRect/>
                        </a:stretch>
                      </p:blipFill>
                      <p:spPr>
                        <a:xfrm>
                          <a:off x="5955226" y="3926101"/>
                          <a:ext cx="3948112" cy="1789113"/>
                        </a:xfrm>
                        <a:prstGeom prst="rect">
                          <a:avLst/>
                        </a:prstGeom>
                      </p:spPr>
                    </p:pic>
                  </p:oleObj>
                </mc:Fallback>
              </mc:AlternateContent>
            </a:graphicData>
          </a:graphic>
        </p:graphicFrame>
        <p:graphicFrame>
          <p:nvGraphicFramePr>
            <p:cNvPr id="30" name="Object 7">
              <a:extLst>
                <a:ext uri="{FF2B5EF4-FFF2-40B4-BE49-F238E27FC236}">
                  <a16:creationId xmlns:a16="http://schemas.microsoft.com/office/drawing/2014/main" id="{DBB0DC45-CC40-40A2-A953-4A76A4CE86B2}"/>
                </a:ext>
              </a:extLst>
            </p:cNvPr>
            <p:cNvGraphicFramePr>
              <a:graphicFrameLocks noChangeAspect="1"/>
            </p:cNvGraphicFramePr>
            <p:nvPr>
              <p:extLst>
                <p:ext uri="{D42A27DB-BD31-4B8C-83A1-F6EECF244321}">
                  <p14:modId xmlns:p14="http://schemas.microsoft.com/office/powerpoint/2010/main" val="2566114792"/>
                </p:ext>
              </p:extLst>
            </p:nvPr>
          </p:nvGraphicFramePr>
          <p:xfrm>
            <a:off x="1969957" y="1944462"/>
            <a:ext cx="5835650" cy="1784350"/>
          </p:xfrm>
          <a:graphic>
            <a:graphicData uri="http://schemas.openxmlformats.org/presentationml/2006/ole">
              <mc:AlternateContent xmlns:mc="http://schemas.openxmlformats.org/markup-compatibility/2006">
                <mc:Choice xmlns:v="urn:schemas-microsoft-com:vml" Requires="v">
                  <p:oleObj name="Worksheet" r:id="rId7" imgW="4390880" imgH="1342917" progId="Excel.Sheet.12">
                    <p:embed/>
                  </p:oleObj>
                </mc:Choice>
                <mc:Fallback>
                  <p:oleObj name="Worksheet" r:id="rId7" imgW="4390880" imgH="1342917" progId="Excel.Sheet.12">
                    <p:embed/>
                    <p:pic>
                      <p:nvPicPr>
                        <p:cNvPr id="34" name="Object 7">
                          <a:extLst>
                            <a:ext uri="{FF2B5EF4-FFF2-40B4-BE49-F238E27FC236}">
                              <a16:creationId xmlns:a16="http://schemas.microsoft.com/office/drawing/2014/main" id="{DBB0DC45-CC40-40A2-A953-4A76A4CE86B2}"/>
                            </a:ext>
                          </a:extLst>
                        </p:cNvPr>
                        <p:cNvPicPr/>
                        <p:nvPr/>
                      </p:nvPicPr>
                      <p:blipFill>
                        <a:blip r:embed="rId8"/>
                        <a:stretch>
                          <a:fillRect/>
                        </a:stretch>
                      </p:blipFill>
                      <p:spPr>
                        <a:xfrm>
                          <a:off x="1969957" y="1944462"/>
                          <a:ext cx="5835650" cy="1784350"/>
                        </a:xfrm>
                        <a:prstGeom prst="rect">
                          <a:avLst/>
                        </a:prstGeom>
                      </p:spPr>
                    </p:pic>
                  </p:oleObj>
                </mc:Fallback>
              </mc:AlternateContent>
            </a:graphicData>
          </a:graphic>
        </p:graphicFrame>
        <p:graphicFrame>
          <p:nvGraphicFramePr>
            <p:cNvPr id="31" name="Object 8">
              <a:extLst>
                <a:ext uri="{FF2B5EF4-FFF2-40B4-BE49-F238E27FC236}">
                  <a16:creationId xmlns:a16="http://schemas.microsoft.com/office/drawing/2014/main" id="{E1BFC562-2E99-4297-8338-936A77B267BE}"/>
                </a:ext>
              </a:extLst>
            </p:cNvPr>
            <p:cNvGraphicFramePr>
              <a:graphicFrameLocks noChangeAspect="1"/>
            </p:cNvGraphicFramePr>
            <p:nvPr>
              <p:extLst>
                <p:ext uri="{D42A27DB-BD31-4B8C-83A1-F6EECF244321}">
                  <p14:modId xmlns:p14="http://schemas.microsoft.com/office/powerpoint/2010/main" val="2689036866"/>
                </p:ext>
              </p:extLst>
            </p:nvPr>
          </p:nvGraphicFramePr>
          <p:xfrm>
            <a:off x="2647611" y="3938163"/>
            <a:ext cx="3079264" cy="1572113"/>
          </p:xfrm>
          <a:graphic>
            <a:graphicData uri="http://schemas.openxmlformats.org/presentationml/2006/ole">
              <mc:AlternateContent xmlns:mc="http://schemas.openxmlformats.org/markup-compatibility/2006">
                <mc:Choice xmlns:v="urn:schemas-microsoft-com:vml" Requires="v">
                  <p:oleObj name="Worksheet" r:id="rId9" imgW="2257435" imgH="1152337" progId="Excel.Sheet.12">
                    <p:embed/>
                  </p:oleObj>
                </mc:Choice>
                <mc:Fallback>
                  <p:oleObj name="Worksheet" r:id="rId9" imgW="2257435" imgH="1152337" progId="Excel.Sheet.12">
                    <p:embed/>
                    <p:pic>
                      <p:nvPicPr>
                        <p:cNvPr id="35" name="Object 8">
                          <a:extLst>
                            <a:ext uri="{FF2B5EF4-FFF2-40B4-BE49-F238E27FC236}">
                              <a16:creationId xmlns:a16="http://schemas.microsoft.com/office/drawing/2014/main" id="{E1BFC562-2E99-4297-8338-936A77B267BE}"/>
                            </a:ext>
                          </a:extLst>
                        </p:cNvPr>
                        <p:cNvPicPr/>
                        <p:nvPr/>
                      </p:nvPicPr>
                      <p:blipFill>
                        <a:blip r:embed="rId10"/>
                        <a:stretch>
                          <a:fillRect/>
                        </a:stretch>
                      </p:blipFill>
                      <p:spPr>
                        <a:xfrm>
                          <a:off x="2647611" y="3938163"/>
                          <a:ext cx="3079264" cy="1572113"/>
                        </a:xfrm>
                        <a:prstGeom prst="rect">
                          <a:avLst/>
                        </a:prstGeom>
                      </p:spPr>
                    </p:pic>
                  </p:oleObj>
                </mc:Fallback>
              </mc:AlternateContent>
            </a:graphicData>
          </a:graphic>
        </p:graphicFrame>
        <p:pic>
          <p:nvPicPr>
            <p:cNvPr id="32" name="Picture 71" descr="Картинки по запросу &quot;смайлики&quot;&quot;">
              <a:extLst>
                <a:ext uri="{FF2B5EF4-FFF2-40B4-BE49-F238E27FC236}">
                  <a16:creationId xmlns:a16="http://schemas.microsoft.com/office/drawing/2014/main" id="{BEC04DCC-AE4B-49E9-B6E6-8EB7EA2027CB}"/>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9308488" y="5120213"/>
              <a:ext cx="984684" cy="94201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348799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907782" y="293530"/>
            <a:ext cx="7328437" cy="1015663"/>
          </a:xfrm>
          <a:prstGeom prst="rect">
            <a:avLst/>
          </a:prstGeom>
          <a:noFill/>
        </p:spPr>
        <p:txBody>
          <a:bodyPr wrap="square">
            <a:spAutoFit/>
          </a:bodyPr>
          <a:lstStyle/>
          <a:p>
            <a:pPr algn="ctr"/>
            <a:r>
              <a:rPr lang="ru-RU" sz="3600" kern="1200" dirty="0">
                <a:solidFill>
                  <a:schemeClr val="accent3"/>
                </a:solidFill>
                <a:latin typeface="+mj-lt"/>
              </a:rPr>
              <a:t>SQL vs NoSQL </a:t>
            </a:r>
            <a:br>
              <a:rPr lang="ru-RU" sz="3600" kern="1200" dirty="0">
                <a:solidFill>
                  <a:schemeClr val="accent3"/>
                </a:solidFill>
                <a:latin typeface="+mj-lt"/>
              </a:rPr>
            </a:br>
            <a:r>
              <a:rPr lang="ru-RU" sz="2400" kern="1200" dirty="0">
                <a:solidFill>
                  <a:schemeClr val="accent3"/>
                </a:solidFill>
                <a:latin typeface="+mj-lt"/>
              </a:rPr>
              <a:t>(критерий №2: потенциальные запросы)</a:t>
            </a:r>
            <a:endParaRPr lang="ru-RU" sz="2400" dirty="0">
              <a:solidFill>
                <a:schemeClr val="accent3"/>
              </a:solidFill>
              <a:latin typeface="+mj-lt"/>
            </a:endParaRPr>
          </a:p>
        </p:txBody>
      </p:sp>
      <p:sp>
        <p:nvSpPr>
          <p:cNvPr id="50" name="Прямоугольник 49"/>
          <p:cNvSpPr/>
          <p:nvPr/>
        </p:nvSpPr>
        <p:spPr>
          <a:xfrm>
            <a:off x="452827" y="1378302"/>
            <a:ext cx="7681357" cy="498598"/>
          </a:xfrm>
          <a:prstGeom prst="rect">
            <a:avLst/>
          </a:prstGeom>
        </p:spPr>
        <p:txBody>
          <a:bodyPr wrap="square">
            <a:spAutoFit/>
          </a:bodyPr>
          <a:lstStyle/>
          <a:p>
            <a:pPr>
              <a:lnSpc>
                <a:spcPct val="110000"/>
              </a:lnSpc>
            </a:pPr>
            <a:r>
              <a:rPr lang="ru-RU" altLang="ru-RU" sz="1200" dirty="0">
                <a:solidFill>
                  <a:schemeClr val="tx1"/>
                </a:solidFill>
                <a:latin typeface="+mn-lt"/>
              </a:rPr>
              <a:t>Снова пробуем применить NoSQL-решение под БД организации. Рассмотрим, какие могут быть запросы к БД, и как наше решение будет с ними справляться. </a:t>
            </a:r>
          </a:p>
        </p:txBody>
      </p:sp>
      <p:sp>
        <p:nvSpPr>
          <p:cNvPr id="27" name="Прямоугольник 26"/>
          <p:cNvSpPr/>
          <p:nvPr/>
        </p:nvSpPr>
        <p:spPr>
          <a:xfrm>
            <a:off x="452826" y="3881845"/>
            <a:ext cx="8031215" cy="498598"/>
          </a:xfrm>
          <a:prstGeom prst="rect">
            <a:avLst/>
          </a:prstGeom>
        </p:spPr>
        <p:txBody>
          <a:bodyPr wrap="square">
            <a:spAutoFit/>
          </a:bodyPr>
          <a:lstStyle/>
          <a:p>
            <a:pPr marL="171450" indent="-171450">
              <a:lnSpc>
                <a:spcPct val="110000"/>
              </a:lnSpc>
              <a:buFont typeface="Arial" panose="020B0604020202020204" pitchFamily="34" charset="0"/>
              <a:buChar char="•"/>
            </a:pPr>
            <a:r>
              <a:rPr lang="ru-RU" altLang="ru-RU" sz="1200" dirty="0">
                <a:solidFill>
                  <a:schemeClr val="tx1"/>
                </a:solidFill>
                <a:latin typeface="+mn-lt"/>
              </a:rPr>
              <a:t>поиск информации по указанному сотруднику — </a:t>
            </a:r>
            <a:r>
              <a:rPr lang="ru-RU" altLang="ru-RU" sz="1200" dirty="0">
                <a:solidFill>
                  <a:schemeClr val="accent2">
                    <a:lumMod val="50000"/>
                  </a:schemeClr>
                </a:solidFill>
                <a:latin typeface="+mn-lt"/>
              </a:rPr>
              <a:t>ОК</a:t>
            </a:r>
          </a:p>
          <a:p>
            <a:pPr marL="171450" indent="-171450">
              <a:lnSpc>
                <a:spcPct val="110000"/>
              </a:lnSpc>
              <a:buFont typeface="Arial" panose="020B0604020202020204" pitchFamily="34" charset="0"/>
              <a:buChar char="•"/>
            </a:pPr>
            <a:r>
              <a:rPr lang="ru-RU" altLang="ru-RU" sz="1200" dirty="0">
                <a:solidFill>
                  <a:schemeClr val="tx1"/>
                </a:solidFill>
                <a:latin typeface="+mn-lt"/>
              </a:rPr>
              <a:t>сколько сотрудников в каждом из проектов — </a:t>
            </a:r>
            <a:r>
              <a:rPr lang="ru-RU" altLang="ru-RU" sz="1200" dirty="0">
                <a:solidFill>
                  <a:srgbClr val="FF0000"/>
                </a:solidFill>
                <a:latin typeface="+mn-lt"/>
              </a:rPr>
              <a:t>??? </a:t>
            </a:r>
          </a:p>
        </p:txBody>
      </p:sp>
      <p:grpSp>
        <p:nvGrpSpPr>
          <p:cNvPr id="3" name="Группа 2"/>
          <p:cNvGrpSpPr/>
          <p:nvPr/>
        </p:nvGrpSpPr>
        <p:grpSpPr>
          <a:xfrm>
            <a:off x="1770330" y="2062439"/>
            <a:ext cx="5389664" cy="1717619"/>
            <a:chOff x="1770329" y="1785195"/>
            <a:chExt cx="8993199" cy="2866022"/>
          </a:xfrm>
        </p:grpSpPr>
        <p:grpSp>
          <p:nvGrpSpPr>
            <p:cNvPr id="28" name="Group 3">
              <a:extLst>
                <a:ext uri="{FF2B5EF4-FFF2-40B4-BE49-F238E27FC236}">
                  <a16:creationId xmlns:a16="http://schemas.microsoft.com/office/drawing/2014/main" id="{73F1B598-2A56-4ABF-817F-F87A585E99A6}"/>
                </a:ext>
              </a:extLst>
            </p:cNvPr>
            <p:cNvGrpSpPr/>
            <p:nvPr/>
          </p:nvGrpSpPr>
          <p:grpSpPr>
            <a:xfrm>
              <a:off x="1770329" y="1785195"/>
              <a:ext cx="8640960" cy="2592288"/>
              <a:chOff x="179512" y="3356992"/>
              <a:chExt cx="8640960" cy="2592288"/>
            </a:xfrm>
          </p:grpSpPr>
          <p:sp>
            <p:nvSpPr>
              <p:cNvPr id="29" name="TextBox 28">
                <a:extLst>
                  <a:ext uri="{FF2B5EF4-FFF2-40B4-BE49-F238E27FC236}">
                    <a16:creationId xmlns:a16="http://schemas.microsoft.com/office/drawing/2014/main" id="{31004513-B5B1-47FC-969D-7EA9E89D5CBA}"/>
                  </a:ext>
                </a:extLst>
              </p:cNvPr>
              <p:cNvSpPr txBox="1"/>
              <p:nvPr/>
            </p:nvSpPr>
            <p:spPr>
              <a:xfrm>
                <a:off x="259543" y="3438987"/>
                <a:ext cx="2520280" cy="410845"/>
              </a:xfrm>
              <a:prstGeom prst="rect">
                <a:avLst/>
              </a:prstGeom>
              <a:noFill/>
              <a:ln>
                <a:no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2060"/>
                    </a:solidFill>
                    <a:effectLst/>
                    <a:uLnTx/>
                    <a:uFillTx/>
                    <a:latin typeface="+mn-lt"/>
                    <a:cs typeface="Times New Roman" panose="02020603050405020304" pitchFamily="18" charset="0"/>
                  </a:rPr>
                  <a:t>collection </a:t>
                </a:r>
                <a:r>
                  <a:rPr kumimoji="0" lang="ru-RU" sz="1000" b="1" i="0" u="none" strike="noStrike" kern="0" cap="none" spc="0" normalizeH="0" baseline="0" noProof="0" dirty="0">
                    <a:ln>
                      <a:noFill/>
                    </a:ln>
                    <a:solidFill>
                      <a:srgbClr val="002060"/>
                    </a:solidFill>
                    <a:effectLst/>
                    <a:uLnTx/>
                    <a:uFillTx/>
                    <a:latin typeface="+mn-lt"/>
                    <a:cs typeface="Times New Roman" panose="02020603050405020304" pitchFamily="18" charset="0"/>
                  </a:rPr>
                  <a:t>сотрудники</a:t>
                </a:r>
              </a:p>
            </p:txBody>
          </p:sp>
          <p:sp>
            <p:nvSpPr>
              <p:cNvPr id="30" name="Rectangle 10">
                <a:extLst>
                  <a:ext uri="{FF2B5EF4-FFF2-40B4-BE49-F238E27FC236}">
                    <a16:creationId xmlns:a16="http://schemas.microsoft.com/office/drawing/2014/main" id="{7A76F83B-C3BC-4819-A282-16015159457D}"/>
                  </a:ext>
                </a:extLst>
              </p:cNvPr>
              <p:cNvSpPr/>
              <p:nvPr/>
            </p:nvSpPr>
            <p:spPr>
              <a:xfrm>
                <a:off x="179512" y="3356992"/>
                <a:ext cx="8640960" cy="2592288"/>
              </a:xfrm>
              <a:prstGeom prst="rect">
                <a:avLst/>
              </a:prstGeom>
              <a:noFill/>
              <a:ln w="12700" cap="flat" cmpd="sng" algn="ctr">
                <a:solidFill>
                  <a:srgbClr val="5B9BD5">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050" b="0" i="0" u="none" strike="noStrike" kern="0" cap="none" spc="0" normalizeH="0" baseline="0" noProof="0">
                  <a:ln>
                    <a:noFill/>
                  </a:ln>
                  <a:solidFill>
                    <a:prstClr val="white"/>
                  </a:solidFill>
                  <a:effectLst/>
                  <a:uLnTx/>
                  <a:uFillTx/>
                  <a:latin typeface="+mn-lt"/>
                  <a:ea typeface="+mn-ea"/>
                  <a:cs typeface="+mn-cs"/>
                </a:endParaRPr>
              </a:p>
            </p:txBody>
          </p:sp>
          <p:sp>
            <p:nvSpPr>
              <p:cNvPr id="31" name="TextBox 30">
                <a:extLst>
                  <a:ext uri="{FF2B5EF4-FFF2-40B4-BE49-F238E27FC236}">
                    <a16:creationId xmlns:a16="http://schemas.microsoft.com/office/drawing/2014/main" id="{4E7AE7E3-4C1C-468C-AB82-8EC6D77A7850}"/>
                  </a:ext>
                </a:extLst>
              </p:cNvPr>
              <p:cNvSpPr txBox="1"/>
              <p:nvPr/>
            </p:nvSpPr>
            <p:spPr>
              <a:xfrm>
                <a:off x="323527" y="3918144"/>
                <a:ext cx="2304258" cy="1797448"/>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таб_номер</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1,</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фио</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Иванов И.И.</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должность</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инженер</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бонус</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30</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00</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0,</a:t>
                </a:r>
              </a:p>
              <a:p>
                <a:pPr marL="0" marR="0" lvl="0" indent="0" defTabSz="914400" eaLnBrk="0" fontAlgn="base" latinLnBrk="0" hangingPunct="0">
                  <a:lnSpc>
                    <a:spcPct val="100000"/>
                  </a:lnSpc>
                  <a:spcBef>
                    <a:spcPct val="0"/>
                  </a:spcBef>
                  <a:spcAft>
                    <a:spcPct val="0"/>
                  </a:spcAft>
                  <a:buClrTx/>
                  <a:buSzTx/>
                  <a:buFontTx/>
                  <a:buNone/>
                  <a:tabLst/>
                  <a:defRPr/>
                </a:pPr>
                <a:r>
                  <a:rPr kumimoji="0" lang="ru-RU" sz="800" b="0" i="0" u="none" strike="noStrike" kern="0" cap="none" spc="0" normalizeH="0" baseline="0" noProof="0" dirty="0">
                    <a:ln>
                      <a:noFill/>
                    </a:ln>
                    <a:solidFill>
                      <a:srgbClr val="FF0000"/>
                    </a:solidFill>
                    <a:effectLst/>
                    <a:uLnTx/>
                    <a:uFillTx/>
                    <a:latin typeface="+mn-lt"/>
                    <a:cs typeface="Times New Roman" panose="02020603050405020304" pitchFamily="18" charset="0"/>
                  </a:rPr>
                  <a:t>    </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id_</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проектов: </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[1]</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p:txBody>
          </p:sp>
          <p:sp>
            <p:nvSpPr>
              <p:cNvPr id="32" name="TextBox 31">
                <a:extLst>
                  <a:ext uri="{FF2B5EF4-FFF2-40B4-BE49-F238E27FC236}">
                    <a16:creationId xmlns:a16="http://schemas.microsoft.com/office/drawing/2014/main" id="{D12555E7-2A4C-438E-A246-AC76C7E55F98}"/>
                  </a:ext>
                </a:extLst>
              </p:cNvPr>
              <p:cNvSpPr txBox="1"/>
              <p:nvPr/>
            </p:nvSpPr>
            <p:spPr>
              <a:xfrm>
                <a:off x="2771799" y="3918144"/>
                <a:ext cx="3062922" cy="1797448"/>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таб_номер</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2</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фио</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Петров П.П.</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должность</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старший инженер</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бонус</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500</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00,</a:t>
                </a:r>
              </a:p>
              <a:p>
                <a:pPr marL="0" marR="0" lvl="0" indent="0" defTabSz="914400" eaLnBrk="0" fontAlgn="base" latinLnBrk="0" hangingPunct="0">
                  <a:lnSpc>
                    <a:spcPct val="100000"/>
                  </a:lnSpc>
                  <a:spcBef>
                    <a:spcPct val="0"/>
                  </a:spcBef>
                  <a:spcAft>
                    <a:spcPct val="0"/>
                  </a:spcAft>
                  <a:buClrTx/>
                  <a:buSzTx/>
                  <a:buFontTx/>
                  <a:buNone/>
                  <a:tabLst/>
                  <a:defRPr/>
                </a:pPr>
                <a:r>
                  <a:rPr kumimoji="0" lang="ru-RU" sz="800" b="0" i="0" u="none" strike="noStrike" kern="0" cap="none" spc="0" normalizeH="0" baseline="0" noProof="0" dirty="0">
                    <a:ln>
                      <a:noFill/>
                    </a:ln>
                    <a:solidFill>
                      <a:srgbClr val="FF0000"/>
                    </a:solidFill>
                    <a:effectLst/>
                    <a:uLnTx/>
                    <a:uFillTx/>
                    <a:latin typeface="+mn-lt"/>
                    <a:cs typeface="Times New Roman" panose="02020603050405020304" pitchFamily="18" charset="0"/>
                  </a:rPr>
                  <a:t>    </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id_</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проектов: </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[1</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2</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p:txBody>
          </p:sp>
          <p:sp>
            <p:nvSpPr>
              <p:cNvPr id="33" name="TextBox 32">
                <a:extLst>
                  <a:ext uri="{FF2B5EF4-FFF2-40B4-BE49-F238E27FC236}">
                    <a16:creationId xmlns:a16="http://schemas.microsoft.com/office/drawing/2014/main" id="{258B29CF-0192-4EA6-BD71-84A91BAD4AD2}"/>
                  </a:ext>
                </a:extLst>
              </p:cNvPr>
              <p:cNvSpPr txBox="1"/>
              <p:nvPr/>
            </p:nvSpPr>
            <p:spPr>
              <a:xfrm>
                <a:off x="6186959" y="3918144"/>
                <a:ext cx="2561506" cy="1797448"/>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таб_номер</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5</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фио</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Новый Н.Н.</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должность</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инженер</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бонус</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 </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2000</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0,</a:t>
                </a:r>
              </a:p>
              <a:p>
                <a:pPr marL="0" marR="0" lvl="0" indent="0" defTabSz="914400" eaLnBrk="0" fontAlgn="base" latinLnBrk="0" hangingPunct="0">
                  <a:lnSpc>
                    <a:spcPct val="100000"/>
                  </a:lnSpc>
                  <a:spcBef>
                    <a:spcPct val="0"/>
                  </a:spcBef>
                  <a:spcAft>
                    <a:spcPct val="0"/>
                  </a:spcAft>
                  <a:buClrTx/>
                  <a:buSzTx/>
                  <a:buFontTx/>
                  <a:buNone/>
                  <a:tabLst/>
                  <a:defRPr/>
                </a:pPr>
                <a:r>
                  <a:rPr kumimoji="0" lang="ru-RU" sz="800" b="0" i="0" u="none" strike="noStrike" kern="0" cap="none" spc="0" normalizeH="0" baseline="0" noProof="0" dirty="0">
                    <a:ln>
                      <a:noFill/>
                    </a:ln>
                    <a:solidFill>
                      <a:srgbClr val="FF0000"/>
                    </a:solidFill>
                    <a:effectLst/>
                    <a:uLnTx/>
                    <a:uFillTx/>
                    <a:latin typeface="+mn-lt"/>
                    <a:cs typeface="Times New Roman" panose="02020603050405020304" pitchFamily="18" charset="0"/>
                  </a:rPr>
                  <a:t>    </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id_</a:t>
                </a:r>
                <a:r>
                  <a:rPr kumimoji="0" lang="ru-RU"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проектов: </a:t>
                </a: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8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p:txBody>
          </p:sp>
          <p:sp>
            <p:nvSpPr>
              <p:cNvPr id="34" name="TextBox 33">
                <a:extLst>
                  <a:ext uri="{FF2B5EF4-FFF2-40B4-BE49-F238E27FC236}">
                    <a16:creationId xmlns:a16="http://schemas.microsoft.com/office/drawing/2014/main" id="{6DB0C6EB-DB5A-4AE8-8E06-5A6E03FA340D}"/>
                  </a:ext>
                </a:extLst>
              </p:cNvPr>
              <p:cNvSpPr txBox="1"/>
              <p:nvPr/>
            </p:nvSpPr>
            <p:spPr>
              <a:xfrm>
                <a:off x="5741776" y="4609291"/>
                <a:ext cx="538127" cy="445403"/>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ru-RU" sz="105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p:txBody>
          </p:sp>
        </p:grpSp>
        <p:pic>
          <p:nvPicPr>
            <p:cNvPr id="35" name="Picture 2" descr="Картинки по запросу &quot;смайлики&quot;&quot;">
              <a:extLst>
                <a:ext uri="{FF2B5EF4-FFF2-40B4-BE49-F238E27FC236}">
                  <a16:creationId xmlns:a16="http://schemas.microsoft.com/office/drawing/2014/main" id="{CBA77046-9558-4F27-85BE-2C2E788EA87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73927" y="3888496"/>
              <a:ext cx="1089601" cy="762721"/>
            </a:xfrm>
            <a:prstGeom prst="rect">
              <a:avLst/>
            </a:prstGeom>
            <a:noFill/>
            <a:extLst>
              <a:ext uri="{909E8E84-426E-40DD-AFC4-6F175D3DCCD1}">
                <a14:hiddenFill xmlns:a14="http://schemas.microsoft.com/office/drawing/2010/main">
                  <a:solidFill>
                    <a:srgbClr val="FFFFFF"/>
                  </a:solidFill>
                </a14:hiddenFill>
              </a:ext>
            </a:extLst>
          </p:spPr>
        </p:pic>
      </p:grpSp>
      <p:sp>
        <p:nvSpPr>
          <p:cNvPr id="36" name="Прямоугольник 35"/>
          <p:cNvSpPr/>
          <p:nvPr/>
        </p:nvSpPr>
        <p:spPr>
          <a:xfrm>
            <a:off x="452826" y="4400174"/>
            <a:ext cx="8031215" cy="461665"/>
          </a:xfrm>
          <a:prstGeom prst="rect">
            <a:avLst/>
          </a:prstGeom>
        </p:spPr>
        <p:txBody>
          <a:bodyPr wrap="square">
            <a:spAutoFit/>
          </a:bodyPr>
          <a:lstStyle/>
          <a:p>
            <a:pPr algn="just" eaLnBrk="1" hangingPunct="1">
              <a:spcBef>
                <a:spcPct val="0"/>
              </a:spcBef>
              <a:buNone/>
            </a:pPr>
            <a:r>
              <a:rPr lang="ru-RU" sz="1200" dirty="0">
                <a:solidFill>
                  <a:schemeClr val="tx1"/>
                </a:solidFill>
                <a:latin typeface="+mn-lt"/>
              </a:rPr>
              <a:t>Решение в рамках реляционной модели данных: </a:t>
            </a:r>
            <a:endParaRPr lang="en-US" sz="1200" dirty="0">
              <a:solidFill>
                <a:schemeClr val="tx1"/>
              </a:solidFill>
              <a:latin typeface="+mn-lt"/>
            </a:endParaRPr>
          </a:p>
          <a:p>
            <a:pPr algn="just" eaLnBrk="1" hangingPunct="1">
              <a:spcBef>
                <a:spcPct val="0"/>
              </a:spcBef>
              <a:buNone/>
            </a:pPr>
            <a:r>
              <a:rPr lang="en-US" sz="1200" b="1" dirty="0">
                <a:solidFill>
                  <a:srgbClr val="00B050"/>
                </a:solidFill>
                <a:latin typeface="+mn-lt"/>
              </a:rPr>
              <a:t>SELECT</a:t>
            </a:r>
            <a:r>
              <a:rPr lang="en-US" sz="1200" dirty="0">
                <a:solidFill>
                  <a:srgbClr val="00B050"/>
                </a:solidFill>
                <a:latin typeface="+mn-lt"/>
              </a:rPr>
              <a:t> </a:t>
            </a:r>
            <a:r>
              <a:rPr lang="en-US" sz="1200" b="1" dirty="0">
                <a:solidFill>
                  <a:srgbClr val="00B050"/>
                </a:solidFill>
                <a:latin typeface="+mn-lt"/>
              </a:rPr>
              <a:t>COUNT</a:t>
            </a:r>
            <a:r>
              <a:rPr lang="en-US" sz="1200" dirty="0">
                <a:solidFill>
                  <a:srgbClr val="00B050"/>
                </a:solidFill>
                <a:latin typeface="+mn-lt"/>
              </a:rPr>
              <a:t>(EmployeeID), ProjectId </a:t>
            </a:r>
            <a:r>
              <a:rPr lang="en-US" sz="1200" b="1" dirty="0">
                <a:solidFill>
                  <a:srgbClr val="00B050"/>
                </a:solidFill>
                <a:latin typeface="+mn-lt"/>
              </a:rPr>
              <a:t>FROM</a:t>
            </a:r>
            <a:r>
              <a:rPr lang="en-US" sz="1200" dirty="0">
                <a:solidFill>
                  <a:srgbClr val="00B050"/>
                </a:solidFill>
                <a:latin typeface="+mn-lt"/>
              </a:rPr>
              <a:t> EmployeeProject </a:t>
            </a:r>
            <a:r>
              <a:rPr lang="en-US" sz="1200" b="1" dirty="0">
                <a:solidFill>
                  <a:srgbClr val="00B050"/>
                </a:solidFill>
                <a:latin typeface="+mn-lt"/>
              </a:rPr>
              <a:t>GROUP BY </a:t>
            </a:r>
            <a:r>
              <a:rPr lang="en-US" sz="1200" dirty="0">
                <a:solidFill>
                  <a:srgbClr val="00B050"/>
                </a:solidFill>
                <a:latin typeface="+mn-lt"/>
              </a:rPr>
              <a:t>ProjectId</a:t>
            </a:r>
          </a:p>
        </p:txBody>
      </p:sp>
      <p:pic>
        <p:nvPicPr>
          <p:cNvPr id="37" name="Picture 71" descr="Картинки по запросу &quot;смайлики&quot;&quot;">
            <a:extLst>
              <a:ext uri="{FF2B5EF4-FFF2-40B4-BE49-F238E27FC236}">
                <a16:creationId xmlns:a16="http://schemas.microsoft.com/office/drawing/2014/main" id="{31039042-12BE-4A9F-98F8-443AAA27584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5259" y="4317080"/>
            <a:ext cx="615743" cy="589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8959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907782" y="293530"/>
            <a:ext cx="7328437" cy="1015663"/>
          </a:xfrm>
          <a:prstGeom prst="rect">
            <a:avLst/>
          </a:prstGeom>
          <a:noFill/>
        </p:spPr>
        <p:txBody>
          <a:bodyPr wrap="square">
            <a:spAutoFit/>
          </a:bodyPr>
          <a:lstStyle/>
          <a:p>
            <a:pPr algn="ctr"/>
            <a:r>
              <a:rPr lang="ru-RU" sz="3600" kern="1200" dirty="0">
                <a:solidFill>
                  <a:schemeClr val="accent3"/>
                </a:solidFill>
                <a:latin typeface="+mj-lt"/>
              </a:rPr>
              <a:t>SQL vs NoSQL </a:t>
            </a:r>
            <a:br>
              <a:rPr lang="ru-RU" sz="3600" kern="1200" dirty="0">
                <a:solidFill>
                  <a:schemeClr val="accent3"/>
                </a:solidFill>
                <a:latin typeface="+mj-lt"/>
              </a:rPr>
            </a:br>
            <a:r>
              <a:rPr lang="ru-RU" sz="2400" kern="1200" dirty="0">
                <a:solidFill>
                  <a:schemeClr val="accent3"/>
                </a:solidFill>
                <a:latin typeface="+mj-lt"/>
              </a:rPr>
              <a:t>(критерий №3: стабильность схемы данных)</a:t>
            </a:r>
            <a:endParaRPr lang="ru-RU" sz="2400" dirty="0">
              <a:solidFill>
                <a:schemeClr val="accent3"/>
              </a:solidFill>
              <a:latin typeface="+mj-lt"/>
            </a:endParaRPr>
          </a:p>
        </p:txBody>
      </p:sp>
      <p:sp>
        <p:nvSpPr>
          <p:cNvPr id="50" name="Прямоугольник 49"/>
          <p:cNvSpPr/>
          <p:nvPr/>
        </p:nvSpPr>
        <p:spPr>
          <a:xfrm>
            <a:off x="452827" y="2066343"/>
            <a:ext cx="1938923" cy="1717393"/>
          </a:xfrm>
          <a:prstGeom prst="rect">
            <a:avLst/>
          </a:prstGeom>
        </p:spPr>
        <p:txBody>
          <a:bodyPr wrap="square">
            <a:spAutoFit/>
          </a:bodyPr>
          <a:lstStyle/>
          <a:p>
            <a:pPr>
              <a:lnSpc>
                <a:spcPct val="110000"/>
              </a:lnSpc>
            </a:pPr>
            <a:r>
              <a:rPr lang="ru-RU" altLang="ru-RU" sz="1200" dirty="0">
                <a:solidFill>
                  <a:schemeClr val="tx1"/>
                </a:solidFill>
                <a:latin typeface="+mn-lt"/>
              </a:rPr>
              <a:t>Рассмотрим применение SQL и NoSQL решений для предметной области, предполагающей частые изменения схемы данных под различные записи.</a:t>
            </a:r>
          </a:p>
        </p:txBody>
      </p:sp>
      <p:grpSp>
        <p:nvGrpSpPr>
          <p:cNvPr id="16" name="Group 1">
            <a:extLst>
              <a:ext uri="{FF2B5EF4-FFF2-40B4-BE49-F238E27FC236}">
                <a16:creationId xmlns:a16="http://schemas.microsoft.com/office/drawing/2014/main" id="{689A6623-7439-4FED-B862-8A558DD828BA}"/>
              </a:ext>
            </a:extLst>
          </p:cNvPr>
          <p:cNvGrpSpPr/>
          <p:nvPr/>
        </p:nvGrpSpPr>
        <p:grpSpPr>
          <a:xfrm>
            <a:off x="2713745" y="1484832"/>
            <a:ext cx="5020524" cy="1978825"/>
            <a:chOff x="753992" y="4077071"/>
            <a:chExt cx="7490416" cy="2952329"/>
          </a:xfrm>
        </p:grpSpPr>
        <p:sp>
          <p:nvSpPr>
            <p:cNvPr id="17" name="Rectangle 9">
              <a:extLst>
                <a:ext uri="{FF2B5EF4-FFF2-40B4-BE49-F238E27FC236}">
                  <a16:creationId xmlns:a16="http://schemas.microsoft.com/office/drawing/2014/main" id="{B74139B0-6B56-4893-A650-36B14406839C}"/>
                </a:ext>
              </a:extLst>
            </p:cNvPr>
            <p:cNvSpPr/>
            <p:nvPr/>
          </p:nvSpPr>
          <p:spPr>
            <a:xfrm>
              <a:off x="753992" y="4077071"/>
              <a:ext cx="7490416" cy="2952329"/>
            </a:xfrm>
            <a:prstGeom prst="rect">
              <a:avLst/>
            </a:prstGeom>
            <a:noFill/>
            <a:ln w="12700" cap="flat" cmpd="sng" algn="ctr">
              <a:solidFill>
                <a:srgbClr val="5B9BD5">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ru-RU" sz="1050" b="0" i="0" u="none" strike="noStrike" kern="0" cap="none" spc="0" normalizeH="0" baseline="0" noProof="0">
                <a:ln>
                  <a:noFill/>
                </a:ln>
                <a:solidFill>
                  <a:prstClr val="white"/>
                </a:solidFill>
                <a:effectLst/>
                <a:uLnTx/>
                <a:uFillTx/>
                <a:latin typeface="+mn-lt"/>
                <a:ea typeface="+mn-ea"/>
                <a:cs typeface="+mn-cs"/>
              </a:endParaRPr>
            </a:p>
          </p:txBody>
        </p:sp>
        <p:sp>
          <p:nvSpPr>
            <p:cNvPr id="19" name="TextBox 18">
              <a:extLst>
                <a:ext uri="{FF2B5EF4-FFF2-40B4-BE49-F238E27FC236}">
                  <a16:creationId xmlns:a16="http://schemas.microsoft.com/office/drawing/2014/main" id="{02C13640-A083-44A6-96B9-490261763421}"/>
                </a:ext>
              </a:extLst>
            </p:cNvPr>
            <p:cNvSpPr txBox="1"/>
            <p:nvPr/>
          </p:nvSpPr>
          <p:spPr>
            <a:xfrm>
              <a:off x="759624" y="4098558"/>
              <a:ext cx="1868159" cy="378833"/>
            </a:xfrm>
            <a:prstGeom prst="rect">
              <a:avLst/>
            </a:prstGeom>
            <a:noFill/>
            <a:ln>
              <a:no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2060"/>
                  </a:solidFill>
                  <a:effectLst/>
                  <a:uLnTx/>
                  <a:uFillTx/>
                  <a:latin typeface="+mn-lt"/>
                  <a:cs typeface="Times New Roman" panose="02020603050405020304" pitchFamily="18" charset="0"/>
                </a:rPr>
                <a:t>collection </a:t>
              </a:r>
              <a:r>
                <a:rPr kumimoji="0" lang="en-US" sz="1000" b="1" i="0" u="none" strike="noStrike" kern="0" cap="none" spc="0" normalizeH="0" baseline="0" noProof="0" dirty="0">
                  <a:ln>
                    <a:noFill/>
                  </a:ln>
                  <a:solidFill>
                    <a:srgbClr val="002060"/>
                  </a:solidFill>
                  <a:effectLst/>
                  <a:uLnTx/>
                  <a:uFillTx/>
                  <a:latin typeface="+mn-lt"/>
                  <a:cs typeface="Times New Roman" panose="02020603050405020304" pitchFamily="18" charset="0"/>
                </a:rPr>
                <a:t>users</a:t>
              </a:r>
              <a:endParaRPr kumimoji="0" lang="ru-RU" sz="1000" b="1" i="0" u="none" strike="noStrike" kern="0" cap="none" spc="0" normalizeH="0" baseline="0" noProof="0" dirty="0">
                <a:ln>
                  <a:noFill/>
                </a:ln>
                <a:solidFill>
                  <a:srgbClr val="002060"/>
                </a:solidFill>
                <a:effectLst/>
                <a:uLnTx/>
                <a:uFillTx/>
                <a:latin typeface="+mn-lt"/>
                <a:cs typeface="Times New Roman" panose="02020603050405020304" pitchFamily="18" charset="0"/>
              </a:endParaRPr>
            </a:p>
          </p:txBody>
        </p:sp>
        <p:sp>
          <p:nvSpPr>
            <p:cNvPr id="20" name="TextBox 19">
              <a:extLst>
                <a:ext uri="{FF2B5EF4-FFF2-40B4-BE49-F238E27FC236}">
                  <a16:creationId xmlns:a16="http://schemas.microsoft.com/office/drawing/2014/main" id="{CF4490F7-85AD-4FF4-9D79-E5B69EEC9C32}"/>
                </a:ext>
              </a:extLst>
            </p:cNvPr>
            <p:cNvSpPr txBox="1"/>
            <p:nvPr/>
          </p:nvSpPr>
          <p:spPr>
            <a:xfrm>
              <a:off x="898008" y="4413623"/>
              <a:ext cx="2161825" cy="2410750"/>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id: 1,</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name: </a:t>
              </a:r>
              <a:r>
                <a:rPr lang="en-US" sz="900" kern="0" dirty="0">
                  <a:solidFill>
                    <a:srgbClr val="002060"/>
                  </a:solidFill>
                  <a:latin typeface="+mn-lt"/>
                  <a:cs typeface="Times New Roman" panose="02020603050405020304" pitchFamily="18" charset="0"/>
                </a:rPr>
                <a:t>"</a:t>
              </a:r>
              <a:r>
                <a:rPr kumimoji="0" lang="ru-RU"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Иванов И.И.</a:t>
              </a: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role: "</a:t>
              </a:r>
              <a:r>
                <a:rPr kumimoji="0" lang="ru-RU"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участник</a:t>
              </a: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r>
                <a:rPr kumimoji="0" lang="ru-RU"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rating: 300,</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login: "ivanovi",</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password: "ivanov123",</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group_ids: [1]</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endParaRPr>
            </a:p>
          </p:txBody>
        </p:sp>
        <p:sp>
          <p:nvSpPr>
            <p:cNvPr id="21" name="TextBox 20">
              <a:extLst>
                <a:ext uri="{FF2B5EF4-FFF2-40B4-BE49-F238E27FC236}">
                  <a16:creationId xmlns:a16="http://schemas.microsoft.com/office/drawing/2014/main" id="{A7E1C750-0994-4FEA-BE1B-687076A40B15}"/>
                </a:ext>
              </a:extLst>
            </p:cNvPr>
            <p:cNvSpPr txBox="1"/>
            <p:nvPr/>
          </p:nvSpPr>
          <p:spPr>
            <a:xfrm>
              <a:off x="3203848" y="4413623"/>
              <a:ext cx="2161825" cy="2410750"/>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id: 2,</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name: "</a:t>
              </a:r>
              <a:r>
                <a:rPr kumimoji="0" lang="ru-RU"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Петров И.И.</a:t>
              </a: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role: "</a:t>
              </a:r>
              <a:r>
                <a:rPr kumimoji="0" lang="ru-RU"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участник</a:t>
              </a: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r>
                <a:rPr kumimoji="0" lang="ru-RU"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rating: </a:t>
              </a:r>
              <a:r>
                <a:rPr kumimoji="0" lang="ru-RU"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25</a:t>
              </a: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0,</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login: "petrovp",</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password: "p1e2t3",</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group_ids: [1, 2]</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endParaRPr>
            </a:p>
          </p:txBody>
        </p:sp>
        <p:sp>
          <p:nvSpPr>
            <p:cNvPr id="22" name="TextBox 21">
              <a:extLst>
                <a:ext uri="{FF2B5EF4-FFF2-40B4-BE49-F238E27FC236}">
                  <a16:creationId xmlns:a16="http://schemas.microsoft.com/office/drawing/2014/main" id="{7479A12B-6788-4A79-A030-BAD3213DCB86}"/>
                </a:ext>
              </a:extLst>
            </p:cNvPr>
            <p:cNvSpPr txBox="1"/>
            <p:nvPr/>
          </p:nvSpPr>
          <p:spPr>
            <a:xfrm>
              <a:off x="5846076" y="4413623"/>
              <a:ext cx="2232248" cy="2433709"/>
            </a:xfrm>
            <a:prstGeom prst="rect">
              <a:avLst/>
            </a:prstGeom>
            <a:solidFill>
              <a:sysClr val="window" lastClr="FFFFFF"/>
            </a:solidFill>
            <a:ln>
              <a:solidFill>
                <a:srgbClr val="2572BB"/>
              </a:solidFill>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document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id: </a:t>
              </a:r>
              <a:r>
                <a:rPr kumimoji="0" lang="ru-RU"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1000</a:t>
              </a: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name: "</a:t>
              </a:r>
              <a:r>
                <a:rPr kumimoji="0" lang="ru-RU"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Юрьев Ю.Ю.</a:t>
              </a: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role: "</a:t>
              </a:r>
              <a:r>
                <a:rPr kumimoji="0" lang="ru-RU"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модератор</a:t>
              </a: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r>
                <a:rPr kumimoji="0" lang="ru-RU"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rating: </a:t>
              </a:r>
              <a:r>
                <a:rPr kumimoji="0" lang="ru-RU"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10</a:t>
              </a: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0,</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login: "yourievy",</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password: "yoyo",</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avatar: "file1.jpg",</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    status: "</a:t>
              </a:r>
              <a:r>
                <a:rPr kumimoji="0" lang="ru-RU"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в сети</a:t>
              </a:r>
              <a:r>
                <a:rPr kumimoji="0" lang="en-US" sz="9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endParaRPr kumimoji="0" lang="ru-RU" sz="1000" b="0" i="0" u="none" strike="noStrike" kern="0" cap="none" spc="0" normalizeH="0" baseline="0" noProof="0" dirty="0">
                <a:ln>
                  <a:noFill/>
                </a:ln>
                <a:solidFill>
                  <a:srgbClr val="002060"/>
                </a:solidFill>
                <a:effectLst/>
                <a:uLnTx/>
                <a:uFillTx/>
                <a:latin typeface="+mn-lt"/>
                <a:cs typeface="Times New Roman" panose="02020603050405020304" pitchFamily="18" charset="0"/>
              </a:endParaRPr>
            </a:p>
          </p:txBody>
        </p:sp>
        <p:sp>
          <p:nvSpPr>
            <p:cNvPr id="23" name="TextBox 22">
              <a:extLst>
                <a:ext uri="{FF2B5EF4-FFF2-40B4-BE49-F238E27FC236}">
                  <a16:creationId xmlns:a16="http://schemas.microsoft.com/office/drawing/2014/main" id="{A0070482-8001-4096-A1BD-606AC81CF1F3}"/>
                </a:ext>
              </a:extLst>
            </p:cNvPr>
            <p:cNvSpPr txBox="1"/>
            <p:nvPr/>
          </p:nvSpPr>
          <p:spPr>
            <a:xfrm>
              <a:off x="5287062" y="5336953"/>
              <a:ext cx="637627" cy="390312"/>
            </a:xfrm>
            <a:prstGeom prst="rect">
              <a:avLst/>
            </a:prstGeom>
            <a:noFill/>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ru-RU" sz="1100" b="0" i="0" u="none" strike="noStrike" kern="0" cap="none" spc="0" normalizeH="0" baseline="0" noProof="0" dirty="0">
                  <a:ln>
                    <a:noFill/>
                  </a:ln>
                  <a:solidFill>
                    <a:srgbClr val="002060"/>
                  </a:solidFill>
                  <a:effectLst/>
                  <a:uLnTx/>
                  <a:uFillTx/>
                  <a:latin typeface="+mn-lt"/>
                  <a:cs typeface="Times New Roman" panose="02020603050405020304" pitchFamily="18" charset="0"/>
                </a:rPr>
                <a:t>…</a:t>
              </a:r>
            </a:p>
          </p:txBody>
        </p:sp>
      </p:grpSp>
      <p:pic>
        <p:nvPicPr>
          <p:cNvPr id="24" name="Picture 71" descr="Картинки по запросу &quot;смайлики&quot;&quot;">
            <a:extLst>
              <a:ext uri="{FF2B5EF4-FFF2-40B4-BE49-F238E27FC236}">
                <a16:creationId xmlns:a16="http://schemas.microsoft.com/office/drawing/2014/main" id="{B18286AE-9301-4ACF-B87F-45AD0243B87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44945" y="2184397"/>
            <a:ext cx="698101" cy="6678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5" name="Object 4">
            <a:extLst>
              <a:ext uri="{FF2B5EF4-FFF2-40B4-BE49-F238E27FC236}">
                <a16:creationId xmlns:a16="http://schemas.microsoft.com/office/drawing/2014/main" id="{2DBDD455-7A7F-4E01-8ED3-54E06157D4D1}"/>
              </a:ext>
            </a:extLst>
          </p:cNvPr>
          <p:cNvGraphicFramePr>
            <a:graphicFrameLocks noChangeAspect="1"/>
          </p:cNvGraphicFramePr>
          <p:nvPr>
            <p:extLst>
              <p:ext uri="{D42A27DB-BD31-4B8C-83A1-F6EECF244321}">
                <p14:modId xmlns:p14="http://schemas.microsoft.com/office/powerpoint/2010/main" val="1813399752"/>
              </p:ext>
            </p:extLst>
          </p:nvPr>
        </p:nvGraphicFramePr>
        <p:xfrm>
          <a:off x="2713745" y="3567201"/>
          <a:ext cx="5020524" cy="1150942"/>
        </p:xfrm>
        <a:graphic>
          <a:graphicData uri="http://schemas.openxmlformats.org/presentationml/2006/ole">
            <mc:AlternateContent xmlns:mc="http://schemas.openxmlformats.org/markup-compatibility/2006">
              <mc:Choice xmlns:v="urn:schemas-microsoft-com:vml" Requires="v">
                <p:oleObj name="Worksheet" r:id="rId4" imgW="5857696" imgH="1342917" progId="Excel.Sheet.12">
                  <p:embed/>
                </p:oleObj>
              </mc:Choice>
              <mc:Fallback>
                <p:oleObj name="Worksheet" r:id="rId4" imgW="5857696" imgH="1342917" progId="Excel.Sheet.12">
                  <p:embed/>
                  <p:pic>
                    <p:nvPicPr>
                      <p:cNvPr id="14" name="Object 4">
                        <a:extLst>
                          <a:ext uri="{FF2B5EF4-FFF2-40B4-BE49-F238E27FC236}">
                            <a16:creationId xmlns:a16="http://schemas.microsoft.com/office/drawing/2014/main" id="{2DBDD455-7A7F-4E01-8ED3-54E06157D4D1}"/>
                          </a:ext>
                        </a:extLst>
                      </p:cNvPr>
                      <p:cNvPicPr/>
                      <p:nvPr/>
                    </p:nvPicPr>
                    <p:blipFill>
                      <a:blip r:embed="rId5"/>
                      <a:stretch>
                        <a:fillRect/>
                      </a:stretch>
                    </p:blipFill>
                    <p:spPr>
                      <a:xfrm>
                        <a:off x="2713745" y="3567201"/>
                        <a:ext cx="5020524" cy="1150942"/>
                      </a:xfrm>
                      <a:prstGeom prst="rect">
                        <a:avLst/>
                      </a:prstGeom>
                    </p:spPr>
                  </p:pic>
                </p:oleObj>
              </mc:Fallback>
            </mc:AlternateContent>
          </a:graphicData>
        </a:graphic>
      </p:graphicFrame>
      <p:pic>
        <p:nvPicPr>
          <p:cNvPr id="26" name="Picture 2" descr="Картинки по запросу &quot;смайлики&quot;&quot;">
            <a:extLst>
              <a:ext uri="{FF2B5EF4-FFF2-40B4-BE49-F238E27FC236}">
                <a16:creationId xmlns:a16="http://schemas.microsoft.com/office/drawing/2014/main" id="{CD2F0122-BDEE-4AB7-8D44-EC89844DFBB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919759" y="3783736"/>
            <a:ext cx="770569" cy="539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3898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907782" y="293530"/>
            <a:ext cx="7328437" cy="646331"/>
          </a:xfrm>
          <a:prstGeom prst="rect">
            <a:avLst/>
          </a:prstGeom>
          <a:noFill/>
        </p:spPr>
        <p:txBody>
          <a:bodyPr wrap="square">
            <a:spAutoFit/>
          </a:bodyPr>
          <a:lstStyle/>
          <a:p>
            <a:pPr algn="ctr"/>
            <a:r>
              <a:rPr lang="ru-RU" sz="3600" b="1" kern="1200" dirty="0">
                <a:solidFill>
                  <a:schemeClr val="accent3"/>
                </a:solidFill>
                <a:latin typeface="+mj-lt"/>
              </a:rPr>
              <a:t>Э</a:t>
            </a:r>
            <a:r>
              <a:rPr lang="ru-RU" sz="3600" kern="1200" dirty="0">
                <a:solidFill>
                  <a:schemeClr val="accent3"/>
                </a:solidFill>
                <a:latin typeface="+mj-lt"/>
              </a:rPr>
              <a:t>волюция БД</a:t>
            </a:r>
            <a:endParaRPr lang="ru-RU" sz="2400" dirty="0">
              <a:solidFill>
                <a:schemeClr val="accent3"/>
              </a:solidFill>
              <a:latin typeface="+mj-lt"/>
            </a:endParaRPr>
          </a:p>
        </p:txBody>
      </p:sp>
      <p:pic>
        <p:nvPicPr>
          <p:cNvPr id="15" name="Picture 3" descr="Картинки по запросу &quot;a history of databases in no-tation&quot;&quot;">
            <a:extLst>
              <a:ext uri="{FF2B5EF4-FFF2-40B4-BE49-F238E27FC236}">
                <a16:creationId xmlns:a16="http://schemas.microsoft.com/office/drawing/2014/main" id="{8F0DCFBA-7D4E-4EB2-9DBC-9CAC3EC662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1583" y="1104403"/>
            <a:ext cx="6023153" cy="3359854"/>
          </a:xfrm>
          <a:prstGeom prst="rect">
            <a:avLst/>
          </a:prstGeom>
          <a:noFill/>
          <a:ln>
            <a:solidFill>
              <a:srgbClr val="2572BB"/>
            </a:solidFill>
          </a:ln>
          <a:extLst>
            <a:ext uri="{909E8E84-426E-40DD-AFC4-6F175D3DCCD1}">
              <a14:hiddenFill xmlns:a14="http://schemas.microsoft.com/office/drawing/2010/main">
                <a:solidFill>
                  <a:srgbClr val="FFFFFF"/>
                </a:solidFill>
              </a14:hiddenFill>
            </a:ext>
          </a:extLst>
        </p:spPr>
      </p:pic>
      <p:sp>
        <p:nvSpPr>
          <p:cNvPr id="2" name="Прямоугольник 1"/>
          <p:cNvSpPr/>
          <p:nvPr/>
        </p:nvSpPr>
        <p:spPr>
          <a:xfrm>
            <a:off x="399553" y="4692408"/>
            <a:ext cx="8344894" cy="307777"/>
          </a:xfrm>
          <a:prstGeom prst="rect">
            <a:avLst/>
          </a:prstGeom>
        </p:spPr>
        <p:txBody>
          <a:bodyPr wrap="square">
            <a:spAutoFit/>
          </a:bodyPr>
          <a:lstStyle/>
          <a:p>
            <a:pPr lvl="0" algn="just" fontAlgn="base">
              <a:spcBef>
                <a:spcPct val="0"/>
              </a:spcBef>
              <a:spcAft>
                <a:spcPct val="0"/>
              </a:spcAft>
              <a:buNone/>
              <a:defRPr/>
            </a:pPr>
            <a:r>
              <a:rPr lang="ru-RU" dirty="0">
                <a:solidFill>
                  <a:schemeClr val="tx1"/>
                </a:solidFill>
                <a:latin typeface="+mn-lt"/>
              </a:rPr>
              <a:t>Источник: </a:t>
            </a:r>
            <a:r>
              <a:rPr lang="ru-RU" dirty="0">
                <a:solidFill>
                  <a:schemeClr val="tx1"/>
                </a:solidFill>
                <a:latin typeface="+mn-lt"/>
                <a:hlinkClick r:id="rId4"/>
              </a:rPr>
              <a:t>https://www.vertabelo.com/blog/why-sql-is-neither-legacy-nor-low-level-but-simply-awesome/</a:t>
            </a:r>
            <a:r>
              <a:rPr lang="ru-RU" dirty="0">
                <a:solidFill>
                  <a:schemeClr val="tx1"/>
                </a:solidFill>
                <a:latin typeface="+mn-lt"/>
              </a:rPr>
              <a:t> </a:t>
            </a:r>
          </a:p>
        </p:txBody>
      </p:sp>
    </p:spTree>
    <p:extLst>
      <p:ext uri="{BB962C8B-B14F-4D97-AF65-F5344CB8AC3E}">
        <p14:creationId xmlns:p14="http://schemas.microsoft.com/office/powerpoint/2010/main" val="19867243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1134140" y="650981"/>
            <a:ext cx="6834296" cy="769441"/>
          </a:xfrm>
          <a:prstGeom prst="rect">
            <a:avLst/>
          </a:prstGeom>
          <a:noFill/>
        </p:spPr>
        <p:txBody>
          <a:bodyPr wrap="square">
            <a:spAutoFit/>
          </a:bodyPr>
          <a:lstStyle/>
          <a:p>
            <a:r>
              <a:rPr lang="ru-RU" sz="4400" kern="1200" dirty="0">
                <a:solidFill>
                  <a:schemeClr val="accent3"/>
                </a:solidFill>
                <a:latin typeface="+mj-lt"/>
              </a:rPr>
              <a:t>Тенденции развития</a:t>
            </a:r>
            <a:endParaRPr lang="ru-RU" sz="4400" dirty="0">
              <a:solidFill>
                <a:schemeClr val="accent3"/>
              </a:solidFill>
              <a:latin typeface="+mj-lt"/>
            </a:endParaRPr>
          </a:p>
        </p:txBody>
      </p:sp>
      <p:sp>
        <p:nvSpPr>
          <p:cNvPr id="2" name="Прямоугольник 1"/>
          <p:cNvSpPr/>
          <p:nvPr/>
        </p:nvSpPr>
        <p:spPr>
          <a:xfrm>
            <a:off x="1134141" y="1550213"/>
            <a:ext cx="6952336" cy="2800767"/>
          </a:xfrm>
          <a:prstGeom prst="rect">
            <a:avLst/>
          </a:prstGeom>
        </p:spPr>
        <p:txBody>
          <a:bodyPr wrap="square">
            <a:spAutoFit/>
          </a:bodyPr>
          <a:lstStyle/>
          <a:p>
            <a:pPr>
              <a:lnSpc>
                <a:spcPct val="110000"/>
              </a:lnSpc>
            </a:pPr>
            <a:r>
              <a:rPr lang="ru-RU" altLang="ru-RU" sz="1600" b="1" dirty="0">
                <a:solidFill>
                  <a:schemeClr val="accent3"/>
                </a:solidFill>
                <a:latin typeface="+mn-lt"/>
              </a:rPr>
              <a:t>Реляционные системы </a:t>
            </a:r>
            <a:r>
              <a:rPr lang="ru-RU" altLang="ru-RU" sz="1600" dirty="0">
                <a:solidFill>
                  <a:schemeClr val="tx1"/>
                </a:solidFill>
                <a:latin typeface="+mn-lt"/>
              </a:rPr>
              <a:t>(=&gt; увеличение доступности данных):</a:t>
            </a:r>
          </a:p>
          <a:p>
            <a:pPr>
              <a:lnSpc>
                <a:spcPct val="110000"/>
              </a:lnSpc>
            </a:pPr>
            <a:r>
              <a:rPr lang="ru-RU" altLang="ru-RU" sz="1600" dirty="0">
                <a:solidFill>
                  <a:schemeClr val="tx1"/>
                </a:solidFill>
                <a:latin typeface="+mn-lt"/>
              </a:rPr>
              <a:t>активная поддержка шардирования</a:t>
            </a:r>
          </a:p>
          <a:p>
            <a:pPr>
              <a:lnSpc>
                <a:spcPct val="110000"/>
              </a:lnSpc>
            </a:pPr>
            <a:r>
              <a:rPr lang="ru-RU" altLang="ru-RU" sz="1600" dirty="0">
                <a:solidFill>
                  <a:schemeClr val="tx1"/>
                </a:solidFill>
                <a:latin typeface="+mn-lt"/>
              </a:rPr>
              <a:t>совершенствование механизмов обработки данных</a:t>
            </a:r>
          </a:p>
          <a:p>
            <a:pPr>
              <a:lnSpc>
                <a:spcPct val="110000"/>
              </a:lnSpc>
            </a:pPr>
            <a:endParaRPr lang="ru-RU" altLang="ru-RU" sz="1600" dirty="0">
              <a:solidFill>
                <a:schemeClr val="tx1"/>
              </a:solidFill>
              <a:latin typeface="+mn-lt"/>
            </a:endParaRPr>
          </a:p>
          <a:p>
            <a:pPr>
              <a:lnSpc>
                <a:spcPct val="110000"/>
              </a:lnSpc>
            </a:pPr>
            <a:r>
              <a:rPr lang="ru-RU" altLang="ru-RU" sz="1600" b="1" dirty="0">
                <a:solidFill>
                  <a:schemeClr val="accent3"/>
                </a:solidFill>
                <a:latin typeface="+mn-lt"/>
              </a:rPr>
              <a:t>NoSQL-системы</a:t>
            </a:r>
            <a:r>
              <a:rPr lang="ru-RU" altLang="ru-RU" sz="1600" dirty="0">
                <a:solidFill>
                  <a:schemeClr val="tx1"/>
                </a:solidFill>
                <a:latin typeface="+mn-lt"/>
              </a:rPr>
              <a:t> (=&gt; контроль согласованности данных):</a:t>
            </a:r>
          </a:p>
          <a:p>
            <a:pPr>
              <a:lnSpc>
                <a:spcPct val="110000"/>
              </a:lnSpc>
            </a:pPr>
            <a:r>
              <a:rPr lang="ru-RU" altLang="ru-RU" sz="1600" dirty="0">
                <a:solidFill>
                  <a:schemeClr val="tx1"/>
                </a:solidFill>
                <a:latin typeface="+mn-lt"/>
              </a:rPr>
              <a:t>выполнение требований ACID (в MongoDB с июня 2018 года добавлена поддержка транзакций, удовлетворяющих требованиям ACID)</a:t>
            </a:r>
          </a:p>
          <a:p>
            <a:pPr>
              <a:lnSpc>
                <a:spcPct val="110000"/>
              </a:lnSpc>
            </a:pPr>
            <a:r>
              <a:rPr lang="ru-RU" altLang="ru-RU" sz="1600" dirty="0">
                <a:solidFill>
                  <a:schemeClr val="tx1"/>
                </a:solidFill>
                <a:latin typeface="+mn-lt"/>
              </a:rPr>
              <a:t>приведение синтаксиса в соответствие с универсальным SQL</a:t>
            </a:r>
          </a:p>
          <a:p>
            <a:pPr>
              <a:lnSpc>
                <a:spcPct val="110000"/>
              </a:lnSpc>
            </a:pPr>
            <a:endParaRPr lang="ru-RU" altLang="ru-RU" sz="1600" dirty="0">
              <a:solidFill>
                <a:schemeClr val="tx1"/>
              </a:solidFill>
              <a:latin typeface="+mn-lt"/>
            </a:endParaRPr>
          </a:p>
          <a:p>
            <a:pPr>
              <a:lnSpc>
                <a:spcPct val="110000"/>
              </a:lnSpc>
            </a:pPr>
            <a:r>
              <a:rPr lang="ru-RU" altLang="ru-RU" sz="1600" b="1" dirty="0">
                <a:solidFill>
                  <a:schemeClr val="accent3"/>
                </a:solidFill>
                <a:latin typeface="+mn-lt"/>
              </a:rPr>
              <a:t>=&gt; NewSQL?</a:t>
            </a:r>
          </a:p>
        </p:txBody>
      </p:sp>
    </p:spTree>
    <p:extLst>
      <p:ext uri="{BB962C8B-B14F-4D97-AF65-F5344CB8AC3E}">
        <p14:creationId xmlns:p14="http://schemas.microsoft.com/office/powerpoint/2010/main" val="1367314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 name="Прямоугольник 2"/>
          <p:cNvSpPr/>
          <p:nvPr/>
        </p:nvSpPr>
        <p:spPr>
          <a:xfrm>
            <a:off x="0" y="1022857"/>
            <a:ext cx="9144000" cy="74233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Box 17">
            <a:extLst>
              <a:ext uri="{FF2B5EF4-FFF2-40B4-BE49-F238E27FC236}">
                <a16:creationId xmlns:a16="http://schemas.microsoft.com/office/drawing/2014/main" id="{C395706E-6585-475C-9C3C-2EC9DC4818D5}"/>
              </a:ext>
            </a:extLst>
          </p:cNvPr>
          <p:cNvSpPr txBox="1"/>
          <p:nvPr/>
        </p:nvSpPr>
        <p:spPr>
          <a:xfrm>
            <a:off x="549105" y="253416"/>
            <a:ext cx="6834296" cy="769441"/>
          </a:xfrm>
          <a:prstGeom prst="rect">
            <a:avLst/>
          </a:prstGeom>
          <a:noFill/>
        </p:spPr>
        <p:txBody>
          <a:bodyPr wrap="square">
            <a:spAutoFit/>
          </a:bodyPr>
          <a:lstStyle/>
          <a:p>
            <a:r>
              <a:rPr lang="en-US" sz="4400" kern="1200" dirty="0">
                <a:solidFill>
                  <a:schemeClr val="accent3"/>
                </a:solidFill>
                <a:latin typeface="+mj-lt"/>
              </a:rPr>
              <a:t>MongoDB</a:t>
            </a:r>
            <a:endParaRPr lang="ru-RU" sz="4400" dirty="0">
              <a:solidFill>
                <a:schemeClr val="accent3"/>
              </a:solidFill>
              <a:latin typeface="+mj-lt"/>
            </a:endParaRPr>
          </a:p>
        </p:txBody>
      </p:sp>
      <p:sp>
        <p:nvSpPr>
          <p:cNvPr id="2" name="Прямоугольник 1"/>
          <p:cNvSpPr/>
          <p:nvPr/>
        </p:nvSpPr>
        <p:spPr>
          <a:xfrm>
            <a:off x="549104" y="1104940"/>
            <a:ext cx="7823619" cy="3714863"/>
          </a:xfrm>
          <a:prstGeom prst="rect">
            <a:avLst/>
          </a:prstGeom>
        </p:spPr>
        <p:txBody>
          <a:bodyPr wrap="square">
            <a:spAutoFit/>
          </a:bodyPr>
          <a:lstStyle/>
          <a:p>
            <a:pPr>
              <a:lnSpc>
                <a:spcPct val="110000"/>
              </a:lnSpc>
            </a:pPr>
            <a:r>
              <a:rPr lang="ru-RU" altLang="ru-RU" dirty="0">
                <a:solidFill>
                  <a:schemeClr val="tx1"/>
                </a:solidFill>
                <a:latin typeface="+mn-lt"/>
              </a:rPr>
              <a:t>MongoDB – кроссплатформенная документоориентированная база данных. Классифицирована как NoSQL.</a:t>
            </a:r>
          </a:p>
          <a:p>
            <a:pPr>
              <a:lnSpc>
                <a:spcPct val="110000"/>
              </a:lnSpc>
            </a:pPr>
            <a:endParaRPr lang="ru-RU" altLang="ru-RU" dirty="0">
              <a:solidFill>
                <a:schemeClr val="tx1"/>
              </a:solidFill>
              <a:latin typeface="+mn-lt"/>
            </a:endParaRPr>
          </a:p>
          <a:p>
            <a:pPr>
              <a:lnSpc>
                <a:spcPct val="110000"/>
              </a:lnSpc>
            </a:pPr>
            <a:r>
              <a:rPr lang="ru-RU" altLang="ru-RU" sz="1200" dirty="0">
                <a:solidFill>
                  <a:schemeClr val="tx1"/>
                </a:solidFill>
                <a:latin typeface="+mn-lt"/>
              </a:rPr>
              <a:t>MongoDB не требует описания схемы таблиц, мы можем добавлять и удалять поля по мере необходимости. С одной стороны это упрощает разработку, когда мы имеем дело с часто меняющейся структурой данных, но с другой - добавление схемы документов  позволяет контролировать ошибки (такие как некорректные типы данных или пропущенные поля), а также определять методы для работы с документами по аналогии с тем, как это делается в ORM технологии.</a:t>
            </a:r>
            <a:br>
              <a:rPr lang="ru-RU" altLang="ru-RU" sz="1200" dirty="0">
                <a:solidFill>
                  <a:schemeClr val="tx1"/>
                </a:solidFill>
                <a:latin typeface="+mn-lt"/>
              </a:rPr>
            </a:br>
            <a:endParaRPr lang="ru-RU" altLang="ru-RU" sz="1200" dirty="0">
              <a:solidFill>
                <a:schemeClr val="tx1"/>
              </a:solidFill>
              <a:latin typeface="+mn-lt"/>
            </a:endParaRPr>
          </a:p>
          <a:p>
            <a:pPr>
              <a:lnSpc>
                <a:spcPct val="110000"/>
              </a:lnSpc>
            </a:pPr>
            <a:r>
              <a:rPr lang="ru-RU" altLang="ru-RU" sz="1600" b="1" dirty="0">
                <a:solidFill>
                  <a:schemeClr val="accent3"/>
                </a:solidFill>
                <a:latin typeface="+mn-lt"/>
              </a:rPr>
              <a:t>Основные сущности MongoDB:</a:t>
            </a:r>
          </a:p>
          <a:p>
            <a:pPr marL="285750" indent="-285750">
              <a:lnSpc>
                <a:spcPct val="110000"/>
              </a:lnSpc>
              <a:buClr>
                <a:schemeClr val="accent1"/>
              </a:buClr>
              <a:buFont typeface="Arial" panose="020B0604020202020204" pitchFamily="34" charset="0"/>
              <a:buChar char="•"/>
            </a:pPr>
            <a:r>
              <a:rPr lang="ru-RU" altLang="ru-RU" dirty="0">
                <a:solidFill>
                  <a:schemeClr val="tx1"/>
                </a:solidFill>
                <a:latin typeface="+mn-lt"/>
              </a:rPr>
              <a:t>Document – запись в коллекции MongoDB и основная единица данных.</a:t>
            </a:r>
          </a:p>
          <a:p>
            <a:pPr marL="285750" indent="-285750">
              <a:lnSpc>
                <a:spcPct val="110000"/>
              </a:lnSpc>
              <a:buClr>
                <a:schemeClr val="accent1"/>
              </a:buClr>
              <a:buFont typeface="Arial" panose="020B0604020202020204" pitchFamily="34" charset="0"/>
              <a:buChar char="•"/>
            </a:pPr>
            <a:r>
              <a:rPr lang="ru-RU" altLang="ru-RU" dirty="0">
                <a:solidFill>
                  <a:schemeClr val="tx1"/>
                </a:solidFill>
                <a:latin typeface="+mn-lt"/>
              </a:rPr>
              <a:t>Collection – группа документов в MongoDB. </a:t>
            </a:r>
            <a:br>
              <a:rPr lang="ru-RU" altLang="ru-RU" dirty="0">
                <a:solidFill>
                  <a:schemeClr val="tx1"/>
                </a:solidFill>
                <a:latin typeface="+mn-lt"/>
              </a:rPr>
            </a:br>
            <a:endParaRPr lang="ru-RU" altLang="ru-RU" sz="800" dirty="0">
              <a:solidFill>
                <a:schemeClr val="tx1"/>
              </a:solidFill>
              <a:latin typeface="+mn-lt"/>
            </a:endParaRPr>
          </a:p>
          <a:p>
            <a:pPr>
              <a:lnSpc>
                <a:spcPct val="110000"/>
              </a:lnSpc>
            </a:pPr>
            <a:r>
              <a:rPr lang="ru-RU" altLang="ru-RU" sz="1200" dirty="0">
                <a:solidFill>
                  <a:schemeClr val="tx1"/>
                </a:solidFill>
                <a:latin typeface="+mn-lt"/>
              </a:rPr>
              <a:t>Для низкоуровневой работы с MongoDB можно использовать библиотеку pymongo.</a:t>
            </a:r>
            <a:br>
              <a:rPr lang="ru-RU" altLang="ru-RU" sz="1200" dirty="0">
                <a:solidFill>
                  <a:schemeClr val="tx1"/>
                </a:solidFill>
                <a:latin typeface="+mn-lt"/>
              </a:rPr>
            </a:br>
            <a:endParaRPr lang="ru-RU" altLang="ru-RU" sz="800" dirty="0">
              <a:solidFill>
                <a:schemeClr val="tx1"/>
              </a:solidFill>
              <a:latin typeface="+mn-lt"/>
            </a:endParaRPr>
          </a:p>
          <a:p>
            <a:pPr>
              <a:lnSpc>
                <a:spcPct val="110000"/>
              </a:lnSpc>
            </a:pPr>
            <a:r>
              <a:rPr lang="ru-RU" altLang="ru-RU" sz="1200" dirty="0">
                <a:solidFill>
                  <a:schemeClr val="tx1"/>
                </a:solidFill>
                <a:latin typeface="+mn-lt"/>
              </a:rPr>
              <a:t>Для работы с MongoDB через объекты Python (ODM – по аналогии с ORM) применяется библиотека mongoengine (работает поверх pymongo), также часто используются самописные ODM-библиотеки.</a:t>
            </a:r>
          </a:p>
        </p:txBody>
      </p:sp>
    </p:spTree>
    <p:extLst>
      <p:ext uri="{BB962C8B-B14F-4D97-AF65-F5344CB8AC3E}">
        <p14:creationId xmlns:p14="http://schemas.microsoft.com/office/powerpoint/2010/main" val="22149539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549105" y="420393"/>
            <a:ext cx="6834296" cy="769441"/>
          </a:xfrm>
          <a:prstGeom prst="rect">
            <a:avLst/>
          </a:prstGeom>
          <a:noFill/>
        </p:spPr>
        <p:txBody>
          <a:bodyPr wrap="square">
            <a:spAutoFit/>
          </a:bodyPr>
          <a:lstStyle/>
          <a:p>
            <a:r>
              <a:rPr lang="ru-RU" sz="4400" kern="1200" dirty="0">
                <a:solidFill>
                  <a:schemeClr val="accent3"/>
                </a:solidFill>
                <a:latin typeface="+mj-lt"/>
              </a:rPr>
              <a:t>Установка </a:t>
            </a:r>
            <a:r>
              <a:rPr lang="en-US" sz="4400" kern="1200" dirty="0">
                <a:solidFill>
                  <a:schemeClr val="accent3"/>
                </a:solidFill>
                <a:latin typeface="+mj-lt"/>
              </a:rPr>
              <a:t>MongoDB</a:t>
            </a:r>
            <a:endParaRPr lang="ru-RU" sz="4400" dirty="0">
              <a:solidFill>
                <a:schemeClr val="accent3"/>
              </a:solidFill>
              <a:latin typeface="+mj-lt"/>
            </a:endParaRPr>
          </a:p>
        </p:txBody>
      </p:sp>
      <p:sp>
        <p:nvSpPr>
          <p:cNvPr id="2" name="Прямоугольник 1"/>
          <p:cNvSpPr/>
          <p:nvPr/>
        </p:nvSpPr>
        <p:spPr>
          <a:xfrm>
            <a:off x="549104" y="1271917"/>
            <a:ext cx="7823619" cy="3323987"/>
          </a:xfrm>
          <a:prstGeom prst="rect">
            <a:avLst/>
          </a:prstGeom>
        </p:spPr>
        <p:txBody>
          <a:bodyPr wrap="square">
            <a:spAutoFit/>
          </a:bodyPr>
          <a:lstStyle/>
          <a:p>
            <a:pPr eaLnBrk="1" hangingPunct="1">
              <a:spcBef>
                <a:spcPct val="0"/>
              </a:spcBef>
              <a:spcAft>
                <a:spcPts val="600"/>
              </a:spcAft>
              <a:buNone/>
            </a:pPr>
            <a:r>
              <a:rPr lang="ru-RU" sz="1600" dirty="0">
                <a:solidFill>
                  <a:schemeClr val="tx1"/>
                </a:solidFill>
                <a:latin typeface="+mn-lt"/>
              </a:rPr>
              <a:t>Для установки MongoDB в Windows надо использовать инсталлятор, который можно скачать здесь: </a:t>
            </a:r>
            <a:r>
              <a:rPr lang="ru-RU" sz="1600" dirty="0">
                <a:solidFill>
                  <a:schemeClr val="tx1"/>
                </a:solidFill>
                <a:latin typeface="+mn-lt"/>
                <a:hlinkClick r:id="rId3"/>
              </a:rPr>
              <a:t>https://www.mongodb.com/download-center/community?jmp=docs</a:t>
            </a:r>
            <a:r>
              <a:rPr lang="ru-RU" sz="1600" dirty="0">
                <a:solidFill>
                  <a:schemeClr val="tx1"/>
                </a:solidFill>
                <a:latin typeface="+mn-lt"/>
              </a:rPr>
              <a:t>. Можно установить программу как службу, либо как отдельное приложение.</a:t>
            </a:r>
            <a:br>
              <a:rPr lang="ru-RU" sz="1600" dirty="0">
                <a:solidFill>
                  <a:schemeClr val="tx1"/>
                </a:solidFill>
                <a:latin typeface="+mn-lt"/>
              </a:rPr>
            </a:br>
            <a:endParaRPr lang="ru-RU" sz="1600" dirty="0">
              <a:solidFill>
                <a:schemeClr val="tx1"/>
              </a:solidFill>
              <a:latin typeface="+mn-lt"/>
            </a:endParaRPr>
          </a:p>
          <a:p>
            <a:pPr eaLnBrk="1" hangingPunct="1">
              <a:spcBef>
                <a:spcPct val="0"/>
              </a:spcBef>
              <a:spcAft>
                <a:spcPts val="600"/>
              </a:spcAft>
              <a:buNone/>
            </a:pPr>
            <a:r>
              <a:rPr lang="ru-RU" sz="1600" dirty="0">
                <a:solidFill>
                  <a:schemeClr val="tx1"/>
                </a:solidFill>
                <a:latin typeface="+mn-lt"/>
              </a:rPr>
              <a:t>Для установки MongoDB в Linux (Ubuntu) можно воспользоваться инструкцией (</a:t>
            </a:r>
            <a:r>
              <a:rPr lang="ru-RU" sz="1600" dirty="0">
                <a:solidFill>
                  <a:schemeClr val="tx1"/>
                </a:solidFill>
                <a:latin typeface="+mn-lt"/>
                <a:hlinkClick r:id="rId4"/>
              </a:rPr>
              <a:t>https://docs.mongodb.com/manual/tutorial/install-mongodb-on-ubuntu/</a:t>
            </a:r>
            <a:r>
              <a:rPr lang="ru-RU" sz="1600" dirty="0">
                <a:solidFill>
                  <a:schemeClr val="tx1"/>
                </a:solidFill>
                <a:latin typeface="+mn-lt"/>
              </a:rPr>
              <a:t>), либо выполнить следующие команды: </a:t>
            </a:r>
          </a:p>
          <a:p>
            <a:pPr lvl="0" eaLnBrk="0" fontAlgn="base" hangingPunct="0">
              <a:spcBef>
                <a:spcPct val="0"/>
              </a:spcBef>
              <a:spcAft>
                <a:spcPct val="0"/>
              </a:spcAft>
              <a:buClrTx/>
              <a:defRPr/>
            </a:pPr>
            <a:r>
              <a:rPr lang="en-US" sz="1200" kern="1200" dirty="0">
                <a:latin typeface="+mn-lt"/>
                <a:cs typeface="Courier New" panose="02070309020205020404" pitchFamily="49" charset="0"/>
              </a:rPr>
              <a:t>$ sudo apt-key adv --keyserver hkp://keyserver.ubuntu.com:80 --recv 9DA31620334BD75D9DCB49F368818C72E52529D4</a:t>
            </a:r>
          </a:p>
          <a:p>
            <a:pPr lvl="0" eaLnBrk="0" fontAlgn="base" hangingPunct="0">
              <a:spcBef>
                <a:spcPct val="0"/>
              </a:spcBef>
              <a:spcAft>
                <a:spcPct val="0"/>
              </a:spcAft>
              <a:buClrTx/>
              <a:defRPr/>
            </a:pPr>
            <a:r>
              <a:rPr lang="en-US" sz="1200" kern="1200" dirty="0">
                <a:latin typeface="+mn-lt"/>
                <a:cs typeface="Courier New" panose="02070309020205020404" pitchFamily="49" charset="0"/>
              </a:rPr>
              <a:t>$ echo "deb [ arch=amd64 ] https://repo.mongodb.org/apt/ubuntu trusty/mongodb-org/4.0 multiverse" | sudo tee /etc/apt/sources.list.d/mongodb-org-4.0.list</a:t>
            </a:r>
          </a:p>
          <a:p>
            <a:pPr lvl="0" eaLnBrk="0" fontAlgn="base" hangingPunct="0">
              <a:spcBef>
                <a:spcPct val="0"/>
              </a:spcBef>
              <a:spcAft>
                <a:spcPct val="0"/>
              </a:spcAft>
              <a:buClrTx/>
              <a:defRPr/>
            </a:pPr>
            <a:r>
              <a:rPr lang="en-US" sz="1200" kern="1200" dirty="0">
                <a:latin typeface="+mn-lt"/>
                <a:cs typeface="Courier New" panose="02070309020205020404" pitchFamily="49" charset="0"/>
              </a:rPr>
              <a:t>$ sudo apt-get update</a:t>
            </a:r>
          </a:p>
          <a:p>
            <a:pPr lvl="0" eaLnBrk="0" fontAlgn="base" hangingPunct="0">
              <a:spcBef>
                <a:spcPct val="0"/>
              </a:spcBef>
              <a:spcAft>
                <a:spcPct val="0"/>
              </a:spcAft>
              <a:buClrTx/>
              <a:defRPr/>
            </a:pPr>
            <a:r>
              <a:rPr lang="en-US" sz="1200" kern="1200" dirty="0">
                <a:latin typeface="+mn-lt"/>
                <a:cs typeface="Courier New" panose="02070309020205020404" pitchFamily="49" charset="0"/>
              </a:rPr>
              <a:t>$ sudo apt-get install -y mongodb-org</a:t>
            </a:r>
            <a:endParaRPr lang="ru-RU" sz="1200" kern="1200" dirty="0">
              <a:latin typeface="+mn-lt"/>
              <a:cs typeface="Courier New" panose="02070309020205020404" pitchFamily="49" charset="0"/>
            </a:endParaRPr>
          </a:p>
        </p:txBody>
      </p:sp>
    </p:spTree>
    <p:extLst>
      <p:ext uri="{BB962C8B-B14F-4D97-AF65-F5344CB8AC3E}">
        <p14:creationId xmlns:p14="http://schemas.microsoft.com/office/powerpoint/2010/main" val="20203113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398030" y="150049"/>
            <a:ext cx="6834296" cy="769441"/>
          </a:xfrm>
          <a:prstGeom prst="rect">
            <a:avLst/>
          </a:prstGeom>
          <a:noFill/>
        </p:spPr>
        <p:txBody>
          <a:bodyPr wrap="square">
            <a:spAutoFit/>
          </a:bodyPr>
          <a:lstStyle/>
          <a:p>
            <a:r>
              <a:rPr lang="ru-RU" sz="4400" kern="1200" dirty="0">
                <a:solidFill>
                  <a:schemeClr val="accent3"/>
                </a:solidFill>
                <a:latin typeface="+mj-lt"/>
              </a:rPr>
              <a:t>Запуск </a:t>
            </a:r>
            <a:r>
              <a:rPr lang="en-US" sz="4400" kern="1200" dirty="0">
                <a:solidFill>
                  <a:schemeClr val="accent3"/>
                </a:solidFill>
                <a:latin typeface="+mj-lt"/>
              </a:rPr>
              <a:t>MongoDB</a:t>
            </a:r>
            <a:endParaRPr lang="ru-RU" sz="4400" dirty="0">
              <a:solidFill>
                <a:schemeClr val="accent3"/>
              </a:solidFill>
              <a:latin typeface="+mj-lt"/>
            </a:endParaRPr>
          </a:p>
        </p:txBody>
      </p:sp>
      <p:sp>
        <p:nvSpPr>
          <p:cNvPr id="2" name="Прямоугольник 1"/>
          <p:cNvSpPr/>
          <p:nvPr/>
        </p:nvSpPr>
        <p:spPr>
          <a:xfrm>
            <a:off x="398495" y="1001573"/>
            <a:ext cx="8745505" cy="3978012"/>
          </a:xfrm>
          <a:prstGeom prst="rect">
            <a:avLst/>
          </a:prstGeom>
        </p:spPr>
        <p:txBody>
          <a:bodyPr wrap="square">
            <a:spAutoFit/>
          </a:bodyPr>
          <a:lstStyle/>
          <a:p>
            <a:pPr eaLnBrk="1" hangingPunct="1">
              <a:spcBef>
                <a:spcPct val="0"/>
              </a:spcBef>
              <a:spcAft>
                <a:spcPts val="600"/>
              </a:spcAft>
              <a:buNone/>
            </a:pPr>
            <a:r>
              <a:rPr lang="ru-RU" sz="1200" dirty="0">
                <a:solidFill>
                  <a:schemeClr val="tx1"/>
                </a:solidFill>
                <a:latin typeface="+mn-lt"/>
              </a:rPr>
              <a:t>Для запуска сервера MongoDB в Windows (если программа была установлена как отдельное приложение) надо создать структуру папок С:\data\db и запустить исполняемый файл сервера: C:\Program </a:t>
            </a:r>
            <a:r>
              <a:rPr lang="en-US" sz="1200" dirty="0">
                <a:solidFill>
                  <a:schemeClr val="tx1"/>
                </a:solidFill>
                <a:latin typeface="+mn-lt"/>
              </a:rPr>
              <a:t>f</a:t>
            </a:r>
            <a:r>
              <a:rPr lang="ru-RU" sz="1200" dirty="0">
                <a:solidFill>
                  <a:schemeClr val="tx1"/>
                </a:solidFill>
                <a:latin typeface="+mn-lt"/>
              </a:rPr>
              <a:t>iles\MongoDB\Server\4.0\bin\mongod.exe</a:t>
            </a:r>
          </a:p>
          <a:p>
            <a:pPr eaLnBrk="1" hangingPunct="1">
              <a:spcBef>
                <a:spcPct val="0"/>
              </a:spcBef>
              <a:spcAft>
                <a:spcPts val="600"/>
              </a:spcAft>
              <a:buNone/>
            </a:pPr>
            <a:r>
              <a:rPr lang="ru-RU" sz="1200" dirty="0">
                <a:solidFill>
                  <a:schemeClr val="tx1"/>
                </a:solidFill>
                <a:latin typeface="+mn-lt"/>
              </a:rPr>
              <a:t>Для запуска сервера MongoDB в Linux (Ubuntu) надо</a:t>
            </a:r>
            <a:r>
              <a:rPr lang="en-US" sz="1200" dirty="0">
                <a:solidFill>
                  <a:schemeClr val="tx1"/>
                </a:solidFill>
                <a:latin typeface="+mn-lt"/>
              </a:rPr>
              <a:t>:</a:t>
            </a:r>
          </a:p>
          <a:p>
            <a:pPr marL="182563" indent="-182563">
              <a:spcBef>
                <a:spcPct val="0"/>
              </a:spcBef>
              <a:spcAft>
                <a:spcPts val="600"/>
              </a:spcAft>
              <a:buClr>
                <a:schemeClr val="accent3"/>
              </a:buClr>
              <a:buFont typeface="Arial" panose="020B0604020202020204" pitchFamily="34" charset="0"/>
              <a:buChar char="•"/>
            </a:pPr>
            <a:r>
              <a:rPr lang="ru-RU" b="1" dirty="0">
                <a:solidFill>
                  <a:schemeClr val="accent3"/>
                </a:solidFill>
                <a:latin typeface="+mn-lt"/>
              </a:rPr>
              <a:t>подготовить конфигурационный файл</a:t>
            </a:r>
          </a:p>
          <a:p>
            <a:pPr lvl="0" eaLnBrk="0" fontAlgn="base" hangingPunct="0">
              <a:spcBef>
                <a:spcPct val="0"/>
              </a:spcBef>
              <a:spcAft>
                <a:spcPct val="0"/>
              </a:spcAft>
              <a:buClrTx/>
              <a:defRPr/>
            </a:pPr>
            <a:r>
              <a:rPr lang="en-US" sz="1200" kern="1200" dirty="0">
                <a:solidFill>
                  <a:schemeClr val="tx1"/>
                </a:solidFill>
                <a:latin typeface="+mn-lt"/>
                <a:cs typeface="Courier New" panose="02070309020205020404" pitchFamily="49" charset="0"/>
              </a:rPr>
              <a:t>$ sudo nano /etc/systemd/system/mongodb.service</a:t>
            </a:r>
            <a:br>
              <a:rPr lang="ru-RU" sz="1200" kern="1200" dirty="0">
                <a:solidFill>
                  <a:schemeClr val="tx1"/>
                </a:solidFill>
                <a:latin typeface="+mn-lt"/>
                <a:cs typeface="Courier New" panose="02070309020205020404" pitchFamily="49" charset="0"/>
              </a:rPr>
            </a:br>
            <a:endParaRPr lang="ru-RU" sz="1050" kern="1200" dirty="0">
              <a:solidFill>
                <a:schemeClr val="tx1"/>
              </a:solidFill>
              <a:latin typeface="+mn-lt"/>
              <a:cs typeface="Courier New" panose="02070309020205020404" pitchFamily="49" charset="0"/>
            </a:endParaRPr>
          </a:p>
          <a:p>
            <a:pPr marL="182563" indent="-182563">
              <a:spcBef>
                <a:spcPct val="0"/>
              </a:spcBef>
              <a:spcAft>
                <a:spcPts val="600"/>
              </a:spcAft>
              <a:buClr>
                <a:schemeClr val="accent3"/>
              </a:buClr>
              <a:buFont typeface="Arial" panose="020B0604020202020204" pitchFamily="34" charset="0"/>
              <a:buChar char="•"/>
            </a:pPr>
            <a:r>
              <a:rPr lang="ru-RU" b="1" dirty="0">
                <a:solidFill>
                  <a:schemeClr val="accent3"/>
                </a:solidFill>
                <a:latin typeface="+mn-lt"/>
              </a:rPr>
              <a:t>записать в него настройки</a:t>
            </a:r>
          </a:p>
          <a:p>
            <a:pPr lvl="0" eaLnBrk="0" fontAlgn="base" hangingPunct="0">
              <a:spcBef>
                <a:spcPct val="0"/>
              </a:spcBef>
              <a:spcAft>
                <a:spcPct val="0"/>
              </a:spcAft>
              <a:buClrTx/>
              <a:defRPr/>
            </a:pPr>
            <a:r>
              <a:rPr lang="en-US" sz="1200" kern="1200" dirty="0">
                <a:solidFill>
                  <a:schemeClr val="tx1"/>
                </a:solidFill>
                <a:latin typeface="+mn-lt"/>
                <a:cs typeface="Courier New" panose="02070309020205020404" pitchFamily="49" charset="0"/>
              </a:rPr>
              <a:t>[Unit]</a:t>
            </a:r>
          </a:p>
          <a:p>
            <a:pPr lvl="0" eaLnBrk="0" fontAlgn="base" hangingPunct="0">
              <a:spcBef>
                <a:spcPct val="0"/>
              </a:spcBef>
              <a:spcAft>
                <a:spcPct val="0"/>
              </a:spcAft>
              <a:buClrTx/>
              <a:defRPr/>
            </a:pPr>
            <a:r>
              <a:rPr lang="en-US" sz="1200" kern="1200" dirty="0">
                <a:solidFill>
                  <a:schemeClr val="tx1"/>
                </a:solidFill>
                <a:latin typeface="+mn-lt"/>
                <a:cs typeface="Courier New" panose="02070309020205020404" pitchFamily="49" charset="0"/>
              </a:rPr>
              <a:t>Description=High-performance, schema-free document-oriented database</a:t>
            </a:r>
          </a:p>
          <a:p>
            <a:pPr lvl="0" eaLnBrk="0" fontAlgn="base" hangingPunct="0">
              <a:spcBef>
                <a:spcPct val="0"/>
              </a:spcBef>
              <a:spcAft>
                <a:spcPct val="0"/>
              </a:spcAft>
              <a:buClrTx/>
              <a:defRPr/>
            </a:pPr>
            <a:r>
              <a:rPr lang="en-US" sz="1200" kern="1200" dirty="0">
                <a:solidFill>
                  <a:schemeClr val="tx1"/>
                </a:solidFill>
                <a:latin typeface="+mn-lt"/>
                <a:cs typeface="Courier New" panose="02070309020205020404" pitchFamily="49" charset="0"/>
              </a:rPr>
              <a:t>After=network.target</a:t>
            </a:r>
          </a:p>
          <a:p>
            <a:pPr lvl="0" eaLnBrk="0" fontAlgn="base" hangingPunct="0">
              <a:spcBef>
                <a:spcPct val="0"/>
              </a:spcBef>
              <a:spcAft>
                <a:spcPct val="0"/>
              </a:spcAft>
              <a:buClrTx/>
              <a:defRPr/>
            </a:pPr>
            <a:endParaRPr lang="en-US" sz="600" kern="1200" dirty="0">
              <a:solidFill>
                <a:schemeClr val="tx1"/>
              </a:solidFill>
              <a:latin typeface="+mn-lt"/>
              <a:cs typeface="Courier New" panose="02070309020205020404" pitchFamily="49" charset="0"/>
            </a:endParaRPr>
          </a:p>
          <a:p>
            <a:pPr lvl="0" eaLnBrk="0" fontAlgn="base" hangingPunct="0">
              <a:spcBef>
                <a:spcPct val="0"/>
              </a:spcBef>
              <a:spcAft>
                <a:spcPct val="0"/>
              </a:spcAft>
              <a:buClrTx/>
              <a:defRPr/>
            </a:pPr>
            <a:r>
              <a:rPr lang="en-US" sz="1200" kern="1200" dirty="0">
                <a:solidFill>
                  <a:schemeClr val="tx1"/>
                </a:solidFill>
                <a:latin typeface="+mn-lt"/>
                <a:cs typeface="Courier New" panose="02070309020205020404" pitchFamily="49" charset="0"/>
              </a:rPr>
              <a:t>[Service]</a:t>
            </a:r>
          </a:p>
          <a:p>
            <a:pPr lvl="0" eaLnBrk="0" fontAlgn="base" hangingPunct="0">
              <a:spcBef>
                <a:spcPct val="0"/>
              </a:spcBef>
              <a:spcAft>
                <a:spcPct val="0"/>
              </a:spcAft>
              <a:buClrTx/>
              <a:defRPr/>
            </a:pPr>
            <a:r>
              <a:rPr lang="en-US" sz="1200" kern="1200" dirty="0">
                <a:solidFill>
                  <a:schemeClr val="tx1"/>
                </a:solidFill>
                <a:latin typeface="+mn-lt"/>
                <a:cs typeface="Courier New" panose="02070309020205020404" pitchFamily="49" charset="0"/>
              </a:rPr>
              <a:t>User=mongodb</a:t>
            </a:r>
          </a:p>
          <a:p>
            <a:pPr lvl="0" eaLnBrk="0" fontAlgn="base" hangingPunct="0">
              <a:spcBef>
                <a:spcPct val="0"/>
              </a:spcBef>
              <a:spcAft>
                <a:spcPct val="0"/>
              </a:spcAft>
              <a:buClrTx/>
              <a:defRPr/>
            </a:pPr>
            <a:r>
              <a:rPr lang="en-US" sz="1200" kern="1200" dirty="0">
                <a:solidFill>
                  <a:schemeClr val="tx1"/>
                </a:solidFill>
                <a:latin typeface="+mn-lt"/>
                <a:cs typeface="Courier New" panose="02070309020205020404" pitchFamily="49" charset="0"/>
              </a:rPr>
              <a:t>ExecStart=/usr/bin/mongod --quiet --config /etc/mongod.conf</a:t>
            </a:r>
          </a:p>
          <a:p>
            <a:pPr lvl="0" eaLnBrk="0" fontAlgn="base" hangingPunct="0">
              <a:spcBef>
                <a:spcPct val="0"/>
              </a:spcBef>
              <a:spcAft>
                <a:spcPct val="0"/>
              </a:spcAft>
              <a:buClrTx/>
              <a:defRPr/>
            </a:pPr>
            <a:endParaRPr lang="en-US" sz="600" kern="1200" dirty="0">
              <a:solidFill>
                <a:schemeClr val="tx1"/>
              </a:solidFill>
              <a:latin typeface="+mn-lt"/>
              <a:cs typeface="Courier New" panose="02070309020205020404" pitchFamily="49" charset="0"/>
            </a:endParaRPr>
          </a:p>
          <a:p>
            <a:pPr lvl="0" eaLnBrk="0" fontAlgn="base" hangingPunct="0">
              <a:spcBef>
                <a:spcPct val="0"/>
              </a:spcBef>
              <a:spcAft>
                <a:spcPct val="0"/>
              </a:spcAft>
              <a:buClrTx/>
              <a:defRPr/>
            </a:pPr>
            <a:r>
              <a:rPr lang="en-US" sz="1200" kern="1200" dirty="0">
                <a:solidFill>
                  <a:schemeClr val="tx1"/>
                </a:solidFill>
                <a:latin typeface="+mn-lt"/>
                <a:cs typeface="Courier New" panose="02070309020205020404" pitchFamily="49" charset="0"/>
              </a:rPr>
              <a:t>[Install]</a:t>
            </a:r>
          </a:p>
          <a:p>
            <a:pPr lvl="0" eaLnBrk="0" fontAlgn="base" hangingPunct="0">
              <a:spcBef>
                <a:spcPct val="0"/>
              </a:spcBef>
              <a:spcAft>
                <a:spcPts val="600"/>
              </a:spcAft>
              <a:buClrTx/>
              <a:defRPr/>
            </a:pPr>
            <a:r>
              <a:rPr lang="en-US" sz="1200" kern="1200" dirty="0">
                <a:solidFill>
                  <a:schemeClr val="tx1"/>
                </a:solidFill>
                <a:latin typeface="+mn-lt"/>
                <a:cs typeface="Courier New" panose="02070309020205020404" pitchFamily="49" charset="0"/>
              </a:rPr>
              <a:t>WantedBy=multi-user.target</a:t>
            </a:r>
            <a:endParaRPr lang="ru-RU" sz="1200" kern="1200" dirty="0">
              <a:solidFill>
                <a:schemeClr val="tx1"/>
              </a:solidFill>
              <a:latin typeface="+mn-lt"/>
              <a:cs typeface="Courier New" panose="02070309020205020404" pitchFamily="49" charset="0"/>
            </a:endParaRPr>
          </a:p>
          <a:p>
            <a:pPr marL="182563" indent="-182563">
              <a:spcBef>
                <a:spcPct val="0"/>
              </a:spcBef>
              <a:spcAft>
                <a:spcPts val="600"/>
              </a:spcAft>
              <a:buFont typeface="Arial" panose="020B0604020202020204" pitchFamily="34" charset="0"/>
              <a:buChar char="•"/>
            </a:pPr>
            <a:r>
              <a:rPr lang="ru-RU" b="1" dirty="0">
                <a:solidFill>
                  <a:schemeClr val="accent3"/>
                </a:solidFill>
                <a:latin typeface="+mn-lt"/>
              </a:rPr>
              <a:t>и запустить сервер</a:t>
            </a:r>
          </a:p>
          <a:p>
            <a:pPr lvl="0" eaLnBrk="0" fontAlgn="base" hangingPunct="0">
              <a:spcBef>
                <a:spcPct val="0"/>
              </a:spcBef>
              <a:spcAft>
                <a:spcPts val="600"/>
              </a:spcAft>
              <a:buClrTx/>
              <a:defRPr/>
            </a:pPr>
            <a:r>
              <a:rPr lang="en-US" sz="1200" kern="1200" dirty="0">
                <a:solidFill>
                  <a:schemeClr val="tx1"/>
                </a:solidFill>
                <a:latin typeface="+mn-lt"/>
                <a:cs typeface="Courier New" panose="02070309020205020404" pitchFamily="49" charset="0"/>
              </a:rPr>
              <a:t>$ sudo service mongodb start</a:t>
            </a:r>
            <a:endParaRPr lang="ru-RU" sz="1200" kern="1200" dirty="0">
              <a:solidFill>
                <a:schemeClr val="tx1"/>
              </a:solidFill>
              <a:latin typeface="+mn-lt"/>
              <a:cs typeface="Courier New" panose="02070309020205020404" pitchFamily="49" charset="0"/>
            </a:endParaRPr>
          </a:p>
        </p:txBody>
      </p:sp>
    </p:spTree>
    <p:extLst>
      <p:ext uri="{BB962C8B-B14F-4D97-AF65-F5344CB8AC3E}">
        <p14:creationId xmlns:p14="http://schemas.microsoft.com/office/powerpoint/2010/main" val="16431537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7"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4683318" y="371388"/>
            <a:ext cx="4333461" cy="440072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lvl="0" eaLnBrk="0" fontAlgn="base" hangingPunct="0">
              <a:spcBef>
                <a:spcPct val="0"/>
              </a:spcBef>
              <a:spcAft>
                <a:spcPct val="0"/>
              </a:spcAft>
              <a:buClrTx/>
              <a:buNone/>
              <a:defRPr/>
            </a:pPr>
            <a:r>
              <a:rPr lang="en-US" sz="1100" b="1" kern="1200" dirty="0">
                <a:solidFill>
                  <a:srgbClr val="0000FF"/>
                </a:solidFill>
                <a:latin typeface="+mn-lt"/>
              </a:rPr>
              <a:t>import</a:t>
            </a:r>
            <a:r>
              <a:rPr lang="en-US" sz="1100" kern="1200" dirty="0">
                <a:solidFill>
                  <a:srgbClr val="000000"/>
                </a:solidFill>
                <a:latin typeface="+mn-lt"/>
              </a:rPr>
              <a:t> mongoengine </a:t>
            </a:r>
            <a:r>
              <a:rPr lang="en-US" sz="1100" b="1" kern="1200" dirty="0">
                <a:solidFill>
                  <a:srgbClr val="0000FF"/>
                </a:solidFill>
                <a:latin typeface="+mn-lt"/>
              </a:rPr>
              <a:t>as</a:t>
            </a:r>
            <a:r>
              <a:rPr lang="en-US" sz="1100" kern="1200" dirty="0">
                <a:solidFill>
                  <a:srgbClr val="000000"/>
                </a:solidFill>
                <a:latin typeface="+mn-lt"/>
              </a:rPr>
              <a:t> me </a:t>
            </a:r>
          </a:p>
          <a:p>
            <a:pPr lvl="0" eaLnBrk="0" fontAlgn="base" hangingPunct="0">
              <a:spcBef>
                <a:spcPct val="0"/>
              </a:spcBef>
              <a:spcAft>
                <a:spcPct val="0"/>
              </a:spcAft>
              <a:buClrTx/>
              <a:buNone/>
              <a:defRPr/>
            </a:pPr>
            <a:endParaRPr lang="en-US" sz="1100" kern="1200" dirty="0">
              <a:solidFill>
                <a:srgbClr val="000000"/>
              </a:solidFill>
              <a:latin typeface="+mn-lt"/>
            </a:endParaRPr>
          </a:p>
          <a:p>
            <a:pPr lvl="0" eaLnBrk="0" fontAlgn="base" hangingPunct="0">
              <a:spcBef>
                <a:spcPct val="0"/>
              </a:spcBef>
              <a:spcAft>
                <a:spcPct val="0"/>
              </a:spcAft>
              <a:buClrTx/>
              <a:buNone/>
              <a:defRPr/>
            </a:pPr>
            <a:endParaRPr lang="en-US" sz="1100" kern="1200" dirty="0">
              <a:solidFill>
                <a:srgbClr val="000000"/>
              </a:solidFill>
              <a:latin typeface="+mn-lt"/>
            </a:endParaRPr>
          </a:p>
          <a:p>
            <a:pPr lvl="0" eaLnBrk="0" fontAlgn="base" hangingPunct="0">
              <a:spcBef>
                <a:spcPct val="0"/>
              </a:spcBef>
              <a:spcAft>
                <a:spcPct val="0"/>
              </a:spcAft>
              <a:buClrTx/>
              <a:buNone/>
              <a:defRPr/>
            </a:pPr>
            <a:r>
              <a:rPr lang="en-US" sz="1100" kern="1200" dirty="0">
                <a:solidFill>
                  <a:srgbClr val="008000"/>
                </a:solidFill>
                <a:latin typeface="+mn-lt"/>
              </a:rPr>
              <a:t># </a:t>
            </a:r>
            <a:r>
              <a:rPr lang="ru-RU" sz="1100" kern="1200" dirty="0">
                <a:solidFill>
                  <a:srgbClr val="008000"/>
                </a:solidFill>
                <a:latin typeface="+mn-lt"/>
              </a:rPr>
              <a:t>Подключаемся к базе </a:t>
            </a:r>
            <a:r>
              <a:rPr lang="en-US" sz="1100" kern="1200" dirty="0">
                <a:solidFill>
                  <a:srgbClr val="008000"/>
                </a:solidFill>
                <a:latin typeface="+mn-lt"/>
              </a:rPr>
              <a:t>MongoDB </a:t>
            </a:r>
            <a:r>
              <a:rPr lang="ru-RU" sz="1100" kern="1200" dirty="0">
                <a:solidFill>
                  <a:srgbClr val="008000"/>
                </a:solidFill>
                <a:latin typeface="+mn-lt"/>
              </a:rPr>
              <a:t>на локальной машине</a:t>
            </a:r>
            <a:r>
              <a:rPr lang="ru-RU" sz="1100" kern="1200" dirty="0">
                <a:solidFill>
                  <a:srgbClr val="000000"/>
                </a:solidFill>
                <a:latin typeface="+mn-lt"/>
              </a:rPr>
              <a:t> </a:t>
            </a:r>
            <a:endParaRPr lang="en-US" sz="1100" kern="1200" dirty="0">
              <a:solidFill>
                <a:srgbClr val="000000"/>
              </a:solidFill>
              <a:latin typeface="+mn-lt"/>
            </a:endParaRPr>
          </a:p>
          <a:p>
            <a:pPr lvl="0" eaLnBrk="0" fontAlgn="base" hangingPunct="0">
              <a:spcBef>
                <a:spcPct val="0"/>
              </a:spcBef>
              <a:spcAft>
                <a:spcPct val="0"/>
              </a:spcAft>
              <a:buClrTx/>
              <a:buNone/>
              <a:defRPr/>
            </a:pPr>
            <a:r>
              <a:rPr lang="en-US" sz="1100" kern="1200" dirty="0">
                <a:solidFill>
                  <a:srgbClr val="000000"/>
                </a:solidFill>
                <a:latin typeface="+mn-lt"/>
              </a:rPr>
              <a:t>conn </a:t>
            </a:r>
            <a:r>
              <a:rPr lang="en-US" sz="1100" b="1" kern="1200" dirty="0">
                <a:solidFill>
                  <a:srgbClr val="000080"/>
                </a:solidFill>
                <a:latin typeface="+mn-lt"/>
              </a:rPr>
              <a:t>=</a:t>
            </a:r>
            <a:r>
              <a:rPr lang="en-US" sz="1100" kern="1200" dirty="0">
                <a:solidFill>
                  <a:srgbClr val="000000"/>
                </a:solidFill>
                <a:latin typeface="+mn-lt"/>
              </a:rPr>
              <a:t> me</a:t>
            </a:r>
            <a:r>
              <a:rPr lang="en-US" sz="1100" b="1" kern="1200" dirty="0">
                <a:solidFill>
                  <a:srgbClr val="000080"/>
                </a:solidFill>
                <a:latin typeface="+mn-lt"/>
              </a:rPr>
              <a:t>.</a:t>
            </a:r>
            <a:r>
              <a:rPr lang="en-US" sz="1100" kern="1200" dirty="0">
                <a:solidFill>
                  <a:srgbClr val="000000"/>
                </a:solidFill>
                <a:latin typeface="+mn-lt"/>
              </a:rPr>
              <a:t>connect</a:t>
            </a:r>
            <a:r>
              <a:rPr lang="en-US" sz="1100" b="1" kern="1200" dirty="0">
                <a:solidFill>
                  <a:srgbClr val="000080"/>
                </a:solidFill>
                <a:latin typeface="+mn-lt"/>
              </a:rPr>
              <a:t>(</a:t>
            </a:r>
            <a:r>
              <a:rPr lang="en-US" sz="1100" kern="1200" dirty="0">
                <a:solidFill>
                  <a:srgbClr val="808080"/>
                </a:solidFill>
                <a:latin typeface="+mn-lt"/>
              </a:rPr>
              <a:t>'test'</a:t>
            </a:r>
            <a:r>
              <a:rPr lang="en-US" sz="1100" b="1" kern="1200" dirty="0">
                <a:solidFill>
                  <a:srgbClr val="000080"/>
                </a:solidFill>
                <a:latin typeface="+mn-lt"/>
              </a:rPr>
              <a:t>)</a:t>
            </a:r>
            <a:r>
              <a:rPr lang="en-US" sz="1100" kern="1200" dirty="0">
                <a:solidFill>
                  <a:srgbClr val="000000"/>
                </a:solidFill>
                <a:latin typeface="+mn-lt"/>
              </a:rPr>
              <a:t> </a:t>
            </a:r>
          </a:p>
          <a:p>
            <a:pPr lvl="0" eaLnBrk="0" fontAlgn="base" hangingPunct="0">
              <a:spcBef>
                <a:spcPct val="0"/>
              </a:spcBef>
              <a:spcAft>
                <a:spcPct val="0"/>
              </a:spcAft>
              <a:buClrTx/>
              <a:buNone/>
              <a:defRPr/>
            </a:pPr>
            <a:r>
              <a:rPr lang="en-US" sz="1100" b="1" kern="1200" dirty="0">
                <a:solidFill>
                  <a:srgbClr val="0000FF"/>
                </a:solidFill>
                <a:latin typeface="+mn-lt"/>
              </a:rPr>
              <a:t>print</a:t>
            </a:r>
            <a:r>
              <a:rPr lang="en-US" sz="1100" b="1" kern="1200" dirty="0">
                <a:solidFill>
                  <a:srgbClr val="000080"/>
                </a:solidFill>
                <a:latin typeface="+mn-lt"/>
              </a:rPr>
              <a:t>(</a:t>
            </a:r>
            <a:r>
              <a:rPr lang="en-US" sz="1100" kern="1200" dirty="0">
                <a:solidFill>
                  <a:srgbClr val="000000"/>
                </a:solidFill>
                <a:latin typeface="+mn-lt"/>
              </a:rPr>
              <a:t>conn</a:t>
            </a:r>
            <a:r>
              <a:rPr lang="en-US" sz="1100" b="1" kern="1200" dirty="0">
                <a:solidFill>
                  <a:srgbClr val="000080"/>
                </a:solidFill>
                <a:latin typeface="+mn-lt"/>
              </a:rPr>
              <a:t>)</a:t>
            </a:r>
            <a:r>
              <a:rPr lang="en-US" sz="1100" kern="1200" dirty="0">
                <a:solidFill>
                  <a:srgbClr val="000000"/>
                </a:solidFill>
                <a:latin typeface="+mn-lt"/>
              </a:rPr>
              <a:t> </a:t>
            </a:r>
          </a:p>
          <a:p>
            <a:pPr lvl="0" eaLnBrk="0" fontAlgn="base" hangingPunct="0">
              <a:spcBef>
                <a:spcPct val="0"/>
              </a:spcBef>
              <a:spcAft>
                <a:spcPct val="0"/>
              </a:spcAft>
              <a:buClrTx/>
              <a:buNone/>
              <a:defRPr/>
            </a:pPr>
            <a:endParaRPr lang="en-US" sz="1100" kern="1200" dirty="0">
              <a:solidFill>
                <a:srgbClr val="000000"/>
              </a:solidFill>
              <a:latin typeface="+mn-lt"/>
            </a:endParaRPr>
          </a:p>
          <a:p>
            <a:pPr lvl="0" eaLnBrk="0" fontAlgn="base" hangingPunct="0">
              <a:spcBef>
                <a:spcPct val="0"/>
              </a:spcBef>
              <a:spcAft>
                <a:spcPct val="0"/>
              </a:spcAft>
              <a:buClrTx/>
              <a:buNone/>
              <a:defRPr/>
            </a:pPr>
            <a:r>
              <a:rPr lang="en-US" sz="1100" kern="1200" dirty="0">
                <a:solidFill>
                  <a:srgbClr val="008000"/>
                </a:solidFill>
                <a:latin typeface="+mn-lt"/>
              </a:rPr>
              <a:t># </a:t>
            </a:r>
            <a:r>
              <a:rPr lang="ru-RU" sz="1100" kern="1200" dirty="0">
                <a:solidFill>
                  <a:srgbClr val="008000"/>
                </a:solidFill>
                <a:latin typeface="+mn-lt"/>
              </a:rPr>
              <a:t>Объявляем коллекцию</a:t>
            </a:r>
            <a:r>
              <a:rPr lang="ru-RU" sz="1100" kern="1200" dirty="0">
                <a:solidFill>
                  <a:srgbClr val="000000"/>
                </a:solidFill>
                <a:latin typeface="+mn-lt"/>
              </a:rPr>
              <a:t> </a:t>
            </a:r>
            <a:endParaRPr lang="en-US" sz="1100" kern="1200" dirty="0">
              <a:solidFill>
                <a:srgbClr val="000000"/>
              </a:solidFill>
              <a:latin typeface="+mn-lt"/>
            </a:endParaRPr>
          </a:p>
          <a:p>
            <a:pPr lvl="0" eaLnBrk="0" fontAlgn="base" hangingPunct="0">
              <a:spcBef>
                <a:spcPct val="0"/>
              </a:spcBef>
              <a:spcAft>
                <a:spcPct val="0"/>
              </a:spcAft>
              <a:buClrTx/>
              <a:buNone/>
              <a:defRPr/>
            </a:pPr>
            <a:r>
              <a:rPr lang="en-US" sz="1100" b="1" kern="1200" dirty="0">
                <a:solidFill>
                  <a:srgbClr val="0000FF"/>
                </a:solidFill>
                <a:latin typeface="+mn-lt"/>
              </a:rPr>
              <a:t>class</a:t>
            </a:r>
            <a:r>
              <a:rPr lang="en-US" sz="1100" kern="1200" dirty="0">
                <a:solidFill>
                  <a:srgbClr val="000000"/>
                </a:solidFill>
                <a:latin typeface="+mn-lt"/>
              </a:rPr>
              <a:t> </a:t>
            </a:r>
            <a:r>
              <a:rPr lang="en-US" sz="1100" b="1" dirty="0">
                <a:solidFill>
                  <a:srgbClr val="000000"/>
                </a:solidFill>
                <a:latin typeface="+mn-lt"/>
              </a:rPr>
              <a:t>U</a:t>
            </a:r>
            <a:r>
              <a:rPr lang="en-US" sz="1100" b="1" kern="1200" dirty="0">
                <a:solidFill>
                  <a:srgbClr val="000000"/>
                </a:solidFill>
                <a:latin typeface="+mn-lt"/>
              </a:rPr>
              <a:t>ser</a:t>
            </a:r>
            <a:r>
              <a:rPr lang="en-US" sz="1100" b="1" kern="1200" dirty="0">
                <a:solidFill>
                  <a:srgbClr val="000080"/>
                </a:solidFill>
                <a:latin typeface="+mn-lt"/>
              </a:rPr>
              <a:t>(</a:t>
            </a:r>
            <a:r>
              <a:rPr lang="en-US" sz="1100" kern="1200" dirty="0">
                <a:solidFill>
                  <a:srgbClr val="000000"/>
                </a:solidFill>
                <a:latin typeface="+mn-lt"/>
              </a:rPr>
              <a:t>me</a:t>
            </a:r>
            <a:r>
              <a:rPr lang="en-US" sz="1100" b="1" kern="1200" dirty="0">
                <a:solidFill>
                  <a:srgbClr val="000080"/>
                </a:solidFill>
                <a:latin typeface="+mn-lt"/>
              </a:rPr>
              <a:t>.</a:t>
            </a:r>
            <a:r>
              <a:rPr lang="en-US" sz="1100" kern="1200" dirty="0">
                <a:solidFill>
                  <a:srgbClr val="000000"/>
                </a:solidFill>
                <a:latin typeface="+mn-lt"/>
              </a:rPr>
              <a:t>Document</a:t>
            </a:r>
            <a:r>
              <a:rPr lang="en-US" sz="1100" b="1" kern="1200" dirty="0">
                <a:solidFill>
                  <a:srgbClr val="000080"/>
                </a:solidFill>
                <a:latin typeface="+mn-lt"/>
              </a:rPr>
              <a:t>):</a:t>
            </a:r>
            <a:r>
              <a:rPr lang="en-US" sz="1100" kern="1200" dirty="0">
                <a:solidFill>
                  <a:srgbClr val="000000"/>
                </a:solidFill>
                <a:latin typeface="+mn-lt"/>
              </a:rPr>
              <a:t> </a:t>
            </a:r>
          </a:p>
          <a:p>
            <a:pPr lvl="0" eaLnBrk="0" fontAlgn="base" hangingPunct="0">
              <a:spcBef>
                <a:spcPct val="0"/>
              </a:spcBef>
              <a:spcAft>
                <a:spcPct val="0"/>
              </a:spcAft>
              <a:buClrTx/>
              <a:buNone/>
              <a:defRPr/>
            </a:pPr>
            <a:r>
              <a:rPr lang="en-US" sz="1100" kern="1200" dirty="0">
                <a:solidFill>
                  <a:srgbClr val="000000"/>
                </a:solidFill>
                <a:latin typeface="+mn-lt"/>
              </a:rPr>
              <a:t>    email </a:t>
            </a:r>
            <a:r>
              <a:rPr lang="en-US" sz="1100" b="1" kern="1200" dirty="0">
                <a:solidFill>
                  <a:srgbClr val="000080"/>
                </a:solidFill>
                <a:latin typeface="+mn-lt"/>
              </a:rPr>
              <a:t>=</a:t>
            </a:r>
            <a:r>
              <a:rPr lang="en-US" sz="1100" kern="1200" dirty="0">
                <a:solidFill>
                  <a:srgbClr val="000000"/>
                </a:solidFill>
                <a:latin typeface="+mn-lt"/>
              </a:rPr>
              <a:t> me</a:t>
            </a:r>
            <a:r>
              <a:rPr lang="en-US" sz="1100" b="1" kern="1200" dirty="0">
                <a:solidFill>
                  <a:srgbClr val="000080"/>
                </a:solidFill>
                <a:latin typeface="+mn-lt"/>
              </a:rPr>
              <a:t>.</a:t>
            </a:r>
            <a:r>
              <a:rPr lang="en-US" sz="1100" kern="1200" dirty="0">
                <a:solidFill>
                  <a:srgbClr val="000000"/>
                </a:solidFill>
                <a:latin typeface="+mn-lt"/>
              </a:rPr>
              <a:t>StringField</a:t>
            </a:r>
            <a:r>
              <a:rPr lang="en-US" sz="1100" b="1" kern="1200" dirty="0">
                <a:solidFill>
                  <a:srgbClr val="000080"/>
                </a:solidFill>
                <a:latin typeface="+mn-lt"/>
              </a:rPr>
              <a:t>(</a:t>
            </a:r>
            <a:r>
              <a:rPr lang="en-US" sz="1100" kern="1200" dirty="0">
                <a:solidFill>
                  <a:srgbClr val="000000"/>
                </a:solidFill>
                <a:latin typeface="+mn-lt"/>
              </a:rPr>
              <a:t>required</a:t>
            </a:r>
            <a:r>
              <a:rPr lang="en-US" sz="1100" b="1" kern="1200" dirty="0">
                <a:solidFill>
                  <a:srgbClr val="000080"/>
                </a:solidFill>
                <a:latin typeface="+mn-lt"/>
              </a:rPr>
              <a:t>=</a:t>
            </a:r>
            <a:r>
              <a:rPr lang="en-US" sz="1100" b="1" kern="1200" dirty="0">
                <a:solidFill>
                  <a:srgbClr val="0000FF"/>
                </a:solidFill>
                <a:latin typeface="+mn-lt"/>
              </a:rPr>
              <a:t>True</a:t>
            </a:r>
            <a:r>
              <a:rPr lang="en-US" sz="1100" b="1" kern="1200" dirty="0">
                <a:solidFill>
                  <a:srgbClr val="000080"/>
                </a:solidFill>
                <a:latin typeface="+mn-lt"/>
              </a:rPr>
              <a:t>)</a:t>
            </a:r>
            <a:r>
              <a:rPr lang="en-US" sz="1100" kern="1200" dirty="0">
                <a:solidFill>
                  <a:srgbClr val="000000"/>
                </a:solidFill>
                <a:latin typeface="+mn-lt"/>
              </a:rPr>
              <a:t> </a:t>
            </a:r>
          </a:p>
          <a:p>
            <a:pPr lvl="0" eaLnBrk="0" fontAlgn="base" hangingPunct="0">
              <a:spcBef>
                <a:spcPct val="0"/>
              </a:spcBef>
              <a:spcAft>
                <a:spcPct val="0"/>
              </a:spcAft>
              <a:buClrTx/>
              <a:buNone/>
              <a:defRPr/>
            </a:pPr>
            <a:r>
              <a:rPr lang="en-US" sz="1100" kern="1200" dirty="0">
                <a:solidFill>
                  <a:srgbClr val="000000"/>
                </a:solidFill>
                <a:latin typeface="+mn-lt"/>
              </a:rPr>
              <a:t>    first_name </a:t>
            </a:r>
            <a:r>
              <a:rPr lang="en-US" sz="1100" b="1" kern="1200" dirty="0">
                <a:solidFill>
                  <a:srgbClr val="000080"/>
                </a:solidFill>
                <a:latin typeface="+mn-lt"/>
              </a:rPr>
              <a:t>=</a:t>
            </a:r>
            <a:r>
              <a:rPr lang="en-US" sz="1100" kern="1200" dirty="0">
                <a:solidFill>
                  <a:srgbClr val="000000"/>
                </a:solidFill>
                <a:latin typeface="+mn-lt"/>
              </a:rPr>
              <a:t> me</a:t>
            </a:r>
            <a:r>
              <a:rPr lang="en-US" sz="1100" b="1" kern="1200" dirty="0">
                <a:solidFill>
                  <a:srgbClr val="000080"/>
                </a:solidFill>
                <a:latin typeface="+mn-lt"/>
              </a:rPr>
              <a:t>.</a:t>
            </a:r>
            <a:r>
              <a:rPr lang="en-US" sz="1100" kern="1200" dirty="0">
                <a:solidFill>
                  <a:srgbClr val="000000"/>
                </a:solidFill>
                <a:latin typeface="+mn-lt"/>
              </a:rPr>
              <a:t>StringField</a:t>
            </a:r>
            <a:r>
              <a:rPr lang="en-US" sz="1100" b="1" kern="1200" dirty="0">
                <a:solidFill>
                  <a:srgbClr val="000080"/>
                </a:solidFill>
                <a:latin typeface="+mn-lt"/>
              </a:rPr>
              <a:t>(</a:t>
            </a:r>
            <a:r>
              <a:rPr lang="en-US" sz="1100" kern="1200" dirty="0">
                <a:solidFill>
                  <a:srgbClr val="000000"/>
                </a:solidFill>
                <a:latin typeface="+mn-lt"/>
              </a:rPr>
              <a:t>max_length</a:t>
            </a:r>
            <a:r>
              <a:rPr lang="en-US" sz="1100" b="1" kern="1200" dirty="0">
                <a:solidFill>
                  <a:srgbClr val="000080"/>
                </a:solidFill>
                <a:latin typeface="+mn-lt"/>
              </a:rPr>
              <a:t>=</a:t>
            </a:r>
            <a:r>
              <a:rPr lang="en-US" sz="1100" kern="1200" dirty="0">
                <a:solidFill>
                  <a:srgbClr val="FF0000"/>
                </a:solidFill>
                <a:latin typeface="+mn-lt"/>
              </a:rPr>
              <a:t>50</a:t>
            </a:r>
            <a:r>
              <a:rPr lang="en-US" sz="1100" b="1" kern="1200" dirty="0">
                <a:solidFill>
                  <a:srgbClr val="000080"/>
                </a:solidFill>
                <a:latin typeface="+mn-lt"/>
              </a:rPr>
              <a:t>)</a:t>
            </a:r>
            <a:r>
              <a:rPr lang="en-US" sz="1100" kern="1200" dirty="0">
                <a:solidFill>
                  <a:srgbClr val="000000"/>
                </a:solidFill>
                <a:latin typeface="+mn-lt"/>
              </a:rPr>
              <a:t> </a:t>
            </a:r>
          </a:p>
          <a:p>
            <a:pPr lvl="0" eaLnBrk="0" fontAlgn="base" hangingPunct="0">
              <a:spcBef>
                <a:spcPct val="0"/>
              </a:spcBef>
              <a:spcAft>
                <a:spcPct val="0"/>
              </a:spcAft>
              <a:buClrTx/>
              <a:buNone/>
              <a:defRPr/>
            </a:pPr>
            <a:r>
              <a:rPr lang="en-US" sz="1100" kern="1200" dirty="0">
                <a:solidFill>
                  <a:srgbClr val="000000"/>
                </a:solidFill>
                <a:latin typeface="+mn-lt"/>
              </a:rPr>
              <a:t>    last_name </a:t>
            </a:r>
            <a:r>
              <a:rPr lang="en-US" sz="1100" b="1" kern="1200" dirty="0">
                <a:solidFill>
                  <a:srgbClr val="000080"/>
                </a:solidFill>
                <a:latin typeface="+mn-lt"/>
              </a:rPr>
              <a:t>=</a:t>
            </a:r>
            <a:r>
              <a:rPr lang="en-US" sz="1100" kern="1200" dirty="0">
                <a:solidFill>
                  <a:srgbClr val="000000"/>
                </a:solidFill>
                <a:latin typeface="+mn-lt"/>
              </a:rPr>
              <a:t> me</a:t>
            </a:r>
            <a:r>
              <a:rPr lang="en-US" sz="1100" b="1" kern="1200" dirty="0">
                <a:solidFill>
                  <a:srgbClr val="000080"/>
                </a:solidFill>
                <a:latin typeface="+mn-lt"/>
              </a:rPr>
              <a:t>.</a:t>
            </a:r>
            <a:r>
              <a:rPr lang="en-US" sz="1100" kern="1200" dirty="0">
                <a:solidFill>
                  <a:srgbClr val="000000"/>
                </a:solidFill>
                <a:latin typeface="+mn-lt"/>
              </a:rPr>
              <a:t>StringField</a:t>
            </a:r>
            <a:r>
              <a:rPr lang="en-US" sz="1100" b="1" kern="1200" dirty="0">
                <a:solidFill>
                  <a:srgbClr val="000080"/>
                </a:solidFill>
                <a:latin typeface="+mn-lt"/>
              </a:rPr>
              <a:t>(</a:t>
            </a:r>
            <a:r>
              <a:rPr lang="en-US" sz="1100" kern="1200" dirty="0">
                <a:solidFill>
                  <a:srgbClr val="000000"/>
                </a:solidFill>
                <a:latin typeface="+mn-lt"/>
              </a:rPr>
              <a:t>max_length</a:t>
            </a:r>
            <a:r>
              <a:rPr lang="en-US" sz="1100" b="1" kern="1200" dirty="0">
                <a:solidFill>
                  <a:srgbClr val="000080"/>
                </a:solidFill>
                <a:latin typeface="+mn-lt"/>
              </a:rPr>
              <a:t>=</a:t>
            </a:r>
            <a:r>
              <a:rPr lang="en-US" sz="1100" kern="1200" dirty="0">
                <a:solidFill>
                  <a:srgbClr val="FF0000"/>
                </a:solidFill>
                <a:latin typeface="+mn-lt"/>
              </a:rPr>
              <a:t>50</a:t>
            </a:r>
            <a:r>
              <a:rPr lang="en-US" sz="1100" b="1" kern="1200" dirty="0">
                <a:solidFill>
                  <a:srgbClr val="000080"/>
                </a:solidFill>
                <a:latin typeface="+mn-lt"/>
              </a:rPr>
              <a:t>)</a:t>
            </a:r>
            <a:r>
              <a:rPr lang="en-US" sz="1100" kern="1200" dirty="0">
                <a:solidFill>
                  <a:srgbClr val="000000"/>
                </a:solidFill>
                <a:latin typeface="+mn-lt"/>
              </a:rPr>
              <a:t> </a:t>
            </a:r>
          </a:p>
          <a:p>
            <a:pPr lvl="0" eaLnBrk="0" fontAlgn="base" hangingPunct="0">
              <a:spcBef>
                <a:spcPct val="0"/>
              </a:spcBef>
              <a:spcAft>
                <a:spcPct val="0"/>
              </a:spcAft>
              <a:buClrTx/>
              <a:buNone/>
              <a:defRPr/>
            </a:pPr>
            <a:endParaRPr lang="en-US" sz="1100" b="1" kern="1200" dirty="0">
              <a:solidFill>
                <a:srgbClr val="000000"/>
              </a:solidFill>
              <a:latin typeface="+mn-lt"/>
            </a:endParaRPr>
          </a:p>
          <a:p>
            <a:pPr lvl="0" eaLnBrk="0" fontAlgn="base" hangingPunct="0">
              <a:spcBef>
                <a:spcPct val="0"/>
              </a:spcBef>
              <a:spcAft>
                <a:spcPct val="0"/>
              </a:spcAft>
              <a:buClrTx/>
              <a:buNone/>
              <a:defRPr/>
            </a:pPr>
            <a:r>
              <a:rPr lang="en-US" sz="1100" b="1" kern="1200" dirty="0">
                <a:solidFill>
                  <a:srgbClr val="000000"/>
                </a:solidFill>
                <a:latin typeface="+mn-lt"/>
              </a:rPr>
              <a:t>    </a:t>
            </a:r>
            <a:r>
              <a:rPr lang="en-US" sz="1100" b="1" kern="1200" dirty="0">
                <a:solidFill>
                  <a:srgbClr val="0000FF"/>
                </a:solidFill>
                <a:latin typeface="+mn-lt"/>
              </a:rPr>
              <a:t>def</a:t>
            </a:r>
            <a:r>
              <a:rPr lang="en-US" sz="1100" kern="1200" dirty="0">
                <a:solidFill>
                  <a:srgbClr val="000000"/>
                </a:solidFill>
                <a:latin typeface="+mn-lt"/>
              </a:rPr>
              <a:t> </a:t>
            </a:r>
            <a:r>
              <a:rPr lang="en-US" sz="1100" kern="1200" dirty="0">
                <a:solidFill>
                  <a:srgbClr val="FF00FF"/>
                </a:solidFill>
                <a:latin typeface="+mn-lt"/>
              </a:rPr>
              <a:t>__repr__</a:t>
            </a:r>
            <a:r>
              <a:rPr lang="en-US" sz="1100" b="1" kern="1200" dirty="0">
                <a:solidFill>
                  <a:srgbClr val="000080"/>
                </a:solidFill>
                <a:latin typeface="+mn-lt"/>
              </a:rPr>
              <a:t>(</a:t>
            </a:r>
            <a:r>
              <a:rPr lang="en-US" sz="1100" kern="1200" dirty="0">
                <a:solidFill>
                  <a:srgbClr val="000000"/>
                </a:solidFill>
                <a:latin typeface="+mn-lt"/>
              </a:rPr>
              <a:t>self</a:t>
            </a:r>
            <a:r>
              <a:rPr lang="en-US" sz="1100" b="1" kern="1200" dirty="0">
                <a:solidFill>
                  <a:srgbClr val="000080"/>
                </a:solidFill>
                <a:latin typeface="+mn-lt"/>
              </a:rPr>
              <a:t>):</a:t>
            </a:r>
            <a:r>
              <a:rPr lang="en-US" sz="1100" kern="1200" dirty="0">
                <a:solidFill>
                  <a:srgbClr val="000000"/>
                </a:solidFill>
                <a:latin typeface="+mn-lt"/>
              </a:rPr>
              <a:t> </a:t>
            </a:r>
          </a:p>
          <a:p>
            <a:pPr lvl="0" eaLnBrk="0" fontAlgn="base" hangingPunct="0">
              <a:spcBef>
                <a:spcPct val="0"/>
              </a:spcBef>
              <a:spcAft>
                <a:spcPct val="0"/>
              </a:spcAft>
              <a:buClrTx/>
              <a:buNone/>
              <a:defRPr/>
            </a:pPr>
            <a:r>
              <a:rPr lang="en-US" sz="1100" b="1" kern="1200" dirty="0">
                <a:solidFill>
                  <a:srgbClr val="000000"/>
                </a:solidFill>
                <a:latin typeface="+mn-lt"/>
              </a:rPr>
              <a:t>        </a:t>
            </a:r>
            <a:r>
              <a:rPr lang="en-US" sz="1100" b="1" kern="1200" dirty="0">
                <a:solidFill>
                  <a:srgbClr val="0000FF"/>
                </a:solidFill>
                <a:latin typeface="+mn-lt"/>
              </a:rPr>
              <a:t>return</a:t>
            </a:r>
            <a:r>
              <a:rPr lang="en-US" sz="1100" kern="1200" dirty="0">
                <a:solidFill>
                  <a:srgbClr val="000000"/>
                </a:solidFill>
                <a:latin typeface="+mn-lt"/>
              </a:rPr>
              <a:t> </a:t>
            </a:r>
            <a:r>
              <a:rPr lang="en-US" sz="1100" dirty="0">
                <a:solidFill>
                  <a:srgbClr val="808080"/>
                </a:solidFill>
                <a:latin typeface="+mn-lt"/>
              </a:rPr>
              <a:t>f</a:t>
            </a:r>
            <a:r>
              <a:rPr lang="en-US" sz="1100" kern="1200" dirty="0">
                <a:solidFill>
                  <a:srgbClr val="808080"/>
                </a:solidFill>
                <a:latin typeface="+mn-lt"/>
              </a:rPr>
              <a:t>"&lt;User(first_name='</a:t>
            </a:r>
            <a:r>
              <a:rPr lang="en-US" sz="1100" b="1" dirty="0">
                <a:solidFill>
                  <a:srgbClr val="000080"/>
                </a:solidFill>
                <a:latin typeface="+mn-lt"/>
              </a:rPr>
              <a:t>{</a:t>
            </a:r>
            <a:r>
              <a:rPr lang="en-US" sz="1100" kern="1200" dirty="0">
                <a:solidFill>
                  <a:srgbClr val="000000"/>
                </a:solidFill>
                <a:latin typeface="+mn-lt"/>
              </a:rPr>
              <a:t>self</a:t>
            </a:r>
            <a:r>
              <a:rPr lang="en-US" sz="1100" b="1" kern="1200" dirty="0">
                <a:solidFill>
                  <a:srgbClr val="000080"/>
                </a:solidFill>
                <a:latin typeface="+mn-lt"/>
              </a:rPr>
              <a:t>.</a:t>
            </a:r>
            <a:r>
              <a:rPr lang="en-US" sz="1100" kern="1200" dirty="0">
                <a:solidFill>
                  <a:srgbClr val="000000"/>
                </a:solidFill>
                <a:latin typeface="+mn-lt"/>
              </a:rPr>
              <a:t>first_name</a:t>
            </a:r>
            <a:r>
              <a:rPr lang="en-US" sz="1100" b="1" dirty="0">
                <a:solidFill>
                  <a:srgbClr val="000080"/>
                </a:solidFill>
                <a:latin typeface="+mn-lt"/>
              </a:rPr>
              <a:t>}</a:t>
            </a:r>
            <a:r>
              <a:rPr lang="en-US" sz="1100" kern="1200" dirty="0">
                <a:solidFill>
                  <a:srgbClr val="808080"/>
                </a:solidFill>
                <a:latin typeface="+mn-lt"/>
              </a:rPr>
              <a:t>'), "</a:t>
            </a:r>
          </a:p>
          <a:p>
            <a:pPr lvl="0" eaLnBrk="0" fontAlgn="base" hangingPunct="0">
              <a:spcBef>
                <a:spcPct val="0"/>
              </a:spcBef>
              <a:spcAft>
                <a:spcPct val="0"/>
              </a:spcAft>
              <a:buClrTx/>
              <a:buNone/>
              <a:defRPr/>
            </a:pPr>
            <a:r>
              <a:rPr lang="en-US" sz="1100" kern="1200" dirty="0">
                <a:solidFill>
                  <a:srgbClr val="808080"/>
                </a:solidFill>
                <a:latin typeface="+mn-lt"/>
              </a:rPr>
              <a:t>                "last_name='</a:t>
            </a:r>
            <a:r>
              <a:rPr lang="en-US" sz="1100" b="1" dirty="0">
                <a:solidFill>
                  <a:srgbClr val="000080"/>
                </a:solidFill>
                <a:latin typeface="+mn-lt"/>
              </a:rPr>
              <a:t>{</a:t>
            </a:r>
            <a:r>
              <a:rPr lang="en-US" sz="1100" kern="1200" dirty="0">
                <a:solidFill>
                  <a:srgbClr val="000000"/>
                </a:solidFill>
                <a:latin typeface="+mn-lt"/>
              </a:rPr>
              <a:t>self</a:t>
            </a:r>
            <a:r>
              <a:rPr lang="en-US" sz="1100" b="1" kern="1200" dirty="0">
                <a:solidFill>
                  <a:srgbClr val="000080"/>
                </a:solidFill>
                <a:latin typeface="+mn-lt"/>
              </a:rPr>
              <a:t>.</a:t>
            </a:r>
            <a:r>
              <a:rPr lang="en-US" sz="1100" kern="1200" dirty="0">
                <a:solidFill>
                  <a:srgbClr val="000000"/>
                </a:solidFill>
                <a:latin typeface="+mn-lt"/>
              </a:rPr>
              <a:t>last_name</a:t>
            </a:r>
            <a:r>
              <a:rPr lang="en-US" sz="1100" b="1" dirty="0">
                <a:solidFill>
                  <a:srgbClr val="000080"/>
                </a:solidFill>
                <a:latin typeface="+mn-lt"/>
              </a:rPr>
              <a:t>}</a:t>
            </a:r>
            <a:r>
              <a:rPr lang="en-US" sz="1100" kern="1200" dirty="0">
                <a:solidFill>
                  <a:srgbClr val="808080"/>
                </a:solidFill>
                <a:latin typeface="+mn-lt"/>
              </a:rPr>
              <a:t>', "</a:t>
            </a:r>
            <a:r>
              <a:rPr lang="en-US" sz="1100" kern="1200" dirty="0">
                <a:solidFill>
                  <a:srgbClr val="000000"/>
                </a:solidFill>
                <a:latin typeface="+mn-lt"/>
              </a:rPr>
              <a:t> </a:t>
            </a:r>
          </a:p>
          <a:p>
            <a:pPr lvl="0" eaLnBrk="0" fontAlgn="base" hangingPunct="0">
              <a:spcBef>
                <a:spcPct val="0"/>
              </a:spcBef>
              <a:spcAft>
                <a:spcPct val="0"/>
              </a:spcAft>
              <a:buClrTx/>
              <a:buNone/>
              <a:defRPr/>
            </a:pPr>
            <a:r>
              <a:rPr lang="en-US" sz="1100" kern="1200" dirty="0">
                <a:solidFill>
                  <a:srgbClr val="000000"/>
                </a:solidFill>
                <a:latin typeface="+mn-lt"/>
              </a:rPr>
              <a:t>                </a:t>
            </a:r>
            <a:r>
              <a:rPr lang="en-US" sz="1100" kern="1200" dirty="0">
                <a:solidFill>
                  <a:srgbClr val="808080"/>
                </a:solidFill>
                <a:latin typeface="+mn-lt"/>
              </a:rPr>
              <a:t>"email='</a:t>
            </a:r>
            <a:r>
              <a:rPr lang="en-US" sz="1100" b="1" dirty="0">
                <a:solidFill>
                  <a:srgbClr val="000080"/>
                </a:solidFill>
                <a:latin typeface="+mn-lt"/>
              </a:rPr>
              <a:t>{</a:t>
            </a:r>
            <a:r>
              <a:rPr lang="en-US" sz="1100" kern="1200" dirty="0">
                <a:solidFill>
                  <a:srgbClr val="000000"/>
                </a:solidFill>
                <a:latin typeface="+mn-lt"/>
              </a:rPr>
              <a:t>self</a:t>
            </a:r>
            <a:r>
              <a:rPr lang="en-US" sz="1100" b="1" kern="1200" dirty="0">
                <a:solidFill>
                  <a:srgbClr val="000080"/>
                </a:solidFill>
                <a:latin typeface="+mn-lt"/>
              </a:rPr>
              <a:t>.</a:t>
            </a:r>
            <a:r>
              <a:rPr lang="en-US" sz="1100" kern="1200" dirty="0">
                <a:solidFill>
                  <a:srgbClr val="000000"/>
                </a:solidFill>
                <a:latin typeface="+mn-lt"/>
              </a:rPr>
              <a:t>email</a:t>
            </a:r>
            <a:r>
              <a:rPr lang="en-US" sz="1100" b="1" dirty="0">
                <a:solidFill>
                  <a:srgbClr val="000080"/>
                </a:solidFill>
                <a:latin typeface="+mn-lt"/>
              </a:rPr>
              <a:t>}</a:t>
            </a:r>
            <a:r>
              <a:rPr lang="en-US" sz="1100" kern="1200" dirty="0">
                <a:solidFill>
                  <a:srgbClr val="808080"/>
                </a:solidFill>
                <a:latin typeface="+mn-lt"/>
              </a:rPr>
              <a:t>')&gt;"</a:t>
            </a:r>
            <a:r>
              <a:rPr lang="en-US" sz="1100" kern="1200" dirty="0">
                <a:solidFill>
                  <a:srgbClr val="000000"/>
                </a:solidFill>
                <a:latin typeface="+mn-lt"/>
              </a:rPr>
              <a:t> </a:t>
            </a:r>
          </a:p>
          <a:p>
            <a:pPr lvl="0" eaLnBrk="0" fontAlgn="base" hangingPunct="0">
              <a:spcBef>
                <a:spcPct val="0"/>
              </a:spcBef>
              <a:spcAft>
                <a:spcPct val="0"/>
              </a:spcAft>
              <a:buClrTx/>
              <a:buNone/>
              <a:defRPr/>
            </a:pPr>
            <a:endParaRPr lang="en-US" sz="1100" kern="1200" dirty="0">
              <a:solidFill>
                <a:srgbClr val="000000"/>
              </a:solidFill>
              <a:latin typeface="+mn-lt"/>
            </a:endParaRPr>
          </a:p>
          <a:p>
            <a:pPr lvl="0" eaLnBrk="0" fontAlgn="base" hangingPunct="0">
              <a:spcBef>
                <a:spcPct val="0"/>
              </a:spcBef>
              <a:spcAft>
                <a:spcPct val="0"/>
              </a:spcAft>
              <a:buClrTx/>
              <a:buNone/>
              <a:defRPr/>
            </a:pPr>
            <a:r>
              <a:rPr lang="en-US" sz="1100" kern="1200" dirty="0">
                <a:solidFill>
                  <a:srgbClr val="008000"/>
                </a:solidFill>
                <a:latin typeface="+mn-lt"/>
              </a:rPr>
              <a:t># </a:t>
            </a:r>
            <a:r>
              <a:rPr lang="ru-RU" sz="1100" kern="1200" dirty="0">
                <a:solidFill>
                  <a:srgbClr val="008000"/>
                </a:solidFill>
                <a:latin typeface="+mn-lt"/>
              </a:rPr>
              <a:t>Создаем документ</a:t>
            </a:r>
            <a:r>
              <a:rPr lang="ru-RU" sz="1100" kern="1200" dirty="0">
                <a:solidFill>
                  <a:srgbClr val="000000"/>
                </a:solidFill>
                <a:latin typeface="+mn-lt"/>
              </a:rPr>
              <a:t> </a:t>
            </a:r>
            <a:endParaRPr lang="en-US" sz="1100" kern="1200" dirty="0">
              <a:solidFill>
                <a:srgbClr val="000000"/>
              </a:solidFill>
              <a:latin typeface="+mn-lt"/>
            </a:endParaRPr>
          </a:p>
          <a:p>
            <a:pPr lvl="0" eaLnBrk="0" fontAlgn="base" hangingPunct="0">
              <a:spcBef>
                <a:spcPct val="0"/>
              </a:spcBef>
              <a:spcAft>
                <a:spcPct val="0"/>
              </a:spcAft>
              <a:buClrTx/>
              <a:buNone/>
              <a:defRPr/>
            </a:pPr>
            <a:r>
              <a:rPr lang="en-US" sz="1100" kern="1200" dirty="0">
                <a:solidFill>
                  <a:srgbClr val="000000"/>
                </a:solidFill>
                <a:latin typeface="+mn-lt"/>
              </a:rPr>
              <a:t>ross </a:t>
            </a:r>
            <a:r>
              <a:rPr lang="en-US" sz="1100" b="1" kern="1200" dirty="0">
                <a:solidFill>
                  <a:srgbClr val="000080"/>
                </a:solidFill>
                <a:latin typeface="+mn-lt"/>
              </a:rPr>
              <a:t>=</a:t>
            </a:r>
            <a:r>
              <a:rPr lang="en-US" sz="1100" kern="1200" dirty="0">
                <a:solidFill>
                  <a:srgbClr val="000000"/>
                </a:solidFill>
                <a:latin typeface="+mn-lt"/>
              </a:rPr>
              <a:t> User</a:t>
            </a:r>
            <a:r>
              <a:rPr lang="en-US" sz="1100" b="1" kern="1200" dirty="0">
                <a:solidFill>
                  <a:srgbClr val="000080"/>
                </a:solidFill>
                <a:latin typeface="+mn-lt"/>
              </a:rPr>
              <a:t>(</a:t>
            </a:r>
            <a:r>
              <a:rPr lang="en-US" sz="1100" kern="1200" dirty="0">
                <a:solidFill>
                  <a:srgbClr val="000000"/>
                </a:solidFill>
                <a:latin typeface="+mn-lt"/>
              </a:rPr>
              <a:t>email</a:t>
            </a:r>
            <a:r>
              <a:rPr lang="en-US" sz="1100" b="1" kern="1200" dirty="0">
                <a:solidFill>
                  <a:srgbClr val="000080"/>
                </a:solidFill>
                <a:latin typeface="+mn-lt"/>
              </a:rPr>
              <a:t>=</a:t>
            </a:r>
            <a:r>
              <a:rPr lang="en-US" sz="1100" kern="1200" dirty="0">
                <a:solidFill>
                  <a:srgbClr val="808080"/>
                </a:solidFill>
                <a:latin typeface="+mn-lt"/>
              </a:rPr>
              <a:t>'ross@example.com'</a:t>
            </a:r>
            <a:r>
              <a:rPr lang="en-US" sz="1100" b="1" kern="1200" dirty="0">
                <a:solidFill>
                  <a:srgbClr val="000080"/>
                </a:solidFill>
                <a:latin typeface="+mn-lt"/>
              </a:rPr>
              <a:t>,</a:t>
            </a:r>
            <a:r>
              <a:rPr lang="en-US" sz="1100" kern="1200" dirty="0">
                <a:solidFill>
                  <a:srgbClr val="000000"/>
                </a:solidFill>
                <a:latin typeface="+mn-lt"/>
              </a:rPr>
              <a:t> first_name</a:t>
            </a:r>
            <a:r>
              <a:rPr lang="en-US" sz="1100" b="1" kern="1200" dirty="0">
                <a:solidFill>
                  <a:srgbClr val="000080"/>
                </a:solidFill>
                <a:latin typeface="+mn-lt"/>
              </a:rPr>
              <a:t>=</a:t>
            </a:r>
            <a:r>
              <a:rPr lang="en-US" sz="1100" kern="1200" dirty="0">
                <a:solidFill>
                  <a:srgbClr val="808080"/>
                </a:solidFill>
                <a:latin typeface="+mn-lt"/>
              </a:rPr>
              <a:t>'Ross'</a:t>
            </a:r>
            <a:r>
              <a:rPr lang="en-US" sz="1100" b="1" kern="1200" dirty="0">
                <a:solidFill>
                  <a:srgbClr val="000080"/>
                </a:solidFill>
                <a:latin typeface="+mn-lt"/>
              </a:rPr>
              <a:t>,</a:t>
            </a:r>
            <a:r>
              <a:rPr lang="en-US" sz="1100" kern="1200" dirty="0">
                <a:solidFill>
                  <a:srgbClr val="000000"/>
                </a:solidFill>
                <a:latin typeface="+mn-lt"/>
              </a:rPr>
              <a:t> last_name</a:t>
            </a:r>
            <a:r>
              <a:rPr lang="en-US" sz="1100" b="1" kern="1200" dirty="0">
                <a:solidFill>
                  <a:srgbClr val="000080"/>
                </a:solidFill>
                <a:latin typeface="+mn-lt"/>
              </a:rPr>
              <a:t>=</a:t>
            </a:r>
            <a:r>
              <a:rPr lang="en-US" sz="1100" kern="1200" dirty="0">
                <a:solidFill>
                  <a:srgbClr val="808080"/>
                </a:solidFill>
                <a:latin typeface="+mn-lt"/>
              </a:rPr>
              <a:t>'Lawley'</a:t>
            </a:r>
            <a:r>
              <a:rPr lang="en-US" sz="1100" b="1" kern="1200" dirty="0">
                <a:solidFill>
                  <a:srgbClr val="000080"/>
                </a:solidFill>
                <a:latin typeface="+mn-lt"/>
              </a:rPr>
              <a:t>)</a:t>
            </a:r>
            <a:r>
              <a:rPr lang="en-US" sz="1100" kern="1200" dirty="0">
                <a:solidFill>
                  <a:srgbClr val="000000"/>
                </a:solidFill>
                <a:latin typeface="+mn-lt"/>
              </a:rPr>
              <a:t> </a:t>
            </a:r>
          </a:p>
          <a:p>
            <a:pPr lvl="0" eaLnBrk="0" fontAlgn="base" hangingPunct="0">
              <a:spcBef>
                <a:spcPct val="0"/>
              </a:spcBef>
              <a:spcAft>
                <a:spcPct val="0"/>
              </a:spcAft>
              <a:buClrTx/>
              <a:buNone/>
              <a:defRPr/>
            </a:pPr>
            <a:r>
              <a:rPr lang="en-US" sz="1100" kern="1200" dirty="0">
                <a:solidFill>
                  <a:srgbClr val="000000"/>
                </a:solidFill>
                <a:latin typeface="+mn-lt"/>
              </a:rPr>
              <a:t>ross</a:t>
            </a:r>
            <a:r>
              <a:rPr lang="en-US" sz="1100" b="1" kern="1200" dirty="0">
                <a:solidFill>
                  <a:srgbClr val="000080"/>
                </a:solidFill>
                <a:latin typeface="+mn-lt"/>
              </a:rPr>
              <a:t>.</a:t>
            </a:r>
            <a:r>
              <a:rPr lang="en-US" sz="1100" kern="1200" dirty="0">
                <a:solidFill>
                  <a:srgbClr val="000000"/>
                </a:solidFill>
                <a:latin typeface="+mn-lt"/>
              </a:rPr>
              <a:t>save</a:t>
            </a:r>
            <a:r>
              <a:rPr lang="en-US" sz="1100" b="1" kern="1200" dirty="0">
                <a:solidFill>
                  <a:srgbClr val="000080"/>
                </a:solidFill>
                <a:latin typeface="+mn-lt"/>
              </a:rPr>
              <a:t>()</a:t>
            </a:r>
            <a:r>
              <a:rPr lang="en-US" sz="1100" kern="1200" dirty="0">
                <a:solidFill>
                  <a:srgbClr val="000000"/>
                </a:solidFill>
                <a:latin typeface="+mn-lt"/>
              </a:rPr>
              <a:t> </a:t>
            </a:r>
          </a:p>
          <a:p>
            <a:pPr lvl="0" eaLnBrk="0" fontAlgn="base" hangingPunct="0">
              <a:spcBef>
                <a:spcPct val="0"/>
              </a:spcBef>
              <a:spcAft>
                <a:spcPct val="0"/>
              </a:spcAft>
              <a:buClrTx/>
              <a:buNone/>
              <a:defRPr/>
            </a:pPr>
            <a:endParaRPr lang="ru-RU" sz="1100" kern="1200" dirty="0">
              <a:solidFill>
                <a:srgbClr val="008000"/>
              </a:solidFill>
              <a:latin typeface="+mn-lt"/>
            </a:endParaRPr>
          </a:p>
          <a:p>
            <a:pPr lvl="0" eaLnBrk="0" fontAlgn="base" hangingPunct="0">
              <a:spcBef>
                <a:spcPct val="0"/>
              </a:spcBef>
              <a:spcAft>
                <a:spcPct val="0"/>
              </a:spcAft>
              <a:buClrTx/>
              <a:buNone/>
              <a:defRPr/>
            </a:pPr>
            <a:r>
              <a:rPr lang="en-US" sz="1100" kern="1200" dirty="0">
                <a:solidFill>
                  <a:srgbClr val="008000"/>
                </a:solidFill>
                <a:latin typeface="+mn-lt"/>
              </a:rPr>
              <a:t># </a:t>
            </a:r>
            <a:r>
              <a:rPr lang="ru-RU" sz="1100" kern="1200" dirty="0">
                <a:solidFill>
                  <a:srgbClr val="008000"/>
                </a:solidFill>
                <a:latin typeface="+mn-lt"/>
              </a:rPr>
              <a:t>Проверяем, что получилось</a:t>
            </a:r>
            <a:r>
              <a:rPr lang="ru-RU" sz="1100" kern="1200" dirty="0">
                <a:solidFill>
                  <a:srgbClr val="000000"/>
                </a:solidFill>
                <a:latin typeface="+mn-lt"/>
              </a:rPr>
              <a:t> </a:t>
            </a:r>
            <a:endParaRPr lang="en-US" sz="1100" kern="1200" dirty="0">
              <a:solidFill>
                <a:srgbClr val="000000"/>
              </a:solidFill>
              <a:latin typeface="+mn-lt"/>
            </a:endParaRPr>
          </a:p>
          <a:p>
            <a:pPr lvl="0" eaLnBrk="0" fontAlgn="base" hangingPunct="0">
              <a:spcBef>
                <a:spcPct val="0"/>
              </a:spcBef>
              <a:spcAft>
                <a:spcPct val="0"/>
              </a:spcAft>
              <a:buClrTx/>
              <a:buNone/>
              <a:defRPr/>
            </a:pPr>
            <a:r>
              <a:rPr lang="en-US" sz="1100" b="1" kern="1200" dirty="0">
                <a:solidFill>
                  <a:srgbClr val="0000FF"/>
                </a:solidFill>
                <a:latin typeface="+mn-lt"/>
              </a:rPr>
              <a:t>print</a:t>
            </a:r>
            <a:r>
              <a:rPr lang="en-US" sz="1100" b="1" kern="1200" dirty="0">
                <a:solidFill>
                  <a:srgbClr val="000080"/>
                </a:solidFill>
                <a:latin typeface="+mn-lt"/>
              </a:rPr>
              <a:t>(</a:t>
            </a:r>
            <a:r>
              <a:rPr lang="en-US" sz="1100" dirty="0">
                <a:solidFill>
                  <a:srgbClr val="808080"/>
                </a:solidFill>
                <a:latin typeface="+mn-lt"/>
              </a:rPr>
              <a:t>f</a:t>
            </a:r>
            <a:r>
              <a:rPr lang="en-US" sz="1100" kern="1200" dirty="0">
                <a:solidFill>
                  <a:srgbClr val="808080"/>
                </a:solidFill>
                <a:latin typeface="+mn-lt"/>
              </a:rPr>
              <a:t>"</a:t>
            </a:r>
            <a:r>
              <a:rPr lang="ru-RU" sz="1100" kern="1200" dirty="0">
                <a:solidFill>
                  <a:srgbClr val="808080"/>
                </a:solidFill>
                <a:latin typeface="+mn-lt"/>
              </a:rPr>
              <a:t>Документов в базе: </a:t>
            </a:r>
            <a:r>
              <a:rPr lang="en-US" sz="1100" b="1" dirty="0">
                <a:solidFill>
                  <a:srgbClr val="000080"/>
                </a:solidFill>
                <a:latin typeface="+mn-lt"/>
              </a:rPr>
              <a:t>{</a:t>
            </a:r>
            <a:r>
              <a:rPr lang="en-US" sz="1100" kern="1200" dirty="0">
                <a:solidFill>
                  <a:srgbClr val="000000"/>
                </a:solidFill>
                <a:latin typeface="+mn-lt"/>
              </a:rPr>
              <a:t>User</a:t>
            </a:r>
            <a:r>
              <a:rPr lang="en-US" sz="1100" b="1" kern="1200" dirty="0">
                <a:solidFill>
                  <a:srgbClr val="000080"/>
                </a:solidFill>
                <a:latin typeface="+mn-lt"/>
              </a:rPr>
              <a:t>.</a:t>
            </a:r>
            <a:r>
              <a:rPr lang="en-US" sz="1100" kern="1200" dirty="0">
                <a:solidFill>
                  <a:srgbClr val="000000"/>
                </a:solidFill>
                <a:latin typeface="+mn-lt"/>
              </a:rPr>
              <a:t>objects</a:t>
            </a:r>
            <a:r>
              <a:rPr lang="en-US" sz="1100" b="1" kern="1200" dirty="0">
                <a:solidFill>
                  <a:srgbClr val="000080"/>
                </a:solidFill>
                <a:latin typeface="+mn-lt"/>
              </a:rPr>
              <a:t>.</a:t>
            </a:r>
            <a:r>
              <a:rPr lang="en-US" sz="1100" kern="1200" dirty="0">
                <a:solidFill>
                  <a:srgbClr val="000000"/>
                </a:solidFill>
                <a:latin typeface="+mn-lt"/>
              </a:rPr>
              <a:t>count</a:t>
            </a:r>
            <a:r>
              <a:rPr lang="en-US" sz="1100" b="1" kern="1200" dirty="0">
                <a:solidFill>
                  <a:srgbClr val="000080"/>
                </a:solidFill>
                <a:latin typeface="+mn-lt"/>
              </a:rPr>
              <a:t>()</a:t>
            </a:r>
            <a:r>
              <a:rPr lang="en-US" sz="1100" b="1" dirty="0">
                <a:solidFill>
                  <a:srgbClr val="000080"/>
                </a:solidFill>
                <a:latin typeface="+mn-lt"/>
              </a:rPr>
              <a:t>}</a:t>
            </a:r>
            <a:r>
              <a:rPr lang="en-US" sz="1100" kern="1200" dirty="0">
                <a:solidFill>
                  <a:srgbClr val="808080"/>
                </a:solidFill>
                <a:latin typeface="+mn-lt"/>
              </a:rPr>
              <a:t>"</a:t>
            </a:r>
            <a:r>
              <a:rPr lang="en-US" sz="1100" b="1" kern="1200" dirty="0">
                <a:solidFill>
                  <a:srgbClr val="000080"/>
                </a:solidFill>
                <a:latin typeface="+mn-lt"/>
              </a:rPr>
              <a:t>)</a:t>
            </a:r>
            <a:endParaRPr lang="en-US" sz="1100" kern="1200" dirty="0">
              <a:solidFill>
                <a:srgbClr val="000000"/>
              </a:solidFill>
              <a:latin typeface="+mn-lt"/>
            </a:endParaRPr>
          </a:p>
        </p:txBody>
      </p:sp>
      <p:pic>
        <p:nvPicPr>
          <p:cNvPr id="8" name="Picture 2" descr="https://blog.rubrain.com/wp-content/uploads/2020/08/3-1.jpg">
            <a:extLst>
              <a:ext uri="{FF2B5EF4-FFF2-40B4-BE49-F238E27FC236}">
                <a16:creationId xmlns:a16="http://schemas.microsoft.com/office/drawing/2014/main" id="{428174DA-ECEE-4663-BEC1-624C82278A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841" r="25528"/>
          <a:stretch/>
        </p:blipFill>
        <p:spPr bwMode="auto">
          <a:xfrm>
            <a:off x="-143219" y="0"/>
            <a:ext cx="4572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9" name="Прямоугольник 8">
            <a:extLst>
              <a:ext uri="{FF2B5EF4-FFF2-40B4-BE49-F238E27FC236}">
                <a16:creationId xmlns:a16="http://schemas.microsoft.com/office/drawing/2014/main" id="{FF659AD8-5F22-46FB-B8C7-75DFB45DC6BD}"/>
              </a:ext>
            </a:extLst>
          </p:cNvPr>
          <p:cNvSpPr/>
          <p:nvPr/>
        </p:nvSpPr>
        <p:spPr>
          <a:xfrm>
            <a:off x="-143219" y="0"/>
            <a:ext cx="4572000" cy="5143500"/>
          </a:xfrm>
          <a:prstGeom prst="rect">
            <a:avLst/>
          </a:prstGeom>
          <a:gradFill>
            <a:gsLst>
              <a:gs pos="0">
                <a:schemeClr val="accent1">
                  <a:alpha val="60000"/>
                </a:schemeClr>
              </a:gs>
              <a:gs pos="100000">
                <a:schemeClr val="tx2">
                  <a:alpha val="6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Box 17">
            <a:extLst>
              <a:ext uri="{FF2B5EF4-FFF2-40B4-BE49-F238E27FC236}">
                <a16:creationId xmlns:a16="http://schemas.microsoft.com/office/drawing/2014/main" id="{C395706E-6585-475C-9C3C-2EC9DC4818D5}"/>
              </a:ext>
            </a:extLst>
          </p:cNvPr>
          <p:cNvSpPr txBox="1"/>
          <p:nvPr/>
        </p:nvSpPr>
        <p:spPr>
          <a:xfrm>
            <a:off x="279823" y="1792963"/>
            <a:ext cx="3743537" cy="1200329"/>
          </a:xfrm>
          <a:prstGeom prst="rect">
            <a:avLst/>
          </a:prstGeom>
          <a:noFill/>
        </p:spPr>
        <p:txBody>
          <a:bodyPr wrap="square">
            <a:spAutoFit/>
          </a:bodyPr>
          <a:lstStyle/>
          <a:p>
            <a:r>
              <a:rPr lang="en-US" sz="3600" kern="1200" dirty="0">
                <a:solidFill>
                  <a:schemeClr val="bg1"/>
                </a:solidFill>
                <a:latin typeface="+mj-lt"/>
              </a:rPr>
              <a:t>mongoengine: </a:t>
            </a:r>
            <a:r>
              <a:rPr lang="ru-RU" sz="3600" kern="1200" dirty="0">
                <a:solidFill>
                  <a:schemeClr val="bg1"/>
                </a:solidFill>
                <a:latin typeface="+mj-lt"/>
              </a:rPr>
              <a:t>пример</a:t>
            </a:r>
            <a:endParaRPr lang="ru-RU" sz="3600" dirty="0">
              <a:solidFill>
                <a:schemeClr val="bg1"/>
              </a:solidFill>
              <a:latin typeface="+mj-lt"/>
            </a:endParaRPr>
          </a:p>
        </p:txBody>
      </p:sp>
    </p:spTree>
    <p:extLst>
      <p:ext uri="{BB962C8B-B14F-4D97-AF65-F5344CB8AC3E}">
        <p14:creationId xmlns:p14="http://schemas.microsoft.com/office/powerpoint/2010/main" val="23245201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7"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4810539" y="841179"/>
            <a:ext cx="4333461" cy="346114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lvl="0" eaLnBrk="0" fontAlgn="base" hangingPunct="0">
              <a:spcBef>
                <a:spcPct val="0"/>
              </a:spcBef>
              <a:spcAft>
                <a:spcPct val="0"/>
              </a:spcAft>
              <a:buClrTx/>
              <a:buNone/>
              <a:defRPr/>
            </a:pPr>
            <a:r>
              <a:rPr lang="ru-RU" sz="1100" kern="1200" dirty="0">
                <a:solidFill>
                  <a:srgbClr val="008000"/>
                </a:solidFill>
                <a:latin typeface="+mn-lt"/>
              </a:rPr>
              <a:t># Делаем запрос</a:t>
            </a:r>
            <a:r>
              <a:rPr lang="ru-RU" sz="1100" kern="1200" dirty="0">
                <a:solidFill>
                  <a:srgbClr val="000000"/>
                </a:solidFill>
                <a:latin typeface="+mn-lt"/>
              </a:rPr>
              <a:t> </a:t>
            </a:r>
            <a:endParaRPr lang="en-US" sz="1100" kern="1200" dirty="0">
              <a:solidFill>
                <a:srgbClr val="000000"/>
              </a:solidFill>
              <a:latin typeface="+mn-lt"/>
            </a:endParaRPr>
          </a:p>
          <a:p>
            <a:pPr lvl="0" eaLnBrk="0" fontAlgn="base" hangingPunct="0">
              <a:spcBef>
                <a:spcPct val="0"/>
              </a:spcBef>
              <a:spcAft>
                <a:spcPct val="0"/>
              </a:spcAft>
              <a:buClrTx/>
              <a:buNone/>
              <a:defRPr/>
            </a:pPr>
            <a:r>
              <a:rPr lang="en-US" sz="1100" b="1" kern="1200" dirty="0">
                <a:solidFill>
                  <a:srgbClr val="0000FF"/>
                </a:solidFill>
                <a:latin typeface="+mn-lt"/>
              </a:rPr>
              <a:t>for</a:t>
            </a:r>
            <a:r>
              <a:rPr lang="en-US" sz="1100" kern="1200" dirty="0">
                <a:solidFill>
                  <a:srgbClr val="000000"/>
                </a:solidFill>
                <a:latin typeface="+mn-lt"/>
              </a:rPr>
              <a:t> </a:t>
            </a:r>
            <a:r>
              <a:rPr lang="en-US" sz="1100" kern="1200" dirty="0" err="1">
                <a:solidFill>
                  <a:srgbClr val="000000"/>
                </a:solidFill>
                <a:latin typeface="+mn-lt"/>
              </a:rPr>
              <a:t>i</a:t>
            </a:r>
            <a:r>
              <a:rPr lang="en-US" sz="1100" kern="1200" dirty="0">
                <a:solidFill>
                  <a:srgbClr val="000000"/>
                </a:solidFill>
                <a:latin typeface="+mn-lt"/>
              </a:rPr>
              <a:t> </a:t>
            </a:r>
            <a:r>
              <a:rPr lang="en-US" sz="1100" b="1" kern="1200" dirty="0">
                <a:solidFill>
                  <a:srgbClr val="0000FF"/>
                </a:solidFill>
                <a:latin typeface="+mn-lt"/>
              </a:rPr>
              <a:t>in</a:t>
            </a:r>
            <a:r>
              <a:rPr lang="en-US" sz="1100" kern="1200" dirty="0">
                <a:solidFill>
                  <a:srgbClr val="000000"/>
                </a:solidFill>
                <a:latin typeface="+mn-lt"/>
              </a:rPr>
              <a:t> range</a:t>
            </a:r>
            <a:r>
              <a:rPr lang="en-US" sz="1100" b="1" kern="1200" dirty="0">
                <a:solidFill>
                  <a:srgbClr val="000080"/>
                </a:solidFill>
                <a:latin typeface="+mn-lt"/>
              </a:rPr>
              <a:t>(</a:t>
            </a:r>
            <a:r>
              <a:rPr lang="en-US" sz="1100" kern="1200" dirty="0">
                <a:solidFill>
                  <a:srgbClr val="FF0000"/>
                </a:solidFill>
                <a:latin typeface="+mn-lt"/>
              </a:rPr>
              <a:t>5</a:t>
            </a:r>
            <a:r>
              <a:rPr lang="en-US" sz="1100" b="1" kern="1200" dirty="0">
                <a:solidFill>
                  <a:srgbClr val="000080"/>
                </a:solidFill>
                <a:latin typeface="+mn-lt"/>
              </a:rPr>
              <a:t>):</a:t>
            </a:r>
            <a:r>
              <a:rPr lang="en-US" sz="1100" kern="1200" dirty="0">
                <a:solidFill>
                  <a:srgbClr val="000000"/>
                </a:solidFill>
                <a:latin typeface="+mn-lt"/>
              </a:rPr>
              <a:t> </a:t>
            </a:r>
          </a:p>
          <a:p>
            <a:pPr lvl="0" eaLnBrk="0" fontAlgn="base" hangingPunct="0">
              <a:spcBef>
                <a:spcPct val="0"/>
              </a:spcBef>
              <a:spcAft>
                <a:spcPct val="0"/>
              </a:spcAft>
              <a:buClrTx/>
              <a:buNone/>
              <a:defRPr/>
            </a:pPr>
            <a:r>
              <a:rPr lang="en-US" sz="1100" kern="1200" dirty="0">
                <a:solidFill>
                  <a:srgbClr val="000000"/>
                </a:solidFill>
                <a:latin typeface="+mn-lt"/>
              </a:rPr>
              <a:t>    User</a:t>
            </a:r>
            <a:r>
              <a:rPr lang="en-US" sz="1100" b="1" kern="1200" dirty="0">
                <a:solidFill>
                  <a:srgbClr val="000080"/>
                </a:solidFill>
                <a:latin typeface="+mn-lt"/>
              </a:rPr>
              <a:t>(</a:t>
            </a:r>
            <a:r>
              <a:rPr lang="en-US" sz="1100" kern="1200" dirty="0">
                <a:solidFill>
                  <a:srgbClr val="000000"/>
                </a:solidFill>
                <a:latin typeface="+mn-lt"/>
              </a:rPr>
              <a:t>email</a:t>
            </a:r>
            <a:r>
              <a:rPr lang="en-US" sz="1100" b="1" kern="1200" dirty="0">
                <a:solidFill>
                  <a:srgbClr val="000080"/>
                </a:solidFill>
                <a:latin typeface="+mn-lt"/>
              </a:rPr>
              <a:t>=</a:t>
            </a:r>
            <a:r>
              <a:rPr lang="en-US" sz="1100" kern="1200" dirty="0">
                <a:solidFill>
                  <a:srgbClr val="808080"/>
                </a:solidFill>
                <a:latin typeface="+mn-lt"/>
              </a:rPr>
              <a:t>'test@example.com'</a:t>
            </a:r>
            <a:r>
              <a:rPr lang="en-US" sz="1100" b="1" kern="1200" dirty="0">
                <a:solidFill>
                  <a:srgbClr val="000080"/>
                </a:solidFill>
                <a:latin typeface="+mn-lt"/>
              </a:rPr>
              <a:t>, </a:t>
            </a:r>
            <a:r>
              <a:rPr lang="en-US" sz="1100" kern="1200" dirty="0">
                <a:solidFill>
                  <a:srgbClr val="000000"/>
                </a:solidFill>
                <a:latin typeface="+mn-lt"/>
              </a:rPr>
              <a:t>first_name</a:t>
            </a:r>
            <a:r>
              <a:rPr lang="en-US" sz="1100" b="1" kern="1200" dirty="0">
                <a:solidFill>
                  <a:srgbClr val="000080"/>
                </a:solidFill>
                <a:latin typeface="+mn-lt"/>
              </a:rPr>
              <a:t>=</a:t>
            </a:r>
            <a:r>
              <a:rPr lang="en-US" sz="1100" dirty="0">
                <a:solidFill>
                  <a:srgbClr val="808080"/>
                </a:solidFill>
                <a:latin typeface="+mn-lt"/>
              </a:rPr>
              <a:t>f</a:t>
            </a:r>
            <a:r>
              <a:rPr lang="en-US" sz="1100" kern="1200" dirty="0">
                <a:solidFill>
                  <a:srgbClr val="808080"/>
                </a:solidFill>
                <a:latin typeface="+mn-lt"/>
              </a:rPr>
              <a:t>'User</a:t>
            </a:r>
            <a:r>
              <a:rPr lang="en-US" sz="1100" b="1" dirty="0">
                <a:solidFill>
                  <a:srgbClr val="000080"/>
                </a:solidFill>
                <a:latin typeface="+mn-lt"/>
              </a:rPr>
              <a:t>{</a:t>
            </a:r>
            <a:r>
              <a:rPr lang="en-US" sz="1100" kern="1200" dirty="0">
                <a:solidFill>
                  <a:srgbClr val="000000"/>
                </a:solidFill>
                <a:latin typeface="+mn-lt"/>
              </a:rPr>
              <a:t>i</a:t>
            </a:r>
            <a:r>
              <a:rPr lang="en-US" sz="1100" b="1" dirty="0">
                <a:solidFill>
                  <a:srgbClr val="000080"/>
                </a:solidFill>
                <a:latin typeface="+mn-lt"/>
              </a:rPr>
              <a:t>}</a:t>
            </a:r>
            <a:r>
              <a:rPr lang="en-US" sz="1100" kern="1200" dirty="0">
                <a:solidFill>
                  <a:srgbClr val="808080"/>
                </a:solidFill>
                <a:latin typeface="+mn-lt"/>
              </a:rPr>
              <a:t>'</a:t>
            </a:r>
            <a:r>
              <a:rPr lang="en-US" sz="1100" b="1" kern="1200" dirty="0">
                <a:solidFill>
                  <a:srgbClr val="000080"/>
                </a:solidFill>
                <a:latin typeface="+mn-lt"/>
              </a:rPr>
              <a:t>,</a:t>
            </a:r>
            <a:r>
              <a:rPr lang="en-US" sz="1100" kern="1200" dirty="0">
                <a:solidFill>
                  <a:srgbClr val="000000"/>
                </a:solidFill>
                <a:latin typeface="+mn-lt"/>
              </a:rPr>
              <a:t> last_name</a:t>
            </a:r>
            <a:r>
              <a:rPr lang="en-US" sz="1100" b="1" kern="1200" dirty="0">
                <a:solidFill>
                  <a:srgbClr val="000080"/>
                </a:solidFill>
                <a:latin typeface="+mn-lt"/>
              </a:rPr>
              <a:t>=</a:t>
            </a:r>
            <a:r>
              <a:rPr lang="en-US" sz="1100" kern="1200" dirty="0">
                <a:solidFill>
                  <a:srgbClr val="808080"/>
                </a:solidFill>
                <a:latin typeface="+mn-lt"/>
              </a:rPr>
              <a:t>'Test'</a:t>
            </a:r>
            <a:r>
              <a:rPr lang="en-US" sz="1100" b="1" kern="1200" dirty="0">
                <a:solidFill>
                  <a:srgbClr val="000080"/>
                </a:solidFill>
                <a:latin typeface="+mn-lt"/>
              </a:rPr>
              <a:t>).</a:t>
            </a:r>
            <a:r>
              <a:rPr lang="en-US" sz="1100" kern="1200" dirty="0">
                <a:solidFill>
                  <a:srgbClr val="000000"/>
                </a:solidFill>
                <a:latin typeface="+mn-lt"/>
              </a:rPr>
              <a:t>save</a:t>
            </a:r>
            <a:r>
              <a:rPr lang="en-US" sz="1100" b="1" kern="1200" dirty="0">
                <a:solidFill>
                  <a:srgbClr val="000080"/>
                </a:solidFill>
                <a:latin typeface="+mn-lt"/>
              </a:rPr>
              <a:t>()</a:t>
            </a:r>
            <a:r>
              <a:rPr lang="en-US" sz="1100" kern="1200" dirty="0">
                <a:solidFill>
                  <a:srgbClr val="000000"/>
                </a:solidFill>
                <a:latin typeface="+mn-lt"/>
              </a:rPr>
              <a:t> </a:t>
            </a:r>
          </a:p>
          <a:p>
            <a:pPr lvl="0" eaLnBrk="0" fontAlgn="base" hangingPunct="0">
              <a:spcBef>
                <a:spcPct val="0"/>
              </a:spcBef>
              <a:spcAft>
                <a:spcPct val="0"/>
              </a:spcAft>
              <a:buClrTx/>
              <a:buNone/>
              <a:defRPr/>
            </a:pPr>
            <a:endParaRPr lang="en-US" sz="1100" b="1" kern="1200" dirty="0">
              <a:solidFill>
                <a:srgbClr val="0000FF"/>
              </a:solidFill>
              <a:latin typeface="+mn-lt"/>
            </a:endParaRPr>
          </a:p>
          <a:p>
            <a:pPr lvl="0" eaLnBrk="0" fontAlgn="base" hangingPunct="0">
              <a:spcBef>
                <a:spcPct val="0"/>
              </a:spcBef>
              <a:spcAft>
                <a:spcPct val="0"/>
              </a:spcAft>
              <a:buClrTx/>
              <a:buNone/>
              <a:defRPr/>
            </a:pPr>
            <a:r>
              <a:rPr lang="en-US" sz="1100" kern="1200" dirty="0">
                <a:solidFill>
                  <a:srgbClr val="008000"/>
                </a:solidFill>
                <a:latin typeface="+mn-lt"/>
              </a:rPr>
              <a:t># </a:t>
            </a:r>
            <a:r>
              <a:rPr lang="ru-RU" sz="1100" kern="1200" dirty="0">
                <a:solidFill>
                  <a:srgbClr val="008000"/>
                </a:solidFill>
                <a:latin typeface="+mn-lt"/>
              </a:rPr>
              <a:t>Проверяем, что получилось</a:t>
            </a:r>
            <a:r>
              <a:rPr lang="ru-RU" sz="1100" kern="1200" dirty="0">
                <a:solidFill>
                  <a:srgbClr val="000000"/>
                </a:solidFill>
                <a:latin typeface="+mn-lt"/>
              </a:rPr>
              <a:t> </a:t>
            </a:r>
            <a:endParaRPr lang="en-US" sz="1100" kern="1200" dirty="0">
              <a:solidFill>
                <a:srgbClr val="000000"/>
              </a:solidFill>
              <a:latin typeface="+mn-lt"/>
            </a:endParaRPr>
          </a:p>
          <a:p>
            <a:pPr lvl="0" eaLnBrk="0" fontAlgn="base" hangingPunct="0">
              <a:spcBef>
                <a:spcPct val="0"/>
              </a:spcBef>
              <a:spcAft>
                <a:spcPct val="0"/>
              </a:spcAft>
              <a:buClrTx/>
              <a:buNone/>
              <a:defRPr/>
            </a:pPr>
            <a:r>
              <a:rPr lang="en-US" sz="1100" b="1" kern="1200" dirty="0">
                <a:solidFill>
                  <a:srgbClr val="0000FF"/>
                </a:solidFill>
                <a:latin typeface="+mn-lt"/>
              </a:rPr>
              <a:t>print</a:t>
            </a:r>
            <a:r>
              <a:rPr lang="en-US" sz="1100" b="1" kern="1200" dirty="0">
                <a:solidFill>
                  <a:srgbClr val="000080"/>
                </a:solidFill>
                <a:latin typeface="+mn-lt"/>
              </a:rPr>
              <a:t>(</a:t>
            </a:r>
            <a:r>
              <a:rPr lang="en-US" sz="1100" kern="1200" dirty="0">
                <a:solidFill>
                  <a:srgbClr val="000000"/>
                </a:solidFill>
                <a:latin typeface="+mn-lt"/>
              </a:rPr>
              <a:t>User</a:t>
            </a:r>
            <a:r>
              <a:rPr lang="en-US" sz="1100" b="1" kern="1200" dirty="0">
                <a:solidFill>
                  <a:srgbClr val="000080"/>
                </a:solidFill>
                <a:latin typeface="+mn-lt"/>
              </a:rPr>
              <a:t>.</a:t>
            </a:r>
            <a:r>
              <a:rPr lang="en-US" sz="1100" kern="1200" dirty="0">
                <a:solidFill>
                  <a:srgbClr val="000000"/>
                </a:solidFill>
                <a:latin typeface="+mn-lt"/>
              </a:rPr>
              <a:t>objects</a:t>
            </a:r>
            <a:r>
              <a:rPr lang="en-US" sz="1100" b="1" kern="1200" dirty="0">
                <a:solidFill>
                  <a:srgbClr val="000080"/>
                </a:solidFill>
                <a:latin typeface="+mn-lt"/>
              </a:rPr>
              <a:t>.</a:t>
            </a:r>
            <a:r>
              <a:rPr lang="en-US" sz="1100" kern="1200" dirty="0">
                <a:solidFill>
                  <a:srgbClr val="000000"/>
                </a:solidFill>
                <a:latin typeface="+mn-lt"/>
              </a:rPr>
              <a:t>filter</a:t>
            </a:r>
            <a:r>
              <a:rPr lang="en-US" sz="1100" b="1" kern="1200" dirty="0">
                <a:solidFill>
                  <a:srgbClr val="000080"/>
                </a:solidFill>
                <a:latin typeface="+mn-lt"/>
              </a:rPr>
              <a:t>(</a:t>
            </a:r>
            <a:r>
              <a:rPr lang="en-US" sz="1100" kern="1200" dirty="0">
                <a:solidFill>
                  <a:srgbClr val="000000"/>
                </a:solidFill>
                <a:latin typeface="+mn-lt"/>
              </a:rPr>
              <a:t>first_name</a:t>
            </a:r>
            <a:r>
              <a:rPr lang="en-US" sz="1100" b="1" kern="1200" dirty="0">
                <a:solidFill>
                  <a:srgbClr val="000080"/>
                </a:solidFill>
                <a:latin typeface="+mn-lt"/>
              </a:rPr>
              <a:t>=</a:t>
            </a:r>
            <a:r>
              <a:rPr lang="en-US" sz="1100" kern="1200" dirty="0">
                <a:solidFill>
                  <a:srgbClr val="808080"/>
                </a:solidFill>
                <a:latin typeface="+mn-lt"/>
              </a:rPr>
              <a:t>'User3'</a:t>
            </a:r>
            <a:r>
              <a:rPr lang="en-US" sz="1100" b="1" kern="1200" dirty="0">
                <a:solidFill>
                  <a:srgbClr val="000080"/>
                </a:solidFill>
                <a:latin typeface="+mn-lt"/>
              </a:rPr>
              <a:t>))</a:t>
            </a:r>
            <a:r>
              <a:rPr lang="en-US" sz="1100" kern="1200" dirty="0">
                <a:solidFill>
                  <a:srgbClr val="000000"/>
                </a:solidFill>
                <a:latin typeface="+mn-lt"/>
              </a:rPr>
              <a:t> </a:t>
            </a:r>
          </a:p>
          <a:p>
            <a:pPr lvl="0" eaLnBrk="0" fontAlgn="base" hangingPunct="0">
              <a:spcBef>
                <a:spcPct val="0"/>
              </a:spcBef>
              <a:spcAft>
                <a:spcPct val="0"/>
              </a:spcAft>
              <a:buClrTx/>
              <a:buNone/>
              <a:defRPr/>
            </a:pPr>
            <a:endParaRPr lang="en-US" sz="1100" kern="1200" dirty="0">
              <a:solidFill>
                <a:srgbClr val="000000"/>
              </a:solidFill>
              <a:latin typeface="+mn-lt"/>
            </a:endParaRPr>
          </a:p>
          <a:p>
            <a:pPr lvl="0" eaLnBrk="0" fontAlgn="base" hangingPunct="0">
              <a:spcBef>
                <a:spcPct val="0"/>
              </a:spcBef>
              <a:spcAft>
                <a:spcPct val="0"/>
              </a:spcAft>
              <a:buClrTx/>
              <a:buNone/>
              <a:defRPr/>
            </a:pPr>
            <a:r>
              <a:rPr lang="en-US" sz="1100" kern="1200" dirty="0">
                <a:solidFill>
                  <a:srgbClr val="008000"/>
                </a:solidFill>
                <a:latin typeface="+mn-lt"/>
              </a:rPr>
              <a:t># </a:t>
            </a:r>
            <a:r>
              <a:rPr lang="ru-RU" sz="1100" kern="1200" dirty="0">
                <a:solidFill>
                  <a:srgbClr val="008000"/>
                </a:solidFill>
                <a:latin typeface="+mn-lt"/>
              </a:rPr>
              <a:t>Двойное нижнее подчеркивание используется для</a:t>
            </a:r>
            <a:r>
              <a:rPr lang="ru-RU" sz="1100" kern="1200" dirty="0">
                <a:solidFill>
                  <a:srgbClr val="000000"/>
                </a:solidFill>
                <a:latin typeface="+mn-lt"/>
              </a:rPr>
              <a:t> </a:t>
            </a:r>
            <a:endParaRPr lang="en-US" sz="1100" kern="1200" dirty="0">
              <a:solidFill>
                <a:srgbClr val="000000"/>
              </a:solidFill>
              <a:latin typeface="+mn-lt"/>
            </a:endParaRPr>
          </a:p>
          <a:p>
            <a:pPr lvl="0" eaLnBrk="0" fontAlgn="base" hangingPunct="0">
              <a:spcBef>
                <a:spcPct val="0"/>
              </a:spcBef>
              <a:spcAft>
                <a:spcPct val="0"/>
              </a:spcAft>
              <a:buClrTx/>
              <a:buNone/>
              <a:defRPr/>
            </a:pPr>
            <a:r>
              <a:rPr lang="ru-RU" sz="1100" kern="1200" dirty="0">
                <a:solidFill>
                  <a:srgbClr val="008000"/>
                </a:solidFill>
                <a:latin typeface="+mn-lt"/>
              </a:rPr>
              <a:t># задания регулярного выражения</a:t>
            </a:r>
            <a:r>
              <a:rPr lang="ru-RU" sz="1100" kern="1200" dirty="0">
                <a:solidFill>
                  <a:srgbClr val="000000"/>
                </a:solidFill>
                <a:latin typeface="+mn-lt"/>
              </a:rPr>
              <a:t> </a:t>
            </a:r>
            <a:endParaRPr lang="en-US" sz="1100" kern="1200" dirty="0">
              <a:solidFill>
                <a:srgbClr val="000000"/>
              </a:solidFill>
              <a:latin typeface="+mn-lt"/>
            </a:endParaRPr>
          </a:p>
          <a:p>
            <a:pPr lvl="0" eaLnBrk="0" fontAlgn="base" hangingPunct="0">
              <a:spcBef>
                <a:spcPct val="0"/>
              </a:spcBef>
              <a:spcAft>
                <a:spcPct val="0"/>
              </a:spcAft>
              <a:buClrTx/>
              <a:buNone/>
              <a:defRPr/>
            </a:pPr>
            <a:r>
              <a:rPr lang="en-US" sz="1100" b="1" kern="1200" dirty="0">
                <a:solidFill>
                  <a:srgbClr val="0000FF"/>
                </a:solidFill>
                <a:latin typeface="+mn-lt"/>
              </a:rPr>
              <a:t>print</a:t>
            </a:r>
            <a:r>
              <a:rPr lang="en-US" sz="1100" b="1" kern="1200" dirty="0">
                <a:solidFill>
                  <a:srgbClr val="000080"/>
                </a:solidFill>
                <a:latin typeface="+mn-lt"/>
              </a:rPr>
              <a:t>(</a:t>
            </a:r>
            <a:r>
              <a:rPr lang="en-US" sz="1100" kern="1200" dirty="0">
                <a:solidFill>
                  <a:srgbClr val="000000"/>
                </a:solidFill>
                <a:latin typeface="+mn-lt"/>
              </a:rPr>
              <a:t>User</a:t>
            </a:r>
            <a:r>
              <a:rPr lang="en-US" sz="1100" b="1" kern="1200" dirty="0">
                <a:solidFill>
                  <a:srgbClr val="000080"/>
                </a:solidFill>
                <a:latin typeface="+mn-lt"/>
              </a:rPr>
              <a:t>.</a:t>
            </a:r>
            <a:r>
              <a:rPr lang="en-US" sz="1100" kern="1200" dirty="0">
                <a:solidFill>
                  <a:srgbClr val="000000"/>
                </a:solidFill>
                <a:latin typeface="+mn-lt"/>
              </a:rPr>
              <a:t>objects</a:t>
            </a:r>
            <a:r>
              <a:rPr lang="en-US" sz="1100" b="1" kern="1200" dirty="0">
                <a:solidFill>
                  <a:srgbClr val="000080"/>
                </a:solidFill>
                <a:latin typeface="+mn-lt"/>
              </a:rPr>
              <a:t>.</a:t>
            </a:r>
            <a:r>
              <a:rPr lang="en-US" sz="1100" kern="1200" dirty="0">
                <a:solidFill>
                  <a:srgbClr val="000000"/>
                </a:solidFill>
                <a:latin typeface="+mn-lt"/>
              </a:rPr>
              <a:t>filter</a:t>
            </a:r>
            <a:r>
              <a:rPr lang="en-US" sz="1100" b="1" kern="1200" dirty="0">
                <a:solidFill>
                  <a:srgbClr val="000080"/>
                </a:solidFill>
                <a:latin typeface="+mn-lt"/>
              </a:rPr>
              <a:t>(</a:t>
            </a:r>
            <a:r>
              <a:rPr lang="en-US" sz="1100" kern="1200" dirty="0">
                <a:solidFill>
                  <a:srgbClr val="000000"/>
                </a:solidFill>
                <a:latin typeface="+mn-lt"/>
              </a:rPr>
              <a:t>first_name__startswith</a:t>
            </a:r>
            <a:r>
              <a:rPr lang="en-US" sz="1100" b="1" kern="1200" dirty="0">
                <a:solidFill>
                  <a:srgbClr val="000080"/>
                </a:solidFill>
                <a:latin typeface="+mn-lt"/>
              </a:rPr>
              <a:t>=</a:t>
            </a:r>
            <a:r>
              <a:rPr lang="en-US" sz="1100" kern="1200" dirty="0">
                <a:solidFill>
                  <a:srgbClr val="808080"/>
                </a:solidFill>
                <a:latin typeface="+mn-lt"/>
              </a:rPr>
              <a:t>'User'</a:t>
            </a:r>
            <a:r>
              <a:rPr lang="en-US" sz="1100" b="1" kern="1200" dirty="0">
                <a:solidFill>
                  <a:srgbClr val="000080"/>
                </a:solidFill>
                <a:latin typeface="+mn-lt"/>
              </a:rPr>
              <a:t>))</a:t>
            </a:r>
            <a:r>
              <a:rPr lang="en-US" sz="1100" kern="1200" dirty="0">
                <a:solidFill>
                  <a:srgbClr val="000000"/>
                </a:solidFill>
                <a:latin typeface="+mn-lt"/>
              </a:rPr>
              <a:t> </a:t>
            </a:r>
            <a:endParaRPr lang="ru-RU" sz="1100" kern="1200" dirty="0">
              <a:solidFill>
                <a:srgbClr val="000000"/>
              </a:solidFill>
              <a:latin typeface="+mn-lt"/>
            </a:endParaRPr>
          </a:p>
          <a:p>
            <a:pPr lvl="0" eaLnBrk="0" fontAlgn="base" hangingPunct="0">
              <a:spcBef>
                <a:spcPct val="0"/>
              </a:spcBef>
              <a:spcAft>
                <a:spcPct val="0"/>
              </a:spcAft>
              <a:buClrTx/>
              <a:buNone/>
              <a:defRPr/>
            </a:pPr>
            <a:endParaRPr lang="ru-RU" sz="1100" kern="1200" dirty="0">
              <a:solidFill>
                <a:srgbClr val="000000"/>
              </a:solidFill>
              <a:latin typeface="+mn-lt"/>
            </a:endParaRPr>
          </a:p>
          <a:p>
            <a:pPr lvl="0" eaLnBrk="0" fontAlgn="base" hangingPunct="0">
              <a:spcBef>
                <a:spcPct val="0"/>
              </a:spcBef>
              <a:spcAft>
                <a:spcPct val="0"/>
              </a:spcAft>
              <a:buClrTx/>
              <a:buNone/>
              <a:defRPr/>
            </a:pPr>
            <a:r>
              <a:rPr lang="en-US" sz="1100" kern="1200" dirty="0">
                <a:solidFill>
                  <a:srgbClr val="008000"/>
                </a:solidFill>
                <a:latin typeface="+mn-lt"/>
              </a:rPr>
              <a:t># </a:t>
            </a:r>
            <a:r>
              <a:rPr lang="ru-RU" sz="1100" kern="1200" dirty="0">
                <a:solidFill>
                  <a:srgbClr val="008000"/>
                </a:solidFill>
                <a:latin typeface="+mn-lt"/>
              </a:rPr>
              <a:t>Удаляем запись в базе данных</a:t>
            </a:r>
            <a:r>
              <a:rPr lang="ru-RU" sz="1100" kern="1200" dirty="0">
                <a:solidFill>
                  <a:srgbClr val="000000"/>
                </a:solidFill>
                <a:latin typeface="+mn-lt"/>
              </a:rPr>
              <a:t> </a:t>
            </a:r>
          </a:p>
          <a:p>
            <a:pPr lvl="0" eaLnBrk="0" fontAlgn="base" hangingPunct="0">
              <a:spcBef>
                <a:spcPct val="0"/>
              </a:spcBef>
              <a:spcAft>
                <a:spcPct val="0"/>
              </a:spcAft>
              <a:buClrTx/>
              <a:buNone/>
              <a:defRPr/>
            </a:pPr>
            <a:r>
              <a:rPr lang="en-US" sz="1100" kern="1200" dirty="0">
                <a:solidFill>
                  <a:srgbClr val="000000"/>
                </a:solidFill>
                <a:latin typeface="+mn-lt"/>
              </a:rPr>
              <a:t>User</a:t>
            </a:r>
            <a:r>
              <a:rPr lang="en-US" sz="1100" b="1" kern="1200" dirty="0">
                <a:solidFill>
                  <a:srgbClr val="000080"/>
                </a:solidFill>
                <a:latin typeface="+mn-lt"/>
              </a:rPr>
              <a:t>.</a:t>
            </a:r>
            <a:r>
              <a:rPr lang="en-US" sz="1100" kern="1200" dirty="0">
                <a:solidFill>
                  <a:srgbClr val="000000"/>
                </a:solidFill>
                <a:latin typeface="+mn-lt"/>
              </a:rPr>
              <a:t>objects</a:t>
            </a:r>
            <a:r>
              <a:rPr lang="en-US" sz="1100" b="1" kern="1200" dirty="0">
                <a:solidFill>
                  <a:srgbClr val="000080"/>
                </a:solidFill>
                <a:latin typeface="+mn-lt"/>
              </a:rPr>
              <a:t>(</a:t>
            </a:r>
            <a:r>
              <a:rPr lang="en-US" sz="1100" kern="1200" dirty="0">
                <a:solidFill>
                  <a:srgbClr val="000000"/>
                </a:solidFill>
                <a:latin typeface="+mn-lt"/>
              </a:rPr>
              <a:t>first_name__startswith</a:t>
            </a:r>
            <a:r>
              <a:rPr lang="en-US" sz="1100" b="1" kern="1200" dirty="0">
                <a:solidFill>
                  <a:srgbClr val="000080"/>
                </a:solidFill>
                <a:latin typeface="+mn-lt"/>
              </a:rPr>
              <a:t>=</a:t>
            </a:r>
            <a:r>
              <a:rPr lang="en-US" sz="1100" kern="1200" dirty="0">
                <a:solidFill>
                  <a:srgbClr val="808080"/>
                </a:solidFill>
                <a:latin typeface="+mn-lt"/>
              </a:rPr>
              <a:t>'User'</a:t>
            </a:r>
            <a:r>
              <a:rPr lang="en-US" sz="1100" b="1" kern="1200" dirty="0">
                <a:solidFill>
                  <a:srgbClr val="000080"/>
                </a:solidFill>
                <a:latin typeface="+mn-lt"/>
              </a:rPr>
              <a:t>).</a:t>
            </a:r>
            <a:r>
              <a:rPr lang="en-US" sz="1100" kern="1200" dirty="0">
                <a:solidFill>
                  <a:srgbClr val="000000"/>
                </a:solidFill>
                <a:latin typeface="+mn-lt"/>
              </a:rPr>
              <a:t>delete</a:t>
            </a:r>
            <a:r>
              <a:rPr lang="en-US" sz="1100" b="1" kern="1200" dirty="0">
                <a:solidFill>
                  <a:srgbClr val="000080"/>
                </a:solidFill>
                <a:latin typeface="+mn-lt"/>
              </a:rPr>
              <a:t>()</a:t>
            </a:r>
            <a:r>
              <a:rPr lang="en-US" sz="1100" kern="1200" dirty="0">
                <a:solidFill>
                  <a:srgbClr val="000000"/>
                </a:solidFill>
                <a:latin typeface="+mn-lt"/>
              </a:rPr>
              <a:t> </a:t>
            </a:r>
            <a:endParaRPr lang="ru-RU" sz="1100" kern="1200" dirty="0">
              <a:solidFill>
                <a:srgbClr val="000000"/>
              </a:solidFill>
              <a:latin typeface="+mn-lt"/>
            </a:endParaRPr>
          </a:p>
          <a:p>
            <a:pPr lvl="0" eaLnBrk="0" fontAlgn="base" hangingPunct="0">
              <a:spcBef>
                <a:spcPct val="0"/>
              </a:spcBef>
              <a:spcAft>
                <a:spcPct val="0"/>
              </a:spcAft>
              <a:buClrTx/>
              <a:buNone/>
              <a:defRPr/>
            </a:pPr>
            <a:endParaRPr lang="ru-RU" sz="1100" b="1" kern="1200" dirty="0">
              <a:solidFill>
                <a:srgbClr val="0000FF"/>
              </a:solidFill>
              <a:latin typeface="+mn-lt"/>
            </a:endParaRPr>
          </a:p>
          <a:p>
            <a:pPr lvl="0" eaLnBrk="0" fontAlgn="base" hangingPunct="0">
              <a:spcBef>
                <a:spcPct val="0"/>
              </a:spcBef>
              <a:spcAft>
                <a:spcPct val="0"/>
              </a:spcAft>
              <a:buClrTx/>
              <a:buNone/>
              <a:defRPr/>
            </a:pPr>
            <a:r>
              <a:rPr lang="en-US" sz="1100" kern="1200" dirty="0">
                <a:solidFill>
                  <a:srgbClr val="008000"/>
                </a:solidFill>
                <a:latin typeface="+mn-lt"/>
              </a:rPr>
              <a:t># </a:t>
            </a:r>
            <a:r>
              <a:rPr lang="ru-RU" sz="1100" kern="1200" dirty="0">
                <a:solidFill>
                  <a:srgbClr val="008000"/>
                </a:solidFill>
                <a:latin typeface="+mn-lt"/>
              </a:rPr>
              <a:t>Проверяем, что получилось</a:t>
            </a:r>
            <a:r>
              <a:rPr lang="ru-RU" sz="1100" kern="1200" dirty="0">
                <a:solidFill>
                  <a:srgbClr val="000000"/>
                </a:solidFill>
                <a:latin typeface="+mn-lt"/>
              </a:rPr>
              <a:t> </a:t>
            </a:r>
            <a:endParaRPr lang="en-US" sz="1100" kern="1200" dirty="0">
              <a:solidFill>
                <a:srgbClr val="000000"/>
              </a:solidFill>
              <a:latin typeface="+mn-lt"/>
            </a:endParaRPr>
          </a:p>
          <a:p>
            <a:pPr lvl="0" eaLnBrk="0" fontAlgn="base" hangingPunct="0">
              <a:spcBef>
                <a:spcPct val="0"/>
              </a:spcBef>
              <a:spcAft>
                <a:spcPct val="0"/>
              </a:spcAft>
              <a:buClrTx/>
              <a:buNone/>
              <a:defRPr/>
            </a:pPr>
            <a:r>
              <a:rPr lang="en-US" sz="1100" b="1" kern="1200" dirty="0">
                <a:solidFill>
                  <a:srgbClr val="0000FF"/>
                </a:solidFill>
                <a:latin typeface="+mn-lt"/>
              </a:rPr>
              <a:t>print</a:t>
            </a:r>
            <a:r>
              <a:rPr lang="en-US" sz="1100" b="1" kern="1200" dirty="0">
                <a:solidFill>
                  <a:srgbClr val="000080"/>
                </a:solidFill>
                <a:latin typeface="+mn-lt"/>
              </a:rPr>
              <a:t>(</a:t>
            </a:r>
            <a:r>
              <a:rPr lang="en-US" sz="1100" dirty="0">
                <a:solidFill>
                  <a:srgbClr val="808080"/>
                </a:solidFill>
                <a:latin typeface="+mn-lt"/>
              </a:rPr>
              <a:t>f</a:t>
            </a:r>
            <a:r>
              <a:rPr lang="en-US" sz="1100" kern="1200" dirty="0">
                <a:solidFill>
                  <a:srgbClr val="808080"/>
                </a:solidFill>
                <a:latin typeface="+mn-lt"/>
              </a:rPr>
              <a:t>'</a:t>
            </a:r>
            <a:r>
              <a:rPr lang="ru-RU" sz="1100" kern="1200" dirty="0">
                <a:solidFill>
                  <a:srgbClr val="808080"/>
                </a:solidFill>
                <a:latin typeface="+mn-lt"/>
              </a:rPr>
              <a:t>Документов в базе: </a:t>
            </a:r>
            <a:r>
              <a:rPr lang="en-US" sz="1100" b="1" dirty="0">
                <a:solidFill>
                  <a:srgbClr val="000080"/>
                </a:solidFill>
                <a:latin typeface="+mn-lt"/>
              </a:rPr>
              <a:t>{</a:t>
            </a:r>
            <a:r>
              <a:rPr lang="en-US" sz="1100" kern="1200" dirty="0">
                <a:solidFill>
                  <a:srgbClr val="000000"/>
                </a:solidFill>
                <a:latin typeface="+mn-lt"/>
              </a:rPr>
              <a:t>User</a:t>
            </a:r>
            <a:r>
              <a:rPr lang="en-US" sz="1100" b="1" kern="1200" dirty="0">
                <a:solidFill>
                  <a:srgbClr val="000080"/>
                </a:solidFill>
                <a:latin typeface="+mn-lt"/>
              </a:rPr>
              <a:t>.</a:t>
            </a:r>
            <a:r>
              <a:rPr lang="en-US" sz="1100" kern="1200" dirty="0">
                <a:solidFill>
                  <a:srgbClr val="000000"/>
                </a:solidFill>
                <a:latin typeface="+mn-lt"/>
              </a:rPr>
              <a:t>objects</a:t>
            </a:r>
            <a:r>
              <a:rPr lang="en-US" sz="1100" b="1" kern="1200" dirty="0">
                <a:solidFill>
                  <a:srgbClr val="000080"/>
                </a:solidFill>
                <a:latin typeface="+mn-lt"/>
              </a:rPr>
              <a:t>.</a:t>
            </a:r>
            <a:r>
              <a:rPr lang="en-US" sz="1100" kern="1200" dirty="0">
                <a:solidFill>
                  <a:srgbClr val="000000"/>
                </a:solidFill>
                <a:latin typeface="+mn-lt"/>
              </a:rPr>
              <a:t>count</a:t>
            </a:r>
            <a:r>
              <a:rPr lang="en-US" sz="1100" b="1" kern="1200" dirty="0">
                <a:solidFill>
                  <a:srgbClr val="000080"/>
                </a:solidFill>
                <a:latin typeface="+mn-lt"/>
              </a:rPr>
              <a:t>()</a:t>
            </a:r>
            <a:r>
              <a:rPr lang="en-US" sz="1100" b="1" dirty="0">
                <a:solidFill>
                  <a:srgbClr val="000080"/>
                </a:solidFill>
                <a:latin typeface="+mn-lt"/>
              </a:rPr>
              <a:t>}</a:t>
            </a:r>
            <a:r>
              <a:rPr lang="ru-RU" sz="1100" kern="1200" dirty="0">
                <a:solidFill>
                  <a:srgbClr val="808080"/>
                </a:solidFill>
                <a:latin typeface="+mn-lt"/>
              </a:rPr>
              <a:t>'</a:t>
            </a:r>
            <a:r>
              <a:rPr lang="en-US" sz="1100" b="1" kern="1200" dirty="0">
                <a:solidFill>
                  <a:srgbClr val="000080"/>
                </a:solidFill>
                <a:latin typeface="+mn-lt"/>
              </a:rPr>
              <a:t>)</a:t>
            </a:r>
            <a:r>
              <a:rPr lang="en-US" sz="1100" kern="1200" dirty="0">
                <a:solidFill>
                  <a:srgbClr val="000000"/>
                </a:solidFill>
                <a:latin typeface="+mn-lt"/>
              </a:rPr>
              <a:t> </a:t>
            </a:r>
            <a:endParaRPr lang="ru-RU" sz="1100" kern="1200" dirty="0">
              <a:solidFill>
                <a:srgbClr val="000000"/>
              </a:solidFill>
              <a:latin typeface="+mn-lt"/>
            </a:endParaRPr>
          </a:p>
          <a:p>
            <a:pPr lvl="0" eaLnBrk="0" fontAlgn="base" hangingPunct="0">
              <a:spcBef>
                <a:spcPct val="0"/>
              </a:spcBef>
              <a:spcAft>
                <a:spcPct val="0"/>
              </a:spcAft>
              <a:buClrTx/>
              <a:buNone/>
              <a:defRPr/>
            </a:pPr>
            <a:endParaRPr lang="ru-RU" sz="1100" kern="1200" dirty="0">
              <a:solidFill>
                <a:srgbClr val="000000"/>
              </a:solidFill>
              <a:latin typeface="+mn-lt"/>
            </a:endParaRPr>
          </a:p>
          <a:p>
            <a:pPr lvl="0" eaLnBrk="0" fontAlgn="base" hangingPunct="0">
              <a:spcBef>
                <a:spcPct val="0"/>
              </a:spcBef>
              <a:spcAft>
                <a:spcPct val="0"/>
              </a:spcAft>
              <a:buClrTx/>
              <a:buNone/>
              <a:defRPr/>
            </a:pPr>
            <a:r>
              <a:rPr lang="en-US" sz="1100" kern="1200" dirty="0">
                <a:solidFill>
                  <a:srgbClr val="008000"/>
                </a:solidFill>
                <a:latin typeface="+mn-lt"/>
              </a:rPr>
              <a:t># </a:t>
            </a:r>
            <a:r>
              <a:rPr lang="ru-RU" sz="1100" kern="1200" dirty="0">
                <a:solidFill>
                  <a:srgbClr val="008000"/>
                </a:solidFill>
                <a:latin typeface="+mn-lt"/>
              </a:rPr>
              <a:t>Удаляем все записи в базе данных</a:t>
            </a:r>
            <a:r>
              <a:rPr lang="ru-RU" sz="1100" kern="1200" dirty="0">
                <a:solidFill>
                  <a:srgbClr val="000000"/>
                </a:solidFill>
                <a:latin typeface="+mn-lt"/>
              </a:rPr>
              <a:t> </a:t>
            </a:r>
          </a:p>
          <a:p>
            <a:pPr lvl="0" eaLnBrk="0" fontAlgn="base" hangingPunct="0">
              <a:spcBef>
                <a:spcPct val="0"/>
              </a:spcBef>
              <a:spcAft>
                <a:spcPct val="0"/>
              </a:spcAft>
              <a:buClrTx/>
              <a:buNone/>
              <a:defRPr/>
            </a:pPr>
            <a:r>
              <a:rPr lang="en-US" sz="1100" kern="1200" dirty="0">
                <a:solidFill>
                  <a:srgbClr val="000000"/>
                </a:solidFill>
                <a:latin typeface="+mn-lt"/>
              </a:rPr>
              <a:t>User</a:t>
            </a:r>
            <a:r>
              <a:rPr lang="en-US" sz="1100" b="1" kern="1200" dirty="0">
                <a:solidFill>
                  <a:srgbClr val="000080"/>
                </a:solidFill>
                <a:latin typeface="+mn-lt"/>
              </a:rPr>
              <a:t>.</a:t>
            </a:r>
            <a:r>
              <a:rPr lang="en-US" sz="1100" kern="1200" dirty="0">
                <a:solidFill>
                  <a:srgbClr val="000000"/>
                </a:solidFill>
                <a:latin typeface="+mn-lt"/>
              </a:rPr>
              <a:t>objects</a:t>
            </a:r>
            <a:r>
              <a:rPr lang="en-US" sz="1100" b="1" kern="1200" dirty="0">
                <a:solidFill>
                  <a:srgbClr val="000080"/>
                </a:solidFill>
                <a:latin typeface="+mn-lt"/>
              </a:rPr>
              <a:t>.</a:t>
            </a:r>
            <a:r>
              <a:rPr lang="en-US" sz="1100" kern="1200" dirty="0">
                <a:solidFill>
                  <a:srgbClr val="000000"/>
                </a:solidFill>
                <a:latin typeface="+mn-lt"/>
              </a:rPr>
              <a:t>delete</a:t>
            </a:r>
            <a:r>
              <a:rPr lang="en-US" sz="1100" b="1" kern="1200" dirty="0">
                <a:solidFill>
                  <a:srgbClr val="000080"/>
                </a:solidFill>
                <a:latin typeface="+mn-lt"/>
              </a:rPr>
              <a:t>()</a:t>
            </a:r>
            <a:endParaRPr lang="en-US" sz="1100" kern="1200" dirty="0">
              <a:solidFill>
                <a:srgbClr val="000000"/>
              </a:solidFill>
              <a:latin typeface="+mn-lt"/>
            </a:endParaRPr>
          </a:p>
        </p:txBody>
      </p:sp>
      <p:pic>
        <p:nvPicPr>
          <p:cNvPr id="8" name="Picture 2" descr="https://blog.rubrain.com/wp-content/uploads/2020/08/3-1.jpg">
            <a:extLst>
              <a:ext uri="{FF2B5EF4-FFF2-40B4-BE49-F238E27FC236}">
                <a16:creationId xmlns:a16="http://schemas.microsoft.com/office/drawing/2014/main" id="{428174DA-ECEE-4663-BEC1-624C82278A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841" r="25528"/>
          <a:stretch/>
        </p:blipFill>
        <p:spPr bwMode="auto">
          <a:xfrm>
            <a:off x="-143219" y="0"/>
            <a:ext cx="4572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9" name="Прямоугольник 8">
            <a:extLst>
              <a:ext uri="{FF2B5EF4-FFF2-40B4-BE49-F238E27FC236}">
                <a16:creationId xmlns:a16="http://schemas.microsoft.com/office/drawing/2014/main" id="{FF659AD8-5F22-46FB-B8C7-75DFB45DC6BD}"/>
              </a:ext>
            </a:extLst>
          </p:cNvPr>
          <p:cNvSpPr/>
          <p:nvPr/>
        </p:nvSpPr>
        <p:spPr>
          <a:xfrm>
            <a:off x="-143219" y="0"/>
            <a:ext cx="4572000" cy="5143500"/>
          </a:xfrm>
          <a:prstGeom prst="rect">
            <a:avLst/>
          </a:prstGeom>
          <a:gradFill>
            <a:gsLst>
              <a:gs pos="0">
                <a:schemeClr val="accent1">
                  <a:alpha val="60000"/>
                </a:schemeClr>
              </a:gs>
              <a:gs pos="100000">
                <a:schemeClr val="tx2">
                  <a:alpha val="6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Box 17">
            <a:extLst>
              <a:ext uri="{FF2B5EF4-FFF2-40B4-BE49-F238E27FC236}">
                <a16:creationId xmlns:a16="http://schemas.microsoft.com/office/drawing/2014/main" id="{C395706E-6585-475C-9C3C-2EC9DC4818D5}"/>
              </a:ext>
            </a:extLst>
          </p:cNvPr>
          <p:cNvSpPr txBox="1"/>
          <p:nvPr/>
        </p:nvSpPr>
        <p:spPr>
          <a:xfrm>
            <a:off x="279823" y="1792963"/>
            <a:ext cx="3743537" cy="1200329"/>
          </a:xfrm>
          <a:prstGeom prst="rect">
            <a:avLst/>
          </a:prstGeom>
          <a:noFill/>
        </p:spPr>
        <p:txBody>
          <a:bodyPr wrap="square">
            <a:spAutoFit/>
          </a:bodyPr>
          <a:lstStyle/>
          <a:p>
            <a:r>
              <a:rPr lang="en-US" sz="3600" kern="1200" dirty="0">
                <a:solidFill>
                  <a:schemeClr val="bg1"/>
                </a:solidFill>
                <a:latin typeface="+mj-lt"/>
              </a:rPr>
              <a:t>mongoengine: </a:t>
            </a:r>
            <a:r>
              <a:rPr lang="ru-RU" sz="3600" kern="1200" dirty="0">
                <a:solidFill>
                  <a:schemeClr val="bg1"/>
                </a:solidFill>
                <a:latin typeface="+mj-lt"/>
              </a:rPr>
              <a:t>пример</a:t>
            </a:r>
            <a:endParaRPr lang="ru-RU" sz="3600" dirty="0">
              <a:solidFill>
                <a:schemeClr val="bg1"/>
              </a:solidFill>
              <a:latin typeface="+mj-lt"/>
            </a:endParaRPr>
          </a:p>
        </p:txBody>
      </p:sp>
    </p:spTree>
    <p:extLst>
      <p:ext uri="{BB962C8B-B14F-4D97-AF65-F5344CB8AC3E}">
        <p14:creationId xmlns:p14="http://schemas.microsoft.com/office/powerpoint/2010/main" val="7707111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7"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4810539" y="841179"/>
            <a:ext cx="4333461" cy="346114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lvl="0" eaLnBrk="0" fontAlgn="base" hangingPunct="0">
              <a:spcBef>
                <a:spcPct val="0"/>
              </a:spcBef>
              <a:spcAft>
                <a:spcPct val="0"/>
              </a:spcAft>
              <a:buClrTx/>
              <a:buNone/>
              <a:defRPr/>
            </a:pPr>
            <a:r>
              <a:rPr lang="en-US" kern="1200" dirty="0">
                <a:solidFill>
                  <a:srgbClr val="000000"/>
                </a:solidFill>
                <a:latin typeface="+mn-lt"/>
                <a:cs typeface="Courier New" panose="02070309020205020404" pitchFamily="49" charset="0"/>
              </a:rPr>
              <a:t>MongoClient('localhost', 27017)</a:t>
            </a:r>
          </a:p>
          <a:p>
            <a:pPr lvl="0" eaLnBrk="0" fontAlgn="base" hangingPunct="0">
              <a:spcBef>
                <a:spcPct val="0"/>
              </a:spcBef>
              <a:spcAft>
                <a:spcPct val="0"/>
              </a:spcAft>
              <a:buClrTx/>
              <a:buNone/>
              <a:defRPr/>
            </a:pPr>
            <a:r>
              <a:rPr lang="ru-RU" kern="1200" dirty="0">
                <a:solidFill>
                  <a:srgbClr val="000000"/>
                </a:solidFill>
                <a:latin typeface="+mn-lt"/>
                <a:cs typeface="Courier New" panose="02070309020205020404" pitchFamily="49" charset="0"/>
              </a:rPr>
              <a:t>Документов в базе: 1</a:t>
            </a:r>
          </a:p>
          <a:p>
            <a:pPr lvl="0" eaLnBrk="0" fontAlgn="base" hangingPunct="0">
              <a:spcBef>
                <a:spcPct val="0"/>
              </a:spcBef>
              <a:spcAft>
                <a:spcPct val="0"/>
              </a:spcAft>
              <a:buClrTx/>
              <a:buNone/>
              <a:defRPr/>
            </a:pPr>
            <a:r>
              <a:rPr lang="ru-RU" kern="1200" dirty="0">
                <a:solidFill>
                  <a:srgbClr val="000000"/>
                </a:solidFill>
                <a:latin typeface="+mn-lt"/>
                <a:cs typeface="Courier New" panose="02070309020205020404" pitchFamily="49" charset="0"/>
              </a:rPr>
              <a:t>&lt;</a:t>
            </a:r>
            <a:r>
              <a:rPr lang="en-US" kern="1200" dirty="0">
                <a:solidFill>
                  <a:srgbClr val="000000"/>
                </a:solidFill>
                <a:latin typeface="+mn-lt"/>
                <a:cs typeface="Courier New" panose="02070309020205020404" pitchFamily="49" charset="0"/>
              </a:rPr>
              <a:t>User(first_name='User3', last_name='Test', email='test@example.com')&gt;</a:t>
            </a:r>
          </a:p>
          <a:p>
            <a:pPr lvl="0" eaLnBrk="0" fontAlgn="base" hangingPunct="0">
              <a:spcBef>
                <a:spcPct val="0"/>
              </a:spcBef>
              <a:spcAft>
                <a:spcPct val="0"/>
              </a:spcAft>
              <a:buClrTx/>
              <a:buNone/>
              <a:defRPr/>
            </a:pPr>
            <a:r>
              <a:rPr lang="en-US" kern="1200" dirty="0">
                <a:solidFill>
                  <a:srgbClr val="000000"/>
                </a:solidFill>
                <a:latin typeface="+mn-lt"/>
                <a:cs typeface="Courier New" panose="02070309020205020404" pitchFamily="49" charset="0"/>
              </a:rPr>
              <a:t>[&lt;User(first_name='User0', last_name='Test', email='test@example.com')&gt;, &lt;User(first_name='User1', last_name='Test', email='test@example.com')&gt;, &lt;User(first_name='User2', last_name='Test', email='test@example.com')&gt;, &lt;User(first_name='User3', last_name='Test', email='test@example.com')&gt;, &lt;User(first_name='User4', last_name='Test', email='test@example.com')&gt;]</a:t>
            </a:r>
          </a:p>
          <a:p>
            <a:pPr lvl="0" eaLnBrk="0" fontAlgn="base" hangingPunct="0">
              <a:spcBef>
                <a:spcPct val="0"/>
              </a:spcBef>
              <a:spcAft>
                <a:spcPct val="0"/>
              </a:spcAft>
              <a:buClrTx/>
              <a:buNone/>
              <a:defRPr/>
            </a:pPr>
            <a:r>
              <a:rPr lang="ru-RU" kern="1200" dirty="0">
                <a:solidFill>
                  <a:srgbClr val="000000"/>
                </a:solidFill>
                <a:latin typeface="+mn-lt"/>
                <a:cs typeface="Courier New" panose="02070309020205020404" pitchFamily="49" charset="0"/>
              </a:rPr>
              <a:t>Документов в базе: 1</a:t>
            </a:r>
          </a:p>
        </p:txBody>
      </p:sp>
      <p:pic>
        <p:nvPicPr>
          <p:cNvPr id="8" name="Picture 2" descr="https://blog.rubrain.com/wp-content/uploads/2020/08/3-1.jpg">
            <a:extLst>
              <a:ext uri="{FF2B5EF4-FFF2-40B4-BE49-F238E27FC236}">
                <a16:creationId xmlns:a16="http://schemas.microsoft.com/office/drawing/2014/main" id="{428174DA-ECEE-4663-BEC1-624C82278A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841" r="25528"/>
          <a:stretch/>
        </p:blipFill>
        <p:spPr bwMode="auto">
          <a:xfrm>
            <a:off x="-143219" y="0"/>
            <a:ext cx="4572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9" name="Прямоугольник 8">
            <a:extLst>
              <a:ext uri="{FF2B5EF4-FFF2-40B4-BE49-F238E27FC236}">
                <a16:creationId xmlns:a16="http://schemas.microsoft.com/office/drawing/2014/main" id="{FF659AD8-5F22-46FB-B8C7-75DFB45DC6BD}"/>
              </a:ext>
            </a:extLst>
          </p:cNvPr>
          <p:cNvSpPr/>
          <p:nvPr/>
        </p:nvSpPr>
        <p:spPr>
          <a:xfrm>
            <a:off x="-143219" y="0"/>
            <a:ext cx="4572000" cy="5143500"/>
          </a:xfrm>
          <a:prstGeom prst="rect">
            <a:avLst/>
          </a:prstGeom>
          <a:gradFill>
            <a:gsLst>
              <a:gs pos="0">
                <a:schemeClr val="accent1">
                  <a:alpha val="60000"/>
                </a:schemeClr>
              </a:gs>
              <a:gs pos="100000">
                <a:schemeClr val="tx2">
                  <a:alpha val="6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Box 17">
            <a:extLst>
              <a:ext uri="{FF2B5EF4-FFF2-40B4-BE49-F238E27FC236}">
                <a16:creationId xmlns:a16="http://schemas.microsoft.com/office/drawing/2014/main" id="{C395706E-6585-475C-9C3C-2EC9DC4818D5}"/>
              </a:ext>
            </a:extLst>
          </p:cNvPr>
          <p:cNvSpPr txBox="1"/>
          <p:nvPr/>
        </p:nvSpPr>
        <p:spPr>
          <a:xfrm>
            <a:off x="279823" y="1610083"/>
            <a:ext cx="3743537" cy="1754326"/>
          </a:xfrm>
          <a:prstGeom prst="rect">
            <a:avLst/>
          </a:prstGeom>
          <a:noFill/>
        </p:spPr>
        <p:txBody>
          <a:bodyPr wrap="square">
            <a:spAutoFit/>
          </a:bodyPr>
          <a:lstStyle/>
          <a:p>
            <a:r>
              <a:rPr lang="en-US" sz="3600" kern="1200" dirty="0">
                <a:solidFill>
                  <a:schemeClr val="bg1"/>
                </a:solidFill>
                <a:latin typeface="+mj-lt"/>
              </a:rPr>
              <a:t>mongoengine: </a:t>
            </a:r>
            <a:r>
              <a:rPr lang="ru-RU" sz="3600" kern="1200" dirty="0">
                <a:solidFill>
                  <a:schemeClr val="bg1"/>
                </a:solidFill>
                <a:latin typeface="+mj-lt"/>
              </a:rPr>
              <a:t>тестовый вывод</a:t>
            </a:r>
            <a:endParaRPr lang="ru-RU" sz="3600" dirty="0">
              <a:solidFill>
                <a:schemeClr val="bg1"/>
              </a:solidFill>
              <a:latin typeface="+mj-lt"/>
            </a:endParaRPr>
          </a:p>
        </p:txBody>
      </p:sp>
    </p:spTree>
    <p:extLst>
      <p:ext uri="{BB962C8B-B14F-4D97-AF65-F5344CB8AC3E}">
        <p14:creationId xmlns:p14="http://schemas.microsoft.com/office/powerpoint/2010/main" val="32559144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 name="Прямоугольник 2"/>
          <p:cNvSpPr/>
          <p:nvPr/>
        </p:nvSpPr>
        <p:spPr>
          <a:xfrm>
            <a:off x="0" y="1022857"/>
            <a:ext cx="9144000" cy="11558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Box 17">
            <a:extLst>
              <a:ext uri="{FF2B5EF4-FFF2-40B4-BE49-F238E27FC236}">
                <a16:creationId xmlns:a16="http://schemas.microsoft.com/office/drawing/2014/main" id="{C395706E-6585-475C-9C3C-2EC9DC4818D5}"/>
              </a:ext>
            </a:extLst>
          </p:cNvPr>
          <p:cNvSpPr txBox="1"/>
          <p:nvPr/>
        </p:nvSpPr>
        <p:spPr>
          <a:xfrm>
            <a:off x="549105" y="253416"/>
            <a:ext cx="6834296" cy="769441"/>
          </a:xfrm>
          <a:prstGeom prst="rect">
            <a:avLst/>
          </a:prstGeom>
          <a:noFill/>
        </p:spPr>
        <p:txBody>
          <a:bodyPr wrap="square">
            <a:spAutoFit/>
          </a:bodyPr>
          <a:lstStyle/>
          <a:p>
            <a:r>
              <a:rPr lang="en-US" sz="4400" kern="1200" dirty="0">
                <a:solidFill>
                  <a:schemeClr val="accent3"/>
                </a:solidFill>
                <a:latin typeface="+mj-lt"/>
              </a:rPr>
              <a:t>Redis</a:t>
            </a:r>
            <a:endParaRPr lang="ru-RU" sz="4400" dirty="0">
              <a:solidFill>
                <a:schemeClr val="accent3"/>
              </a:solidFill>
              <a:latin typeface="+mj-lt"/>
            </a:endParaRPr>
          </a:p>
        </p:txBody>
      </p:sp>
      <p:sp>
        <p:nvSpPr>
          <p:cNvPr id="2" name="Прямоугольник 1"/>
          <p:cNvSpPr/>
          <p:nvPr/>
        </p:nvSpPr>
        <p:spPr>
          <a:xfrm>
            <a:off x="549104" y="1104940"/>
            <a:ext cx="8101915" cy="3754874"/>
          </a:xfrm>
          <a:prstGeom prst="rect">
            <a:avLst/>
          </a:prstGeom>
        </p:spPr>
        <p:txBody>
          <a:bodyPr wrap="square">
            <a:spAutoFit/>
          </a:bodyPr>
          <a:lstStyle/>
          <a:p>
            <a:pPr eaLnBrk="1" hangingPunct="1">
              <a:spcBef>
                <a:spcPts val="600"/>
              </a:spcBef>
              <a:spcAft>
                <a:spcPts val="600"/>
              </a:spcAft>
              <a:buNone/>
            </a:pPr>
            <a:r>
              <a:rPr lang="ru-RU" dirty="0">
                <a:solidFill>
                  <a:schemeClr val="accent1"/>
                </a:solidFill>
                <a:latin typeface="+mn-lt"/>
              </a:rPr>
              <a:t>Redis (</a:t>
            </a:r>
            <a:r>
              <a:rPr lang="ru-RU" b="1" dirty="0">
                <a:solidFill>
                  <a:schemeClr val="accent1"/>
                </a:solidFill>
                <a:latin typeface="+mn-lt"/>
              </a:rPr>
              <a:t>RE</a:t>
            </a:r>
            <a:r>
              <a:rPr lang="ru-RU" dirty="0">
                <a:solidFill>
                  <a:schemeClr val="accent1"/>
                </a:solidFill>
                <a:latin typeface="+mn-lt"/>
              </a:rPr>
              <a:t>mote </a:t>
            </a:r>
            <a:r>
              <a:rPr lang="ru-RU" b="1" dirty="0">
                <a:solidFill>
                  <a:schemeClr val="accent1"/>
                </a:solidFill>
                <a:latin typeface="+mn-lt"/>
              </a:rPr>
              <a:t>DI</a:t>
            </a:r>
            <a:r>
              <a:rPr lang="ru-RU" dirty="0">
                <a:solidFill>
                  <a:schemeClr val="accent1"/>
                </a:solidFill>
                <a:latin typeface="+mn-lt"/>
              </a:rPr>
              <a:t>ctionary </a:t>
            </a:r>
            <a:r>
              <a:rPr lang="ru-RU" b="1" dirty="0">
                <a:solidFill>
                  <a:schemeClr val="accent1"/>
                </a:solidFill>
                <a:latin typeface="+mn-lt"/>
              </a:rPr>
              <a:t>S</a:t>
            </a:r>
            <a:r>
              <a:rPr lang="ru-RU" dirty="0">
                <a:solidFill>
                  <a:schemeClr val="accent1"/>
                </a:solidFill>
                <a:latin typeface="+mn-lt"/>
              </a:rPr>
              <a:t>erver) </a:t>
            </a:r>
            <a:r>
              <a:rPr lang="ru-RU" sz="1200" dirty="0">
                <a:solidFill>
                  <a:schemeClr val="tx1"/>
                </a:solidFill>
                <a:latin typeface="+mn-lt"/>
              </a:rPr>
              <a:t>– хранилище элементов типа ключ-значение с поддержкой хэширования и кэширования. Часто определяется как сервер структур данных, т.к. по ключам могут содержаться различные типы данных. Redis обычно держит весь набор данных в оперативной памяти. Когда не требуется долговременное хранение данных, такая способность Redis обеспечивает ему очень высокое быстродействие в сравнении с СУБД, требующими подтверждения (коммита) транзакций.</a:t>
            </a:r>
          </a:p>
          <a:p>
            <a:pPr eaLnBrk="1" hangingPunct="1">
              <a:spcBef>
                <a:spcPts val="600"/>
              </a:spcBef>
              <a:spcAft>
                <a:spcPts val="600"/>
              </a:spcAft>
              <a:buNone/>
            </a:pPr>
            <a:r>
              <a:rPr lang="ru-RU" sz="1200" dirty="0">
                <a:solidFill>
                  <a:schemeClr val="tx1"/>
                </a:solidFill>
                <a:latin typeface="+mn-lt"/>
              </a:rPr>
              <a:t>Для установки Redis в Linux (Ubuntu) можно использовать apt-get: </a:t>
            </a:r>
            <a:endParaRPr lang="en-US" sz="1200" dirty="0">
              <a:solidFill>
                <a:schemeClr val="tx1"/>
              </a:solidFill>
              <a:latin typeface="+mn-lt"/>
            </a:endParaRPr>
          </a:p>
          <a:p>
            <a:pPr lvl="0" eaLnBrk="0" fontAlgn="base" hangingPunct="0">
              <a:buClrTx/>
              <a:defRPr/>
            </a:pPr>
            <a:r>
              <a:rPr lang="en-US" sz="1000" kern="1200" dirty="0">
                <a:solidFill>
                  <a:schemeClr val="tx1"/>
                </a:solidFill>
                <a:latin typeface="+mn-lt"/>
              </a:rPr>
              <a:t>sudo apt</a:t>
            </a:r>
            <a:r>
              <a:rPr lang="ru-RU" sz="1000" kern="1200" dirty="0">
                <a:solidFill>
                  <a:schemeClr val="tx1"/>
                </a:solidFill>
                <a:latin typeface="+mn-lt"/>
              </a:rPr>
              <a:t>-</a:t>
            </a:r>
            <a:r>
              <a:rPr lang="en-US" sz="1000" kern="1200" dirty="0">
                <a:solidFill>
                  <a:schemeClr val="tx1"/>
                </a:solidFill>
                <a:latin typeface="+mn-lt"/>
              </a:rPr>
              <a:t>get update </a:t>
            </a:r>
          </a:p>
          <a:p>
            <a:pPr lvl="0" eaLnBrk="0" fontAlgn="base" hangingPunct="0">
              <a:buClrTx/>
              <a:defRPr/>
            </a:pPr>
            <a:r>
              <a:rPr lang="en-US" sz="1000" kern="1200" dirty="0">
                <a:solidFill>
                  <a:schemeClr val="tx1"/>
                </a:solidFill>
                <a:latin typeface="+mn-lt"/>
              </a:rPr>
              <a:t>sudo apt-get install redis-server</a:t>
            </a:r>
          </a:p>
          <a:p>
            <a:pPr eaLnBrk="1" hangingPunct="1">
              <a:spcBef>
                <a:spcPts val="600"/>
              </a:spcBef>
              <a:spcAft>
                <a:spcPts val="600"/>
              </a:spcAft>
              <a:buNone/>
            </a:pPr>
            <a:r>
              <a:rPr lang="ru-RU" sz="1200" dirty="0">
                <a:solidFill>
                  <a:schemeClr val="tx1"/>
                </a:solidFill>
                <a:latin typeface="+mn-lt"/>
              </a:rPr>
              <a:t>После установки надо отредактировать файл /</a:t>
            </a:r>
            <a:r>
              <a:rPr lang="en-US" sz="1200" dirty="0">
                <a:solidFill>
                  <a:schemeClr val="tx1"/>
                </a:solidFill>
                <a:latin typeface="+mn-lt"/>
              </a:rPr>
              <a:t>etc/redis/redis.conf, </a:t>
            </a:r>
            <a:r>
              <a:rPr lang="ru-RU" sz="1200" dirty="0">
                <a:solidFill>
                  <a:schemeClr val="tx1"/>
                </a:solidFill>
                <a:latin typeface="+mn-lt"/>
              </a:rPr>
              <a:t>поменяв параметр </a:t>
            </a:r>
            <a:r>
              <a:rPr lang="en-US" sz="1200" dirty="0">
                <a:solidFill>
                  <a:schemeClr val="tx1"/>
                </a:solidFill>
                <a:latin typeface="+mn-lt"/>
              </a:rPr>
              <a:t>supervised no </a:t>
            </a:r>
            <a:br>
              <a:rPr lang="en-US" sz="1200" dirty="0">
                <a:solidFill>
                  <a:schemeClr val="tx1"/>
                </a:solidFill>
                <a:latin typeface="+mn-lt"/>
              </a:rPr>
            </a:br>
            <a:r>
              <a:rPr lang="ru-RU" sz="1200" dirty="0">
                <a:solidFill>
                  <a:schemeClr val="tx1"/>
                </a:solidFill>
                <a:latin typeface="+mn-lt"/>
              </a:rPr>
              <a:t>на </a:t>
            </a:r>
            <a:r>
              <a:rPr lang="en-US" sz="1200" dirty="0">
                <a:solidFill>
                  <a:schemeClr val="tx1"/>
                </a:solidFill>
                <a:latin typeface="+mn-lt"/>
              </a:rPr>
              <a:t>supervised system </a:t>
            </a:r>
            <a:r>
              <a:rPr lang="ru-RU" sz="1200" dirty="0">
                <a:solidFill>
                  <a:schemeClr val="tx1"/>
                </a:solidFill>
                <a:latin typeface="+mn-lt"/>
              </a:rPr>
              <a:t>и перезапустив </a:t>
            </a:r>
            <a:r>
              <a:rPr lang="en-US" sz="1200" dirty="0">
                <a:solidFill>
                  <a:schemeClr val="tx1"/>
                </a:solidFill>
                <a:latin typeface="+mn-lt"/>
              </a:rPr>
              <a:t>Redis.</a:t>
            </a:r>
          </a:p>
          <a:p>
            <a:pPr lvl="0" eaLnBrk="0" fontAlgn="base" hangingPunct="0">
              <a:spcBef>
                <a:spcPts val="600"/>
              </a:spcBef>
              <a:spcAft>
                <a:spcPts val="600"/>
              </a:spcAft>
              <a:buClrTx/>
              <a:defRPr/>
            </a:pPr>
            <a:r>
              <a:rPr lang="en-US" sz="1000" kern="1200" dirty="0">
                <a:solidFill>
                  <a:schemeClr val="tx1"/>
                </a:solidFill>
                <a:latin typeface="+mn-lt"/>
              </a:rPr>
              <a:t>sudo systemctl restart redis.service</a:t>
            </a:r>
            <a:endParaRPr lang="ru-RU" sz="1000" kern="1200" dirty="0">
              <a:solidFill>
                <a:schemeClr val="tx1"/>
              </a:solidFill>
              <a:latin typeface="+mn-lt"/>
            </a:endParaRPr>
          </a:p>
          <a:p>
            <a:pPr eaLnBrk="1" hangingPunct="1">
              <a:spcBef>
                <a:spcPts val="600"/>
              </a:spcBef>
              <a:spcAft>
                <a:spcPts val="600"/>
              </a:spcAft>
              <a:buNone/>
            </a:pPr>
            <a:r>
              <a:rPr lang="ru-RU" sz="1200" dirty="0">
                <a:solidFill>
                  <a:schemeClr val="tx1"/>
                </a:solidFill>
                <a:latin typeface="+mn-lt"/>
              </a:rPr>
              <a:t>Для использования Redis в Windows можно скачать архив с исполняемым файлом серверного приложения отсюда: </a:t>
            </a:r>
            <a:r>
              <a:rPr lang="ru-RU" sz="1200" dirty="0">
                <a:solidFill>
                  <a:schemeClr val="tx1"/>
                </a:solidFill>
                <a:latin typeface="+mn-lt"/>
                <a:hlinkClick r:id="rId3"/>
              </a:rPr>
              <a:t>https://github.com/dmajkic/redis/downloads</a:t>
            </a:r>
            <a:r>
              <a:rPr lang="en-US" sz="1200" dirty="0">
                <a:solidFill>
                  <a:schemeClr val="tx1"/>
                </a:solidFill>
                <a:latin typeface="+mn-lt"/>
              </a:rPr>
              <a:t> </a:t>
            </a:r>
            <a:endParaRPr lang="ru-RU" sz="1200" dirty="0">
              <a:solidFill>
                <a:schemeClr val="tx1"/>
              </a:solidFill>
              <a:latin typeface="+mn-lt"/>
            </a:endParaRPr>
          </a:p>
          <a:p>
            <a:pPr eaLnBrk="1" hangingPunct="1">
              <a:spcBef>
                <a:spcPts val="600"/>
              </a:spcBef>
              <a:spcAft>
                <a:spcPts val="600"/>
              </a:spcAft>
              <a:buNone/>
            </a:pPr>
            <a:r>
              <a:rPr lang="ru-RU" sz="1200" dirty="0">
                <a:solidFill>
                  <a:schemeClr val="tx1"/>
                </a:solidFill>
                <a:latin typeface="+mn-lt"/>
              </a:rPr>
              <a:t>Архив необходимо распаковать, после чего запустить файл redis-server.exe</a:t>
            </a:r>
          </a:p>
          <a:p>
            <a:pPr eaLnBrk="1" hangingPunct="1">
              <a:spcBef>
                <a:spcPts val="600"/>
              </a:spcBef>
              <a:spcAft>
                <a:spcPts val="600"/>
              </a:spcAft>
              <a:buNone/>
            </a:pPr>
            <a:r>
              <a:rPr lang="ru-RU" sz="1200" dirty="0">
                <a:solidFill>
                  <a:schemeClr val="tx1"/>
                </a:solidFill>
                <a:latin typeface="+mn-lt"/>
              </a:rPr>
              <a:t>Для работы с Redis в Python используется библиотека redis.</a:t>
            </a:r>
          </a:p>
        </p:txBody>
      </p:sp>
    </p:spTree>
    <p:extLst>
      <p:ext uri="{BB962C8B-B14F-4D97-AF65-F5344CB8AC3E}">
        <p14:creationId xmlns:p14="http://schemas.microsoft.com/office/powerpoint/2010/main" val="1763179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7"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4683318" y="371388"/>
            <a:ext cx="4333461" cy="440072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lvl="0" eaLnBrk="0" fontAlgn="base" hangingPunct="0">
              <a:spcBef>
                <a:spcPct val="0"/>
              </a:spcBef>
              <a:spcAft>
                <a:spcPct val="0"/>
              </a:spcAft>
              <a:buClrTx/>
              <a:buNone/>
              <a:defRPr/>
            </a:pPr>
            <a:r>
              <a:rPr lang="en-US" sz="1050" b="1" kern="1200" dirty="0">
                <a:solidFill>
                  <a:srgbClr val="0000FF"/>
                </a:solidFill>
                <a:latin typeface="+mn-lt"/>
              </a:rPr>
              <a:t>import</a:t>
            </a:r>
            <a:r>
              <a:rPr lang="en-US" sz="1050" kern="1200" dirty="0">
                <a:solidFill>
                  <a:srgbClr val="000000"/>
                </a:solidFill>
                <a:latin typeface="+mn-lt"/>
              </a:rPr>
              <a:t> time </a:t>
            </a:r>
          </a:p>
          <a:p>
            <a:pPr lvl="0" eaLnBrk="0" fontAlgn="base" hangingPunct="0">
              <a:spcBef>
                <a:spcPct val="0"/>
              </a:spcBef>
              <a:spcAft>
                <a:spcPct val="0"/>
              </a:spcAft>
              <a:buClrTx/>
              <a:buNone/>
              <a:defRPr/>
            </a:pPr>
            <a:r>
              <a:rPr lang="en-US" sz="1050" b="1" kern="1200" dirty="0">
                <a:solidFill>
                  <a:srgbClr val="0000FF"/>
                </a:solidFill>
                <a:latin typeface="+mn-lt"/>
              </a:rPr>
              <a:t>import</a:t>
            </a:r>
            <a:r>
              <a:rPr lang="en-US" sz="1050" kern="1200" dirty="0">
                <a:solidFill>
                  <a:srgbClr val="000000"/>
                </a:solidFill>
                <a:latin typeface="+mn-lt"/>
              </a:rPr>
              <a:t> redis </a:t>
            </a:r>
          </a:p>
          <a:p>
            <a:pPr lvl="0" eaLnBrk="0" fontAlgn="base" hangingPunct="0">
              <a:spcBef>
                <a:spcPct val="0"/>
              </a:spcBef>
              <a:spcAft>
                <a:spcPct val="0"/>
              </a:spcAft>
              <a:buClrTx/>
              <a:buNone/>
              <a:defRPr/>
            </a:pPr>
            <a:endParaRPr lang="en-US" sz="1050" kern="1200" dirty="0">
              <a:solidFill>
                <a:srgbClr val="000000"/>
              </a:solidFill>
              <a:latin typeface="+mn-lt"/>
            </a:endParaRPr>
          </a:p>
          <a:p>
            <a:pPr lvl="0" eaLnBrk="0" fontAlgn="base" hangingPunct="0">
              <a:spcBef>
                <a:spcPct val="0"/>
              </a:spcBef>
              <a:spcAft>
                <a:spcPct val="0"/>
              </a:spcAft>
              <a:buClrTx/>
              <a:buNone/>
              <a:defRPr/>
            </a:pPr>
            <a:endParaRPr lang="en-US" sz="1050" kern="1200" dirty="0">
              <a:solidFill>
                <a:srgbClr val="000000"/>
              </a:solidFill>
              <a:latin typeface="+mn-lt"/>
            </a:endParaRPr>
          </a:p>
          <a:p>
            <a:pPr lvl="0" eaLnBrk="0" fontAlgn="base" hangingPunct="0">
              <a:spcBef>
                <a:spcPct val="0"/>
              </a:spcBef>
              <a:spcAft>
                <a:spcPct val="0"/>
              </a:spcAft>
              <a:buClrTx/>
              <a:buNone/>
              <a:defRPr/>
            </a:pPr>
            <a:r>
              <a:rPr lang="en-US" sz="1050" kern="1200" dirty="0">
                <a:solidFill>
                  <a:srgbClr val="008000"/>
                </a:solidFill>
                <a:latin typeface="+mn-lt"/>
              </a:rPr>
              <a:t># </a:t>
            </a:r>
            <a:r>
              <a:rPr lang="ru-RU" sz="1050" kern="1200" dirty="0">
                <a:solidFill>
                  <a:srgbClr val="008000"/>
                </a:solidFill>
                <a:latin typeface="+mn-lt"/>
              </a:rPr>
              <a:t>Создаем подключение</a:t>
            </a:r>
            <a:r>
              <a:rPr lang="ru-RU" sz="1050" kern="1200" dirty="0">
                <a:solidFill>
                  <a:srgbClr val="000000"/>
                </a:solidFill>
                <a:latin typeface="+mn-lt"/>
              </a:rPr>
              <a:t> </a:t>
            </a:r>
            <a:endParaRPr lang="en-US" sz="1050" kern="1200" dirty="0">
              <a:solidFill>
                <a:srgbClr val="000000"/>
              </a:solidFill>
              <a:latin typeface="+mn-lt"/>
            </a:endParaRPr>
          </a:p>
          <a:p>
            <a:pPr lvl="0" eaLnBrk="0" fontAlgn="base" hangingPunct="0">
              <a:spcBef>
                <a:spcPct val="0"/>
              </a:spcBef>
              <a:spcAft>
                <a:spcPct val="0"/>
              </a:spcAft>
              <a:buClrTx/>
              <a:buNone/>
              <a:defRPr/>
            </a:pPr>
            <a:r>
              <a:rPr lang="en-US" sz="1050" kern="1200" dirty="0">
                <a:solidFill>
                  <a:srgbClr val="000000"/>
                </a:solidFill>
                <a:latin typeface="+mn-lt"/>
              </a:rPr>
              <a:t>r </a:t>
            </a:r>
            <a:r>
              <a:rPr lang="en-US" sz="1050" b="1" kern="1200" dirty="0">
                <a:solidFill>
                  <a:srgbClr val="000080"/>
                </a:solidFill>
                <a:latin typeface="+mn-lt"/>
              </a:rPr>
              <a:t>=</a:t>
            </a:r>
            <a:r>
              <a:rPr lang="en-US" sz="1050" kern="1200" dirty="0">
                <a:solidFill>
                  <a:srgbClr val="000000"/>
                </a:solidFill>
                <a:latin typeface="+mn-lt"/>
              </a:rPr>
              <a:t> redis</a:t>
            </a:r>
            <a:r>
              <a:rPr lang="en-US" sz="1050" b="1" kern="1200" dirty="0">
                <a:solidFill>
                  <a:srgbClr val="000080"/>
                </a:solidFill>
                <a:latin typeface="+mn-lt"/>
              </a:rPr>
              <a:t>.</a:t>
            </a:r>
            <a:r>
              <a:rPr lang="en-US" sz="1050" kern="1200" dirty="0">
                <a:solidFill>
                  <a:srgbClr val="000000"/>
                </a:solidFill>
                <a:latin typeface="+mn-lt"/>
              </a:rPr>
              <a:t>Redis</a:t>
            </a:r>
            <a:r>
              <a:rPr lang="en-US" sz="1050" b="1" kern="1200" dirty="0">
                <a:solidFill>
                  <a:srgbClr val="000080"/>
                </a:solidFill>
                <a:latin typeface="+mn-lt"/>
              </a:rPr>
              <a:t>(</a:t>
            </a:r>
            <a:r>
              <a:rPr lang="en-US" sz="1050" kern="1200" dirty="0">
                <a:solidFill>
                  <a:srgbClr val="000000"/>
                </a:solidFill>
                <a:latin typeface="+mn-lt"/>
              </a:rPr>
              <a:t>host</a:t>
            </a:r>
            <a:r>
              <a:rPr lang="en-US" sz="1050" b="1" kern="1200" dirty="0">
                <a:solidFill>
                  <a:srgbClr val="000080"/>
                </a:solidFill>
                <a:latin typeface="+mn-lt"/>
              </a:rPr>
              <a:t>=</a:t>
            </a:r>
            <a:r>
              <a:rPr lang="en-US" sz="1050" kern="1200" dirty="0">
                <a:solidFill>
                  <a:srgbClr val="808080"/>
                </a:solidFill>
                <a:latin typeface="+mn-lt"/>
              </a:rPr>
              <a:t>'localhost'</a:t>
            </a:r>
            <a:r>
              <a:rPr lang="en-US" sz="1050" b="1" kern="1200" dirty="0">
                <a:solidFill>
                  <a:srgbClr val="000080"/>
                </a:solidFill>
                <a:latin typeface="+mn-lt"/>
              </a:rPr>
              <a:t>,</a:t>
            </a:r>
            <a:r>
              <a:rPr lang="en-US" sz="1050" kern="1200" dirty="0">
                <a:solidFill>
                  <a:srgbClr val="000000"/>
                </a:solidFill>
                <a:latin typeface="+mn-lt"/>
              </a:rPr>
              <a:t> port</a:t>
            </a:r>
            <a:r>
              <a:rPr lang="en-US" sz="1050" b="1" kern="1200" dirty="0">
                <a:solidFill>
                  <a:srgbClr val="000080"/>
                </a:solidFill>
                <a:latin typeface="+mn-lt"/>
              </a:rPr>
              <a:t>=</a:t>
            </a:r>
            <a:r>
              <a:rPr lang="en-US" sz="1050" kern="1200" dirty="0">
                <a:solidFill>
                  <a:srgbClr val="FF0000"/>
                </a:solidFill>
                <a:latin typeface="+mn-lt"/>
              </a:rPr>
              <a:t>6379</a:t>
            </a:r>
            <a:r>
              <a:rPr lang="en-US" sz="1050" b="1" kern="1200" dirty="0">
                <a:solidFill>
                  <a:srgbClr val="000080"/>
                </a:solidFill>
                <a:latin typeface="+mn-lt"/>
              </a:rPr>
              <a:t>,</a:t>
            </a:r>
            <a:r>
              <a:rPr lang="en-US" sz="1050" kern="1200" dirty="0">
                <a:solidFill>
                  <a:srgbClr val="000000"/>
                </a:solidFill>
                <a:latin typeface="+mn-lt"/>
              </a:rPr>
              <a:t> db</a:t>
            </a:r>
            <a:r>
              <a:rPr lang="en-US" sz="1050" b="1" kern="1200" dirty="0">
                <a:solidFill>
                  <a:srgbClr val="000080"/>
                </a:solidFill>
                <a:latin typeface="+mn-lt"/>
              </a:rPr>
              <a:t>=</a:t>
            </a:r>
            <a:r>
              <a:rPr lang="en-US" sz="1050" kern="1200" dirty="0">
                <a:solidFill>
                  <a:srgbClr val="FF0000"/>
                </a:solidFill>
                <a:latin typeface="+mn-lt"/>
              </a:rPr>
              <a:t>0</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endParaRPr lang="en-US" sz="1050" kern="1200" dirty="0">
              <a:solidFill>
                <a:srgbClr val="000000"/>
              </a:solidFill>
              <a:latin typeface="+mn-lt"/>
            </a:endParaRPr>
          </a:p>
          <a:p>
            <a:pPr lvl="0" eaLnBrk="0" fontAlgn="base" hangingPunct="0">
              <a:spcBef>
                <a:spcPct val="0"/>
              </a:spcBef>
              <a:spcAft>
                <a:spcPct val="0"/>
              </a:spcAft>
              <a:buClrTx/>
              <a:buNone/>
              <a:defRPr/>
            </a:pPr>
            <a:r>
              <a:rPr lang="en-US" sz="1050" kern="1200" dirty="0">
                <a:solidFill>
                  <a:srgbClr val="008000"/>
                </a:solidFill>
                <a:latin typeface="+mn-lt"/>
              </a:rPr>
              <a:t># </a:t>
            </a:r>
            <a:r>
              <a:rPr lang="ru-RU" sz="1050" kern="1200" dirty="0">
                <a:solidFill>
                  <a:srgbClr val="008000"/>
                </a:solidFill>
                <a:latin typeface="+mn-lt"/>
              </a:rPr>
              <a:t>Добавляем элемент - пару ключ-значение</a:t>
            </a:r>
            <a:r>
              <a:rPr lang="ru-RU" sz="1050" kern="1200" dirty="0">
                <a:solidFill>
                  <a:srgbClr val="000000"/>
                </a:solidFill>
                <a:latin typeface="+mn-lt"/>
              </a:rPr>
              <a:t> </a:t>
            </a:r>
            <a:endParaRPr lang="en-US" sz="1050" kern="1200" dirty="0">
              <a:solidFill>
                <a:srgbClr val="000000"/>
              </a:solidFill>
              <a:latin typeface="+mn-lt"/>
            </a:endParaRPr>
          </a:p>
          <a:p>
            <a:pPr lvl="0" eaLnBrk="0" fontAlgn="base" hangingPunct="0">
              <a:spcBef>
                <a:spcPct val="0"/>
              </a:spcBef>
              <a:spcAft>
                <a:spcPct val="0"/>
              </a:spcAft>
              <a:buClrTx/>
              <a:buNone/>
              <a:defRPr/>
            </a:pPr>
            <a:r>
              <a:rPr lang="en-US" sz="1050" kern="1200" dirty="0">
                <a:solidFill>
                  <a:srgbClr val="000000"/>
                </a:solidFill>
                <a:latin typeface="+mn-lt"/>
              </a:rPr>
              <a:t>r</a:t>
            </a:r>
            <a:r>
              <a:rPr lang="en-US" sz="1050" b="1" kern="1200" dirty="0">
                <a:solidFill>
                  <a:srgbClr val="000080"/>
                </a:solidFill>
                <a:latin typeface="+mn-lt"/>
              </a:rPr>
              <a:t>.</a:t>
            </a:r>
            <a:r>
              <a:rPr lang="en-US" sz="1050" kern="1200" dirty="0">
                <a:solidFill>
                  <a:srgbClr val="000000"/>
                </a:solidFill>
                <a:latin typeface="+mn-lt"/>
              </a:rPr>
              <a:t>set</a:t>
            </a:r>
            <a:r>
              <a:rPr lang="en-US" sz="1050" b="1" kern="1200" dirty="0">
                <a:solidFill>
                  <a:srgbClr val="000080"/>
                </a:solidFill>
                <a:latin typeface="+mn-lt"/>
              </a:rPr>
              <a:t>(</a:t>
            </a:r>
            <a:r>
              <a:rPr lang="en-US" sz="1050" kern="1200" dirty="0">
                <a:solidFill>
                  <a:srgbClr val="808080"/>
                </a:solidFill>
                <a:latin typeface="+mn-lt"/>
              </a:rPr>
              <a:t>'name'</a:t>
            </a:r>
            <a:r>
              <a:rPr lang="en-US" sz="1050" b="1" kern="1200" dirty="0">
                <a:solidFill>
                  <a:srgbClr val="000080"/>
                </a:solidFill>
                <a:latin typeface="+mn-lt"/>
              </a:rPr>
              <a:t>,</a:t>
            </a:r>
            <a:r>
              <a:rPr lang="en-US" sz="1050" kern="1200" dirty="0">
                <a:solidFill>
                  <a:srgbClr val="000000"/>
                </a:solidFill>
                <a:latin typeface="+mn-lt"/>
              </a:rPr>
              <a:t> </a:t>
            </a:r>
            <a:r>
              <a:rPr lang="en-US" sz="1050" kern="1200" dirty="0">
                <a:solidFill>
                  <a:srgbClr val="808080"/>
                </a:solidFill>
                <a:latin typeface="+mn-lt"/>
              </a:rPr>
              <a:t>'John'</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r>
              <a:rPr lang="en-US" sz="1050" kern="1200" dirty="0">
                <a:solidFill>
                  <a:srgbClr val="008000"/>
                </a:solidFill>
                <a:latin typeface="+mn-lt"/>
              </a:rPr>
              <a:t># </a:t>
            </a:r>
            <a:r>
              <a:rPr lang="ru-RU" sz="1050" kern="1200" dirty="0">
                <a:solidFill>
                  <a:srgbClr val="008000"/>
                </a:solidFill>
                <a:latin typeface="+mn-lt"/>
              </a:rPr>
              <a:t>Получаем значение по ключу</a:t>
            </a:r>
            <a:r>
              <a:rPr lang="ru-RU" sz="1050" kern="1200" dirty="0">
                <a:solidFill>
                  <a:srgbClr val="000000"/>
                </a:solidFill>
                <a:latin typeface="+mn-lt"/>
              </a:rPr>
              <a:t> </a:t>
            </a:r>
            <a:endParaRPr lang="en-US" sz="1050" kern="1200" dirty="0">
              <a:solidFill>
                <a:srgbClr val="000000"/>
              </a:solidFill>
              <a:latin typeface="+mn-lt"/>
            </a:endParaRPr>
          </a:p>
          <a:p>
            <a:pPr lvl="0" eaLnBrk="0" fontAlgn="base" hangingPunct="0">
              <a:spcBef>
                <a:spcPct val="0"/>
              </a:spcBef>
              <a:spcAft>
                <a:spcPct val="0"/>
              </a:spcAft>
              <a:buClrTx/>
              <a:buNone/>
              <a:defRPr/>
            </a:pPr>
            <a:r>
              <a:rPr lang="en-US" sz="1050" b="1" kern="1200" dirty="0">
                <a:solidFill>
                  <a:srgbClr val="0000FF"/>
                </a:solidFill>
                <a:latin typeface="+mn-lt"/>
              </a:rPr>
              <a:t>print</a:t>
            </a:r>
            <a:r>
              <a:rPr lang="en-US" sz="1050" b="1" kern="1200" dirty="0">
                <a:solidFill>
                  <a:srgbClr val="000080"/>
                </a:solidFill>
                <a:latin typeface="+mn-lt"/>
              </a:rPr>
              <a:t>(</a:t>
            </a:r>
            <a:r>
              <a:rPr lang="en-US" sz="1050" kern="1200" dirty="0">
                <a:solidFill>
                  <a:srgbClr val="808080"/>
                </a:solidFill>
                <a:latin typeface="+mn-lt"/>
              </a:rPr>
              <a:t>"r.get('name'): "</a:t>
            </a:r>
            <a:r>
              <a:rPr lang="en-US" sz="1050" b="1" kern="1200" dirty="0">
                <a:solidFill>
                  <a:srgbClr val="000080"/>
                </a:solidFill>
                <a:latin typeface="+mn-lt"/>
              </a:rPr>
              <a:t>,</a:t>
            </a:r>
            <a:r>
              <a:rPr lang="en-US" sz="1050" kern="1200" dirty="0">
                <a:solidFill>
                  <a:srgbClr val="000000"/>
                </a:solidFill>
                <a:latin typeface="+mn-lt"/>
              </a:rPr>
              <a:t> r</a:t>
            </a:r>
            <a:r>
              <a:rPr lang="en-US" sz="1050" b="1" kern="1200" dirty="0">
                <a:solidFill>
                  <a:srgbClr val="000080"/>
                </a:solidFill>
                <a:latin typeface="+mn-lt"/>
              </a:rPr>
              <a:t>.</a:t>
            </a:r>
            <a:r>
              <a:rPr lang="en-US" sz="1050" kern="1200" dirty="0">
                <a:solidFill>
                  <a:srgbClr val="000000"/>
                </a:solidFill>
                <a:latin typeface="+mn-lt"/>
              </a:rPr>
              <a:t>get</a:t>
            </a:r>
            <a:r>
              <a:rPr lang="en-US" sz="1050" b="1" kern="1200" dirty="0">
                <a:solidFill>
                  <a:srgbClr val="000080"/>
                </a:solidFill>
                <a:latin typeface="+mn-lt"/>
              </a:rPr>
              <a:t>(</a:t>
            </a:r>
            <a:r>
              <a:rPr lang="en-US" sz="1050" kern="1200" dirty="0">
                <a:solidFill>
                  <a:srgbClr val="808080"/>
                </a:solidFill>
                <a:latin typeface="+mn-lt"/>
              </a:rPr>
              <a:t>'name'</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r>
              <a:rPr lang="en-US" sz="1050" kern="1200" dirty="0">
                <a:solidFill>
                  <a:srgbClr val="008000"/>
                </a:solidFill>
                <a:latin typeface="+mn-lt"/>
              </a:rPr>
              <a:t># </a:t>
            </a:r>
            <a:r>
              <a:rPr lang="ru-RU" sz="1050" kern="1200" dirty="0">
                <a:solidFill>
                  <a:srgbClr val="008000"/>
                </a:solidFill>
                <a:latin typeface="+mn-lt"/>
              </a:rPr>
              <a:t>Определяем тип значения по ключу</a:t>
            </a:r>
            <a:r>
              <a:rPr lang="ru-RU" sz="1050" kern="1200" dirty="0">
                <a:solidFill>
                  <a:srgbClr val="000000"/>
                </a:solidFill>
                <a:latin typeface="+mn-lt"/>
              </a:rPr>
              <a:t> </a:t>
            </a:r>
            <a:endParaRPr lang="en-US" sz="1050" kern="1200" dirty="0">
              <a:solidFill>
                <a:srgbClr val="000000"/>
              </a:solidFill>
              <a:latin typeface="+mn-lt"/>
            </a:endParaRPr>
          </a:p>
          <a:p>
            <a:pPr lvl="0" eaLnBrk="0" fontAlgn="base" hangingPunct="0">
              <a:spcBef>
                <a:spcPct val="0"/>
              </a:spcBef>
              <a:spcAft>
                <a:spcPct val="0"/>
              </a:spcAft>
              <a:buClrTx/>
              <a:buNone/>
              <a:defRPr/>
            </a:pPr>
            <a:r>
              <a:rPr lang="en-US" sz="1050" b="1" kern="1200" dirty="0">
                <a:solidFill>
                  <a:srgbClr val="0000FF"/>
                </a:solidFill>
                <a:latin typeface="+mn-lt"/>
              </a:rPr>
              <a:t>print</a:t>
            </a:r>
            <a:r>
              <a:rPr lang="en-US" sz="1050" b="1" kern="1200" dirty="0">
                <a:solidFill>
                  <a:srgbClr val="000080"/>
                </a:solidFill>
                <a:latin typeface="+mn-lt"/>
              </a:rPr>
              <a:t>(</a:t>
            </a:r>
            <a:r>
              <a:rPr lang="en-US" sz="1050" kern="1200" dirty="0">
                <a:solidFill>
                  <a:srgbClr val="808080"/>
                </a:solidFill>
                <a:latin typeface="+mn-lt"/>
              </a:rPr>
              <a:t>"r.type('name'): "</a:t>
            </a:r>
            <a:r>
              <a:rPr lang="en-US" sz="1050" b="1" kern="1200" dirty="0">
                <a:solidFill>
                  <a:srgbClr val="000080"/>
                </a:solidFill>
                <a:latin typeface="+mn-lt"/>
              </a:rPr>
              <a:t>,</a:t>
            </a:r>
            <a:r>
              <a:rPr lang="en-US" sz="1050" kern="1200" dirty="0">
                <a:solidFill>
                  <a:srgbClr val="000000"/>
                </a:solidFill>
                <a:latin typeface="+mn-lt"/>
              </a:rPr>
              <a:t> r</a:t>
            </a:r>
            <a:r>
              <a:rPr lang="en-US" sz="1050" b="1" kern="1200" dirty="0">
                <a:solidFill>
                  <a:srgbClr val="000080"/>
                </a:solidFill>
                <a:latin typeface="+mn-lt"/>
              </a:rPr>
              <a:t>.</a:t>
            </a:r>
            <a:r>
              <a:rPr lang="en-US" sz="1050" kern="1200" dirty="0">
                <a:solidFill>
                  <a:srgbClr val="000000"/>
                </a:solidFill>
                <a:latin typeface="+mn-lt"/>
              </a:rPr>
              <a:t>type</a:t>
            </a:r>
            <a:r>
              <a:rPr lang="en-US" sz="1050" b="1" kern="1200" dirty="0">
                <a:solidFill>
                  <a:srgbClr val="000080"/>
                </a:solidFill>
                <a:latin typeface="+mn-lt"/>
              </a:rPr>
              <a:t>(</a:t>
            </a:r>
            <a:r>
              <a:rPr lang="en-US" sz="1050" kern="1200" dirty="0">
                <a:solidFill>
                  <a:srgbClr val="808080"/>
                </a:solidFill>
                <a:latin typeface="+mn-lt"/>
              </a:rPr>
              <a:t>'name'</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r>
              <a:rPr lang="en-US" sz="1050" kern="1200" dirty="0">
                <a:solidFill>
                  <a:srgbClr val="008000"/>
                </a:solidFill>
                <a:latin typeface="+mn-lt"/>
              </a:rPr>
              <a:t># </a:t>
            </a:r>
            <a:r>
              <a:rPr lang="ru-RU" sz="1050" kern="1200" dirty="0">
                <a:solidFill>
                  <a:srgbClr val="008000"/>
                </a:solidFill>
                <a:latin typeface="+mn-lt"/>
              </a:rPr>
              <a:t>Удаляем элемент по ключу</a:t>
            </a:r>
            <a:r>
              <a:rPr lang="ru-RU" sz="1050" kern="1200" dirty="0">
                <a:solidFill>
                  <a:srgbClr val="000000"/>
                </a:solidFill>
                <a:latin typeface="+mn-lt"/>
              </a:rPr>
              <a:t> </a:t>
            </a:r>
            <a:endParaRPr lang="en-US" sz="1050" kern="1200" dirty="0">
              <a:solidFill>
                <a:srgbClr val="000000"/>
              </a:solidFill>
              <a:latin typeface="+mn-lt"/>
            </a:endParaRPr>
          </a:p>
          <a:p>
            <a:pPr lvl="0" eaLnBrk="0" fontAlgn="base" hangingPunct="0">
              <a:spcBef>
                <a:spcPct val="0"/>
              </a:spcBef>
              <a:spcAft>
                <a:spcPct val="0"/>
              </a:spcAft>
              <a:buClrTx/>
              <a:buNone/>
              <a:defRPr/>
            </a:pPr>
            <a:r>
              <a:rPr lang="en-US" sz="1050" kern="1200" dirty="0">
                <a:solidFill>
                  <a:srgbClr val="000000"/>
                </a:solidFill>
                <a:latin typeface="+mn-lt"/>
              </a:rPr>
              <a:t>r</a:t>
            </a:r>
            <a:r>
              <a:rPr lang="en-US" sz="1050" b="1" kern="1200" dirty="0">
                <a:solidFill>
                  <a:srgbClr val="000080"/>
                </a:solidFill>
                <a:latin typeface="+mn-lt"/>
              </a:rPr>
              <a:t>.</a:t>
            </a:r>
            <a:r>
              <a:rPr lang="en-US" sz="1050" kern="1200" dirty="0">
                <a:solidFill>
                  <a:srgbClr val="000000"/>
                </a:solidFill>
                <a:latin typeface="+mn-lt"/>
              </a:rPr>
              <a:t>delete</a:t>
            </a:r>
            <a:r>
              <a:rPr lang="en-US" sz="1050" b="1" kern="1200" dirty="0">
                <a:solidFill>
                  <a:srgbClr val="000080"/>
                </a:solidFill>
                <a:latin typeface="+mn-lt"/>
              </a:rPr>
              <a:t>(</a:t>
            </a:r>
            <a:r>
              <a:rPr lang="en-US" sz="1050" kern="1200" dirty="0">
                <a:solidFill>
                  <a:srgbClr val="808080"/>
                </a:solidFill>
                <a:latin typeface="+mn-lt"/>
              </a:rPr>
              <a:t>'name'</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r>
              <a:rPr lang="en-US" sz="1050" b="1" kern="1200" dirty="0">
                <a:solidFill>
                  <a:srgbClr val="0000FF"/>
                </a:solidFill>
                <a:latin typeface="+mn-lt"/>
              </a:rPr>
              <a:t>print</a:t>
            </a:r>
            <a:r>
              <a:rPr lang="en-US" sz="1050" b="1" kern="1200" dirty="0">
                <a:solidFill>
                  <a:srgbClr val="000080"/>
                </a:solidFill>
                <a:latin typeface="+mn-lt"/>
              </a:rPr>
              <a:t>(</a:t>
            </a:r>
            <a:r>
              <a:rPr lang="en-US" sz="1050" kern="1200" dirty="0">
                <a:solidFill>
                  <a:srgbClr val="808080"/>
                </a:solidFill>
                <a:latin typeface="+mn-lt"/>
              </a:rPr>
              <a:t>"r.get('name'): "</a:t>
            </a:r>
            <a:r>
              <a:rPr lang="en-US" sz="1050" b="1" kern="1200" dirty="0">
                <a:solidFill>
                  <a:srgbClr val="000080"/>
                </a:solidFill>
                <a:latin typeface="+mn-lt"/>
              </a:rPr>
              <a:t>,</a:t>
            </a:r>
            <a:r>
              <a:rPr lang="en-US" sz="1050" kern="1200" dirty="0">
                <a:solidFill>
                  <a:srgbClr val="000000"/>
                </a:solidFill>
                <a:latin typeface="+mn-lt"/>
              </a:rPr>
              <a:t> r</a:t>
            </a:r>
            <a:r>
              <a:rPr lang="en-US" sz="1050" b="1" kern="1200" dirty="0">
                <a:solidFill>
                  <a:srgbClr val="000080"/>
                </a:solidFill>
                <a:latin typeface="+mn-lt"/>
              </a:rPr>
              <a:t>.</a:t>
            </a:r>
            <a:r>
              <a:rPr lang="en-US" sz="1050" kern="1200" dirty="0">
                <a:solidFill>
                  <a:srgbClr val="000000"/>
                </a:solidFill>
                <a:latin typeface="+mn-lt"/>
              </a:rPr>
              <a:t>get</a:t>
            </a:r>
            <a:r>
              <a:rPr lang="en-US" sz="1050" b="1" kern="1200" dirty="0">
                <a:solidFill>
                  <a:srgbClr val="000080"/>
                </a:solidFill>
                <a:latin typeface="+mn-lt"/>
              </a:rPr>
              <a:t>(</a:t>
            </a:r>
            <a:r>
              <a:rPr lang="en-US" sz="1050" kern="1200" dirty="0">
                <a:solidFill>
                  <a:srgbClr val="808080"/>
                </a:solidFill>
                <a:latin typeface="+mn-lt"/>
              </a:rPr>
              <a:t>'name'</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endParaRPr lang="en-US" sz="1050" kern="1200" dirty="0">
              <a:solidFill>
                <a:srgbClr val="008000"/>
              </a:solidFill>
              <a:latin typeface="+mn-lt"/>
            </a:endParaRPr>
          </a:p>
          <a:p>
            <a:pPr lvl="0" eaLnBrk="0" fontAlgn="base" hangingPunct="0">
              <a:spcBef>
                <a:spcPct val="0"/>
              </a:spcBef>
              <a:spcAft>
                <a:spcPct val="0"/>
              </a:spcAft>
              <a:buClrTx/>
              <a:buNone/>
              <a:defRPr/>
            </a:pPr>
            <a:r>
              <a:rPr lang="en-US" sz="1050" kern="1200" dirty="0">
                <a:solidFill>
                  <a:srgbClr val="008000"/>
                </a:solidFill>
                <a:latin typeface="+mn-lt"/>
              </a:rPr>
              <a:t># set </a:t>
            </a:r>
            <a:r>
              <a:rPr lang="ru-RU" sz="1050" kern="1200" dirty="0">
                <a:solidFill>
                  <a:srgbClr val="008000"/>
                </a:solidFill>
                <a:latin typeface="+mn-lt"/>
              </a:rPr>
              <a:t>всегда добавляет значение строкового типа</a:t>
            </a:r>
            <a:r>
              <a:rPr lang="ru-RU" sz="1050" kern="1200" dirty="0">
                <a:solidFill>
                  <a:srgbClr val="000000"/>
                </a:solidFill>
                <a:latin typeface="+mn-lt"/>
              </a:rPr>
              <a:t> </a:t>
            </a:r>
            <a:endParaRPr lang="en-US" sz="1050" kern="1200" dirty="0">
              <a:solidFill>
                <a:srgbClr val="000000"/>
              </a:solidFill>
              <a:latin typeface="+mn-lt"/>
            </a:endParaRPr>
          </a:p>
          <a:p>
            <a:pPr lvl="0" eaLnBrk="0" fontAlgn="base" hangingPunct="0">
              <a:spcBef>
                <a:spcPct val="0"/>
              </a:spcBef>
              <a:spcAft>
                <a:spcPct val="0"/>
              </a:spcAft>
              <a:buClrTx/>
              <a:buNone/>
              <a:defRPr/>
            </a:pPr>
            <a:r>
              <a:rPr lang="en-US" sz="1050" kern="1200" dirty="0">
                <a:solidFill>
                  <a:srgbClr val="000000"/>
                </a:solidFill>
                <a:latin typeface="+mn-lt"/>
              </a:rPr>
              <a:t>r</a:t>
            </a:r>
            <a:r>
              <a:rPr lang="en-US" sz="1050" b="1" kern="1200" dirty="0">
                <a:solidFill>
                  <a:srgbClr val="000080"/>
                </a:solidFill>
                <a:latin typeface="+mn-lt"/>
              </a:rPr>
              <a:t>.</a:t>
            </a:r>
            <a:r>
              <a:rPr lang="en-US" sz="1050" kern="1200" dirty="0">
                <a:solidFill>
                  <a:srgbClr val="000000"/>
                </a:solidFill>
                <a:latin typeface="+mn-lt"/>
              </a:rPr>
              <a:t>set</a:t>
            </a:r>
            <a:r>
              <a:rPr lang="en-US" sz="1050" b="1" kern="1200" dirty="0">
                <a:solidFill>
                  <a:srgbClr val="000080"/>
                </a:solidFill>
                <a:latin typeface="+mn-lt"/>
              </a:rPr>
              <a:t>(</a:t>
            </a:r>
            <a:r>
              <a:rPr lang="en-US" sz="1050" kern="1200" dirty="0">
                <a:solidFill>
                  <a:srgbClr val="808080"/>
                </a:solidFill>
                <a:latin typeface="+mn-lt"/>
              </a:rPr>
              <a:t>'my_int'</a:t>
            </a:r>
            <a:r>
              <a:rPr lang="en-US" sz="1050" b="1" kern="1200" dirty="0">
                <a:solidFill>
                  <a:srgbClr val="000080"/>
                </a:solidFill>
                <a:latin typeface="+mn-lt"/>
              </a:rPr>
              <a:t>,</a:t>
            </a:r>
            <a:r>
              <a:rPr lang="en-US" sz="1050" kern="1200" dirty="0">
                <a:solidFill>
                  <a:srgbClr val="000000"/>
                </a:solidFill>
                <a:latin typeface="+mn-lt"/>
              </a:rPr>
              <a:t> </a:t>
            </a:r>
            <a:r>
              <a:rPr lang="en-US" sz="1050" kern="1200" dirty="0">
                <a:solidFill>
                  <a:srgbClr val="FF0000"/>
                </a:solidFill>
                <a:latin typeface="+mn-lt"/>
              </a:rPr>
              <a:t>2</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r>
              <a:rPr lang="en-US" sz="1050" b="1" kern="1200" dirty="0">
                <a:solidFill>
                  <a:srgbClr val="0000FF"/>
                </a:solidFill>
                <a:latin typeface="+mn-lt"/>
              </a:rPr>
              <a:t>print</a:t>
            </a:r>
            <a:r>
              <a:rPr lang="en-US" sz="1050" b="1" kern="1200" dirty="0">
                <a:solidFill>
                  <a:srgbClr val="000080"/>
                </a:solidFill>
                <a:latin typeface="+mn-lt"/>
              </a:rPr>
              <a:t>(</a:t>
            </a:r>
            <a:r>
              <a:rPr lang="en-US" sz="1050" kern="1200" dirty="0">
                <a:solidFill>
                  <a:srgbClr val="808080"/>
                </a:solidFill>
                <a:latin typeface="+mn-lt"/>
              </a:rPr>
              <a:t>"r.get('my_int'): "</a:t>
            </a:r>
            <a:r>
              <a:rPr lang="en-US" sz="1050" b="1" kern="1200" dirty="0">
                <a:solidFill>
                  <a:srgbClr val="000080"/>
                </a:solidFill>
                <a:latin typeface="+mn-lt"/>
              </a:rPr>
              <a:t>,</a:t>
            </a:r>
            <a:r>
              <a:rPr lang="en-US" sz="1050" kern="1200" dirty="0">
                <a:solidFill>
                  <a:srgbClr val="000000"/>
                </a:solidFill>
                <a:latin typeface="+mn-lt"/>
              </a:rPr>
              <a:t> r</a:t>
            </a:r>
            <a:r>
              <a:rPr lang="en-US" sz="1050" b="1" kern="1200" dirty="0">
                <a:solidFill>
                  <a:srgbClr val="000080"/>
                </a:solidFill>
                <a:latin typeface="+mn-lt"/>
              </a:rPr>
              <a:t>.</a:t>
            </a:r>
            <a:r>
              <a:rPr lang="en-US" sz="1050" kern="1200" dirty="0">
                <a:solidFill>
                  <a:srgbClr val="000000"/>
                </a:solidFill>
                <a:latin typeface="+mn-lt"/>
              </a:rPr>
              <a:t>get</a:t>
            </a:r>
            <a:r>
              <a:rPr lang="en-US" sz="1050" b="1" kern="1200" dirty="0">
                <a:solidFill>
                  <a:srgbClr val="000080"/>
                </a:solidFill>
                <a:latin typeface="+mn-lt"/>
              </a:rPr>
              <a:t>(</a:t>
            </a:r>
            <a:r>
              <a:rPr lang="en-US" sz="1050" kern="1200" dirty="0">
                <a:solidFill>
                  <a:srgbClr val="808080"/>
                </a:solidFill>
                <a:latin typeface="+mn-lt"/>
              </a:rPr>
              <a:t>'my_int'</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r>
              <a:rPr lang="en-US" sz="1050" b="1" kern="1200" dirty="0">
                <a:solidFill>
                  <a:srgbClr val="0000FF"/>
                </a:solidFill>
                <a:latin typeface="+mn-lt"/>
              </a:rPr>
              <a:t>print</a:t>
            </a:r>
            <a:r>
              <a:rPr lang="en-US" sz="1050" b="1" kern="1200" dirty="0">
                <a:solidFill>
                  <a:srgbClr val="000080"/>
                </a:solidFill>
                <a:latin typeface="+mn-lt"/>
              </a:rPr>
              <a:t>(</a:t>
            </a:r>
            <a:r>
              <a:rPr lang="en-US" sz="1050" kern="1200" dirty="0">
                <a:solidFill>
                  <a:srgbClr val="808080"/>
                </a:solidFill>
                <a:latin typeface="+mn-lt"/>
              </a:rPr>
              <a:t>"r.type('my_int'): "</a:t>
            </a:r>
            <a:r>
              <a:rPr lang="en-US" sz="1050" b="1" kern="1200" dirty="0">
                <a:solidFill>
                  <a:srgbClr val="000080"/>
                </a:solidFill>
                <a:latin typeface="+mn-lt"/>
              </a:rPr>
              <a:t>,</a:t>
            </a:r>
            <a:r>
              <a:rPr lang="en-US" sz="1050" kern="1200" dirty="0">
                <a:solidFill>
                  <a:srgbClr val="000000"/>
                </a:solidFill>
                <a:latin typeface="+mn-lt"/>
              </a:rPr>
              <a:t> r</a:t>
            </a:r>
            <a:r>
              <a:rPr lang="en-US" sz="1050" b="1" kern="1200" dirty="0">
                <a:solidFill>
                  <a:srgbClr val="000080"/>
                </a:solidFill>
                <a:latin typeface="+mn-lt"/>
              </a:rPr>
              <a:t>.</a:t>
            </a:r>
            <a:r>
              <a:rPr lang="en-US" sz="1050" kern="1200" dirty="0">
                <a:solidFill>
                  <a:srgbClr val="000000"/>
                </a:solidFill>
                <a:latin typeface="+mn-lt"/>
              </a:rPr>
              <a:t>type</a:t>
            </a:r>
            <a:r>
              <a:rPr lang="en-US" sz="1050" b="1" kern="1200" dirty="0">
                <a:solidFill>
                  <a:srgbClr val="000080"/>
                </a:solidFill>
                <a:latin typeface="+mn-lt"/>
              </a:rPr>
              <a:t>(</a:t>
            </a:r>
            <a:r>
              <a:rPr lang="en-US" sz="1050" kern="1200" dirty="0">
                <a:solidFill>
                  <a:srgbClr val="808080"/>
                </a:solidFill>
                <a:latin typeface="+mn-lt"/>
              </a:rPr>
              <a:t>'my_int'</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r>
              <a:rPr lang="en-US" sz="1050" kern="1200" dirty="0">
                <a:solidFill>
                  <a:srgbClr val="008000"/>
                </a:solidFill>
                <a:latin typeface="+mn-lt"/>
              </a:rPr>
              <a:t># </a:t>
            </a:r>
            <a:r>
              <a:rPr lang="ru-RU" sz="1050" kern="1200" dirty="0">
                <a:solidFill>
                  <a:srgbClr val="008000"/>
                </a:solidFill>
                <a:latin typeface="+mn-lt"/>
              </a:rPr>
              <a:t>Инкрементируем значение по ключу, которое для данной</a:t>
            </a:r>
            <a:r>
              <a:rPr lang="ru-RU" sz="1050" kern="1200" dirty="0">
                <a:solidFill>
                  <a:srgbClr val="000000"/>
                </a:solidFill>
                <a:latin typeface="+mn-lt"/>
              </a:rPr>
              <a:t> </a:t>
            </a:r>
            <a:endParaRPr lang="en-US" sz="1050" kern="1200" dirty="0">
              <a:solidFill>
                <a:srgbClr val="000000"/>
              </a:solidFill>
              <a:latin typeface="+mn-lt"/>
            </a:endParaRPr>
          </a:p>
          <a:p>
            <a:pPr lvl="0" eaLnBrk="0" fontAlgn="base" hangingPunct="0">
              <a:spcBef>
                <a:spcPct val="0"/>
              </a:spcBef>
              <a:spcAft>
                <a:spcPct val="0"/>
              </a:spcAft>
              <a:buClrTx/>
              <a:buNone/>
              <a:defRPr/>
            </a:pPr>
            <a:r>
              <a:rPr lang="ru-RU" sz="1050" kern="1200" dirty="0">
                <a:solidFill>
                  <a:srgbClr val="008000"/>
                </a:solidFill>
                <a:latin typeface="+mn-lt"/>
              </a:rPr>
              <a:t># операции интерпретируется как 64-битное знаковое целое</a:t>
            </a:r>
            <a:r>
              <a:rPr lang="ru-RU" sz="1050" kern="1200" dirty="0">
                <a:solidFill>
                  <a:srgbClr val="000000"/>
                </a:solidFill>
                <a:latin typeface="+mn-lt"/>
              </a:rPr>
              <a:t> </a:t>
            </a:r>
            <a:endParaRPr lang="en-US" sz="1050" kern="1200" dirty="0">
              <a:solidFill>
                <a:srgbClr val="000000"/>
              </a:solidFill>
              <a:latin typeface="+mn-lt"/>
            </a:endParaRPr>
          </a:p>
          <a:p>
            <a:pPr lvl="0" eaLnBrk="0" fontAlgn="base" hangingPunct="0">
              <a:spcBef>
                <a:spcPct val="0"/>
              </a:spcBef>
              <a:spcAft>
                <a:spcPct val="0"/>
              </a:spcAft>
              <a:buClrTx/>
              <a:buNone/>
              <a:defRPr/>
            </a:pPr>
            <a:r>
              <a:rPr lang="en-US" sz="1050" b="1" kern="1200" dirty="0">
                <a:solidFill>
                  <a:srgbClr val="0000FF"/>
                </a:solidFill>
                <a:latin typeface="+mn-lt"/>
              </a:rPr>
              <a:t>print</a:t>
            </a:r>
            <a:r>
              <a:rPr lang="en-US" sz="1050" b="1" kern="1200" dirty="0">
                <a:solidFill>
                  <a:srgbClr val="000080"/>
                </a:solidFill>
                <a:latin typeface="+mn-lt"/>
              </a:rPr>
              <a:t>(</a:t>
            </a:r>
            <a:r>
              <a:rPr lang="en-US" sz="1050" kern="1200" dirty="0">
                <a:solidFill>
                  <a:srgbClr val="808080"/>
                </a:solidFill>
                <a:latin typeface="+mn-lt"/>
              </a:rPr>
              <a:t>"r.incr('my_int'): "</a:t>
            </a:r>
            <a:r>
              <a:rPr lang="en-US" sz="1050" b="1" kern="1200" dirty="0">
                <a:solidFill>
                  <a:srgbClr val="000080"/>
                </a:solidFill>
                <a:latin typeface="+mn-lt"/>
              </a:rPr>
              <a:t>,</a:t>
            </a:r>
            <a:r>
              <a:rPr lang="en-US" sz="1050" kern="1200" dirty="0">
                <a:solidFill>
                  <a:srgbClr val="000000"/>
                </a:solidFill>
                <a:latin typeface="+mn-lt"/>
              </a:rPr>
              <a:t> r</a:t>
            </a:r>
            <a:r>
              <a:rPr lang="en-US" sz="1050" b="1" kern="1200" dirty="0">
                <a:solidFill>
                  <a:srgbClr val="000080"/>
                </a:solidFill>
                <a:latin typeface="+mn-lt"/>
              </a:rPr>
              <a:t>.</a:t>
            </a:r>
            <a:r>
              <a:rPr lang="en-US" sz="1050" kern="1200" dirty="0">
                <a:solidFill>
                  <a:srgbClr val="000000"/>
                </a:solidFill>
                <a:latin typeface="+mn-lt"/>
              </a:rPr>
              <a:t>incr</a:t>
            </a:r>
            <a:r>
              <a:rPr lang="en-US" sz="1050" b="1" kern="1200" dirty="0">
                <a:solidFill>
                  <a:srgbClr val="000080"/>
                </a:solidFill>
                <a:latin typeface="+mn-lt"/>
              </a:rPr>
              <a:t>(</a:t>
            </a:r>
            <a:r>
              <a:rPr lang="en-US" sz="1050" kern="1200" dirty="0">
                <a:solidFill>
                  <a:srgbClr val="808080"/>
                </a:solidFill>
                <a:latin typeface="+mn-lt"/>
              </a:rPr>
              <a:t>'my_int'</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r>
              <a:rPr lang="en-US" sz="1050" kern="1200" dirty="0">
                <a:solidFill>
                  <a:srgbClr val="008000"/>
                </a:solidFill>
                <a:latin typeface="+mn-lt"/>
              </a:rPr>
              <a:t># </a:t>
            </a:r>
            <a:r>
              <a:rPr lang="ru-RU" sz="1050" kern="1200" dirty="0">
                <a:solidFill>
                  <a:srgbClr val="008000"/>
                </a:solidFill>
                <a:latin typeface="+mn-lt"/>
              </a:rPr>
              <a:t>Проверяем существование значения по ключу</a:t>
            </a:r>
            <a:r>
              <a:rPr lang="ru-RU" sz="1050" kern="1200" dirty="0">
                <a:solidFill>
                  <a:srgbClr val="000000"/>
                </a:solidFill>
                <a:latin typeface="+mn-lt"/>
              </a:rPr>
              <a:t> </a:t>
            </a:r>
            <a:endParaRPr lang="en-US" sz="1050" kern="1200" dirty="0">
              <a:solidFill>
                <a:srgbClr val="000000"/>
              </a:solidFill>
              <a:latin typeface="+mn-lt"/>
            </a:endParaRPr>
          </a:p>
          <a:p>
            <a:pPr lvl="0" eaLnBrk="0" fontAlgn="base" hangingPunct="0">
              <a:spcBef>
                <a:spcPct val="0"/>
              </a:spcBef>
              <a:spcAft>
                <a:spcPct val="0"/>
              </a:spcAft>
              <a:buClrTx/>
              <a:buNone/>
              <a:defRPr/>
            </a:pPr>
            <a:r>
              <a:rPr lang="en-US" sz="1050" b="1" kern="1200" dirty="0">
                <a:solidFill>
                  <a:srgbClr val="0000FF"/>
                </a:solidFill>
                <a:latin typeface="+mn-lt"/>
              </a:rPr>
              <a:t>print</a:t>
            </a:r>
            <a:r>
              <a:rPr lang="en-US" sz="1050" b="1" kern="1200" dirty="0">
                <a:solidFill>
                  <a:srgbClr val="000080"/>
                </a:solidFill>
                <a:latin typeface="+mn-lt"/>
              </a:rPr>
              <a:t>(</a:t>
            </a:r>
            <a:r>
              <a:rPr lang="en-US" sz="1050" kern="1200" dirty="0">
                <a:solidFill>
                  <a:srgbClr val="808080"/>
                </a:solidFill>
                <a:latin typeface="+mn-lt"/>
              </a:rPr>
              <a:t>"r.exists('my_int'): "</a:t>
            </a:r>
            <a:r>
              <a:rPr lang="en-US" sz="1050" b="1" kern="1200" dirty="0">
                <a:solidFill>
                  <a:srgbClr val="000080"/>
                </a:solidFill>
                <a:latin typeface="+mn-lt"/>
              </a:rPr>
              <a:t>,</a:t>
            </a:r>
            <a:r>
              <a:rPr lang="en-US" sz="1050" kern="1200" dirty="0">
                <a:solidFill>
                  <a:srgbClr val="000000"/>
                </a:solidFill>
                <a:latin typeface="+mn-lt"/>
              </a:rPr>
              <a:t> r</a:t>
            </a:r>
            <a:r>
              <a:rPr lang="en-US" sz="1050" b="1" kern="1200" dirty="0">
                <a:solidFill>
                  <a:srgbClr val="000080"/>
                </a:solidFill>
                <a:latin typeface="+mn-lt"/>
              </a:rPr>
              <a:t>.</a:t>
            </a:r>
            <a:r>
              <a:rPr lang="en-US" sz="1050" kern="1200" dirty="0">
                <a:solidFill>
                  <a:srgbClr val="000000"/>
                </a:solidFill>
                <a:latin typeface="+mn-lt"/>
              </a:rPr>
              <a:t>exists</a:t>
            </a:r>
            <a:r>
              <a:rPr lang="en-US" sz="1050" b="1" kern="1200" dirty="0">
                <a:solidFill>
                  <a:srgbClr val="000080"/>
                </a:solidFill>
                <a:latin typeface="+mn-lt"/>
              </a:rPr>
              <a:t>(</a:t>
            </a:r>
            <a:r>
              <a:rPr lang="en-US" sz="1050" kern="1200" dirty="0">
                <a:solidFill>
                  <a:srgbClr val="808080"/>
                </a:solidFill>
                <a:latin typeface="+mn-lt"/>
              </a:rPr>
              <a:t>'my_int'</a:t>
            </a:r>
            <a:r>
              <a:rPr lang="en-US" sz="1050" b="1" kern="1200" dirty="0">
                <a:solidFill>
                  <a:srgbClr val="000080"/>
                </a:solidFill>
                <a:latin typeface="+mn-lt"/>
              </a:rPr>
              <a:t>))</a:t>
            </a:r>
            <a:r>
              <a:rPr lang="en-US" sz="1050" kern="1200" dirty="0">
                <a:solidFill>
                  <a:srgbClr val="000000"/>
                </a:solidFill>
                <a:latin typeface="+mn-lt"/>
              </a:rPr>
              <a:t> </a:t>
            </a:r>
          </a:p>
        </p:txBody>
      </p:sp>
      <p:pic>
        <p:nvPicPr>
          <p:cNvPr id="8" name="Picture 2" descr="https://blog.rubrain.com/wp-content/uploads/2020/08/3-1.jpg">
            <a:extLst>
              <a:ext uri="{FF2B5EF4-FFF2-40B4-BE49-F238E27FC236}">
                <a16:creationId xmlns:a16="http://schemas.microsoft.com/office/drawing/2014/main" id="{428174DA-ECEE-4663-BEC1-624C82278A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841" r="25528"/>
          <a:stretch/>
        </p:blipFill>
        <p:spPr bwMode="auto">
          <a:xfrm>
            <a:off x="-143219" y="0"/>
            <a:ext cx="4572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9" name="Прямоугольник 8">
            <a:extLst>
              <a:ext uri="{FF2B5EF4-FFF2-40B4-BE49-F238E27FC236}">
                <a16:creationId xmlns:a16="http://schemas.microsoft.com/office/drawing/2014/main" id="{FF659AD8-5F22-46FB-B8C7-75DFB45DC6BD}"/>
              </a:ext>
            </a:extLst>
          </p:cNvPr>
          <p:cNvSpPr/>
          <p:nvPr/>
        </p:nvSpPr>
        <p:spPr>
          <a:xfrm>
            <a:off x="-143219" y="0"/>
            <a:ext cx="4572000" cy="5143500"/>
          </a:xfrm>
          <a:prstGeom prst="rect">
            <a:avLst/>
          </a:prstGeom>
          <a:gradFill>
            <a:gsLst>
              <a:gs pos="0">
                <a:schemeClr val="accent1">
                  <a:alpha val="60000"/>
                </a:schemeClr>
              </a:gs>
              <a:gs pos="100000">
                <a:schemeClr val="tx2">
                  <a:alpha val="6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Box 17">
            <a:extLst>
              <a:ext uri="{FF2B5EF4-FFF2-40B4-BE49-F238E27FC236}">
                <a16:creationId xmlns:a16="http://schemas.microsoft.com/office/drawing/2014/main" id="{C395706E-6585-475C-9C3C-2EC9DC4818D5}"/>
              </a:ext>
            </a:extLst>
          </p:cNvPr>
          <p:cNvSpPr txBox="1"/>
          <p:nvPr/>
        </p:nvSpPr>
        <p:spPr>
          <a:xfrm>
            <a:off x="279823" y="1999697"/>
            <a:ext cx="3743537" cy="646331"/>
          </a:xfrm>
          <a:prstGeom prst="rect">
            <a:avLst/>
          </a:prstGeom>
          <a:noFill/>
        </p:spPr>
        <p:txBody>
          <a:bodyPr wrap="square">
            <a:spAutoFit/>
          </a:bodyPr>
          <a:lstStyle/>
          <a:p>
            <a:r>
              <a:rPr lang="en-US" sz="3600" kern="1200" dirty="0">
                <a:solidFill>
                  <a:schemeClr val="bg1"/>
                </a:solidFill>
                <a:latin typeface="+mj-lt"/>
              </a:rPr>
              <a:t>redis: </a:t>
            </a:r>
            <a:r>
              <a:rPr lang="ru-RU" sz="3600" kern="1200" dirty="0">
                <a:solidFill>
                  <a:schemeClr val="bg1"/>
                </a:solidFill>
                <a:latin typeface="+mj-lt"/>
              </a:rPr>
              <a:t>пример</a:t>
            </a:r>
            <a:endParaRPr lang="ru-RU" sz="3600" dirty="0">
              <a:solidFill>
                <a:schemeClr val="bg1"/>
              </a:solidFill>
              <a:latin typeface="+mj-lt"/>
            </a:endParaRPr>
          </a:p>
        </p:txBody>
      </p:sp>
    </p:spTree>
    <p:extLst>
      <p:ext uri="{BB962C8B-B14F-4D97-AF65-F5344CB8AC3E}">
        <p14:creationId xmlns:p14="http://schemas.microsoft.com/office/powerpoint/2010/main" val="4282315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7"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4770784" y="670226"/>
            <a:ext cx="4333461" cy="380304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lvl="0" eaLnBrk="0" fontAlgn="base" hangingPunct="0">
              <a:spcBef>
                <a:spcPct val="0"/>
              </a:spcBef>
              <a:spcAft>
                <a:spcPct val="0"/>
              </a:spcAft>
              <a:buClrTx/>
              <a:buNone/>
              <a:defRPr/>
            </a:pPr>
            <a:r>
              <a:rPr lang="en-US" sz="1050" kern="1200" dirty="0">
                <a:solidFill>
                  <a:srgbClr val="000000"/>
                </a:solidFill>
                <a:latin typeface="+mn-lt"/>
              </a:rPr>
              <a:t>r</a:t>
            </a:r>
            <a:r>
              <a:rPr lang="en-US" sz="1050" b="1" kern="1200" dirty="0">
                <a:solidFill>
                  <a:srgbClr val="000080"/>
                </a:solidFill>
                <a:latin typeface="+mn-lt"/>
              </a:rPr>
              <a:t>.</a:t>
            </a:r>
            <a:r>
              <a:rPr lang="en-US" sz="1050" kern="1200" dirty="0">
                <a:solidFill>
                  <a:srgbClr val="000000"/>
                </a:solidFill>
                <a:latin typeface="+mn-lt"/>
              </a:rPr>
              <a:t>set</a:t>
            </a:r>
            <a:r>
              <a:rPr lang="en-US" sz="1050" b="1" kern="1200" dirty="0">
                <a:solidFill>
                  <a:srgbClr val="000080"/>
                </a:solidFill>
                <a:latin typeface="+mn-lt"/>
              </a:rPr>
              <a:t>(</a:t>
            </a:r>
            <a:r>
              <a:rPr lang="en-US" sz="1050" kern="1200" dirty="0">
                <a:solidFill>
                  <a:srgbClr val="808080"/>
                </a:solidFill>
                <a:latin typeface="+mn-lt"/>
              </a:rPr>
              <a:t>'temp_value'</a:t>
            </a:r>
            <a:r>
              <a:rPr lang="en-US" sz="1050" b="1" kern="1200" dirty="0">
                <a:solidFill>
                  <a:srgbClr val="000080"/>
                </a:solidFill>
                <a:latin typeface="+mn-lt"/>
              </a:rPr>
              <a:t>,</a:t>
            </a:r>
            <a:r>
              <a:rPr lang="en-US" sz="1050" kern="1200" dirty="0">
                <a:solidFill>
                  <a:srgbClr val="000000"/>
                </a:solidFill>
                <a:latin typeface="+mn-lt"/>
              </a:rPr>
              <a:t> </a:t>
            </a:r>
            <a:r>
              <a:rPr lang="en-US" sz="1050" kern="1200" dirty="0">
                <a:solidFill>
                  <a:srgbClr val="808080"/>
                </a:solidFill>
                <a:latin typeface="+mn-lt"/>
              </a:rPr>
              <a:t>'value'</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r>
              <a:rPr lang="en-US" sz="1050" kern="1200" dirty="0">
                <a:solidFill>
                  <a:srgbClr val="008000"/>
                </a:solidFill>
                <a:latin typeface="+mn-lt"/>
              </a:rPr>
              <a:t># </a:t>
            </a:r>
            <a:r>
              <a:rPr lang="ru-RU" sz="1050" kern="1200" dirty="0">
                <a:solidFill>
                  <a:srgbClr val="008000"/>
                </a:solidFill>
                <a:latin typeface="+mn-lt"/>
              </a:rPr>
              <a:t>Задаем время жизни ключа (в секундах), по истечении</a:t>
            </a:r>
            <a:r>
              <a:rPr lang="ru-RU" sz="1050" kern="1200" dirty="0">
                <a:solidFill>
                  <a:srgbClr val="000000"/>
                </a:solidFill>
                <a:latin typeface="+mn-lt"/>
              </a:rPr>
              <a:t> </a:t>
            </a:r>
            <a:endParaRPr lang="en-US" sz="1050" kern="1200" dirty="0">
              <a:solidFill>
                <a:srgbClr val="000000"/>
              </a:solidFill>
              <a:latin typeface="+mn-lt"/>
            </a:endParaRPr>
          </a:p>
          <a:p>
            <a:pPr lvl="0" eaLnBrk="0" fontAlgn="base" hangingPunct="0">
              <a:spcBef>
                <a:spcPct val="0"/>
              </a:spcBef>
              <a:spcAft>
                <a:spcPct val="0"/>
              </a:spcAft>
              <a:buClrTx/>
              <a:buNone/>
              <a:defRPr/>
            </a:pPr>
            <a:r>
              <a:rPr lang="ru-RU" sz="1050" kern="1200" dirty="0">
                <a:solidFill>
                  <a:srgbClr val="008000"/>
                </a:solidFill>
                <a:latin typeface="+mn-lt"/>
              </a:rPr>
              <a:t># которого он будет автоматически удален с сервера</a:t>
            </a:r>
            <a:r>
              <a:rPr lang="ru-RU" sz="1050" kern="1200" dirty="0">
                <a:solidFill>
                  <a:srgbClr val="000000"/>
                </a:solidFill>
                <a:latin typeface="+mn-lt"/>
              </a:rPr>
              <a:t> </a:t>
            </a:r>
            <a:endParaRPr lang="en-US" sz="1050" kern="1200" dirty="0">
              <a:solidFill>
                <a:srgbClr val="000000"/>
              </a:solidFill>
              <a:latin typeface="+mn-lt"/>
            </a:endParaRPr>
          </a:p>
          <a:p>
            <a:pPr lvl="0" eaLnBrk="0" fontAlgn="base" hangingPunct="0">
              <a:spcBef>
                <a:spcPct val="0"/>
              </a:spcBef>
              <a:spcAft>
                <a:spcPct val="0"/>
              </a:spcAft>
              <a:buClrTx/>
              <a:buNone/>
              <a:defRPr/>
            </a:pPr>
            <a:r>
              <a:rPr lang="en-US" sz="1050" kern="1200" dirty="0">
                <a:solidFill>
                  <a:srgbClr val="000000"/>
                </a:solidFill>
                <a:latin typeface="+mn-lt"/>
              </a:rPr>
              <a:t>r</a:t>
            </a:r>
            <a:r>
              <a:rPr lang="en-US" sz="1050" b="1" kern="1200" dirty="0">
                <a:solidFill>
                  <a:srgbClr val="000080"/>
                </a:solidFill>
                <a:latin typeface="+mn-lt"/>
              </a:rPr>
              <a:t>.</a:t>
            </a:r>
            <a:r>
              <a:rPr lang="en-US" sz="1050" kern="1200" dirty="0">
                <a:solidFill>
                  <a:srgbClr val="000000"/>
                </a:solidFill>
                <a:latin typeface="+mn-lt"/>
              </a:rPr>
              <a:t>expire</a:t>
            </a:r>
            <a:r>
              <a:rPr lang="en-US" sz="1050" b="1" kern="1200" dirty="0">
                <a:solidFill>
                  <a:srgbClr val="000080"/>
                </a:solidFill>
                <a:latin typeface="+mn-lt"/>
              </a:rPr>
              <a:t>(</a:t>
            </a:r>
            <a:r>
              <a:rPr lang="en-US" sz="1050" kern="1200" dirty="0">
                <a:solidFill>
                  <a:srgbClr val="808080"/>
                </a:solidFill>
                <a:latin typeface="+mn-lt"/>
              </a:rPr>
              <a:t>'temp_value'</a:t>
            </a:r>
            <a:r>
              <a:rPr lang="en-US" sz="1050" b="1" kern="1200" dirty="0">
                <a:solidFill>
                  <a:srgbClr val="000080"/>
                </a:solidFill>
                <a:latin typeface="+mn-lt"/>
              </a:rPr>
              <a:t>,</a:t>
            </a:r>
            <a:r>
              <a:rPr lang="en-US" sz="1050" kern="1200" dirty="0">
                <a:solidFill>
                  <a:srgbClr val="000000"/>
                </a:solidFill>
                <a:latin typeface="+mn-lt"/>
              </a:rPr>
              <a:t> </a:t>
            </a:r>
            <a:r>
              <a:rPr lang="en-US" sz="1050" kern="1200" dirty="0">
                <a:solidFill>
                  <a:srgbClr val="FF0000"/>
                </a:solidFill>
                <a:latin typeface="+mn-lt"/>
              </a:rPr>
              <a:t>5</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r>
              <a:rPr lang="en-US" sz="1050" kern="1200" dirty="0">
                <a:solidFill>
                  <a:srgbClr val="008000"/>
                </a:solidFill>
                <a:latin typeface="+mn-lt"/>
              </a:rPr>
              <a:t># </a:t>
            </a:r>
            <a:r>
              <a:rPr lang="ru-RU" sz="1050" kern="1200" dirty="0">
                <a:solidFill>
                  <a:srgbClr val="008000"/>
                </a:solidFill>
                <a:latin typeface="+mn-lt"/>
              </a:rPr>
              <a:t>Узнаем оставшееся время жизни ключа</a:t>
            </a:r>
            <a:r>
              <a:rPr lang="ru-RU" sz="1050" kern="1200" dirty="0">
                <a:solidFill>
                  <a:srgbClr val="000000"/>
                </a:solidFill>
                <a:latin typeface="+mn-lt"/>
              </a:rPr>
              <a:t> </a:t>
            </a:r>
            <a:endParaRPr lang="en-US" sz="1050" kern="1200" dirty="0">
              <a:solidFill>
                <a:srgbClr val="000000"/>
              </a:solidFill>
              <a:latin typeface="+mn-lt"/>
            </a:endParaRPr>
          </a:p>
          <a:p>
            <a:pPr lvl="0" eaLnBrk="0" fontAlgn="base" hangingPunct="0">
              <a:spcBef>
                <a:spcPct val="0"/>
              </a:spcBef>
              <a:spcAft>
                <a:spcPct val="0"/>
              </a:spcAft>
              <a:buClrTx/>
              <a:buNone/>
              <a:defRPr/>
            </a:pPr>
            <a:r>
              <a:rPr lang="en-US" sz="1050" b="1" kern="1200" dirty="0">
                <a:solidFill>
                  <a:srgbClr val="0000FF"/>
                </a:solidFill>
                <a:latin typeface="+mn-lt"/>
              </a:rPr>
              <a:t>print</a:t>
            </a:r>
            <a:r>
              <a:rPr lang="en-US" sz="1050" b="1" kern="1200" dirty="0">
                <a:solidFill>
                  <a:srgbClr val="000080"/>
                </a:solidFill>
                <a:latin typeface="+mn-lt"/>
              </a:rPr>
              <a:t>(</a:t>
            </a:r>
            <a:r>
              <a:rPr lang="en-US" sz="1050" kern="1200" dirty="0">
                <a:solidFill>
                  <a:srgbClr val="808080"/>
                </a:solidFill>
                <a:latin typeface="+mn-lt"/>
              </a:rPr>
              <a:t>"r.ttl('temp_value'): "</a:t>
            </a:r>
            <a:r>
              <a:rPr lang="en-US" sz="1050" b="1" kern="1200" dirty="0">
                <a:solidFill>
                  <a:srgbClr val="000080"/>
                </a:solidFill>
                <a:latin typeface="+mn-lt"/>
              </a:rPr>
              <a:t>,</a:t>
            </a:r>
            <a:r>
              <a:rPr lang="en-US" sz="1050" kern="1200" dirty="0">
                <a:solidFill>
                  <a:srgbClr val="000000"/>
                </a:solidFill>
                <a:latin typeface="+mn-lt"/>
              </a:rPr>
              <a:t> r</a:t>
            </a:r>
            <a:r>
              <a:rPr lang="en-US" sz="1050" b="1" kern="1200" dirty="0">
                <a:solidFill>
                  <a:srgbClr val="000080"/>
                </a:solidFill>
                <a:latin typeface="+mn-lt"/>
              </a:rPr>
              <a:t>.</a:t>
            </a:r>
            <a:r>
              <a:rPr lang="en-US" sz="1050" kern="1200" dirty="0">
                <a:solidFill>
                  <a:srgbClr val="000000"/>
                </a:solidFill>
                <a:latin typeface="+mn-lt"/>
              </a:rPr>
              <a:t>ttl</a:t>
            </a:r>
            <a:r>
              <a:rPr lang="en-US" sz="1050" b="1" kern="1200" dirty="0">
                <a:solidFill>
                  <a:srgbClr val="000080"/>
                </a:solidFill>
                <a:latin typeface="+mn-lt"/>
              </a:rPr>
              <a:t>(</a:t>
            </a:r>
            <a:r>
              <a:rPr lang="en-US" sz="1050" kern="1200" dirty="0">
                <a:solidFill>
                  <a:srgbClr val="808080"/>
                </a:solidFill>
                <a:latin typeface="+mn-lt"/>
              </a:rPr>
              <a:t>'temp_value'</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r>
              <a:rPr lang="en-US" sz="1050" b="1" kern="1200" dirty="0">
                <a:solidFill>
                  <a:srgbClr val="0000FF"/>
                </a:solidFill>
                <a:latin typeface="+mn-lt"/>
              </a:rPr>
              <a:t>print</a:t>
            </a:r>
            <a:r>
              <a:rPr lang="en-US" sz="1050" b="1" kern="1200" dirty="0">
                <a:solidFill>
                  <a:srgbClr val="000080"/>
                </a:solidFill>
                <a:latin typeface="+mn-lt"/>
              </a:rPr>
              <a:t>(</a:t>
            </a:r>
            <a:r>
              <a:rPr lang="en-US" sz="1050" kern="1200" dirty="0">
                <a:solidFill>
                  <a:srgbClr val="808080"/>
                </a:solidFill>
                <a:latin typeface="+mn-lt"/>
              </a:rPr>
              <a:t>"r.get('temp_value'): "</a:t>
            </a:r>
            <a:r>
              <a:rPr lang="en-US" sz="1050" b="1" kern="1200" dirty="0">
                <a:solidFill>
                  <a:srgbClr val="000080"/>
                </a:solidFill>
                <a:latin typeface="+mn-lt"/>
              </a:rPr>
              <a:t>,</a:t>
            </a:r>
            <a:r>
              <a:rPr lang="en-US" sz="1050" kern="1200" dirty="0">
                <a:solidFill>
                  <a:srgbClr val="000000"/>
                </a:solidFill>
                <a:latin typeface="+mn-lt"/>
              </a:rPr>
              <a:t> r</a:t>
            </a:r>
            <a:r>
              <a:rPr lang="en-US" sz="1050" b="1" kern="1200" dirty="0">
                <a:solidFill>
                  <a:srgbClr val="000080"/>
                </a:solidFill>
                <a:latin typeface="+mn-lt"/>
              </a:rPr>
              <a:t>.</a:t>
            </a:r>
            <a:r>
              <a:rPr lang="en-US" sz="1050" kern="1200" dirty="0">
                <a:solidFill>
                  <a:srgbClr val="000000"/>
                </a:solidFill>
                <a:latin typeface="+mn-lt"/>
              </a:rPr>
              <a:t>get</a:t>
            </a:r>
            <a:r>
              <a:rPr lang="en-US" sz="1050" b="1" kern="1200" dirty="0">
                <a:solidFill>
                  <a:srgbClr val="000080"/>
                </a:solidFill>
                <a:latin typeface="+mn-lt"/>
              </a:rPr>
              <a:t>(</a:t>
            </a:r>
            <a:r>
              <a:rPr lang="en-US" sz="1050" kern="1200" dirty="0">
                <a:solidFill>
                  <a:srgbClr val="808080"/>
                </a:solidFill>
                <a:latin typeface="+mn-lt"/>
              </a:rPr>
              <a:t>'temp_value'</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endParaRPr lang="en-US" sz="1050" kern="1200" dirty="0">
              <a:solidFill>
                <a:srgbClr val="000000"/>
              </a:solidFill>
              <a:latin typeface="+mn-lt"/>
            </a:endParaRPr>
          </a:p>
          <a:p>
            <a:pPr lvl="0" eaLnBrk="0" fontAlgn="base" hangingPunct="0">
              <a:spcBef>
                <a:spcPct val="0"/>
              </a:spcBef>
              <a:spcAft>
                <a:spcPct val="0"/>
              </a:spcAft>
              <a:buClrTx/>
              <a:buNone/>
              <a:defRPr/>
            </a:pPr>
            <a:r>
              <a:rPr lang="en-US" sz="1050" kern="1200" dirty="0">
                <a:solidFill>
                  <a:srgbClr val="000000"/>
                </a:solidFill>
                <a:latin typeface="+mn-lt"/>
              </a:rPr>
              <a:t>time</a:t>
            </a:r>
            <a:r>
              <a:rPr lang="en-US" sz="1050" b="1" kern="1200" dirty="0">
                <a:solidFill>
                  <a:srgbClr val="000080"/>
                </a:solidFill>
                <a:latin typeface="+mn-lt"/>
              </a:rPr>
              <a:t>.</a:t>
            </a:r>
            <a:r>
              <a:rPr lang="en-US" sz="1050" kern="1200" dirty="0">
                <a:solidFill>
                  <a:srgbClr val="000000"/>
                </a:solidFill>
                <a:latin typeface="+mn-lt"/>
              </a:rPr>
              <a:t>sleep</a:t>
            </a:r>
            <a:r>
              <a:rPr lang="en-US" sz="1050" b="1" kern="1200" dirty="0">
                <a:solidFill>
                  <a:srgbClr val="000080"/>
                </a:solidFill>
                <a:latin typeface="+mn-lt"/>
              </a:rPr>
              <a:t>(</a:t>
            </a:r>
            <a:r>
              <a:rPr lang="en-US" sz="1050" kern="1200" dirty="0">
                <a:solidFill>
                  <a:srgbClr val="FF0000"/>
                </a:solidFill>
                <a:latin typeface="+mn-lt"/>
              </a:rPr>
              <a:t>5</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r>
              <a:rPr lang="en-US" sz="1050" b="1" kern="1200" dirty="0">
                <a:solidFill>
                  <a:srgbClr val="0000FF"/>
                </a:solidFill>
                <a:latin typeface="+mn-lt"/>
              </a:rPr>
              <a:t>print</a:t>
            </a:r>
            <a:r>
              <a:rPr lang="en-US" sz="1050" b="1" kern="1200" dirty="0">
                <a:solidFill>
                  <a:srgbClr val="000080"/>
                </a:solidFill>
                <a:latin typeface="+mn-lt"/>
              </a:rPr>
              <a:t>(</a:t>
            </a:r>
            <a:r>
              <a:rPr lang="en-US" sz="1050" kern="1200" dirty="0">
                <a:solidFill>
                  <a:srgbClr val="808080"/>
                </a:solidFill>
                <a:latin typeface="+mn-lt"/>
              </a:rPr>
              <a:t>"After 5 seconds..."</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endParaRPr lang="en-US" sz="1050" b="1" kern="1200" dirty="0">
              <a:solidFill>
                <a:srgbClr val="0000FF"/>
              </a:solidFill>
              <a:latin typeface="+mn-lt"/>
            </a:endParaRPr>
          </a:p>
          <a:p>
            <a:pPr lvl="0" eaLnBrk="0" fontAlgn="base" hangingPunct="0">
              <a:spcBef>
                <a:spcPct val="0"/>
              </a:spcBef>
              <a:spcAft>
                <a:spcPct val="0"/>
              </a:spcAft>
              <a:buClrTx/>
              <a:buNone/>
              <a:defRPr/>
            </a:pPr>
            <a:r>
              <a:rPr lang="en-US" sz="1050" b="1" kern="1200" dirty="0">
                <a:solidFill>
                  <a:srgbClr val="0000FF"/>
                </a:solidFill>
                <a:latin typeface="+mn-lt"/>
              </a:rPr>
              <a:t>print</a:t>
            </a:r>
            <a:r>
              <a:rPr lang="en-US" sz="1050" b="1" kern="1200" dirty="0">
                <a:solidFill>
                  <a:srgbClr val="000080"/>
                </a:solidFill>
                <a:latin typeface="+mn-lt"/>
              </a:rPr>
              <a:t>(</a:t>
            </a:r>
            <a:r>
              <a:rPr lang="en-US" sz="1050" kern="1200" dirty="0">
                <a:solidFill>
                  <a:srgbClr val="808080"/>
                </a:solidFill>
                <a:latin typeface="+mn-lt"/>
              </a:rPr>
              <a:t>"r.ttl('temp_value'): "</a:t>
            </a:r>
            <a:r>
              <a:rPr lang="en-US" sz="1050" b="1" kern="1200" dirty="0">
                <a:solidFill>
                  <a:srgbClr val="000080"/>
                </a:solidFill>
                <a:latin typeface="+mn-lt"/>
              </a:rPr>
              <a:t>,</a:t>
            </a:r>
            <a:r>
              <a:rPr lang="en-US" sz="1050" kern="1200" dirty="0">
                <a:solidFill>
                  <a:srgbClr val="000000"/>
                </a:solidFill>
                <a:latin typeface="+mn-lt"/>
              </a:rPr>
              <a:t> r</a:t>
            </a:r>
            <a:r>
              <a:rPr lang="en-US" sz="1050" b="1" kern="1200" dirty="0">
                <a:solidFill>
                  <a:srgbClr val="000080"/>
                </a:solidFill>
                <a:latin typeface="+mn-lt"/>
              </a:rPr>
              <a:t>.</a:t>
            </a:r>
            <a:r>
              <a:rPr lang="en-US" sz="1050" kern="1200" dirty="0">
                <a:solidFill>
                  <a:srgbClr val="000000"/>
                </a:solidFill>
                <a:latin typeface="+mn-lt"/>
              </a:rPr>
              <a:t>ttl</a:t>
            </a:r>
            <a:r>
              <a:rPr lang="en-US" sz="1050" b="1" kern="1200" dirty="0">
                <a:solidFill>
                  <a:srgbClr val="000080"/>
                </a:solidFill>
                <a:latin typeface="+mn-lt"/>
              </a:rPr>
              <a:t>(</a:t>
            </a:r>
            <a:r>
              <a:rPr lang="en-US" sz="1050" kern="1200" dirty="0">
                <a:solidFill>
                  <a:srgbClr val="808080"/>
                </a:solidFill>
                <a:latin typeface="+mn-lt"/>
              </a:rPr>
              <a:t>'temp_value'</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r>
              <a:rPr lang="en-US" sz="1050" b="1" kern="1200" dirty="0">
                <a:solidFill>
                  <a:srgbClr val="0000FF"/>
                </a:solidFill>
                <a:latin typeface="+mn-lt"/>
              </a:rPr>
              <a:t>print</a:t>
            </a:r>
            <a:r>
              <a:rPr lang="en-US" sz="1050" b="1" kern="1200" dirty="0">
                <a:solidFill>
                  <a:srgbClr val="000080"/>
                </a:solidFill>
                <a:latin typeface="+mn-lt"/>
              </a:rPr>
              <a:t>(</a:t>
            </a:r>
            <a:r>
              <a:rPr lang="en-US" sz="1050" kern="1200" dirty="0">
                <a:solidFill>
                  <a:srgbClr val="808080"/>
                </a:solidFill>
                <a:latin typeface="+mn-lt"/>
              </a:rPr>
              <a:t>"r.get('temp_value'): "</a:t>
            </a:r>
            <a:r>
              <a:rPr lang="en-US" sz="1050" b="1" kern="1200" dirty="0">
                <a:solidFill>
                  <a:srgbClr val="000080"/>
                </a:solidFill>
                <a:latin typeface="+mn-lt"/>
              </a:rPr>
              <a:t>,</a:t>
            </a:r>
            <a:r>
              <a:rPr lang="en-US" sz="1050" kern="1200" dirty="0">
                <a:solidFill>
                  <a:srgbClr val="000000"/>
                </a:solidFill>
                <a:latin typeface="+mn-lt"/>
              </a:rPr>
              <a:t> r</a:t>
            </a:r>
            <a:r>
              <a:rPr lang="en-US" sz="1050" b="1" kern="1200" dirty="0">
                <a:solidFill>
                  <a:srgbClr val="000080"/>
                </a:solidFill>
                <a:latin typeface="+mn-lt"/>
              </a:rPr>
              <a:t>.</a:t>
            </a:r>
            <a:r>
              <a:rPr lang="en-US" sz="1050" kern="1200" dirty="0">
                <a:solidFill>
                  <a:srgbClr val="000000"/>
                </a:solidFill>
                <a:latin typeface="+mn-lt"/>
              </a:rPr>
              <a:t>get</a:t>
            </a:r>
            <a:r>
              <a:rPr lang="en-US" sz="1050" b="1" kern="1200" dirty="0">
                <a:solidFill>
                  <a:srgbClr val="000080"/>
                </a:solidFill>
                <a:latin typeface="+mn-lt"/>
              </a:rPr>
              <a:t>(</a:t>
            </a:r>
            <a:r>
              <a:rPr lang="en-US" sz="1050" kern="1200" dirty="0">
                <a:solidFill>
                  <a:srgbClr val="808080"/>
                </a:solidFill>
                <a:latin typeface="+mn-lt"/>
              </a:rPr>
              <a:t>'temp_value'</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r>
              <a:rPr lang="en-US" sz="1050" b="1" kern="1200" dirty="0">
                <a:solidFill>
                  <a:srgbClr val="0000FF"/>
                </a:solidFill>
                <a:latin typeface="+mn-lt"/>
              </a:rPr>
              <a:t>print</a:t>
            </a:r>
            <a:r>
              <a:rPr lang="en-US" sz="1050" b="1" kern="1200" dirty="0">
                <a:solidFill>
                  <a:srgbClr val="000080"/>
                </a:solidFill>
                <a:latin typeface="+mn-lt"/>
              </a:rPr>
              <a:t>(</a:t>
            </a:r>
            <a:r>
              <a:rPr lang="en-US" sz="1050" kern="1200" dirty="0">
                <a:solidFill>
                  <a:srgbClr val="808080"/>
                </a:solidFill>
                <a:latin typeface="+mn-lt"/>
              </a:rPr>
              <a:t>"r.exists('temp_value'): "</a:t>
            </a:r>
            <a:r>
              <a:rPr lang="en-US" sz="1050" b="1" kern="1200" dirty="0">
                <a:solidFill>
                  <a:srgbClr val="000080"/>
                </a:solidFill>
                <a:latin typeface="+mn-lt"/>
              </a:rPr>
              <a:t>,</a:t>
            </a:r>
            <a:r>
              <a:rPr lang="en-US" sz="1050" kern="1200" dirty="0">
                <a:solidFill>
                  <a:srgbClr val="000000"/>
                </a:solidFill>
                <a:latin typeface="+mn-lt"/>
              </a:rPr>
              <a:t> r</a:t>
            </a:r>
            <a:r>
              <a:rPr lang="en-US" sz="1050" b="1" kern="1200" dirty="0">
                <a:solidFill>
                  <a:srgbClr val="000080"/>
                </a:solidFill>
                <a:latin typeface="+mn-lt"/>
              </a:rPr>
              <a:t>.</a:t>
            </a:r>
            <a:r>
              <a:rPr lang="en-US" sz="1050" kern="1200" dirty="0">
                <a:solidFill>
                  <a:srgbClr val="000000"/>
                </a:solidFill>
                <a:latin typeface="+mn-lt"/>
              </a:rPr>
              <a:t>exists</a:t>
            </a:r>
            <a:r>
              <a:rPr lang="en-US" sz="1050" b="1" kern="1200" dirty="0">
                <a:solidFill>
                  <a:srgbClr val="000080"/>
                </a:solidFill>
                <a:latin typeface="+mn-lt"/>
              </a:rPr>
              <a:t>(</a:t>
            </a:r>
            <a:r>
              <a:rPr lang="en-US" sz="1050" kern="1200" dirty="0">
                <a:solidFill>
                  <a:srgbClr val="808080"/>
                </a:solidFill>
                <a:latin typeface="+mn-lt"/>
              </a:rPr>
              <a:t>'temp_value'</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endParaRPr lang="en-US" sz="1050" kern="1200" dirty="0">
              <a:solidFill>
                <a:srgbClr val="008000"/>
              </a:solidFill>
              <a:latin typeface="+mn-lt"/>
            </a:endParaRPr>
          </a:p>
          <a:p>
            <a:pPr lvl="0" eaLnBrk="0" fontAlgn="base" hangingPunct="0">
              <a:spcBef>
                <a:spcPct val="0"/>
              </a:spcBef>
              <a:spcAft>
                <a:spcPct val="0"/>
              </a:spcAft>
              <a:buClrTx/>
              <a:buNone/>
              <a:defRPr/>
            </a:pPr>
            <a:r>
              <a:rPr lang="en-US" sz="1050" kern="1200" dirty="0">
                <a:solidFill>
                  <a:srgbClr val="008000"/>
                </a:solidFill>
                <a:latin typeface="+mn-lt"/>
              </a:rPr>
              <a:t># hashset - </a:t>
            </a:r>
            <a:r>
              <a:rPr lang="ru-RU" sz="1050" kern="1200" dirty="0">
                <a:solidFill>
                  <a:srgbClr val="008000"/>
                </a:solidFill>
                <a:latin typeface="+mn-lt"/>
              </a:rPr>
              <a:t>хэшсет</a:t>
            </a:r>
            <a:r>
              <a:rPr lang="ru-RU" sz="1050" kern="1200" dirty="0">
                <a:solidFill>
                  <a:srgbClr val="000000"/>
                </a:solidFill>
                <a:latin typeface="+mn-lt"/>
              </a:rPr>
              <a:t> </a:t>
            </a:r>
            <a:endParaRPr lang="en-US" sz="1050" kern="1200" dirty="0">
              <a:solidFill>
                <a:srgbClr val="000000"/>
              </a:solidFill>
              <a:latin typeface="+mn-lt"/>
            </a:endParaRPr>
          </a:p>
          <a:p>
            <a:pPr lvl="0" eaLnBrk="0" fontAlgn="base" hangingPunct="0">
              <a:spcBef>
                <a:spcPct val="0"/>
              </a:spcBef>
              <a:spcAft>
                <a:spcPct val="0"/>
              </a:spcAft>
              <a:buClrTx/>
              <a:buNone/>
              <a:defRPr/>
            </a:pPr>
            <a:r>
              <a:rPr lang="ru-RU" sz="1050" kern="1200" dirty="0">
                <a:solidFill>
                  <a:srgbClr val="008000"/>
                </a:solidFill>
                <a:latin typeface="+mn-lt"/>
              </a:rPr>
              <a:t># Добавляем пару ключ-значение в хэшсет </a:t>
            </a:r>
            <a:r>
              <a:rPr lang="en-US" sz="1050" kern="1200" dirty="0">
                <a:solidFill>
                  <a:srgbClr val="008000"/>
                </a:solidFill>
                <a:latin typeface="+mn-lt"/>
              </a:rPr>
              <a:t>user:1</a:t>
            </a:r>
            <a:r>
              <a:rPr lang="en-US" sz="1050" kern="1200" dirty="0">
                <a:solidFill>
                  <a:srgbClr val="000000"/>
                </a:solidFill>
                <a:latin typeface="+mn-lt"/>
              </a:rPr>
              <a:t> </a:t>
            </a:r>
          </a:p>
          <a:p>
            <a:pPr lvl="0" eaLnBrk="0" fontAlgn="base" hangingPunct="0">
              <a:spcBef>
                <a:spcPct val="0"/>
              </a:spcBef>
              <a:spcAft>
                <a:spcPct val="0"/>
              </a:spcAft>
              <a:buClrTx/>
              <a:buNone/>
              <a:defRPr/>
            </a:pPr>
            <a:r>
              <a:rPr lang="en-US" sz="1050" kern="1200" dirty="0">
                <a:solidFill>
                  <a:srgbClr val="000000"/>
                </a:solidFill>
                <a:latin typeface="+mn-lt"/>
              </a:rPr>
              <a:t>r</a:t>
            </a:r>
            <a:r>
              <a:rPr lang="en-US" sz="1050" b="1" kern="1200" dirty="0">
                <a:solidFill>
                  <a:srgbClr val="000080"/>
                </a:solidFill>
                <a:latin typeface="+mn-lt"/>
              </a:rPr>
              <a:t>.</a:t>
            </a:r>
            <a:r>
              <a:rPr lang="en-US" sz="1050" kern="1200" dirty="0">
                <a:solidFill>
                  <a:srgbClr val="000000"/>
                </a:solidFill>
                <a:latin typeface="+mn-lt"/>
              </a:rPr>
              <a:t>hset</a:t>
            </a:r>
            <a:r>
              <a:rPr lang="en-US" sz="1050" b="1" kern="1200" dirty="0">
                <a:solidFill>
                  <a:srgbClr val="000080"/>
                </a:solidFill>
                <a:latin typeface="+mn-lt"/>
              </a:rPr>
              <a:t>(</a:t>
            </a:r>
            <a:r>
              <a:rPr lang="en-US" sz="1050" kern="1200" dirty="0">
                <a:solidFill>
                  <a:srgbClr val="808080"/>
                </a:solidFill>
                <a:latin typeface="+mn-lt"/>
              </a:rPr>
              <a:t>'user:1'</a:t>
            </a:r>
            <a:r>
              <a:rPr lang="en-US" sz="1050" b="1" kern="1200" dirty="0">
                <a:solidFill>
                  <a:srgbClr val="000080"/>
                </a:solidFill>
                <a:latin typeface="+mn-lt"/>
              </a:rPr>
              <a:t>,</a:t>
            </a:r>
            <a:r>
              <a:rPr lang="en-US" sz="1050" kern="1200" dirty="0">
                <a:solidFill>
                  <a:srgbClr val="000000"/>
                </a:solidFill>
                <a:latin typeface="+mn-lt"/>
              </a:rPr>
              <a:t> </a:t>
            </a:r>
            <a:r>
              <a:rPr lang="en-US" sz="1050" kern="1200" dirty="0">
                <a:solidFill>
                  <a:srgbClr val="808080"/>
                </a:solidFill>
                <a:latin typeface="+mn-lt"/>
              </a:rPr>
              <a:t>'name'</a:t>
            </a:r>
            <a:r>
              <a:rPr lang="en-US" sz="1050" b="1" kern="1200" dirty="0">
                <a:solidFill>
                  <a:srgbClr val="000080"/>
                </a:solidFill>
                <a:latin typeface="+mn-lt"/>
              </a:rPr>
              <a:t>,</a:t>
            </a:r>
            <a:r>
              <a:rPr lang="en-US" sz="1050" kern="1200" dirty="0">
                <a:solidFill>
                  <a:srgbClr val="000000"/>
                </a:solidFill>
                <a:latin typeface="+mn-lt"/>
              </a:rPr>
              <a:t> </a:t>
            </a:r>
            <a:r>
              <a:rPr lang="en-US" sz="1050" kern="1200" dirty="0">
                <a:solidFill>
                  <a:srgbClr val="808080"/>
                </a:solidFill>
                <a:latin typeface="+mn-lt"/>
              </a:rPr>
              <a:t>'John'</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r>
              <a:rPr lang="en-US" sz="1050" kern="1200" dirty="0">
                <a:solidFill>
                  <a:srgbClr val="008000"/>
                </a:solidFill>
                <a:latin typeface="+mn-lt"/>
              </a:rPr>
              <a:t># </a:t>
            </a:r>
            <a:r>
              <a:rPr lang="ru-RU" sz="1050" kern="1200" dirty="0">
                <a:solidFill>
                  <a:srgbClr val="008000"/>
                </a:solidFill>
                <a:latin typeface="+mn-lt"/>
              </a:rPr>
              <a:t>Добавляем еще одну пару ключ-значение в хэшсет </a:t>
            </a:r>
            <a:r>
              <a:rPr lang="en-US" sz="1050" kern="1200" dirty="0">
                <a:solidFill>
                  <a:srgbClr val="008000"/>
                </a:solidFill>
                <a:latin typeface="+mn-lt"/>
              </a:rPr>
              <a:t>user:1</a:t>
            </a:r>
            <a:r>
              <a:rPr lang="en-US" sz="1050" kern="1200" dirty="0">
                <a:solidFill>
                  <a:srgbClr val="000000"/>
                </a:solidFill>
                <a:latin typeface="+mn-lt"/>
              </a:rPr>
              <a:t> </a:t>
            </a:r>
          </a:p>
          <a:p>
            <a:pPr lvl="0" eaLnBrk="0" fontAlgn="base" hangingPunct="0">
              <a:spcBef>
                <a:spcPct val="0"/>
              </a:spcBef>
              <a:spcAft>
                <a:spcPct val="0"/>
              </a:spcAft>
              <a:buClrTx/>
              <a:buNone/>
              <a:defRPr/>
            </a:pPr>
            <a:r>
              <a:rPr lang="en-US" sz="1050" kern="1200" dirty="0">
                <a:solidFill>
                  <a:srgbClr val="000000"/>
                </a:solidFill>
                <a:latin typeface="+mn-lt"/>
              </a:rPr>
              <a:t>r</a:t>
            </a:r>
            <a:r>
              <a:rPr lang="en-US" sz="1050" b="1" kern="1200" dirty="0">
                <a:solidFill>
                  <a:srgbClr val="000080"/>
                </a:solidFill>
                <a:latin typeface="+mn-lt"/>
              </a:rPr>
              <a:t>.</a:t>
            </a:r>
            <a:r>
              <a:rPr lang="en-US" sz="1050" kern="1200" dirty="0">
                <a:solidFill>
                  <a:srgbClr val="000000"/>
                </a:solidFill>
                <a:latin typeface="+mn-lt"/>
              </a:rPr>
              <a:t>hset</a:t>
            </a:r>
            <a:r>
              <a:rPr lang="en-US" sz="1050" b="1" kern="1200" dirty="0">
                <a:solidFill>
                  <a:srgbClr val="000080"/>
                </a:solidFill>
                <a:latin typeface="+mn-lt"/>
              </a:rPr>
              <a:t>(</a:t>
            </a:r>
            <a:r>
              <a:rPr lang="en-US" sz="1050" kern="1200" dirty="0">
                <a:solidFill>
                  <a:srgbClr val="808080"/>
                </a:solidFill>
                <a:latin typeface="+mn-lt"/>
              </a:rPr>
              <a:t>'user:1'</a:t>
            </a:r>
            <a:r>
              <a:rPr lang="en-US" sz="1050" b="1" kern="1200" dirty="0">
                <a:solidFill>
                  <a:srgbClr val="000080"/>
                </a:solidFill>
                <a:latin typeface="+mn-lt"/>
              </a:rPr>
              <a:t>,</a:t>
            </a:r>
            <a:r>
              <a:rPr lang="en-US" sz="1050" kern="1200" dirty="0">
                <a:solidFill>
                  <a:srgbClr val="000000"/>
                </a:solidFill>
                <a:latin typeface="+mn-lt"/>
              </a:rPr>
              <a:t> </a:t>
            </a:r>
            <a:r>
              <a:rPr lang="en-US" sz="1050" kern="1200" dirty="0">
                <a:solidFill>
                  <a:srgbClr val="808080"/>
                </a:solidFill>
                <a:latin typeface="+mn-lt"/>
              </a:rPr>
              <a:t>'email'</a:t>
            </a:r>
            <a:r>
              <a:rPr lang="en-US" sz="1050" b="1" kern="1200" dirty="0">
                <a:solidFill>
                  <a:srgbClr val="000080"/>
                </a:solidFill>
                <a:latin typeface="+mn-lt"/>
              </a:rPr>
              <a:t>,</a:t>
            </a:r>
            <a:r>
              <a:rPr lang="en-US" sz="1050" kern="1200" dirty="0">
                <a:solidFill>
                  <a:srgbClr val="000000"/>
                </a:solidFill>
                <a:latin typeface="+mn-lt"/>
              </a:rPr>
              <a:t> </a:t>
            </a:r>
            <a:r>
              <a:rPr lang="en-US" sz="1050" kern="1200" dirty="0">
                <a:solidFill>
                  <a:srgbClr val="808080"/>
                </a:solidFill>
                <a:latin typeface="+mn-lt"/>
              </a:rPr>
              <a:t>'john@gmail.com'</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r>
              <a:rPr lang="en-US" sz="1050" b="1" kern="1200" dirty="0">
                <a:solidFill>
                  <a:srgbClr val="0000FF"/>
                </a:solidFill>
                <a:latin typeface="+mn-lt"/>
              </a:rPr>
              <a:t>print</a:t>
            </a:r>
            <a:r>
              <a:rPr lang="en-US" sz="1050" b="1" kern="1200" dirty="0">
                <a:solidFill>
                  <a:srgbClr val="000080"/>
                </a:solidFill>
                <a:latin typeface="+mn-lt"/>
              </a:rPr>
              <a:t>(</a:t>
            </a:r>
            <a:r>
              <a:rPr lang="en-US" sz="1050" kern="1200" dirty="0">
                <a:solidFill>
                  <a:srgbClr val="808080"/>
                </a:solidFill>
                <a:latin typeface="+mn-lt"/>
              </a:rPr>
              <a:t>"r.hget('user:1', 'name'): "</a:t>
            </a:r>
            <a:r>
              <a:rPr lang="en-US" sz="1050" b="1" kern="1200" dirty="0">
                <a:solidFill>
                  <a:srgbClr val="000080"/>
                </a:solidFill>
                <a:latin typeface="+mn-lt"/>
              </a:rPr>
              <a:t>,</a:t>
            </a:r>
            <a:r>
              <a:rPr lang="en-US" sz="1050" kern="1200" dirty="0">
                <a:solidFill>
                  <a:srgbClr val="000000"/>
                </a:solidFill>
                <a:latin typeface="+mn-lt"/>
              </a:rPr>
              <a:t> r</a:t>
            </a:r>
            <a:r>
              <a:rPr lang="en-US" sz="1050" b="1" kern="1200" dirty="0">
                <a:solidFill>
                  <a:srgbClr val="000080"/>
                </a:solidFill>
                <a:latin typeface="+mn-lt"/>
              </a:rPr>
              <a:t>.</a:t>
            </a:r>
            <a:r>
              <a:rPr lang="en-US" sz="1050" kern="1200" dirty="0">
                <a:solidFill>
                  <a:srgbClr val="000000"/>
                </a:solidFill>
                <a:latin typeface="+mn-lt"/>
              </a:rPr>
              <a:t>hget</a:t>
            </a:r>
            <a:r>
              <a:rPr lang="en-US" sz="1050" b="1" kern="1200" dirty="0">
                <a:solidFill>
                  <a:srgbClr val="000080"/>
                </a:solidFill>
                <a:latin typeface="+mn-lt"/>
              </a:rPr>
              <a:t>(</a:t>
            </a:r>
            <a:r>
              <a:rPr lang="en-US" sz="1050" kern="1200" dirty="0">
                <a:solidFill>
                  <a:srgbClr val="808080"/>
                </a:solidFill>
                <a:latin typeface="+mn-lt"/>
              </a:rPr>
              <a:t>'user:1'</a:t>
            </a:r>
            <a:r>
              <a:rPr lang="en-US" sz="1050" b="1" kern="1200" dirty="0">
                <a:solidFill>
                  <a:srgbClr val="000080"/>
                </a:solidFill>
                <a:latin typeface="+mn-lt"/>
              </a:rPr>
              <a:t>,</a:t>
            </a:r>
            <a:r>
              <a:rPr lang="en-US" sz="1050" kern="1200" dirty="0">
                <a:solidFill>
                  <a:srgbClr val="000000"/>
                </a:solidFill>
                <a:latin typeface="+mn-lt"/>
              </a:rPr>
              <a:t> </a:t>
            </a:r>
            <a:r>
              <a:rPr lang="en-US" sz="1050" kern="1200" dirty="0">
                <a:solidFill>
                  <a:srgbClr val="808080"/>
                </a:solidFill>
                <a:latin typeface="+mn-lt"/>
              </a:rPr>
              <a:t>'name'</a:t>
            </a:r>
            <a:r>
              <a:rPr lang="en-US" sz="1050" b="1" kern="1200" dirty="0">
                <a:solidFill>
                  <a:srgbClr val="000080"/>
                </a:solidFill>
                <a:latin typeface="+mn-lt"/>
              </a:rPr>
              <a:t>))</a:t>
            </a:r>
          </a:p>
          <a:p>
            <a:pPr lvl="0" eaLnBrk="0" fontAlgn="base" hangingPunct="0">
              <a:spcBef>
                <a:spcPct val="0"/>
              </a:spcBef>
              <a:spcAft>
                <a:spcPct val="0"/>
              </a:spcAft>
              <a:buClrTx/>
              <a:buNone/>
              <a:defRPr/>
            </a:pPr>
            <a:r>
              <a:rPr lang="en-US" sz="1050" b="1" kern="1200" dirty="0">
                <a:solidFill>
                  <a:srgbClr val="0000FF"/>
                </a:solidFill>
                <a:latin typeface="+mn-lt"/>
              </a:rPr>
              <a:t>print</a:t>
            </a:r>
            <a:r>
              <a:rPr lang="en-US" sz="1050" b="1" kern="1200" dirty="0">
                <a:solidFill>
                  <a:srgbClr val="000080"/>
                </a:solidFill>
                <a:latin typeface="+mn-lt"/>
              </a:rPr>
              <a:t>(</a:t>
            </a:r>
            <a:r>
              <a:rPr lang="en-US" sz="1050" kern="1200" dirty="0">
                <a:solidFill>
                  <a:srgbClr val="808080"/>
                </a:solidFill>
                <a:latin typeface="+mn-lt"/>
              </a:rPr>
              <a:t>"r.hkeys('user:1'): "</a:t>
            </a:r>
            <a:r>
              <a:rPr lang="en-US" sz="1050" b="1" kern="1200" dirty="0">
                <a:solidFill>
                  <a:srgbClr val="000080"/>
                </a:solidFill>
                <a:latin typeface="+mn-lt"/>
              </a:rPr>
              <a:t>,</a:t>
            </a:r>
            <a:r>
              <a:rPr lang="en-US" sz="1050" kern="1200" dirty="0">
                <a:solidFill>
                  <a:srgbClr val="000000"/>
                </a:solidFill>
                <a:latin typeface="+mn-lt"/>
              </a:rPr>
              <a:t> r</a:t>
            </a:r>
            <a:r>
              <a:rPr lang="en-US" sz="1050" b="1" kern="1200" dirty="0">
                <a:solidFill>
                  <a:srgbClr val="000080"/>
                </a:solidFill>
                <a:latin typeface="+mn-lt"/>
              </a:rPr>
              <a:t>.</a:t>
            </a:r>
            <a:r>
              <a:rPr lang="en-US" sz="1050" kern="1200" dirty="0">
                <a:solidFill>
                  <a:srgbClr val="000000"/>
                </a:solidFill>
                <a:latin typeface="+mn-lt"/>
              </a:rPr>
              <a:t>hkeys</a:t>
            </a:r>
            <a:r>
              <a:rPr lang="en-US" sz="1050" b="1" kern="1200" dirty="0">
                <a:solidFill>
                  <a:srgbClr val="000080"/>
                </a:solidFill>
                <a:latin typeface="+mn-lt"/>
              </a:rPr>
              <a:t>(</a:t>
            </a:r>
            <a:r>
              <a:rPr lang="en-US" sz="1050" kern="1200" dirty="0">
                <a:solidFill>
                  <a:srgbClr val="808080"/>
                </a:solidFill>
                <a:latin typeface="+mn-lt"/>
              </a:rPr>
              <a:t>'user:1'</a:t>
            </a:r>
            <a:r>
              <a:rPr lang="en-US" sz="1050" b="1" kern="1200" dirty="0">
                <a:solidFill>
                  <a:srgbClr val="000080"/>
                </a:solidFill>
                <a:latin typeface="+mn-lt"/>
              </a:rPr>
              <a:t>))</a:t>
            </a:r>
            <a:r>
              <a:rPr lang="en-US" sz="1050" kern="1200" dirty="0">
                <a:solidFill>
                  <a:srgbClr val="000000"/>
                </a:solidFill>
                <a:latin typeface="+mn-lt"/>
              </a:rPr>
              <a:t> </a:t>
            </a:r>
          </a:p>
          <a:p>
            <a:pPr lvl="0" eaLnBrk="0" fontAlgn="base" hangingPunct="0">
              <a:spcBef>
                <a:spcPct val="0"/>
              </a:spcBef>
              <a:spcAft>
                <a:spcPct val="0"/>
              </a:spcAft>
              <a:buClrTx/>
              <a:buNone/>
              <a:defRPr/>
            </a:pPr>
            <a:r>
              <a:rPr lang="en-US" sz="1050" b="1" kern="1200" dirty="0">
                <a:solidFill>
                  <a:srgbClr val="0000FF"/>
                </a:solidFill>
                <a:latin typeface="+mn-lt"/>
              </a:rPr>
              <a:t>print</a:t>
            </a:r>
            <a:r>
              <a:rPr lang="en-US" sz="1050" b="1" kern="1200" dirty="0">
                <a:solidFill>
                  <a:srgbClr val="000080"/>
                </a:solidFill>
                <a:latin typeface="+mn-lt"/>
              </a:rPr>
              <a:t>(</a:t>
            </a:r>
            <a:r>
              <a:rPr lang="en-US" sz="1050" kern="1200" dirty="0">
                <a:solidFill>
                  <a:srgbClr val="808080"/>
                </a:solidFill>
                <a:latin typeface="+mn-lt"/>
              </a:rPr>
              <a:t>"r.hgetall('user:1'): "</a:t>
            </a:r>
            <a:r>
              <a:rPr lang="en-US" sz="1050" b="1" kern="1200" dirty="0">
                <a:solidFill>
                  <a:srgbClr val="000080"/>
                </a:solidFill>
                <a:latin typeface="+mn-lt"/>
              </a:rPr>
              <a:t>,</a:t>
            </a:r>
            <a:r>
              <a:rPr lang="en-US" sz="1050" kern="1200" dirty="0">
                <a:solidFill>
                  <a:srgbClr val="000000"/>
                </a:solidFill>
                <a:latin typeface="+mn-lt"/>
              </a:rPr>
              <a:t> r</a:t>
            </a:r>
            <a:r>
              <a:rPr lang="en-US" sz="1050" b="1" kern="1200" dirty="0">
                <a:solidFill>
                  <a:srgbClr val="000080"/>
                </a:solidFill>
                <a:latin typeface="+mn-lt"/>
              </a:rPr>
              <a:t>.</a:t>
            </a:r>
            <a:r>
              <a:rPr lang="en-US" sz="1050" kern="1200" dirty="0">
                <a:solidFill>
                  <a:srgbClr val="000000"/>
                </a:solidFill>
                <a:latin typeface="+mn-lt"/>
              </a:rPr>
              <a:t>hgetall</a:t>
            </a:r>
            <a:r>
              <a:rPr lang="en-US" sz="1050" b="1" kern="1200" dirty="0">
                <a:solidFill>
                  <a:srgbClr val="000080"/>
                </a:solidFill>
                <a:latin typeface="+mn-lt"/>
              </a:rPr>
              <a:t>(</a:t>
            </a:r>
            <a:r>
              <a:rPr lang="en-US" sz="1050" kern="1200" dirty="0">
                <a:solidFill>
                  <a:srgbClr val="808080"/>
                </a:solidFill>
                <a:latin typeface="+mn-lt"/>
              </a:rPr>
              <a:t>'user:1'</a:t>
            </a:r>
            <a:r>
              <a:rPr lang="en-US" sz="1050" b="1" kern="1200" dirty="0">
                <a:solidFill>
                  <a:srgbClr val="000080"/>
                </a:solidFill>
                <a:latin typeface="+mn-lt"/>
              </a:rPr>
              <a:t>))</a:t>
            </a:r>
            <a:r>
              <a:rPr lang="en-US" sz="1050" kern="1200" dirty="0">
                <a:solidFill>
                  <a:srgbClr val="000000"/>
                </a:solidFill>
                <a:latin typeface="+mn-lt"/>
              </a:rPr>
              <a:t> </a:t>
            </a:r>
          </a:p>
        </p:txBody>
      </p:sp>
      <p:pic>
        <p:nvPicPr>
          <p:cNvPr id="8" name="Picture 2" descr="https://blog.rubrain.com/wp-content/uploads/2020/08/3-1.jpg">
            <a:extLst>
              <a:ext uri="{FF2B5EF4-FFF2-40B4-BE49-F238E27FC236}">
                <a16:creationId xmlns:a16="http://schemas.microsoft.com/office/drawing/2014/main" id="{428174DA-ECEE-4663-BEC1-624C82278A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841" r="25528"/>
          <a:stretch/>
        </p:blipFill>
        <p:spPr bwMode="auto">
          <a:xfrm>
            <a:off x="-143219" y="0"/>
            <a:ext cx="4572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9" name="Прямоугольник 8">
            <a:extLst>
              <a:ext uri="{FF2B5EF4-FFF2-40B4-BE49-F238E27FC236}">
                <a16:creationId xmlns:a16="http://schemas.microsoft.com/office/drawing/2014/main" id="{FF659AD8-5F22-46FB-B8C7-75DFB45DC6BD}"/>
              </a:ext>
            </a:extLst>
          </p:cNvPr>
          <p:cNvSpPr/>
          <p:nvPr/>
        </p:nvSpPr>
        <p:spPr>
          <a:xfrm>
            <a:off x="-143219" y="0"/>
            <a:ext cx="4572000" cy="5143500"/>
          </a:xfrm>
          <a:prstGeom prst="rect">
            <a:avLst/>
          </a:prstGeom>
          <a:gradFill>
            <a:gsLst>
              <a:gs pos="0">
                <a:schemeClr val="accent1">
                  <a:alpha val="60000"/>
                </a:schemeClr>
              </a:gs>
              <a:gs pos="100000">
                <a:schemeClr val="tx2">
                  <a:alpha val="6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Box 17">
            <a:extLst>
              <a:ext uri="{FF2B5EF4-FFF2-40B4-BE49-F238E27FC236}">
                <a16:creationId xmlns:a16="http://schemas.microsoft.com/office/drawing/2014/main" id="{C395706E-6585-475C-9C3C-2EC9DC4818D5}"/>
              </a:ext>
            </a:extLst>
          </p:cNvPr>
          <p:cNvSpPr txBox="1"/>
          <p:nvPr/>
        </p:nvSpPr>
        <p:spPr>
          <a:xfrm>
            <a:off x="279823" y="1999697"/>
            <a:ext cx="3743537" cy="646331"/>
          </a:xfrm>
          <a:prstGeom prst="rect">
            <a:avLst/>
          </a:prstGeom>
          <a:noFill/>
        </p:spPr>
        <p:txBody>
          <a:bodyPr wrap="square">
            <a:spAutoFit/>
          </a:bodyPr>
          <a:lstStyle/>
          <a:p>
            <a:r>
              <a:rPr lang="en-US" sz="3600" kern="1200" dirty="0">
                <a:solidFill>
                  <a:schemeClr val="bg1"/>
                </a:solidFill>
                <a:latin typeface="+mj-lt"/>
              </a:rPr>
              <a:t>redis: </a:t>
            </a:r>
            <a:r>
              <a:rPr lang="ru-RU" sz="3600" kern="1200" dirty="0">
                <a:solidFill>
                  <a:schemeClr val="bg1"/>
                </a:solidFill>
                <a:latin typeface="+mj-lt"/>
              </a:rPr>
              <a:t>пример</a:t>
            </a:r>
            <a:endParaRPr lang="ru-RU" sz="3600" dirty="0">
              <a:solidFill>
                <a:schemeClr val="bg1"/>
              </a:solidFill>
              <a:latin typeface="+mj-lt"/>
            </a:endParaRPr>
          </a:p>
        </p:txBody>
      </p:sp>
    </p:spTree>
    <p:extLst>
      <p:ext uri="{BB962C8B-B14F-4D97-AF65-F5344CB8AC3E}">
        <p14:creationId xmlns:p14="http://schemas.microsoft.com/office/powerpoint/2010/main" val="24408809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7"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4770784" y="799767"/>
            <a:ext cx="4333461" cy="354396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lvl="0" eaLnBrk="0" fontAlgn="base" hangingPunct="0">
              <a:spcBef>
                <a:spcPct val="0"/>
              </a:spcBef>
              <a:spcAft>
                <a:spcPct val="0"/>
              </a:spcAft>
              <a:buClrTx/>
              <a:buNone/>
              <a:defRPr/>
            </a:pPr>
            <a:r>
              <a:rPr lang="en-US" sz="1200" kern="1200" dirty="0">
                <a:solidFill>
                  <a:srgbClr val="008000"/>
                </a:solidFill>
                <a:latin typeface="+mn-lt"/>
              </a:rPr>
              <a:t># list - </a:t>
            </a:r>
            <a:r>
              <a:rPr lang="ru-RU" sz="1200" kern="1200" dirty="0">
                <a:solidFill>
                  <a:srgbClr val="008000"/>
                </a:solidFill>
                <a:latin typeface="+mn-lt"/>
              </a:rPr>
              <a:t>список</a:t>
            </a:r>
            <a:r>
              <a:rPr lang="ru-RU" sz="1200" kern="1200" dirty="0">
                <a:solidFill>
                  <a:srgbClr val="000000"/>
                </a:solidFill>
                <a:latin typeface="+mn-lt"/>
              </a:rPr>
              <a:t> </a:t>
            </a:r>
            <a:r>
              <a:rPr lang="ru-RU" sz="1200" kern="1200" dirty="0">
                <a:solidFill>
                  <a:srgbClr val="008000"/>
                </a:solidFill>
                <a:latin typeface="+mn-lt"/>
              </a:rPr>
              <a:t># Добавляем элементы в список</a:t>
            </a:r>
            <a:r>
              <a:rPr lang="ru-RU" sz="1200" kern="1200" dirty="0">
                <a:solidFill>
                  <a:srgbClr val="000000"/>
                </a:solidFill>
                <a:latin typeface="+mn-lt"/>
              </a:rPr>
              <a:t> </a:t>
            </a:r>
            <a:endParaRPr lang="en-US" sz="1200" kern="1200" dirty="0">
              <a:solidFill>
                <a:srgbClr val="000000"/>
              </a:solidFill>
              <a:latin typeface="+mn-lt"/>
            </a:endParaRPr>
          </a:p>
          <a:p>
            <a:pPr lvl="0" eaLnBrk="0" fontAlgn="base" hangingPunct="0">
              <a:spcBef>
                <a:spcPct val="0"/>
              </a:spcBef>
              <a:spcAft>
                <a:spcPct val="0"/>
              </a:spcAft>
              <a:buClrTx/>
              <a:buNone/>
              <a:defRPr/>
            </a:pPr>
            <a:r>
              <a:rPr lang="en-US" sz="1200" kern="1200" dirty="0">
                <a:solidFill>
                  <a:srgbClr val="000000"/>
                </a:solidFill>
                <a:latin typeface="+mn-lt"/>
              </a:rPr>
              <a:t>r</a:t>
            </a:r>
            <a:r>
              <a:rPr lang="en-US" sz="1200" b="1" kern="1200" dirty="0">
                <a:solidFill>
                  <a:srgbClr val="000080"/>
                </a:solidFill>
                <a:latin typeface="+mn-lt"/>
              </a:rPr>
              <a:t>.</a:t>
            </a:r>
            <a:r>
              <a:rPr lang="en-US" sz="1200" kern="1200" dirty="0">
                <a:solidFill>
                  <a:srgbClr val="000000"/>
                </a:solidFill>
                <a:latin typeface="+mn-lt"/>
              </a:rPr>
              <a:t>rpush</a:t>
            </a:r>
            <a:r>
              <a:rPr lang="en-US" sz="1200" b="1" kern="1200" dirty="0">
                <a:solidFill>
                  <a:srgbClr val="000080"/>
                </a:solidFill>
                <a:latin typeface="+mn-lt"/>
              </a:rPr>
              <a:t>(</a:t>
            </a:r>
            <a:r>
              <a:rPr lang="en-US" sz="1200" kern="1200" dirty="0">
                <a:solidFill>
                  <a:srgbClr val="808080"/>
                </a:solidFill>
                <a:latin typeface="+mn-lt"/>
              </a:rPr>
              <a:t>'my_list'</a:t>
            </a:r>
            <a:r>
              <a:rPr lang="en-US" sz="1200" b="1" kern="1200" dirty="0">
                <a:solidFill>
                  <a:srgbClr val="000080"/>
                </a:solidFill>
                <a:latin typeface="+mn-lt"/>
              </a:rPr>
              <a:t>,</a:t>
            </a:r>
            <a:r>
              <a:rPr lang="en-US" sz="1200" kern="1200" dirty="0">
                <a:solidFill>
                  <a:srgbClr val="000000"/>
                </a:solidFill>
                <a:latin typeface="+mn-lt"/>
              </a:rPr>
              <a:t> </a:t>
            </a:r>
            <a:r>
              <a:rPr lang="en-US" sz="1200" kern="1200" dirty="0">
                <a:solidFill>
                  <a:srgbClr val="808080"/>
                </a:solidFill>
                <a:latin typeface="+mn-lt"/>
              </a:rPr>
              <a:t>'elem1'</a:t>
            </a:r>
            <a:r>
              <a:rPr lang="en-US" sz="1200" b="1" kern="1200" dirty="0">
                <a:solidFill>
                  <a:srgbClr val="000080"/>
                </a:solidFill>
                <a:latin typeface="+mn-lt"/>
              </a:rPr>
              <a:t>)</a:t>
            </a:r>
            <a:r>
              <a:rPr lang="en-US" sz="1200" kern="1200" dirty="0">
                <a:solidFill>
                  <a:srgbClr val="000000"/>
                </a:solidFill>
                <a:latin typeface="+mn-lt"/>
              </a:rPr>
              <a:t> </a:t>
            </a:r>
          </a:p>
          <a:p>
            <a:pPr lvl="0" eaLnBrk="0" fontAlgn="base" hangingPunct="0">
              <a:spcBef>
                <a:spcPct val="0"/>
              </a:spcBef>
              <a:spcAft>
                <a:spcPct val="0"/>
              </a:spcAft>
              <a:buClrTx/>
              <a:buNone/>
              <a:defRPr/>
            </a:pPr>
            <a:r>
              <a:rPr lang="en-US" sz="1200" kern="1200" dirty="0">
                <a:solidFill>
                  <a:srgbClr val="000000"/>
                </a:solidFill>
                <a:latin typeface="+mn-lt"/>
              </a:rPr>
              <a:t>r</a:t>
            </a:r>
            <a:r>
              <a:rPr lang="en-US" sz="1200" b="1" kern="1200" dirty="0">
                <a:solidFill>
                  <a:srgbClr val="000080"/>
                </a:solidFill>
                <a:latin typeface="+mn-lt"/>
              </a:rPr>
              <a:t>.</a:t>
            </a:r>
            <a:r>
              <a:rPr lang="en-US" sz="1200" kern="1200" dirty="0">
                <a:solidFill>
                  <a:srgbClr val="000000"/>
                </a:solidFill>
                <a:latin typeface="+mn-lt"/>
              </a:rPr>
              <a:t>rpush</a:t>
            </a:r>
            <a:r>
              <a:rPr lang="en-US" sz="1200" b="1" kern="1200" dirty="0">
                <a:solidFill>
                  <a:srgbClr val="000080"/>
                </a:solidFill>
                <a:latin typeface="+mn-lt"/>
              </a:rPr>
              <a:t>(</a:t>
            </a:r>
            <a:r>
              <a:rPr lang="en-US" sz="1200" kern="1200" dirty="0">
                <a:solidFill>
                  <a:srgbClr val="808080"/>
                </a:solidFill>
                <a:latin typeface="+mn-lt"/>
              </a:rPr>
              <a:t>'my_list'</a:t>
            </a:r>
            <a:r>
              <a:rPr lang="en-US" sz="1200" b="1" kern="1200" dirty="0">
                <a:solidFill>
                  <a:srgbClr val="000080"/>
                </a:solidFill>
                <a:latin typeface="+mn-lt"/>
              </a:rPr>
              <a:t>,</a:t>
            </a:r>
            <a:r>
              <a:rPr lang="en-US" sz="1200" kern="1200" dirty="0">
                <a:solidFill>
                  <a:srgbClr val="000000"/>
                </a:solidFill>
                <a:latin typeface="+mn-lt"/>
              </a:rPr>
              <a:t> </a:t>
            </a:r>
            <a:r>
              <a:rPr lang="en-US" sz="1200" kern="1200" dirty="0">
                <a:solidFill>
                  <a:srgbClr val="808080"/>
                </a:solidFill>
                <a:latin typeface="+mn-lt"/>
              </a:rPr>
              <a:t>'elem2'</a:t>
            </a:r>
            <a:r>
              <a:rPr lang="en-US" sz="1200" b="1" kern="1200" dirty="0">
                <a:solidFill>
                  <a:srgbClr val="000080"/>
                </a:solidFill>
                <a:latin typeface="+mn-lt"/>
              </a:rPr>
              <a:t>)</a:t>
            </a:r>
            <a:r>
              <a:rPr lang="en-US" sz="1200" kern="1200" dirty="0">
                <a:solidFill>
                  <a:srgbClr val="000000"/>
                </a:solidFill>
                <a:latin typeface="+mn-lt"/>
              </a:rPr>
              <a:t> </a:t>
            </a:r>
          </a:p>
          <a:p>
            <a:pPr lvl="0" eaLnBrk="0" fontAlgn="base" hangingPunct="0">
              <a:spcBef>
                <a:spcPct val="0"/>
              </a:spcBef>
              <a:spcAft>
                <a:spcPct val="0"/>
              </a:spcAft>
              <a:buClrTx/>
              <a:buNone/>
              <a:defRPr/>
            </a:pPr>
            <a:r>
              <a:rPr lang="en-US" sz="1200" kern="1200" dirty="0">
                <a:solidFill>
                  <a:srgbClr val="000000"/>
                </a:solidFill>
                <a:latin typeface="+mn-lt"/>
              </a:rPr>
              <a:t>r</a:t>
            </a:r>
            <a:r>
              <a:rPr lang="en-US" sz="1200" b="1" kern="1200" dirty="0">
                <a:solidFill>
                  <a:srgbClr val="000080"/>
                </a:solidFill>
                <a:latin typeface="+mn-lt"/>
              </a:rPr>
              <a:t>.</a:t>
            </a:r>
            <a:r>
              <a:rPr lang="en-US" sz="1200" kern="1200" dirty="0">
                <a:solidFill>
                  <a:srgbClr val="000000"/>
                </a:solidFill>
                <a:latin typeface="+mn-lt"/>
              </a:rPr>
              <a:t>rpush</a:t>
            </a:r>
            <a:r>
              <a:rPr lang="en-US" sz="1200" b="1" kern="1200" dirty="0">
                <a:solidFill>
                  <a:srgbClr val="000080"/>
                </a:solidFill>
                <a:latin typeface="+mn-lt"/>
              </a:rPr>
              <a:t>(</a:t>
            </a:r>
            <a:r>
              <a:rPr lang="en-US" sz="1200" kern="1200" dirty="0">
                <a:solidFill>
                  <a:srgbClr val="808080"/>
                </a:solidFill>
                <a:latin typeface="+mn-lt"/>
              </a:rPr>
              <a:t>'my_list'</a:t>
            </a:r>
            <a:r>
              <a:rPr lang="en-US" sz="1200" b="1" kern="1200" dirty="0">
                <a:solidFill>
                  <a:srgbClr val="000080"/>
                </a:solidFill>
                <a:latin typeface="+mn-lt"/>
              </a:rPr>
              <a:t>,</a:t>
            </a:r>
            <a:r>
              <a:rPr lang="en-US" sz="1200" kern="1200" dirty="0">
                <a:solidFill>
                  <a:srgbClr val="000000"/>
                </a:solidFill>
                <a:latin typeface="+mn-lt"/>
              </a:rPr>
              <a:t> </a:t>
            </a:r>
            <a:r>
              <a:rPr lang="en-US" sz="1200" kern="1200" dirty="0">
                <a:solidFill>
                  <a:srgbClr val="808080"/>
                </a:solidFill>
                <a:latin typeface="+mn-lt"/>
              </a:rPr>
              <a:t>'elem3'</a:t>
            </a:r>
            <a:r>
              <a:rPr lang="en-US" sz="1200" b="1" kern="1200" dirty="0">
                <a:solidFill>
                  <a:srgbClr val="000080"/>
                </a:solidFill>
                <a:latin typeface="+mn-lt"/>
              </a:rPr>
              <a:t>)</a:t>
            </a:r>
            <a:r>
              <a:rPr lang="en-US" sz="1200" kern="1200" dirty="0">
                <a:solidFill>
                  <a:srgbClr val="000000"/>
                </a:solidFill>
                <a:latin typeface="+mn-lt"/>
              </a:rPr>
              <a:t> </a:t>
            </a:r>
          </a:p>
          <a:p>
            <a:pPr lvl="0" eaLnBrk="0" fontAlgn="base" hangingPunct="0">
              <a:spcBef>
                <a:spcPct val="0"/>
              </a:spcBef>
              <a:spcAft>
                <a:spcPct val="0"/>
              </a:spcAft>
              <a:buClrTx/>
              <a:buNone/>
              <a:defRPr/>
            </a:pPr>
            <a:r>
              <a:rPr lang="en-US" sz="1200" kern="1200" dirty="0">
                <a:solidFill>
                  <a:srgbClr val="000000"/>
                </a:solidFill>
                <a:latin typeface="+mn-lt"/>
              </a:rPr>
              <a:t>r</a:t>
            </a:r>
            <a:r>
              <a:rPr lang="en-US" sz="1200" b="1" kern="1200" dirty="0">
                <a:solidFill>
                  <a:srgbClr val="000080"/>
                </a:solidFill>
                <a:latin typeface="+mn-lt"/>
              </a:rPr>
              <a:t>.</a:t>
            </a:r>
            <a:r>
              <a:rPr lang="en-US" sz="1200" kern="1200" dirty="0">
                <a:solidFill>
                  <a:srgbClr val="000000"/>
                </a:solidFill>
                <a:latin typeface="+mn-lt"/>
              </a:rPr>
              <a:t>rpush</a:t>
            </a:r>
            <a:r>
              <a:rPr lang="en-US" sz="1200" b="1" kern="1200" dirty="0">
                <a:solidFill>
                  <a:srgbClr val="000080"/>
                </a:solidFill>
                <a:latin typeface="+mn-lt"/>
              </a:rPr>
              <a:t>(</a:t>
            </a:r>
            <a:r>
              <a:rPr lang="en-US" sz="1200" kern="1200" dirty="0">
                <a:solidFill>
                  <a:srgbClr val="808080"/>
                </a:solidFill>
                <a:latin typeface="+mn-lt"/>
              </a:rPr>
              <a:t>'my_list'</a:t>
            </a:r>
            <a:r>
              <a:rPr lang="en-US" sz="1200" b="1" kern="1200" dirty="0">
                <a:solidFill>
                  <a:srgbClr val="000080"/>
                </a:solidFill>
                <a:latin typeface="+mn-lt"/>
              </a:rPr>
              <a:t>,</a:t>
            </a:r>
            <a:r>
              <a:rPr lang="en-US" sz="1200" kern="1200" dirty="0">
                <a:solidFill>
                  <a:srgbClr val="000000"/>
                </a:solidFill>
                <a:latin typeface="+mn-lt"/>
              </a:rPr>
              <a:t> </a:t>
            </a:r>
            <a:r>
              <a:rPr lang="en-US" sz="1200" kern="1200" dirty="0">
                <a:solidFill>
                  <a:srgbClr val="808080"/>
                </a:solidFill>
                <a:latin typeface="+mn-lt"/>
              </a:rPr>
              <a:t>'elem4'</a:t>
            </a:r>
            <a:r>
              <a:rPr lang="en-US" sz="1200" b="1" kern="1200" dirty="0">
                <a:solidFill>
                  <a:srgbClr val="000080"/>
                </a:solidFill>
                <a:latin typeface="+mn-lt"/>
              </a:rPr>
              <a:t>)</a:t>
            </a:r>
            <a:r>
              <a:rPr lang="en-US" sz="1200" kern="1200" dirty="0">
                <a:solidFill>
                  <a:srgbClr val="000000"/>
                </a:solidFill>
                <a:latin typeface="+mn-lt"/>
              </a:rPr>
              <a:t> </a:t>
            </a:r>
          </a:p>
          <a:p>
            <a:pPr lvl="0" eaLnBrk="0" fontAlgn="base" hangingPunct="0">
              <a:spcBef>
                <a:spcPct val="0"/>
              </a:spcBef>
              <a:spcAft>
                <a:spcPct val="0"/>
              </a:spcAft>
              <a:buClrTx/>
              <a:buNone/>
              <a:defRPr/>
            </a:pPr>
            <a:r>
              <a:rPr lang="en-US" sz="1200" b="1" kern="1200" dirty="0">
                <a:solidFill>
                  <a:srgbClr val="0000FF"/>
                </a:solidFill>
                <a:latin typeface="+mn-lt"/>
              </a:rPr>
              <a:t>print</a:t>
            </a:r>
            <a:r>
              <a:rPr lang="en-US" sz="1200" b="1" kern="1200" dirty="0">
                <a:solidFill>
                  <a:srgbClr val="000080"/>
                </a:solidFill>
                <a:latin typeface="+mn-lt"/>
              </a:rPr>
              <a:t>(</a:t>
            </a:r>
            <a:r>
              <a:rPr lang="en-US" sz="1200" kern="1200" dirty="0">
                <a:solidFill>
                  <a:srgbClr val="808080"/>
                </a:solidFill>
                <a:latin typeface="+mn-lt"/>
              </a:rPr>
              <a:t>"r.llen('my_list'): "</a:t>
            </a:r>
            <a:r>
              <a:rPr lang="en-US" sz="1200" b="1" kern="1200" dirty="0">
                <a:solidFill>
                  <a:srgbClr val="000080"/>
                </a:solidFill>
                <a:latin typeface="+mn-lt"/>
              </a:rPr>
              <a:t>,</a:t>
            </a:r>
            <a:r>
              <a:rPr lang="en-US" sz="1200" kern="1200" dirty="0">
                <a:solidFill>
                  <a:srgbClr val="000000"/>
                </a:solidFill>
                <a:latin typeface="+mn-lt"/>
              </a:rPr>
              <a:t> r</a:t>
            </a:r>
            <a:r>
              <a:rPr lang="en-US" sz="1200" b="1" kern="1200" dirty="0">
                <a:solidFill>
                  <a:srgbClr val="000080"/>
                </a:solidFill>
                <a:latin typeface="+mn-lt"/>
              </a:rPr>
              <a:t>.</a:t>
            </a:r>
            <a:r>
              <a:rPr lang="en-US" sz="1200" kern="1200" dirty="0">
                <a:solidFill>
                  <a:srgbClr val="000000"/>
                </a:solidFill>
                <a:latin typeface="+mn-lt"/>
              </a:rPr>
              <a:t>llen</a:t>
            </a:r>
            <a:r>
              <a:rPr lang="en-US" sz="1200" b="1" kern="1200" dirty="0">
                <a:solidFill>
                  <a:srgbClr val="000080"/>
                </a:solidFill>
                <a:latin typeface="+mn-lt"/>
              </a:rPr>
              <a:t>(</a:t>
            </a:r>
            <a:r>
              <a:rPr lang="en-US" sz="1200" kern="1200" dirty="0">
                <a:solidFill>
                  <a:srgbClr val="808080"/>
                </a:solidFill>
                <a:latin typeface="+mn-lt"/>
              </a:rPr>
              <a:t>'my_list'</a:t>
            </a:r>
            <a:r>
              <a:rPr lang="en-US" sz="1200" b="1" kern="1200" dirty="0">
                <a:solidFill>
                  <a:srgbClr val="000080"/>
                </a:solidFill>
                <a:latin typeface="+mn-lt"/>
              </a:rPr>
              <a:t>))</a:t>
            </a:r>
            <a:r>
              <a:rPr lang="en-US" sz="1200" kern="1200" dirty="0">
                <a:solidFill>
                  <a:srgbClr val="000000"/>
                </a:solidFill>
                <a:latin typeface="+mn-lt"/>
              </a:rPr>
              <a:t> </a:t>
            </a:r>
          </a:p>
          <a:p>
            <a:pPr lvl="0" eaLnBrk="0" fontAlgn="base" hangingPunct="0">
              <a:spcBef>
                <a:spcPct val="0"/>
              </a:spcBef>
              <a:spcAft>
                <a:spcPct val="0"/>
              </a:spcAft>
              <a:buClrTx/>
              <a:buNone/>
              <a:defRPr/>
            </a:pPr>
            <a:r>
              <a:rPr lang="en-US" sz="1200" b="1" kern="1200" dirty="0">
                <a:solidFill>
                  <a:srgbClr val="0000FF"/>
                </a:solidFill>
                <a:latin typeface="+mn-lt"/>
              </a:rPr>
              <a:t>print</a:t>
            </a:r>
            <a:r>
              <a:rPr lang="en-US" sz="1200" b="1" kern="1200" dirty="0">
                <a:solidFill>
                  <a:srgbClr val="000080"/>
                </a:solidFill>
                <a:latin typeface="+mn-lt"/>
              </a:rPr>
              <a:t>(</a:t>
            </a:r>
            <a:r>
              <a:rPr lang="en-US" sz="1200" kern="1200" dirty="0">
                <a:solidFill>
                  <a:srgbClr val="808080"/>
                </a:solidFill>
                <a:latin typeface="+mn-lt"/>
              </a:rPr>
              <a:t>"r.lindex('my_list', 0): "</a:t>
            </a:r>
            <a:r>
              <a:rPr lang="en-US" sz="1200" b="1" kern="1200" dirty="0">
                <a:solidFill>
                  <a:srgbClr val="000080"/>
                </a:solidFill>
                <a:latin typeface="+mn-lt"/>
              </a:rPr>
              <a:t>,</a:t>
            </a:r>
            <a:r>
              <a:rPr lang="en-US" sz="1200" kern="1200" dirty="0">
                <a:solidFill>
                  <a:srgbClr val="000000"/>
                </a:solidFill>
                <a:latin typeface="+mn-lt"/>
              </a:rPr>
              <a:t> r</a:t>
            </a:r>
            <a:r>
              <a:rPr lang="en-US" sz="1200" b="1" kern="1200" dirty="0">
                <a:solidFill>
                  <a:srgbClr val="000080"/>
                </a:solidFill>
                <a:latin typeface="+mn-lt"/>
              </a:rPr>
              <a:t>.</a:t>
            </a:r>
            <a:r>
              <a:rPr lang="en-US" sz="1200" kern="1200" dirty="0">
                <a:solidFill>
                  <a:srgbClr val="000000"/>
                </a:solidFill>
                <a:latin typeface="+mn-lt"/>
              </a:rPr>
              <a:t>lindex</a:t>
            </a:r>
            <a:r>
              <a:rPr lang="en-US" sz="1200" b="1" kern="1200" dirty="0">
                <a:solidFill>
                  <a:srgbClr val="000080"/>
                </a:solidFill>
                <a:latin typeface="+mn-lt"/>
              </a:rPr>
              <a:t>(</a:t>
            </a:r>
            <a:r>
              <a:rPr lang="en-US" sz="1200" kern="1200" dirty="0">
                <a:solidFill>
                  <a:srgbClr val="808080"/>
                </a:solidFill>
                <a:latin typeface="+mn-lt"/>
              </a:rPr>
              <a:t>'my_list'</a:t>
            </a:r>
            <a:r>
              <a:rPr lang="en-US" sz="1200" b="1" kern="1200" dirty="0">
                <a:solidFill>
                  <a:srgbClr val="000080"/>
                </a:solidFill>
                <a:latin typeface="+mn-lt"/>
              </a:rPr>
              <a:t>,</a:t>
            </a:r>
            <a:r>
              <a:rPr lang="en-US" sz="1200" kern="1200" dirty="0">
                <a:solidFill>
                  <a:srgbClr val="000000"/>
                </a:solidFill>
                <a:latin typeface="+mn-lt"/>
              </a:rPr>
              <a:t> </a:t>
            </a:r>
            <a:r>
              <a:rPr lang="en-US" sz="1200" kern="1200" dirty="0">
                <a:solidFill>
                  <a:srgbClr val="FF0000"/>
                </a:solidFill>
                <a:latin typeface="+mn-lt"/>
              </a:rPr>
              <a:t>0</a:t>
            </a:r>
            <a:r>
              <a:rPr lang="en-US" sz="1200" b="1" kern="1200" dirty="0">
                <a:solidFill>
                  <a:srgbClr val="000080"/>
                </a:solidFill>
                <a:latin typeface="+mn-lt"/>
              </a:rPr>
              <a:t>))</a:t>
            </a:r>
            <a:r>
              <a:rPr lang="en-US" sz="1200" kern="1200" dirty="0">
                <a:solidFill>
                  <a:srgbClr val="000000"/>
                </a:solidFill>
                <a:latin typeface="+mn-lt"/>
              </a:rPr>
              <a:t> </a:t>
            </a:r>
          </a:p>
          <a:p>
            <a:pPr lvl="0" eaLnBrk="0" fontAlgn="base" hangingPunct="0">
              <a:spcBef>
                <a:spcPct val="0"/>
              </a:spcBef>
              <a:spcAft>
                <a:spcPct val="0"/>
              </a:spcAft>
              <a:buClrTx/>
              <a:buNone/>
              <a:defRPr/>
            </a:pPr>
            <a:r>
              <a:rPr lang="en-US" sz="1200" b="1" kern="1200" dirty="0">
                <a:solidFill>
                  <a:srgbClr val="0000FF"/>
                </a:solidFill>
                <a:latin typeface="+mn-lt"/>
              </a:rPr>
              <a:t>print</a:t>
            </a:r>
            <a:r>
              <a:rPr lang="en-US" sz="1200" b="1" kern="1200" dirty="0">
                <a:solidFill>
                  <a:srgbClr val="000080"/>
                </a:solidFill>
                <a:latin typeface="+mn-lt"/>
              </a:rPr>
              <a:t>(</a:t>
            </a:r>
            <a:r>
              <a:rPr lang="en-US" sz="1200" kern="1200" dirty="0">
                <a:solidFill>
                  <a:srgbClr val="808080"/>
                </a:solidFill>
                <a:latin typeface="+mn-lt"/>
              </a:rPr>
              <a:t>"r.lrange('my_list', 1, 3): "</a:t>
            </a:r>
            <a:r>
              <a:rPr lang="en-US" sz="1200" b="1" kern="1200" dirty="0">
                <a:solidFill>
                  <a:srgbClr val="000080"/>
                </a:solidFill>
                <a:latin typeface="+mn-lt"/>
              </a:rPr>
              <a:t>,</a:t>
            </a:r>
            <a:r>
              <a:rPr lang="en-US" sz="1200" kern="1200" dirty="0">
                <a:solidFill>
                  <a:srgbClr val="000000"/>
                </a:solidFill>
                <a:latin typeface="+mn-lt"/>
              </a:rPr>
              <a:t> r</a:t>
            </a:r>
            <a:r>
              <a:rPr lang="en-US" sz="1200" b="1" kern="1200" dirty="0">
                <a:solidFill>
                  <a:srgbClr val="000080"/>
                </a:solidFill>
                <a:latin typeface="+mn-lt"/>
              </a:rPr>
              <a:t>.</a:t>
            </a:r>
            <a:r>
              <a:rPr lang="en-US" sz="1200" kern="1200" dirty="0">
                <a:solidFill>
                  <a:srgbClr val="000000"/>
                </a:solidFill>
                <a:latin typeface="+mn-lt"/>
              </a:rPr>
              <a:t>lrange</a:t>
            </a:r>
            <a:r>
              <a:rPr lang="en-US" sz="1200" b="1" kern="1200" dirty="0">
                <a:solidFill>
                  <a:srgbClr val="000080"/>
                </a:solidFill>
                <a:latin typeface="+mn-lt"/>
              </a:rPr>
              <a:t>(</a:t>
            </a:r>
            <a:r>
              <a:rPr lang="en-US" sz="1200" kern="1200" dirty="0">
                <a:solidFill>
                  <a:srgbClr val="808080"/>
                </a:solidFill>
                <a:latin typeface="+mn-lt"/>
              </a:rPr>
              <a:t>'my_list'</a:t>
            </a:r>
            <a:r>
              <a:rPr lang="en-US" sz="1200" b="1" kern="1200" dirty="0">
                <a:solidFill>
                  <a:srgbClr val="000080"/>
                </a:solidFill>
                <a:latin typeface="+mn-lt"/>
              </a:rPr>
              <a:t>,</a:t>
            </a:r>
            <a:r>
              <a:rPr lang="en-US" sz="1200" kern="1200" dirty="0">
                <a:solidFill>
                  <a:srgbClr val="000000"/>
                </a:solidFill>
                <a:latin typeface="+mn-lt"/>
              </a:rPr>
              <a:t> </a:t>
            </a:r>
            <a:r>
              <a:rPr lang="en-US" sz="1200" kern="1200" dirty="0">
                <a:solidFill>
                  <a:srgbClr val="FF0000"/>
                </a:solidFill>
                <a:latin typeface="+mn-lt"/>
              </a:rPr>
              <a:t>1</a:t>
            </a:r>
            <a:r>
              <a:rPr lang="en-US" sz="1200" b="1" kern="1200" dirty="0">
                <a:solidFill>
                  <a:srgbClr val="000080"/>
                </a:solidFill>
                <a:latin typeface="+mn-lt"/>
              </a:rPr>
              <a:t>,</a:t>
            </a:r>
            <a:r>
              <a:rPr lang="en-US" sz="1200" kern="1200" dirty="0">
                <a:solidFill>
                  <a:srgbClr val="000000"/>
                </a:solidFill>
                <a:latin typeface="+mn-lt"/>
              </a:rPr>
              <a:t> </a:t>
            </a:r>
            <a:r>
              <a:rPr lang="en-US" sz="1200" kern="1200" dirty="0">
                <a:solidFill>
                  <a:srgbClr val="FF0000"/>
                </a:solidFill>
                <a:latin typeface="+mn-lt"/>
              </a:rPr>
              <a:t>3</a:t>
            </a:r>
            <a:r>
              <a:rPr lang="en-US" sz="1200" b="1" kern="1200" dirty="0">
                <a:solidFill>
                  <a:srgbClr val="000080"/>
                </a:solidFill>
                <a:latin typeface="+mn-lt"/>
              </a:rPr>
              <a:t>))</a:t>
            </a:r>
            <a:r>
              <a:rPr lang="en-US" sz="1200" kern="1200" dirty="0">
                <a:solidFill>
                  <a:srgbClr val="000000"/>
                </a:solidFill>
                <a:latin typeface="+mn-lt"/>
              </a:rPr>
              <a:t> </a:t>
            </a:r>
          </a:p>
          <a:p>
            <a:pPr lvl="0" eaLnBrk="0" fontAlgn="base" hangingPunct="0">
              <a:spcBef>
                <a:spcPct val="0"/>
              </a:spcBef>
              <a:spcAft>
                <a:spcPct val="0"/>
              </a:spcAft>
              <a:buClrTx/>
              <a:buNone/>
              <a:defRPr/>
            </a:pPr>
            <a:endParaRPr lang="en-US" sz="1200" kern="1200" dirty="0">
              <a:solidFill>
                <a:srgbClr val="000000"/>
              </a:solidFill>
              <a:latin typeface="+mn-lt"/>
            </a:endParaRPr>
          </a:p>
          <a:p>
            <a:pPr lvl="0" eaLnBrk="0" fontAlgn="base" hangingPunct="0">
              <a:spcBef>
                <a:spcPct val="0"/>
              </a:spcBef>
              <a:spcAft>
                <a:spcPct val="0"/>
              </a:spcAft>
              <a:buClrTx/>
              <a:buNone/>
              <a:defRPr/>
            </a:pPr>
            <a:r>
              <a:rPr lang="en-US" sz="1200" kern="1200" dirty="0">
                <a:solidFill>
                  <a:srgbClr val="008000"/>
                </a:solidFill>
                <a:latin typeface="+mn-lt"/>
              </a:rPr>
              <a:t># </a:t>
            </a:r>
            <a:r>
              <a:rPr lang="ru-RU" sz="1200" kern="1200" dirty="0">
                <a:solidFill>
                  <a:srgbClr val="008000"/>
                </a:solidFill>
                <a:latin typeface="+mn-lt"/>
              </a:rPr>
              <a:t>Реализация паттерна издатель-подписчик</a:t>
            </a:r>
            <a:r>
              <a:rPr lang="ru-RU" sz="1200" kern="1200" dirty="0">
                <a:solidFill>
                  <a:srgbClr val="000000"/>
                </a:solidFill>
                <a:latin typeface="+mn-lt"/>
              </a:rPr>
              <a:t> </a:t>
            </a:r>
            <a:endParaRPr lang="en-US" sz="1200" kern="1200" dirty="0">
              <a:solidFill>
                <a:srgbClr val="000000"/>
              </a:solidFill>
              <a:latin typeface="+mn-lt"/>
            </a:endParaRPr>
          </a:p>
          <a:p>
            <a:pPr lvl="0" eaLnBrk="0" fontAlgn="base" hangingPunct="0">
              <a:spcBef>
                <a:spcPct val="0"/>
              </a:spcBef>
              <a:spcAft>
                <a:spcPct val="0"/>
              </a:spcAft>
              <a:buClrTx/>
              <a:buNone/>
              <a:defRPr/>
            </a:pPr>
            <a:r>
              <a:rPr lang="en-US" sz="1200" kern="1200" dirty="0">
                <a:solidFill>
                  <a:srgbClr val="000000"/>
                </a:solidFill>
                <a:latin typeface="+mn-lt"/>
              </a:rPr>
              <a:t>p </a:t>
            </a:r>
            <a:r>
              <a:rPr lang="en-US" sz="1200" b="1" kern="1200" dirty="0">
                <a:solidFill>
                  <a:srgbClr val="000080"/>
                </a:solidFill>
                <a:latin typeface="+mn-lt"/>
              </a:rPr>
              <a:t>=</a:t>
            </a:r>
            <a:r>
              <a:rPr lang="en-US" sz="1200" kern="1200" dirty="0">
                <a:solidFill>
                  <a:srgbClr val="000000"/>
                </a:solidFill>
                <a:latin typeface="+mn-lt"/>
              </a:rPr>
              <a:t> r</a:t>
            </a:r>
            <a:r>
              <a:rPr lang="en-US" sz="1200" b="1" kern="1200" dirty="0">
                <a:solidFill>
                  <a:srgbClr val="000080"/>
                </a:solidFill>
                <a:latin typeface="+mn-lt"/>
              </a:rPr>
              <a:t>.</a:t>
            </a:r>
            <a:r>
              <a:rPr lang="en-US" sz="1200" kern="1200" dirty="0">
                <a:solidFill>
                  <a:srgbClr val="000000"/>
                </a:solidFill>
                <a:latin typeface="+mn-lt"/>
              </a:rPr>
              <a:t>pubsub</a:t>
            </a:r>
            <a:r>
              <a:rPr lang="en-US" sz="1200" b="1" kern="1200" dirty="0">
                <a:solidFill>
                  <a:srgbClr val="000080"/>
                </a:solidFill>
                <a:latin typeface="+mn-lt"/>
              </a:rPr>
              <a:t>(</a:t>
            </a:r>
            <a:r>
              <a:rPr lang="en-US" sz="1200" kern="1200" dirty="0">
                <a:solidFill>
                  <a:srgbClr val="000000"/>
                </a:solidFill>
                <a:latin typeface="+mn-lt"/>
              </a:rPr>
              <a:t>ignore_subscribe_messages</a:t>
            </a:r>
            <a:r>
              <a:rPr lang="en-US" sz="1200" b="1" kern="1200" dirty="0">
                <a:solidFill>
                  <a:srgbClr val="000080"/>
                </a:solidFill>
                <a:latin typeface="+mn-lt"/>
              </a:rPr>
              <a:t>=</a:t>
            </a:r>
            <a:r>
              <a:rPr lang="en-US" sz="1200" b="1" kern="1200" dirty="0">
                <a:solidFill>
                  <a:srgbClr val="0000FF"/>
                </a:solidFill>
                <a:latin typeface="+mn-lt"/>
              </a:rPr>
              <a:t>True</a:t>
            </a:r>
            <a:r>
              <a:rPr lang="en-US" sz="1200" b="1" kern="1200" dirty="0">
                <a:solidFill>
                  <a:srgbClr val="000080"/>
                </a:solidFill>
                <a:latin typeface="+mn-lt"/>
              </a:rPr>
              <a:t>)</a:t>
            </a:r>
            <a:r>
              <a:rPr lang="en-US" sz="1200" kern="1200" dirty="0">
                <a:solidFill>
                  <a:srgbClr val="000000"/>
                </a:solidFill>
                <a:latin typeface="+mn-lt"/>
              </a:rPr>
              <a:t> </a:t>
            </a:r>
          </a:p>
          <a:p>
            <a:pPr lvl="0" eaLnBrk="0" fontAlgn="base" hangingPunct="0">
              <a:spcBef>
                <a:spcPct val="0"/>
              </a:spcBef>
              <a:spcAft>
                <a:spcPct val="0"/>
              </a:spcAft>
              <a:buClrTx/>
              <a:buNone/>
              <a:defRPr/>
            </a:pPr>
            <a:r>
              <a:rPr lang="en-US" sz="1200" kern="1200" dirty="0">
                <a:solidFill>
                  <a:srgbClr val="000000"/>
                </a:solidFill>
                <a:latin typeface="+mn-lt"/>
              </a:rPr>
              <a:t>p</a:t>
            </a:r>
            <a:r>
              <a:rPr lang="en-US" sz="1200" b="1" kern="1200" dirty="0">
                <a:solidFill>
                  <a:srgbClr val="000080"/>
                </a:solidFill>
                <a:latin typeface="+mn-lt"/>
              </a:rPr>
              <a:t>.</a:t>
            </a:r>
            <a:r>
              <a:rPr lang="en-US" sz="1200" kern="1200" dirty="0">
                <a:solidFill>
                  <a:srgbClr val="000000"/>
                </a:solidFill>
                <a:latin typeface="+mn-lt"/>
              </a:rPr>
              <a:t>subscribe</a:t>
            </a:r>
            <a:r>
              <a:rPr lang="en-US" sz="1200" b="1" kern="1200" dirty="0">
                <a:solidFill>
                  <a:srgbClr val="000080"/>
                </a:solidFill>
                <a:latin typeface="+mn-lt"/>
              </a:rPr>
              <a:t>(</a:t>
            </a:r>
            <a:r>
              <a:rPr lang="en-US" sz="1200" kern="1200" dirty="0">
                <a:solidFill>
                  <a:srgbClr val="808080"/>
                </a:solidFill>
                <a:latin typeface="+mn-lt"/>
              </a:rPr>
              <a:t>'my-chat'</a:t>
            </a:r>
            <a:r>
              <a:rPr lang="en-US" sz="1200" b="1" kern="1200" dirty="0">
                <a:solidFill>
                  <a:srgbClr val="000080"/>
                </a:solidFill>
                <a:latin typeface="+mn-lt"/>
              </a:rPr>
              <a:t>)</a:t>
            </a:r>
            <a:r>
              <a:rPr lang="en-US" sz="1200" kern="1200" dirty="0">
                <a:solidFill>
                  <a:srgbClr val="000000"/>
                </a:solidFill>
                <a:latin typeface="+mn-lt"/>
              </a:rPr>
              <a:t> </a:t>
            </a:r>
          </a:p>
          <a:p>
            <a:pPr lvl="0" eaLnBrk="0" fontAlgn="base" hangingPunct="0">
              <a:spcBef>
                <a:spcPct val="0"/>
              </a:spcBef>
              <a:spcAft>
                <a:spcPct val="0"/>
              </a:spcAft>
              <a:buClrTx/>
              <a:buNone/>
              <a:defRPr/>
            </a:pPr>
            <a:r>
              <a:rPr lang="en-US" sz="1200" b="1" kern="1200" dirty="0">
                <a:solidFill>
                  <a:srgbClr val="0000FF"/>
                </a:solidFill>
                <a:latin typeface="+mn-lt"/>
              </a:rPr>
              <a:t>print</a:t>
            </a:r>
            <a:r>
              <a:rPr lang="en-US" sz="1200" b="1" kern="1200" dirty="0">
                <a:solidFill>
                  <a:srgbClr val="000080"/>
                </a:solidFill>
                <a:latin typeface="+mn-lt"/>
              </a:rPr>
              <a:t>(</a:t>
            </a:r>
            <a:r>
              <a:rPr lang="en-US" sz="1200" kern="1200" dirty="0">
                <a:solidFill>
                  <a:srgbClr val="808080"/>
                </a:solidFill>
                <a:latin typeface="+mn-lt"/>
              </a:rPr>
              <a:t>"p.get_message(): "</a:t>
            </a:r>
            <a:r>
              <a:rPr lang="en-US" sz="1200" b="1" kern="1200" dirty="0">
                <a:solidFill>
                  <a:srgbClr val="000080"/>
                </a:solidFill>
                <a:latin typeface="+mn-lt"/>
              </a:rPr>
              <a:t>,</a:t>
            </a:r>
            <a:r>
              <a:rPr lang="en-US" sz="1200" kern="1200" dirty="0">
                <a:solidFill>
                  <a:srgbClr val="000000"/>
                </a:solidFill>
                <a:latin typeface="+mn-lt"/>
              </a:rPr>
              <a:t> p</a:t>
            </a:r>
            <a:r>
              <a:rPr lang="en-US" sz="1200" b="1" kern="1200" dirty="0">
                <a:solidFill>
                  <a:srgbClr val="000080"/>
                </a:solidFill>
                <a:latin typeface="+mn-lt"/>
              </a:rPr>
              <a:t>.</a:t>
            </a:r>
            <a:r>
              <a:rPr lang="en-US" sz="1200" kern="1200" dirty="0">
                <a:solidFill>
                  <a:srgbClr val="000000"/>
                </a:solidFill>
                <a:latin typeface="+mn-lt"/>
              </a:rPr>
              <a:t>get_message</a:t>
            </a:r>
            <a:r>
              <a:rPr lang="en-US" sz="1200" b="1" kern="1200" dirty="0">
                <a:solidFill>
                  <a:srgbClr val="000080"/>
                </a:solidFill>
                <a:latin typeface="+mn-lt"/>
              </a:rPr>
              <a:t>())</a:t>
            </a:r>
            <a:r>
              <a:rPr lang="en-US" sz="1200" kern="1200" dirty="0">
                <a:solidFill>
                  <a:srgbClr val="000000"/>
                </a:solidFill>
                <a:latin typeface="+mn-lt"/>
              </a:rPr>
              <a:t> </a:t>
            </a:r>
          </a:p>
          <a:p>
            <a:pPr lvl="0" eaLnBrk="0" fontAlgn="base" hangingPunct="0">
              <a:spcBef>
                <a:spcPct val="0"/>
              </a:spcBef>
              <a:spcAft>
                <a:spcPct val="0"/>
              </a:spcAft>
              <a:buClrTx/>
              <a:buNone/>
              <a:defRPr/>
            </a:pPr>
            <a:r>
              <a:rPr lang="en-US" sz="1200" kern="1200" dirty="0">
                <a:solidFill>
                  <a:srgbClr val="000000"/>
                </a:solidFill>
                <a:latin typeface="+mn-lt"/>
              </a:rPr>
              <a:t>r</a:t>
            </a:r>
            <a:r>
              <a:rPr lang="en-US" sz="1200" b="1" kern="1200" dirty="0">
                <a:solidFill>
                  <a:srgbClr val="000080"/>
                </a:solidFill>
                <a:latin typeface="+mn-lt"/>
              </a:rPr>
              <a:t>.</a:t>
            </a:r>
            <a:r>
              <a:rPr lang="en-US" sz="1200" kern="1200" dirty="0">
                <a:solidFill>
                  <a:srgbClr val="000000"/>
                </a:solidFill>
                <a:latin typeface="+mn-lt"/>
              </a:rPr>
              <a:t>publish</a:t>
            </a:r>
            <a:r>
              <a:rPr lang="en-US" sz="1200" b="1" kern="1200" dirty="0">
                <a:solidFill>
                  <a:srgbClr val="000080"/>
                </a:solidFill>
                <a:latin typeface="+mn-lt"/>
              </a:rPr>
              <a:t>(</a:t>
            </a:r>
            <a:r>
              <a:rPr lang="en-US" sz="1200" kern="1200" dirty="0">
                <a:solidFill>
                  <a:srgbClr val="808080"/>
                </a:solidFill>
                <a:latin typeface="+mn-lt"/>
              </a:rPr>
              <a:t>'my-chat'</a:t>
            </a:r>
            <a:r>
              <a:rPr lang="en-US" sz="1200" b="1" kern="1200" dirty="0">
                <a:solidFill>
                  <a:srgbClr val="000080"/>
                </a:solidFill>
                <a:latin typeface="+mn-lt"/>
              </a:rPr>
              <a:t>,</a:t>
            </a:r>
            <a:r>
              <a:rPr lang="en-US" sz="1200" kern="1200" dirty="0">
                <a:solidFill>
                  <a:srgbClr val="000000"/>
                </a:solidFill>
                <a:latin typeface="+mn-lt"/>
              </a:rPr>
              <a:t> </a:t>
            </a:r>
            <a:r>
              <a:rPr lang="en-US" sz="1200" kern="1200" dirty="0">
                <a:solidFill>
                  <a:srgbClr val="808080"/>
                </a:solidFill>
                <a:latin typeface="+mn-lt"/>
              </a:rPr>
              <a:t>'user: Hello!'</a:t>
            </a:r>
            <a:r>
              <a:rPr lang="en-US" sz="1200" b="1" kern="1200" dirty="0">
                <a:solidFill>
                  <a:srgbClr val="000080"/>
                </a:solidFill>
                <a:latin typeface="+mn-lt"/>
              </a:rPr>
              <a:t>)</a:t>
            </a:r>
            <a:r>
              <a:rPr lang="en-US" sz="1200" kern="1200" dirty="0">
                <a:solidFill>
                  <a:srgbClr val="000000"/>
                </a:solidFill>
                <a:latin typeface="+mn-lt"/>
              </a:rPr>
              <a:t> </a:t>
            </a:r>
          </a:p>
          <a:p>
            <a:pPr lvl="0" eaLnBrk="0" fontAlgn="base" hangingPunct="0">
              <a:spcBef>
                <a:spcPct val="0"/>
              </a:spcBef>
              <a:spcAft>
                <a:spcPct val="0"/>
              </a:spcAft>
              <a:buClrTx/>
              <a:buNone/>
              <a:defRPr/>
            </a:pPr>
            <a:r>
              <a:rPr lang="en-US" sz="1200" b="1" kern="1200" dirty="0">
                <a:solidFill>
                  <a:srgbClr val="0000FF"/>
                </a:solidFill>
                <a:latin typeface="+mn-lt"/>
              </a:rPr>
              <a:t>while</a:t>
            </a:r>
            <a:r>
              <a:rPr lang="en-US" sz="1200" kern="1200" dirty="0">
                <a:solidFill>
                  <a:srgbClr val="000000"/>
                </a:solidFill>
                <a:latin typeface="+mn-lt"/>
              </a:rPr>
              <a:t> </a:t>
            </a:r>
            <a:r>
              <a:rPr lang="en-US" sz="1200" b="1" kern="1200" dirty="0">
                <a:solidFill>
                  <a:srgbClr val="0000FF"/>
                </a:solidFill>
                <a:latin typeface="+mn-lt"/>
              </a:rPr>
              <a:t>True</a:t>
            </a:r>
            <a:r>
              <a:rPr lang="en-US" sz="1200" b="1" kern="1200" dirty="0">
                <a:solidFill>
                  <a:srgbClr val="000080"/>
                </a:solidFill>
                <a:latin typeface="+mn-lt"/>
              </a:rPr>
              <a:t>:</a:t>
            </a:r>
            <a:r>
              <a:rPr lang="en-US" sz="1200" kern="1200" dirty="0">
                <a:solidFill>
                  <a:srgbClr val="000000"/>
                </a:solidFill>
                <a:latin typeface="+mn-lt"/>
              </a:rPr>
              <a:t> </a:t>
            </a:r>
          </a:p>
          <a:p>
            <a:pPr lvl="0" eaLnBrk="0" fontAlgn="base" hangingPunct="0">
              <a:spcBef>
                <a:spcPct val="0"/>
              </a:spcBef>
              <a:spcAft>
                <a:spcPct val="0"/>
              </a:spcAft>
              <a:buClrTx/>
              <a:buNone/>
              <a:defRPr/>
            </a:pPr>
            <a:r>
              <a:rPr lang="en-US" sz="1200" kern="1200" dirty="0">
                <a:solidFill>
                  <a:srgbClr val="000000"/>
                </a:solidFill>
                <a:latin typeface="+mn-lt"/>
              </a:rPr>
              <a:t>    msg </a:t>
            </a:r>
            <a:r>
              <a:rPr lang="en-US" sz="1200" b="1" kern="1200" dirty="0">
                <a:solidFill>
                  <a:srgbClr val="000080"/>
                </a:solidFill>
                <a:latin typeface="+mn-lt"/>
              </a:rPr>
              <a:t>=</a:t>
            </a:r>
            <a:r>
              <a:rPr lang="en-US" sz="1200" kern="1200" dirty="0">
                <a:solidFill>
                  <a:srgbClr val="000000"/>
                </a:solidFill>
                <a:latin typeface="+mn-lt"/>
              </a:rPr>
              <a:t> p</a:t>
            </a:r>
            <a:r>
              <a:rPr lang="en-US" sz="1200" b="1" kern="1200" dirty="0">
                <a:solidFill>
                  <a:srgbClr val="000080"/>
                </a:solidFill>
                <a:latin typeface="+mn-lt"/>
              </a:rPr>
              <a:t>.</a:t>
            </a:r>
            <a:r>
              <a:rPr lang="en-US" sz="1200" kern="1200" dirty="0">
                <a:solidFill>
                  <a:srgbClr val="000000"/>
                </a:solidFill>
                <a:latin typeface="+mn-lt"/>
              </a:rPr>
              <a:t>get_message</a:t>
            </a:r>
            <a:r>
              <a:rPr lang="en-US" sz="1200" b="1" kern="1200" dirty="0">
                <a:solidFill>
                  <a:srgbClr val="000080"/>
                </a:solidFill>
                <a:latin typeface="+mn-lt"/>
              </a:rPr>
              <a:t>()</a:t>
            </a:r>
            <a:r>
              <a:rPr lang="en-US" sz="1200" kern="1200" dirty="0">
                <a:solidFill>
                  <a:srgbClr val="000000"/>
                </a:solidFill>
                <a:latin typeface="+mn-lt"/>
              </a:rPr>
              <a:t> </a:t>
            </a:r>
          </a:p>
          <a:p>
            <a:pPr lvl="0" eaLnBrk="0" fontAlgn="base" hangingPunct="0">
              <a:spcBef>
                <a:spcPct val="0"/>
              </a:spcBef>
              <a:spcAft>
                <a:spcPct val="0"/>
              </a:spcAft>
              <a:buClrTx/>
              <a:buNone/>
              <a:defRPr/>
            </a:pPr>
            <a:r>
              <a:rPr lang="en-US" sz="1200" b="1" kern="1200" dirty="0">
                <a:solidFill>
                  <a:srgbClr val="000000"/>
                </a:solidFill>
                <a:latin typeface="+mn-lt"/>
              </a:rPr>
              <a:t>    </a:t>
            </a:r>
            <a:r>
              <a:rPr lang="en-US" sz="1200" b="1" kern="1200" dirty="0">
                <a:solidFill>
                  <a:srgbClr val="0000FF"/>
                </a:solidFill>
                <a:latin typeface="+mn-lt"/>
              </a:rPr>
              <a:t>if</a:t>
            </a:r>
            <a:r>
              <a:rPr lang="en-US" sz="1200" kern="1200" dirty="0">
                <a:solidFill>
                  <a:srgbClr val="000000"/>
                </a:solidFill>
                <a:latin typeface="+mn-lt"/>
              </a:rPr>
              <a:t> msg</a:t>
            </a:r>
            <a:r>
              <a:rPr lang="en-US" sz="1200" b="1" kern="1200" dirty="0">
                <a:solidFill>
                  <a:srgbClr val="000080"/>
                </a:solidFill>
                <a:latin typeface="+mn-lt"/>
              </a:rPr>
              <a:t>:</a:t>
            </a:r>
            <a:r>
              <a:rPr lang="en-US" sz="1200" kern="1200" dirty="0">
                <a:solidFill>
                  <a:srgbClr val="000000"/>
                </a:solidFill>
                <a:latin typeface="+mn-lt"/>
              </a:rPr>
              <a:t> </a:t>
            </a:r>
          </a:p>
          <a:p>
            <a:pPr lvl="0" eaLnBrk="0" fontAlgn="base" hangingPunct="0">
              <a:spcBef>
                <a:spcPct val="0"/>
              </a:spcBef>
              <a:spcAft>
                <a:spcPct val="0"/>
              </a:spcAft>
              <a:buClrTx/>
              <a:buNone/>
              <a:defRPr/>
            </a:pPr>
            <a:r>
              <a:rPr lang="en-US" sz="1200" b="1" kern="1200" dirty="0">
                <a:solidFill>
                  <a:srgbClr val="000000"/>
                </a:solidFill>
                <a:latin typeface="+mn-lt"/>
              </a:rPr>
              <a:t>        </a:t>
            </a:r>
            <a:r>
              <a:rPr lang="en-US" sz="1200" b="1" kern="1200" dirty="0">
                <a:solidFill>
                  <a:srgbClr val="0000FF"/>
                </a:solidFill>
                <a:latin typeface="+mn-lt"/>
              </a:rPr>
              <a:t>print</a:t>
            </a:r>
            <a:r>
              <a:rPr lang="en-US" sz="1200" b="1" kern="1200" dirty="0">
                <a:solidFill>
                  <a:srgbClr val="000080"/>
                </a:solidFill>
                <a:latin typeface="+mn-lt"/>
              </a:rPr>
              <a:t>(</a:t>
            </a:r>
            <a:r>
              <a:rPr lang="en-US" sz="1200" kern="1200" dirty="0">
                <a:solidFill>
                  <a:srgbClr val="808080"/>
                </a:solidFill>
                <a:latin typeface="+mn-lt"/>
              </a:rPr>
              <a:t>"p.get_message(): "</a:t>
            </a:r>
            <a:r>
              <a:rPr lang="en-US" sz="1200" b="1" kern="1200" dirty="0">
                <a:solidFill>
                  <a:srgbClr val="000080"/>
                </a:solidFill>
                <a:latin typeface="+mn-lt"/>
              </a:rPr>
              <a:t>,</a:t>
            </a:r>
            <a:r>
              <a:rPr lang="en-US" sz="1200" kern="1200" dirty="0">
                <a:solidFill>
                  <a:srgbClr val="000000"/>
                </a:solidFill>
                <a:latin typeface="+mn-lt"/>
              </a:rPr>
              <a:t> msg</a:t>
            </a:r>
            <a:r>
              <a:rPr lang="en-US" sz="1200" b="1" kern="1200" dirty="0">
                <a:solidFill>
                  <a:srgbClr val="000080"/>
                </a:solidFill>
                <a:latin typeface="+mn-lt"/>
              </a:rPr>
              <a:t>)</a:t>
            </a:r>
            <a:r>
              <a:rPr lang="en-US" sz="1200" kern="1200" dirty="0">
                <a:solidFill>
                  <a:srgbClr val="000000"/>
                </a:solidFill>
                <a:latin typeface="+mn-lt"/>
              </a:rPr>
              <a:t> </a:t>
            </a:r>
          </a:p>
          <a:p>
            <a:pPr lvl="0" eaLnBrk="0" fontAlgn="base" hangingPunct="0">
              <a:spcBef>
                <a:spcPct val="0"/>
              </a:spcBef>
              <a:spcAft>
                <a:spcPct val="0"/>
              </a:spcAft>
              <a:buClrTx/>
              <a:buNone/>
              <a:defRPr/>
            </a:pPr>
            <a:r>
              <a:rPr lang="en-US" sz="1200" b="1" kern="1200" dirty="0">
                <a:solidFill>
                  <a:srgbClr val="000000"/>
                </a:solidFill>
                <a:latin typeface="+mn-lt"/>
              </a:rPr>
              <a:t>        </a:t>
            </a:r>
            <a:r>
              <a:rPr lang="en-US" sz="1200" b="1" kern="1200" dirty="0">
                <a:solidFill>
                  <a:srgbClr val="0000FF"/>
                </a:solidFill>
                <a:latin typeface="+mn-lt"/>
              </a:rPr>
              <a:t>break</a:t>
            </a:r>
            <a:endParaRPr lang="en-US" sz="1200" kern="1200" dirty="0">
              <a:solidFill>
                <a:srgbClr val="000000"/>
              </a:solidFill>
              <a:latin typeface="+mn-lt"/>
            </a:endParaRPr>
          </a:p>
        </p:txBody>
      </p:sp>
      <p:pic>
        <p:nvPicPr>
          <p:cNvPr id="8" name="Picture 2" descr="https://blog.rubrain.com/wp-content/uploads/2020/08/3-1.jpg">
            <a:extLst>
              <a:ext uri="{FF2B5EF4-FFF2-40B4-BE49-F238E27FC236}">
                <a16:creationId xmlns:a16="http://schemas.microsoft.com/office/drawing/2014/main" id="{428174DA-ECEE-4663-BEC1-624C82278A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841" r="25528"/>
          <a:stretch/>
        </p:blipFill>
        <p:spPr bwMode="auto">
          <a:xfrm>
            <a:off x="-143219" y="0"/>
            <a:ext cx="4572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9" name="Прямоугольник 8">
            <a:extLst>
              <a:ext uri="{FF2B5EF4-FFF2-40B4-BE49-F238E27FC236}">
                <a16:creationId xmlns:a16="http://schemas.microsoft.com/office/drawing/2014/main" id="{FF659AD8-5F22-46FB-B8C7-75DFB45DC6BD}"/>
              </a:ext>
            </a:extLst>
          </p:cNvPr>
          <p:cNvSpPr/>
          <p:nvPr/>
        </p:nvSpPr>
        <p:spPr>
          <a:xfrm>
            <a:off x="-143219" y="0"/>
            <a:ext cx="4572000" cy="5143500"/>
          </a:xfrm>
          <a:prstGeom prst="rect">
            <a:avLst/>
          </a:prstGeom>
          <a:gradFill>
            <a:gsLst>
              <a:gs pos="0">
                <a:schemeClr val="accent1">
                  <a:alpha val="60000"/>
                </a:schemeClr>
              </a:gs>
              <a:gs pos="100000">
                <a:schemeClr val="tx2">
                  <a:alpha val="6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Box 17">
            <a:extLst>
              <a:ext uri="{FF2B5EF4-FFF2-40B4-BE49-F238E27FC236}">
                <a16:creationId xmlns:a16="http://schemas.microsoft.com/office/drawing/2014/main" id="{C395706E-6585-475C-9C3C-2EC9DC4818D5}"/>
              </a:ext>
            </a:extLst>
          </p:cNvPr>
          <p:cNvSpPr txBox="1"/>
          <p:nvPr/>
        </p:nvSpPr>
        <p:spPr>
          <a:xfrm>
            <a:off x="279823" y="1999697"/>
            <a:ext cx="3743537" cy="646331"/>
          </a:xfrm>
          <a:prstGeom prst="rect">
            <a:avLst/>
          </a:prstGeom>
          <a:noFill/>
        </p:spPr>
        <p:txBody>
          <a:bodyPr wrap="square">
            <a:spAutoFit/>
          </a:bodyPr>
          <a:lstStyle/>
          <a:p>
            <a:r>
              <a:rPr lang="en-US" sz="3600" kern="1200" dirty="0" err="1">
                <a:solidFill>
                  <a:schemeClr val="bg1"/>
                </a:solidFill>
                <a:latin typeface="+mj-lt"/>
              </a:rPr>
              <a:t>redis</a:t>
            </a:r>
            <a:r>
              <a:rPr lang="en-US" sz="3600" kern="1200" dirty="0">
                <a:solidFill>
                  <a:schemeClr val="bg1"/>
                </a:solidFill>
                <a:latin typeface="+mj-lt"/>
              </a:rPr>
              <a:t>: </a:t>
            </a:r>
            <a:r>
              <a:rPr lang="ru-RU" sz="3600" kern="1200" dirty="0">
                <a:solidFill>
                  <a:schemeClr val="bg1"/>
                </a:solidFill>
                <a:latin typeface="+mj-lt"/>
              </a:rPr>
              <a:t>пример</a:t>
            </a:r>
            <a:endParaRPr lang="ru-RU" sz="3600" dirty="0">
              <a:solidFill>
                <a:schemeClr val="bg1"/>
              </a:solidFill>
              <a:latin typeface="+mj-lt"/>
            </a:endParaRPr>
          </a:p>
        </p:txBody>
      </p:sp>
    </p:spTree>
    <p:extLst>
      <p:ext uri="{BB962C8B-B14F-4D97-AF65-F5344CB8AC3E}">
        <p14:creationId xmlns:p14="http://schemas.microsoft.com/office/powerpoint/2010/main" val="38067456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7" name="Text Box 10">
            <a:extLst>
              <a:ext uri="{FF2B5EF4-FFF2-40B4-BE49-F238E27FC236}">
                <a16:creationId xmlns:a16="http://schemas.microsoft.com/office/drawing/2014/main" id="{A8A2EA8E-0F4B-4A88-9E9D-89B16F383367}"/>
              </a:ext>
            </a:extLst>
          </p:cNvPr>
          <p:cNvSpPr txBox="1">
            <a:spLocks noChangeArrowheads="1"/>
          </p:cNvSpPr>
          <p:nvPr/>
        </p:nvSpPr>
        <p:spPr bwMode="auto">
          <a:xfrm>
            <a:off x="4683319" y="389117"/>
            <a:ext cx="4333461" cy="436526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lvl="0" eaLnBrk="0" fontAlgn="base" hangingPunct="0">
              <a:spcBef>
                <a:spcPct val="0"/>
              </a:spcBef>
              <a:spcAft>
                <a:spcPct val="0"/>
              </a:spcAft>
              <a:buClrTx/>
              <a:buNone/>
              <a:defRPr/>
            </a:pPr>
            <a:r>
              <a:rPr lang="en-US" sz="1200" kern="1200" dirty="0">
                <a:solidFill>
                  <a:srgbClr val="000000"/>
                </a:solidFill>
                <a:latin typeface="+mn-lt"/>
                <a:cs typeface="Courier New" panose="02070309020205020404" pitchFamily="49" charset="0"/>
              </a:rPr>
              <a:t>r.get('name'):  b'John'</a:t>
            </a:r>
          </a:p>
          <a:p>
            <a:pPr lvl="0" eaLnBrk="0" fontAlgn="base" hangingPunct="0">
              <a:spcBef>
                <a:spcPct val="0"/>
              </a:spcBef>
              <a:spcAft>
                <a:spcPct val="0"/>
              </a:spcAft>
              <a:buClrTx/>
              <a:buNone/>
              <a:defRPr/>
            </a:pPr>
            <a:r>
              <a:rPr lang="en-US" sz="1200" kern="1200" dirty="0">
                <a:solidFill>
                  <a:srgbClr val="000000"/>
                </a:solidFill>
                <a:latin typeface="+mn-lt"/>
                <a:cs typeface="Courier New" panose="02070309020205020404" pitchFamily="49" charset="0"/>
              </a:rPr>
              <a:t>r.type('name'):  b'string'</a:t>
            </a:r>
          </a:p>
          <a:p>
            <a:pPr lvl="0" eaLnBrk="0" fontAlgn="base" hangingPunct="0">
              <a:spcBef>
                <a:spcPct val="0"/>
              </a:spcBef>
              <a:spcAft>
                <a:spcPct val="0"/>
              </a:spcAft>
              <a:buClrTx/>
              <a:buNone/>
              <a:defRPr/>
            </a:pPr>
            <a:r>
              <a:rPr lang="en-US" sz="1200" kern="1200" dirty="0">
                <a:solidFill>
                  <a:srgbClr val="000000"/>
                </a:solidFill>
                <a:latin typeface="+mn-lt"/>
                <a:cs typeface="Courier New" panose="02070309020205020404" pitchFamily="49" charset="0"/>
              </a:rPr>
              <a:t>r.get('name'):  None</a:t>
            </a:r>
          </a:p>
          <a:p>
            <a:pPr lvl="0" eaLnBrk="0" fontAlgn="base" hangingPunct="0">
              <a:spcBef>
                <a:spcPct val="0"/>
              </a:spcBef>
              <a:spcAft>
                <a:spcPct val="0"/>
              </a:spcAft>
              <a:buClrTx/>
              <a:buNone/>
              <a:defRPr/>
            </a:pPr>
            <a:r>
              <a:rPr lang="en-US" sz="1200" kern="1200" dirty="0">
                <a:solidFill>
                  <a:srgbClr val="000000"/>
                </a:solidFill>
                <a:latin typeface="+mn-lt"/>
                <a:cs typeface="Courier New" panose="02070309020205020404" pitchFamily="49" charset="0"/>
              </a:rPr>
              <a:t>r.get('my_int'):  b'2'</a:t>
            </a:r>
          </a:p>
          <a:p>
            <a:pPr lvl="0" eaLnBrk="0" fontAlgn="base" hangingPunct="0">
              <a:spcBef>
                <a:spcPct val="0"/>
              </a:spcBef>
              <a:spcAft>
                <a:spcPct val="0"/>
              </a:spcAft>
              <a:buClrTx/>
              <a:buNone/>
              <a:defRPr/>
            </a:pPr>
            <a:r>
              <a:rPr lang="en-US" sz="1200" kern="1200" dirty="0">
                <a:solidFill>
                  <a:srgbClr val="000000"/>
                </a:solidFill>
                <a:latin typeface="+mn-lt"/>
                <a:cs typeface="Courier New" panose="02070309020205020404" pitchFamily="49" charset="0"/>
              </a:rPr>
              <a:t>r.type('my_int'):  b'string'</a:t>
            </a:r>
          </a:p>
          <a:p>
            <a:pPr lvl="0" eaLnBrk="0" fontAlgn="base" hangingPunct="0">
              <a:spcBef>
                <a:spcPct val="0"/>
              </a:spcBef>
              <a:spcAft>
                <a:spcPct val="0"/>
              </a:spcAft>
              <a:buClrTx/>
              <a:buNone/>
              <a:defRPr/>
            </a:pPr>
            <a:r>
              <a:rPr lang="en-US" sz="1200" kern="1200" dirty="0">
                <a:solidFill>
                  <a:srgbClr val="000000"/>
                </a:solidFill>
                <a:latin typeface="+mn-lt"/>
                <a:cs typeface="Courier New" panose="02070309020205020404" pitchFamily="49" charset="0"/>
              </a:rPr>
              <a:t>r.incr('my_int'):  3</a:t>
            </a:r>
          </a:p>
          <a:p>
            <a:pPr lvl="0" eaLnBrk="0" fontAlgn="base" hangingPunct="0">
              <a:spcBef>
                <a:spcPct val="0"/>
              </a:spcBef>
              <a:spcAft>
                <a:spcPct val="0"/>
              </a:spcAft>
              <a:buClrTx/>
              <a:buNone/>
              <a:defRPr/>
            </a:pPr>
            <a:r>
              <a:rPr lang="en-US" sz="1200" kern="1200" dirty="0">
                <a:solidFill>
                  <a:srgbClr val="000000"/>
                </a:solidFill>
                <a:latin typeface="+mn-lt"/>
                <a:cs typeface="Courier New" panose="02070309020205020404" pitchFamily="49" charset="0"/>
              </a:rPr>
              <a:t>r.exists('my_int'):  1</a:t>
            </a:r>
          </a:p>
          <a:p>
            <a:pPr lvl="0" eaLnBrk="0" fontAlgn="base" hangingPunct="0">
              <a:spcBef>
                <a:spcPct val="0"/>
              </a:spcBef>
              <a:spcAft>
                <a:spcPct val="0"/>
              </a:spcAft>
              <a:buClrTx/>
              <a:buNone/>
              <a:defRPr/>
            </a:pPr>
            <a:r>
              <a:rPr lang="en-US" sz="1200" kern="1200" dirty="0">
                <a:solidFill>
                  <a:srgbClr val="000000"/>
                </a:solidFill>
                <a:latin typeface="+mn-lt"/>
                <a:cs typeface="Courier New" panose="02070309020205020404" pitchFamily="49" charset="0"/>
              </a:rPr>
              <a:t>r.ttl('temp_value'):  5</a:t>
            </a:r>
          </a:p>
          <a:p>
            <a:pPr lvl="0" eaLnBrk="0" fontAlgn="base" hangingPunct="0">
              <a:spcBef>
                <a:spcPct val="0"/>
              </a:spcBef>
              <a:spcAft>
                <a:spcPct val="0"/>
              </a:spcAft>
              <a:buClrTx/>
              <a:buNone/>
              <a:defRPr/>
            </a:pPr>
            <a:r>
              <a:rPr lang="en-US" sz="1200" kern="1200" dirty="0">
                <a:solidFill>
                  <a:srgbClr val="000000"/>
                </a:solidFill>
                <a:latin typeface="+mn-lt"/>
                <a:cs typeface="Courier New" panose="02070309020205020404" pitchFamily="49" charset="0"/>
              </a:rPr>
              <a:t>r.get('temp_value'):  b'value'</a:t>
            </a:r>
          </a:p>
          <a:p>
            <a:pPr lvl="0" eaLnBrk="0" fontAlgn="base" hangingPunct="0">
              <a:spcBef>
                <a:spcPct val="0"/>
              </a:spcBef>
              <a:spcAft>
                <a:spcPct val="0"/>
              </a:spcAft>
              <a:buClrTx/>
              <a:buNone/>
              <a:defRPr/>
            </a:pPr>
            <a:r>
              <a:rPr lang="en-US" sz="1200" kern="1200" dirty="0">
                <a:solidFill>
                  <a:srgbClr val="000000"/>
                </a:solidFill>
                <a:latin typeface="+mn-lt"/>
                <a:cs typeface="Courier New" panose="02070309020205020404" pitchFamily="49" charset="0"/>
              </a:rPr>
              <a:t>After 5 seconds...</a:t>
            </a:r>
          </a:p>
          <a:p>
            <a:pPr lvl="0" eaLnBrk="0" fontAlgn="base" hangingPunct="0">
              <a:spcBef>
                <a:spcPct val="0"/>
              </a:spcBef>
              <a:spcAft>
                <a:spcPct val="0"/>
              </a:spcAft>
              <a:buClrTx/>
              <a:buNone/>
              <a:defRPr/>
            </a:pPr>
            <a:r>
              <a:rPr lang="en-US" sz="1200" kern="1200" dirty="0">
                <a:solidFill>
                  <a:srgbClr val="000000"/>
                </a:solidFill>
                <a:latin typeface="+mn-lt"/>
                <a:cs typeface="Courier New" panose="02070309020205020404" pitchFamily="49" charset="0"/>
              </a:rPr>
              <a:t>r.ttl('temp_value'):  -2</a:t>
            </a:r>
          </a:p>
          <a:p>
            <a:pPr lvl="0" eaLnBrk="0" fontAlgn="base" hangingPunct="0">
              <a:spcBef>
                <a:spcPct val="0"/>
              </a:spcBef>
              <a:spcAft>
                <a:spcPct val="0"/>
              </a:spcAft>
              <a:buClrTx/>
              <a:buNone/>
              <a:defRPr/>
            </a:pPr>
            <a:r>
              <a:rPr lang="en-US" sz="1200" kern="1200" dirty="0">
                <a:solidFill>
                  <a:srgbClr val="000000"/>
                </a:solidFill>
                <a:latin typeface="+mn-lt"/>
                <a:cs typeface="Courier New" panose="02070309020205020404" pitchFamily="49" charset="0"/>
              </a:rPr>
              <a:t>r.get('temp_value'):  None</a:t>
            </a:r>
          </a:p>
          <a:p>
            <a:pPr lvl="0" eaLnBrk="0" fontAlgn="base" hangingPunct="0">
              <a:spcBef>
                <a:spcPct val="0"/>
              </a:spcBef>
              <a:spcAft>
                <a:spcPct val="0"/>
              </a:spcAft>
              <a:buClrTx/>
              <a:buNone/>
              <a:defRPr/>
            </a:pPr>
            <a:r>
              <a:rPr lang="en-US" sz="1200" kern="1200" dirty="0">
                <a:solidFill>
                  <a:srgbClr val="000000"/>
                </a:solidFill>
                <a:latin typeface="+mn-lt"/>
                <a:cs typeface="Courier New" panose="02070309020205020404" pitchFamily="49" charset="0"/>
              </a:rPr>
              <a:t>r.exists('temp_value'):  0</a:t>
            </a:r>
          </a:p>
          <a:p>
            <a:pPr lvl="0" eaLnBrk="0" fontAlgn="base" hangingPunct="0">
              <a:spcBef>
                <a:spcPct val="0"/>
              </a:spcBef>
              <a:spcAft>
                <a:spcPct val="0"/>
              </a:spcAft>
              <a:buClrTx/>
              <a:buNone/>
              <a:defRPr/>
            </a:pPr>
            <a:r>
              <a:rPr lang="en-US" sz="1200" kern="1200" dirty="0">
                <a:solidFill>
                  <a:srgbClr val="000000"/>
                </a:solidFill>
                <a:latin typeface="+mn-lt"/>
                <a:cs typeface="Courier New" panose="02070309020205020404" pitchFamily="49" charset="0"/>
              </a:rPr>
              <a:t>r.hget('user:1', 'name'):  b'John'</a:t>
            </a:r>
          </a:p>
          <a:p>
            <a:pPr lvl="0" eaLnBrk="0" fontAlgn="base" hangingPunct="0">
              <a:spcBef>
                <a:spcPct val="0"/>
              </a:spcBef>
              <a:spcAft>
                <a:spcPct val="0"/>
              </a:spcAft>
              <a:buClrTx/>
              <a:buNone/>
              <a:defRPr/>
            </a:pPr>
            <a:r>
              <a:rPr lang="en-US" sz="1200" kern="1200" dirty="0">
                <a:solidFill>
                  <a:srgbClr val="000000"/>
                </a:solidFill>
                <a:latin typeface="+mn-lt"/>
                <a:cs typeface="Courier New" panose="02070309020205020404" pitchFamily="49" charset="0"/>
              </a:rPr>
              <a:t>r.hkeys('user:1'):  [b'name', b'email']</a:t>
            </a:r>
          </a:p>
          <a:p>
            <a:pPr lvl="0" eaLnBrk="0" fontAlgn="base" hangingPunct="0">
              <a:spcBef>
                <a:spcPct val="0"/>
              </a:spcBef>
              <a:spcAft>
                <a:spcPct val="0"/>
              </a:spcAft>
              <a:buClrTx/>
              <a:buNone/>
              <a:defRPr/>
            </a:pPr>
            <a:r>
              <a:rPr lang="en-US" sz="1200" kern="1200" dirty="0">
                <a:solidFill>
                  <a:srgbClr val="000000"/>
                </a:solidFill>
                <a:latin typeface="+mn-lt"/>
                <a:cs typeface="Courier New" panose="02070309020205020404" pitchFamily="49" charset="0"/>
              </a:rPr>
              <a:t>r.hgetall('user:1'):  {b'name': b'John', b'email': b'john@gmail.com'}</a:t>
            </a:r>
          </a:p>
          <a:p>
            <a:pPr lvl="0" eaLnBrk="0" fontAlgn="base" hangingPunct="0">
              <a:spcBef>
                <a:spcPct val="0"/>
              </a:spcBef>
              <a:spcAft>
                <a:spcPct val="0"/>
              </a:spcAft>
              <a:buClrTx/>
              <a:buNone/>
              <a:defRPr/>
            </a:pPr>
            <a:r>
              <a:rPr lang="en-US" sz="1200" kern="1200" dirty="0">
                <a:solidFill>
                  <a:srgbClr val="000000"/>
                </a:solidFill>
                <a:latin typeface="+mn-lt"/>
                <a:cs typeface="Courier New" panose="02070309020205020404" pitchFamily="49" charset="0"/>
              </a:rPr>
              <a:t>r.llen('my_list'):  0</a:t>
            </a:r>
          </a:p>
          <a:p>
            <a:pPr lvl="0" eaLnBrk="0" fontAlgn="base" hangingPunct="0">
              <a:spcBef>
                <a:spcPct val="0"/>
              </a:spcBef>
              <a:spcAft>
                <a:spcPct val="0"/>
              </a:spcAft>
              <a:buClrTx/>
              <a:buNone/>
              <a:defRPr/>
            </a:pPr>
            <a:r>
              <a:rPr lang="en-US" sz="1200" kern="1200" dirty="0">
                <a:solidFill>
                  <a:srgbClr val="000000"/>
                </a:solidFill>
                <a:latin typeface="+mn-lt"/>
                <a:cs typeface="Courier New" panose="02070309020205020404" pitchFamily="49" charset="0"/>
              </a:rPr>
              <a:t>r.lindex('my_list', 0):  b'elem1'</a:t>
            </a:r>
          </a:p>
          <a:p>
            <a:pPr lvl="0" eaLnBrk="0" fontAlgn="base" hangingPunct="0">
              <a:spcBef>
                <a:spcPct val="0"/>
              </a:spcBef>
              <a:spcAft>
                <a:spcPct val="0"/>
              </a:spcAft>
              <a:buClrTx/>
              <a:buNone/>
              <a:defRPr/>
            </a:pPr>
            <a:r>
              <a:rPr lang="en-US" sz="1200" kern="1200" dirty="0">
                <a:solidFill>
                  <a:srgbClr val="000000"/>
                </a:solidFill>
                <a:latin typeface="+mn-lt"/>
                <a:cs typeface="Courier New" panose="02070309020205020404" pitchFamily="49" charset="0"/>
              </a:rPr>
              <a:t>r.lrange('my_list', 1, 3):  [b'elem2', b'elem3', b'elem4']</a:t>
            </a:r>
          </a:p>
          <a:p>
            <a:pPr lvl="0" eaLnBrk="0" fontAlgn="base" hangingPunct="0">
              <a:spcBef>
                <a:spcPct val="0"/>
              </a:spcBef>
              <a:spcAft>
                <a:spcPct val="0"/>
              </a:spcAft>
              <a:buClrTx/>
              <a:buNone/>
              <a:defRPr/>
            </a:pPr>
            <a:r>
              <a:rPr lang="en-US" sz="1200" kern="1200" dirty="0">
                <a:solidFill>
                  <a:srgbClr val="000000"/>
                </a:solidFill>
                <a:latin typeface="+mn-lt"/>
                <a:cs typeface="Courier New" panose="02070309020205020404" pitchFamily="49" charset="0"/>
              </a:rPr>
              <a:t>p.get_message():  None</a:t>
            </a:r>
          </a:p>
          <a:p>
            <a:pPr lvl="0" eaLnBrk="0" fontAlgn="base" hangingPunct="0">
              <a:spcBef>
                <a:spcPct val="0"/>
              </a:spcBef>
              <a:spcAft>
                <a:spcPct val="0"/>
              </a:spcAft>
              <a:buClrTx/>
              <a:buNone/>
              <a:defRPr/>
            </a:pPr>
            <a:r>
              <a:rPr lang="en-US" sz="1200" kern="1200" dirty="0">
                <a:solidFill>
                  <a:srgbClr val="000000"/>
                </a:solidFill>
                <a:latin typeface="+mn-lt"/>
                <a:cs typeface="Courier New" panose="02070309020205020404" pitchFamily="49" charset="0"/>
              </a:rPr>
              <a:t>p.get_message():  {'type': 'message', 'pattern': None, 'channel': b'my-chat', 'data': b'user: Hello!'}</a:t>
            </a:r>
            <a:endParaRPr lang="ru-RU" sz="1200" kern="1200" dirty="0">
              <a:solidFill>
                <a:srgbClr val="000000"/>
              </a:solidFill>
              <a:latin typeface="+mn-lt"/>
              <a:cs typeface="Courier New" panose="02070309020205020404" pitchFamily="49" charset="0"/>
            </a:endParaRPr>
          </a:p>
        </p:txBody>
      </p:sp>
      <p:pic>
        <p:nvPicPr>
          <p:cNvPr id="8" name="Picture 2" descr="https://blog.rubrain.com/wp-content/uploads/2020/08/3-1.jpg">
            <a:extLst>
              <a:ext uri="{FF2B5EF4-FFF2-40B4-BE49-F238E27FC236}">
                <a16:creationId xmlns:a16="http://schemas.microsoft.com/office/drawing/2014/main" id="{428174DA-ECEE-4663-BEC1-624C82278A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841" r="25528"/>
          <a:stretch/>
        </p:blipFill>
        <p:spPr bwMode="auto">
          <a:xfrm>
            <a:off x="-143219" y="0"/>
            <a:ext cx="4572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9" name="Прямоугольник 8">
            <a:extLst>
              <a:ext uri="{FF2B5EF4-FFF2-40B4-BE49-F238E27FC236}">
                <a16:creationId xmlns:a16="http://schemas.microsoft.com/office/drawing/2014/main" id="{FF659AD8-5F22-46FB-B8C7-75DFB45DC6BD}"/>
              </a:ext>
            </a:extLst>
          </p:cNvPr>
          <p:cNvSpPr/>
          <p:nvPr/>
        </p:nvSpPr>
        <p:spPr>
          <a:xfrm>
            <a:off x="-143219" y="0"/>
            <a:ext cx="4572000" cy="5143500"/>
          </a:xfrm>
          <a:prstGeom prst="rect">
            <a:avLst/>
          </a:prstGeom>
          <a:gradFill>
            <a:gsLst>
              <a:gs pos="0">
                <a:schemeClr val="accent1">
                  <a:alpha val="60000"/>
                </a:schemeClr>
              </a:gs>
              <a:gs pos="100000">
                <a:schemeClr val="tx2">
                  <a:alpha val="6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Box 17">
            <a:extLst>
              <a:ext uri="{FF2B5EF4-FFF2-40B4-BE49-F238E27FC236}">
                <a16:creationId xmlns:a16="http://schemas.microsoft.com/office/drawing/2014/main" id="{C395706E-6585-475C-9C3C-2EC9DC4818D5}"/>
              </a:ext>
            </a:extLst>
          </p:cNvPr>
          <p:cNvSpPr txBox="1"/>
          <p:nvPr/>
        </p:nvSpPr>
        <p:spPr>
          <a:xfrm>
            <a:off x="279823" y="1856574"/>
            <a:ext cx="3743537" cy="1200329"/>
          </a:xfrm>
          <a:prstGeom prst="rect">
            <a:avLst/>
          </a:prstGeom>
          <a:noFill/>
        </p:spPr>
        <p:txBody>
          <a:bodyPr wrap="square">
            <a:spAutoFit/>
          </a:bodyPr>
          <a:lstStyle/>
          <a:p>
            <a:r>
              <a:rPr lang="en-US" sz="3600" kern="1200" dirty="0">
                <a:solidFill>
                  <a:schemeClr val="bg1"/>
                </a:solidFill>
                <a:latin typeface="+mj-lt"/>
              </a:rPr>
              <a:t>redis: </a:t>
            </a:r>
            <a:r>
              <a:rPr lang="ru-RU" sz="3600" kern="1200" dirty="0">
                <a:solidFill>
                  <a:schemeClr val="bg1"/>
                </a:solidFill>
                <a:latin typeface="+mj-lt"/>
              </a:rPr>
              <a:t>тестовый вывод</a:t>
            </a:r>
            <a:endParaRPr lang="ru-RU" sz="3600" dirty="0">
              <a:solidFill>
                <a:schemeClr val="bg1"/>
              </a:solidFill>
              <a:latin typeface="+mj-lt"/>
            </a:endParaRPr>
          </a:p>
        </p:txBody>
      </p:sp>
    </p:spTree>
    <p:extLst>
      <p:ext uri="{BB962C8B-B14F-4D97-AF65-F5344CB8AC3E}">
        <p14:creationId xmlns:p14="http://schemas.microsoft.com/office/powerpoint/2010/main" val="23730280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 name="Прямоугольник 2"/>
          <p:cNvSpPr/>
          <p:nvPr/>
        </p:nvSpPr>
        <p:spPr>
          <a:xfrm>
            <a:off x="0" y="1229590"/>
            <a:ext cx="9144000" cy="1950931"/>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Box 17">
            <a:extLst>
              <a:ext uri="{FF2B5EF4-FFF2-40B4-BE49-F238E27FC236}">
                <a16:creationId xmlns:a16="http://schemas.microsoft.com/office/drawing/2014/main" id="{C395706E-6585-475C-9C3C-2EC9DC4818D5}"/>
              </a:ext>
            </a:extLst>
          </p:cNvPr>
          <p:cNvSpPr txBox="1"/>
          <p:nvPr/>
        </p:nvSpPr>
        <p:spPr>
          <a:xfrm>
            <a:off x="549105" y="253416"/>
            <a:ext cx="6834296" cy="769441"/>
          </a:xfrm>
          <a:prstGeom prst="rect">
            <a:avLst/>
          </a:prstGeom>
          <a:noFill/>
        </p:spPr>
        <p:txBody>
          <a:bodyPr wrap="square">
            <a:spAutoFit/>
          </a:bodyPr>
          <a:lstStyle/>
          <a:p>
            <a:r>
              <a:rPr lang="en-US" sz="4400" kern="1200" dirty="0">
                <a:solidFill>
                  <a:schemeClr val="accent3"/>
                </a:solidFill>
                <a:latin typeface="+mj-lt"/>
              </a:rPr>
              <a:t>ScyllaDB</a:t>
            </a:r>
            <a:endParaRPr lang="ru-RU" sz="4400" dirty="0">
              <a:solidFill>
                <a:schemeClr val="accent3"/>
              </a:solidFill>
              <a:latin typeface="+mj-lt"/>
            </a:endParaRPr>
          </a:p>
        </p:txBody>
      </p:sp>
      <p:sp>
        <p:nvSpPr>
          <p:cNvPr id="2" name="Прямоугольник 1"/>
          <p:cNvSpPr/>
          <p:nvPr/>
        </p:nvSpPr>
        <p:spPr>
          <a:xfrm>
            <a:off x="549104" y="1311674"/>
            <a:ext cx="8101915" cy="3200876"/>
          </a:xfrm>
          <a:prstGeom prst="rect">
            <a:avLst/>
          </a:prstGeom>
        </p:spPr>
        <p:txBody>
          <a:bodyPr wrap="square">
            <a:spAutoFit/>
          </a:bodyPr>
          <a:lstStyle/>
          <a:p>
            <a:pPr eaLnBrk="1" hangingPunct="1">
              <a:spcBef>
                <a:spcPts val="600"/>
              </a:spcBef>
              <a:spcAft>
                <a:spcPts val="600"/>
              </a:spcAft>
              <a:buNone/>
            </a:pPr>
            <a:r>
              <a:rPr lang="en-US" sz="2000" b="1" dirty="0">
                <a:solidFill>
                  <a:schemeClr val="accent3"/>
                </a:solidFill>
                <a:latin typeface="+mn-lt"/>
              </a:rPr>
              <a:t>Scylla</a:t>
            </a:r>
            <a:r>
              <a:rPr lang="en-US" sz="1800" dirty="0">
                <a:solidFill>
                  <a:schemeClr val="tx1"/>
                </a:solidFill>
                <a:latin typeface="+mn-lt"/>
              </a:rPr>
              <a:t> – </a:t>
            </a:r>
            <a:r>
              <a:rPr lang="ru-RU" sz="1800" dirty="0">
                <a:solidFill>
                  <a:schemeClr val="tx1"/>
                </a:solidFill>
                <a:latin typeface="+mn-lt"/>
              </a:rPr>
              <a:t>колоночная распределенная база данных с открытым исходным кодом, реализованная на </a:t>
            </a:r>
            <a:r>
              <a:rPr lang="en-US" sz="1800" dirty="0">
                <a:solidFill>
                  <a:schemeClr val="tx1"/>
                </a:solidFill>
                <a:latin typeface="+mn-lt"/>
              </a:rPr>
              <a:t>C </a:t>
            </a:r>
            <a:r>
              <a:rPr lang="ru-RU" sz="1800" dirty="0">
                <a:solidFill>
                  <a:schemeClr val="tx1"/>
                </a:solidFill>
                <a:latin typeface="+mn-lt"/>
              </a:rPr>
              <a:t>с использованием библиотеки асинхронного программирования </a:t>
            </a:r>
            <a:r>
              <a:rPr lang="en-US" sz="1800" dirty="0">
                <a:solidFill>
                  <a:schemeClr val="tx1"/>
                </a:solidFill>
                <a:latin typeface="+mn-lt"/>
              </a:rPr>
              <a:t>Seastar</a:t>
            </a:r>
            <a:r>
              <a:rPr lang="ru-RU" sz="1800" dirty="0">
                <a:solidFill>
                  <a:schemeClr val="tx1"/>
                </a:solidFill>
                <a:latin typeface="+mn-lt"/>
              </a:rPr>
              <a:t>. Дизайн, концепций, технологии унаследованы от</a:t>
            </a:r>
            <a:r>
              <a:rPr lang="en-US" sz="1800" dirty="0">
                <a:solidFill>
                  <a:schemeClr val="tx1"/>
                </a:solidFill>
                <a:latin typeface="+mn-lt"/>
              </a:rPr>
              <a:t> </a:t>
            </a:r>
            <a:r>
              <a:rPr lang="ru-RU" sz="1800" dirty="0">
                <a:solidFill>
                  <a:schemeClr val="tx1"/>
                </a:solidFill>
                <a:latin typeface="+mn-lt"/>
              </a:rPr>
              <a:t>популярной колоночной базы данных </a:t>
            </a:r>
            <a:r>
              <a:rPr lang="en-US" sz="1800" dirty="0">
                <a:solidFill>
                  <a:schemeClr val="tx1"/>
                </a:solidFill>
                <a:latin typeface="+mn-lt"/>
              </a:rPr>
              <a:t>Cassandra, </a:t>
            </a:r>
            <a:r>
              <a:rPr lang="ru-RU" sz="1800" dirty="0">
                <a:solidFill>
                  <a:schemeClr val="tx1"/>
                </a:solidFill>
                <a:latin typeface="+mn-lt"/>
              </a:rPr>
              <a:t>написанной на </a:t>
            </a:r>
            <a:r>
              <a:rPr lang="en-US" sz="1800" dirty="0">
                <a:solidFill>
                  <a:schemeClr val="tx1"/>
                </a:solidFill>
                <a:latin typeface="+mn-lt"/>
              </a:rPr>
              <a:t>Java.</a:t>
            </a:r>
            <a:r>
              <a:rPr lang="ru-RU" sz="1800" dirty="0">
                <a:solidFill>
                  <a:schemeClr val="tx1"/>
                </a:solidFill>
                <a:latin typeface="+mn-lt"/>
              </a:rPr>
              <a:t> </a:t>
            </a:r>
            <a:r>
              <a:rPr lang="en-US" sz="1800" dirty="0">
                <a:solidFill>
                  <a:schemeClr val="tx1"/>
                </a:solidFill>
                <a:latin typeface="+mn-lt"/>
              </a:rPr>
              <a:t>Cassandra, </a:t>
            </a:r>
            <a:r>
              <a:rPr lang="ru-RU" sz="1800" dirty="0">
                <a:solidFill>
                  <a:schemeClr val="tx1"/>
                </a:solidFill>
                <a:latin typeface="+mn-lt"/>
              </a:rPr>
              <a:t>в свою очередь, позаимствовала дизайн у</a:t>
            </a:r>
            <a:r>
              <a:rPr lang="en-US" sz="1800" dirty="0">
                <a:solidFill>
                  <a:schemeClr val="tx1"/>
                </a:solidFill>
                <a:latin typeface="+mn-lt"/>
              </a:rPr>
              <a:t> Amazon Dynamo</a:t>
            </a:r>
            <a:r>
              <a:rPr lang="ru-RU" sz="1800" dirty="0">
                <a:solidFill>
                  <a:schemeClr val="tx1"/>
                </a:solidFill>
                <a:latin typeface="+mn-lt"/>
              </a:rPr>
              <a:t>, а модели данных – у </a:t>
            </a:r>
            <a:r>
              <a:rPr lang="en-US" sz="1800" dirty="0">
                <a:solidFill>
                  <a:schemeClr val="tx1"/>
                </a:solidFill>
                <a:latin typeface="+mn-lt"/>
              </a:rPr>
              <a:t>Google BigTable</a:t>
            </a:r>
            <a:r>
              <a:rPr lang="ru-RU" sz="1800" dirty="0">
                <a:solidFill>
                  <a:schemeClr val="tx1"/>
                </a:solidFill>
                <a:latin typeface="+mn-lt"/>
              </a:rPr>
              <a:t>.</a:t>
            </a:r>
            <a:endParaRPr lang="en-US" sz="1800" dirty="0">
              <a:solidFill>
                <a:schemeClr val="tx1"/>
              </a:solidFill>
              <a:latin typeface="+mn-lt"/>
            </a:endParaRPr>
          </a:p>
          <a:p>
            <a:pPr eaLnBrk="1" hangingPunct="1">
              <a:spcBef>
                <a:spcPts val="600"/>
              </a:spcBef>
              <a:spcAft>
                <a:spcPts val="600"/>
              </a:spcAft>
              <a:buNone/>
            </a:pPr>
            <a:endParaRPr lang="en-US" sz="1800" dirty="0">
              <a:solidFill>
                <a:schemeClr val="tx1"/>
              </a:solidFill>
              <a:latin typeface="+mn-lt"/>
            </a:endParaRPr>
          </a:p>
          <a:p>
            <a:pPr eaLnBrk="1" hangingPunct="1">
              <a:spcBef>
                <a:spcPts val="600"/>
              </a:spcBef>
              <a:spcAft>
                <a:spcPts val="600"/>
              </a:spcAft>
              <a:buNone/>
            </a:pPr>
            <a:r>
              <a:rPr lang="ru-RU" sz="1800" dirty="0">
                <a:solidFill>
                  <a:schemeClr val="tx1"/>
                </a:solidFill>
                <a:latin typeface="+mn-lt"/>
              </a:rPr>
              <a:t>Для установки сервера </a:t>
            </a:r>
            <a:r>
              <a:rPr lang="en-US" sz="1800" dirty="0">
                <a:solidFill>
                  <a:schemeClr val="tx1"/>
                </a:solidFill>
                <a:latin typeface="+mn-lt"/>
              </a:rPr>
              <a:t>Scylla</a:t>
            </a:r>
            <a:r>
              <a:rPr lang="ru-RU" sz="1800" dirty="0">
                <a:solidFill>
                  <a:schemeClr val="tx1"/>
                </a:solidFill>
                <a:latin typeface="+mn-lt"/>
              </a:rPr>
              <a:t> необходимо зайти на </a:t>
            </a:r>
            <a:r>
              <a:rPr lang="en-US" sz="1800" dirty="0">
                <a:solidFill>
                  <a:schemeClr val="tx1"/>
                </a:solidFill>
                <a:latin typeface="+mn-lt"/>
                <a:hlinkClick r:id="rId3"/>
              </a:rPr>
              <a:t>https://www.scylladb.com/download/#server</a:t>
            </a:r>
            <a:r>
              <a:rPr lang="ru-RU" sz="1800" dirty="0">
                <a:solidFill>
                  <a:schemeClr val="tx1"/>
                </a:solidFill>
                <a:latin typeface="+mn-lt"/>
              </a:rPr>
              <a:t>, выбрать ОС и версию </a:t>
            </a:r>
            <a:r>
              <a:rPr lang="en-US" sz="1800" dirty="0">
                <a:solidFill>
                  <a:schemeClr val="tx1"/>
                </a:solidFill>
                <a:latin typeface="+mn-lt"/>
              </a:rPr>
              <a:t>Scylla</a:t>
            </a:r>
            <a:r>
              <a:rPr lang="ru-RU" sz="1800" dirty="0">
                <a:solidFill>
                  <a:schemeClr val="tx1"/>
                </a:solidFill>
                <a:latin typeface="+mn-lt"/>
              </a:rPr>
              <a:t> и следовать инструкциям по установке.</a:t>
            </a:r>
          </a:p>
        </p:txBody>
      </p:sp>
    </p:spTree>
    <p:extLst>
      <p:ext uri="{BB962C8B-B14F-4D97-AF65-F5344CB8AC3E}">
        <p14:creationId xmlns:p14="http://schemas.microsoft.com/office/powerpoint/2010/main" val="39121069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549105" y="547615"/>
            <a:ext cx="6834296" cy="769441"/>
          </a:xfrm>
          <a:prstGeom prst="rect">
            <a:avLst/>
          </a:prstGeom>
          <a:noFill/>
        </p:spPr>
        <p:txBody>
          <a:bodyPr wrap="square">
            <a:spAutoFit/>
          </a:bodyPr>
          <a:lstStyle/>
          <a:p>
            <a:r>
              <a:rPr lang="en-US" sz="4400" kern="1200" dirty="0">
                <a:solidFill>
                  <a:schemeClr val="accent3"/>
                </a:solidFill>
                <a:latin typeface="+mj-lt"/>
              </a:rPr>
              <a:t>ScyllaDB</a:t>
            </a:r>
            <a:endParaRPr lang="ru-RU" sz="4400" dirty="0">
              <a:solidFill>
                <a:schemeClr val="accent3"/>
              </a:solidFill>
              <a:latin typeface="+mj-lt"/>
            </a:endParaRPr>
          </a:p>
        </p:txBody>
      </p:sp>
      <p:sp>
        <p:nvSpPr>
          <p:cNvPr id="2" name="Прямоугольник 1"/>
          <p:cNvSpPr/>
          <p:nvPr/>
        </p:nvSpPr>
        <p:spPr>
          <a:xfrm>
            <a:off x="549104" y="1486603"/>
            <a:ext cx="8101915" cy="2923877"/>
          </a:xfrm>
          <a:prstGeom prst="rect">
            <a:avLst/>
          </a:prstGeom>
        </p:spPr>
        <p:txBody>
          <a:bodyPr wrap="square">
            <a:spAutoFit/>
          </a:bodyPr>
          <a:lstStyle/>
          <a:p>
            <a:pPr eaLnBrk="1" hangingPunct="1">
              <a:spcBef>
                <a:spcPts val="600"/>
              </a:spcBef>
              <a:spcAft>
                <a:spcPts val="600"/>
              </a:spcAft>
              <a:buNone/>
            </a:pPr>
            <a:r>
              <a:rPr lang="ru-RU" dirty="0">
                <a:solidFill>
                  <a:schemeClr val="tx1"/>
                </a:solidFill>
                <a:latin typeface="+mn-lt"/>
              </a:rPr>
              <a:t>Данные в Scylla размещаются на нескольких вычислительных узлах, объединенных в кластер, который можно представить в виде кольца. </a:t>
            </a:r>
          </a:p>
          <a:p>
            <a:pPr eaLnBrk="1" hangingPunct="1">
              <a:spcBef>
                <a:spcPts val="600"/>
              </a:spcBef>
              <a:spcAft>
                <a:spcPts val="600"/>
              </a:spcAft>
              <a:buNone/>
            </a:pPr>
            <a:r>
              <a:rPr lang="ru-RU" dirty="0">
                <a:solidFill>
                  <a:schemeClr val="tx1"/>
                </a:solidFill>
                <a:latin typeface="+mn-lt"/>
              </a:rPr>
              <a:t>Логически данные объединены в </a:t>
            </a:r>
            <a:r>
              <a:rPr lang="ru-RU" b="1" dirty="0">
                <a:solidFill>
                  <a:schemeClr val="tx1"/>
                </a:solidFill>
                <a:latin typeface="+mn-lt"/>
              </a:rPr>
              <a:t>кейспейсы</a:t>
            </a:r>
            <a:r>
              <a:rPr lang="ru-RU" dirty="0">
                <a:solidFill>
                  <a:schemeClr val="tx1"/>
                </a:solidFill>
                <a:latin typeface="+mn-lt"/>
              </a:rPr>
              <a:t> (keyspace, аналог базы данных в SQL) – наборы таблиц с атрибутами, определяющими, как таблицы физически распределяются по узлам.</a:t>
            </a:r>
          </a:p>
          <a:p>
            <a:pPr eaLnBrk="1" hangingPunct="1">
              <a:spcBef>
                <a:spcPts val="600"/>
              </a:spcBef>
              <a:spcAft>
                <a:spcPts val="600"/>
              </a:spcAft>
              <a:buNone/>
            </a:pPr>
            <a:r>
              <a:rPr lang="ru-RU" b="1" dirty="0">
                <a:solidFill>
                  <a:schemeClr val="tx1"/>
                </a:solidFill>
                <a:latin typeface="+mn-lt"/>
              </a:rPr>
              <a:t>Таблица</a:t>
            </a:r>
            <a:r>
              <a:rPr lang="ru-RU" dirty="0">
                <a:solidFill>
                  <a:schemeClr val="tx1"/>
                </a:solidFill>
                <a:latin typeface="+mn-lt"/>
              </a:rPr>
              <a:t> – стандартный набор столбцов и строк, определяемый схемой. Каждая строка в таблице должна иметь уникальный идентификатор – первичный ключ (primary key). </a:t>
            </a:r>
          </a:p>
          <a:p>
            <a:pPr eaLnBrk="1" hangingPunct="1">
              <a:spcBef>
                <a:spcPts val="600"/>
              </a:spcBef>
              <a:spcAft>
                <a:spcPts val="600"/>
              </a:spcAft>
              <a:buNone/>
            </a:pPr>
            <a:r>
              <a:rPr lang="ru-RU" dirty="0">
                <a:solidFill>
                  <a:schemeClr val="tx1"/>
                </a:solidFill>
                <a:latin typeface="+mn-lt"/>
              </a:rPr>
              <a:t>Строки таблицы (записи) физически распределяются по узлам путем применения хэш-функции (по умолчанию используется алгоритм Murmur3) к первичному ключу. Функция возвращает ключ партиции (partition key) – идентификатор набора записей на узле. По ключу партиции, исходя из количества активных узлов, рассчитывается токен – т.е. идентификатор узла, на котором должна храниться запись.</a:t>
            </a:r>
          </a:p>
        </p:txBody>
      </p:sp>
    </p:spTree>
    <p:extLst>
      <p:ext uri="{BB962C8B-B14F-4D97-AF65-F5344CB8AC3E}">
        <p14:creationId xmlns:p14="http://schemas.microsoft.com/office/powerpoint/2010/main" val="36486936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549105" y="269319"/>
            <a:ext cx="6834296" cy="769441"/>
          </a:xfrm>
          <a:prstGeom prst="rect">
            <a:avLst/>
          </a:prstGeom>
          <a:noFill/>
        </p:spPr>
        <p:txBody>
          <a:bodyPr wrap="square">
            <a:spAutoFit/>
          </a:bodyPr>
          <a:lstStyle/>
          <a:p>
            <a:r>
              <a:rPr lang="en-US" sz="4400" kern="1200" dirty="0">
                <a:solidFill>
                  <a:schemeClr val="accent3"/>
                </a:solidFill>
                <a:latin typeface="+mj-lt"/>
              </a:rPr>
              <a:t>ScyllaDB</a:t>
            </a:r>
            <a:endParaRPr lang="ru-RU" sz="4400" dirty="0">
              <a:solidFill>
                <a:schemeClr val="accent3"/>
              </a:solidFill>
              <a:latin typeface="+mj-lt"/>
            </a:endParaRPr>
          </a:p>
        </p:txBody>
      </p:sp>
      <p:sp>
        <p:nvSpPr>
          <p:cNvPr id="2" name="Прямоугольник 1"/>
          <p:cNvSpPr/>
          <p:nvPr/>
        </p:nvSpPr>
        <p:spPr>
          <a:xfrm>
            <a:off x="549104" y="1179807"/>
            <a:ext cx="8101915" cy="2200602"/>
          </a:xfrm>
          <a:prstGeom prst="rect">
            <a:avLst/>
          </a:prstGeom>
        </p:spPr>
        <p:txBody>
          <a:bodyPr wrap="square">
            <a:spAutoFit/>
          </a:bodyPr>
          <a:lstStyle/>
          <a:p>
            <a:pPr eaLnBrk="1" hangingPunct="1">
              <a:spcBef>
                <a:spcPts val="600"/>
              </a:spcBef>
              <a:spcAft>
                <a:spcPts val="600"/>
              </a:spcAft>
              <a:buNone/>
            </a:pPr>
            <a:r>
              <a:rPr lang="ru-RU" sz="1300" dirty="0">
                <a:solidFill>
                  <a:schemeClr val="tx1"/>
                </a:solidFill>
                <a:latin typeface="+mn-lt"/>
              </a:rPr>
              <a:t>В целях дублирования данных во избежание их потери при выходе из строя отдельных узлов, используется механизм реплицирования. При создании нового кейспейса пользователь задает фактор репликации (replication factor), определяющий количество реплик записей. Например, в случае, если фактор репликации равен двум (</a:t>
            </a:r>
            <a:r>
              <a:rPr lang="ru-RU" sz="1300" dirty="0" err="1">
                <a:solidFill>
                  <a:schemeClr val="tx1"/>
                </a:solidFill>
                <a:latin typeface="+mn-lt"/>
              </a:rPr>
              <a:t>rf</a:t>
            </a:r>
            <a:r>
              <a:rPr lang="ru-RU" sz="1300" dirty="0">
                <a:solidFill>
                  <a:schemeClr val="tx1"/>
                </a:solidFill>
                <a:latin typeface="+mn-lt"/>
              </a:rPr>
              <a:t> = 2), помимо узла, определяемого токеном, запись скопируется также на следующий по кольцу узел.</a:t>
            </a:r>
          </a:p>
          <a:p>
            <a:pPr eaLnBrk="1" hangingPunct="1">
              <a:spcBef>
                <a:spcPts val="600"/>
              </a:spcBef>
              <a:spcAft>
                <a:spcPts val="600"/>
              </a:spcAft>
              <a:buNone/>
            </a:pPr>
            <a:r>
              <a:rPr lang="ru-RU" sz="1300" dirty="0">
                <a:solidFill>
                  <a:schemeClr val="tx1"/>
                </a:solidFill>
                <a:latin typeface="+mn-lt"/>
              </a:rPr>
              <a:t>Для конфигурирования таблиц и манипулирования данными в Scylla используется CQL (Cassandra Query Language), синтаксис которого создан по образцу SQL. Однако сходство языков этим и ограничивается: в силу NoSQL архитектуры функционал CQL существенно урезан.</a:t>
            </a:r>
          </a:p>
          <a:p>
            <a:pPr eaLnBrk="1" hangingPunct="1">
              <a:spcBef>
                <a:spcPts val="600"/>
              </a:spcBef>
              <a:spcAft>
                <a:spcPts val="600"/>
              </a:spcAft>
              <a:buNone/>
            </a:pPr>
            <a:r>
              <a:rPr lang="ru-RU" sz="1300" dirty="0">
                <a:solidFill>
                  <a:schemeClr val="tx1"/>
                </a:solidFill>
                <a:latin typeface="+mn-lt"/>
              </a:rPr>
              <a:t>Рассмотрим, распределение данных по узлам кластера на следующем примере:</a:t>
            </a:r>
          </a:p>
        </p:txBody>
      </p:sp>
      <p:graphicFrame>
        <p:nvGraphicFramePr>
          <p:cNvPr id="4" name="Объект 3">
            <a:extLst>
              <a:ext uri="{FF2B5EF4-FFF2-40B4-BE49-F238E27FC236}">
                <a16:creationId xmlns:a16="http://schemas.microsoft.com/office/drawing/2014/main" id="{CA346D80-A7D6-444F-969E-ACDE6975D229}"/>
              </a:ext>
            </a:extLst>
          </p:cNvPr>
          <p:cNvGraphicFramePr>
            <a:graphicFrameLocks noChangeAspect="1"/>
          </p:cNvGraphicFramePr>
          <p:nvPr>
            <p:extLst>
              <p:ext uri="{D42A27DB-BD31-4B8C-83A1-F6EECF244321}">
                <p14:modId xmlns:p14="http://schemas.microsoft.com/office/powerpoint/2010/main" val="3382820276"/>
              </p:ext>
            </p:extLst>
          </p:nvPr>
        </p:nvGraphicFramePr>
        <p:xfrm>
          <a:off x="2469050" y="3542297"/>
          <a:ext cx="4262022" cy="1276875"/>
        </p:xfrm>
        <a:graphic>
          <a:graphicData uri="http://schemas.openxmlformats.org/presentationml/2006/ole">
            <mc:AlternateContent xmlns:mc="http://schemas.openxmlformats.org/markup-compatibility/2006">
              <mc:Choice xmlns:v="urn:schemas-microsoft-com:vml" Requires="v">
                <p:oleObj name="Worksheet" r:id="rId3" imgW="4297680" imgH="1287890" progId="Excel.Sheet.12">
                  <p:embed/>
                </p:oleObj>
              </mc:Choice>
              <mc:Fallback>
                <p:oleObj name="Worksheet" r:id="rId3" imgW="4297680" imgH="1287890" progId="Excel.Sheet.12">
                  <p:embed/>
                  <p:pic>
                    <p:nvPicPr>
                      <p:cNvPr id="3" name="Объект 2">
                        <a:extLst>
                          <a:ext uri="{FF2B5EF4-FFF2-40B4-BE49-F238E27FC236}">
                            <a16:creationId xmlns:a16="http://schemas.microsoft.com/office/drawing/2014/main" id="{CA346D80-A7D6-444F-969E-ACDE6975D229}"/>
                          </a:ext>
                        </a:extLst>
                      </p:cNvPr>
                      <p:cNvPicPr/>
                      <p:nvPr/>
                    </p:nvPicPr>
                    <p:blipFill>
                      <a:blip r:embed="rId4"/>
                      <a:stretch>
                        <a:fillRect/>
                      </a:stretch>
                    </p:blipFill>
                    <p:spPr>
                      <a:xfrm>
                        <a:off x="2469050" y="3542297"/>
                        <a:ext cx="4262022" cy="1276875"/>
                      </a:xfrm>
                      <a:prstGeom prst="rect">
                        <a:avLst/>
                      </a:prstGeom>
                    </p:spPr>
                  </p:pic>
                </p:oleObj>
              </mc:Fallback>
            </mc:AlternateContent>
          </a:graphicData>
        </a:graphic>
      </p:graphicFrame>
    </p:spTree>
    <p:extLst>
      <p:ext uri="{BB962C8B-B14F-4D97-AF65-F5344CB8AC3E}">
        <p14:creationId xmlns:p14="http://schemas.microsoft.com/office/powerpoint/2010/main" val="24292794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549105" y="269319"/>
            <a:ext cx="6834296" cy="769441"/>
          </a:xfrm>
          <a:prstGeom prst="rect">
            <a:avLst/>
          </a:prstGeom>
          <a:noFill/>
        </p:spPr>
        <p:txBody>
          <a:bodyPr wrap="square">
            <a:spAutoFit/>
          </a:bodyPr>
          <a:lstStyle/>
          <a:p>
            <a:r>
              <a:rPr lang="en-US" sz="4400" kern="1200" dirty="0">
                <a:solidFill>
                  <a:schemeClr val="accent3"/>
                </a:solidFill>
                <a:latin typeface="+mj-lt"/>
              </a:rPr>
              <a:t>ScyllaDB</a:t>
            </a:r>
            <a:endParaRPr lang="ru-RU" sz="4400" dirty="0">
              <a:solidFill>
                <a:schemeClr val="accent3"/>
              </a:solidFill>
              <a:latin typeface="+mj-lt"/>
            </a:endParaRPr>
          </a:p>
        </p:txBody>
      </p:sp>
      <p:sp>
        <p:nvSpPr>
          <p:cNvPr id="2" name="Прямоугольник 1"/>
          <p:cNvSpPr/>
          <p:nvPr/>
        </p:nvSpPr>
        <p:spPr>
          <a:xfrm>
            <a:off x="549104" y="1179807"/>
            <a:ext cx="8324552" cy="3847207"/>
          </a:xfrm>
          <a:prstGeom prst="rect">
            <a:avLst/>
          </a:prstGeom>
        </p:spPr>
        <p:txBody>
          <a:bodyPr wrap="square">
            <a:spAutoFit/>
          </a:bodyPr>
          <a:lstStyle/>
          <a:p>
            <a:pPr>
              <a:spcAft>
                <a:spcPts val="600"/>
              </a:spcAft>
            </a:pPr>
            <a:r>
              <a:rPr lang="ru-RU" dirty="0">
                <a:solidFill>
                  <a:schemeClr val="tx1"/>
                </a:solidFill>
                <a:latin typeface="+mn-lt"/>
              </a:rPr>
              <a:t>Для конфигурирования базы данных необходимо зайти в </a:t>
            </a:r>
            <a:r>
              <a:rPr lang="en-US" dirty="0">
                <a:solidFill>
                  <a:schemeClr val="tx1"/>
                </a:solidFill>
                <a:latin typeface="+mn-lt"/>
              </a:rPr>
              <a:t>CQL-</a:t>
            </a:r>
            <a:r>
              <a:rPr lang="ru-RU" dirty="0">
                <a:solidFill>
                  <a:schemeClr val="tx1"/>
                </a:solidFill>
                <a:latin typeface="+mn-lt"/>
              </a:rPr>
              <a:t>консоль (</a:t>
            </a:r>
            <a:r>
              <a:rPr lang="en-US" dirty="0">
                <a:solidFill>
                  <a:schemeClr val="tx1"/>
                </a:solidFill>
                <a:latin typeface="+mn-lt"/>
              </a:rPr>
              <a:t>CQLSH</a:t>
            </a:r>
            <a:r>
              <a:rPr lang="ru-RU" dirty="0">
                <a:solidFill>
                  <a:schemeClr val="tx1"/>
                </a:solidFill>
                <a:latin typeface="+mn-lt"/>
              </a:rPr>
              <a:t>)</a:t>
            </a:r>
            <a:r>
              <a:rPr lang="en-US" dirty="0">
                <a:solidFill>
                  <a:schemeClr val="tx1"/>
                </a:solidFill>
                <a:latin typeface="+mn-lt"/>
              </a:rPr>
              <a:t> </a:t>
            </a:r>
            <a:r>
              <a:rPr lang="ru-RU" dirty="0">
                <a:solidFill>
                  <a:schemeClr val="tx1"/>
                </a:solidFill>
                <a:latin typeface="+mn-lt"/>
              </a:rPr>
              <a:t>при помощи команды </a:t>
            </a:r>
            <a:r>
              <a:rPr lang="en-US" b="1" dirty="0">
                <a:solidFill>
                  <a:schemeClr val="tx1"/>
                </a:solidFill>
                <a:latin typeface="+mn-lt"/>
              </a:rPr>
              <a:t>cqlsh [IP</a:t>
            </a:r>
            <a:r>
              <a:rPr lang="ru-RU" b="1" dirty="0">
                <a:solidFill>
                  <a:schemeClr val="tx1"/>
                </a:solidFill>
                <a:latin typeface="+mn-lt"/>
              </a:rPr>
              <a:t>_адрес_сервера</a:t>
            </a:r>
            <a:r>
              <a:rPr lang="en-US" b="1" dirty="0">
                <a:solidFill>
                  <a:schemeClr val="tx1"/>
                </a:solidFill>
                <a:latin typeface="+mn-lt"/>
              </a:rPr>
              <a:t>] [--request-timeout </a:t>
            </a:r>
            <a:r>
              <a:rPr lang="ru-RU" b="1" dirty="0">
                <a:solidFill>
                  <a:schemeClr val="tx1"/>
                </a:solidFill>
                <a:latin typeface="+mn-lt"/>
              </a:rPr>
              <a:t>время_на_выполнение_запроса_в_секундах</a:t>
            </a:r>
            <a:r>
              <a:rPr lang="en-US" b="1" dirty="0">
                <a:solidFill>
                  <a:schemeClr val="tx1"/>
                </a:solidFill>
                <a:latin typeface="+mn-lt"/>
              </a:rPr>
              <a:t>]</a:t>
            </a:r>
            <a:r>
              <a:rPr lang="ru-RU" dirty="0">
                <a:solidFill>
                  <a:schemeClr val="tx1"/>
                </a:solidFill>
                <a:latin typeface="+mn-lt"/>
              </a:rPr>
              <a:t> (если </a:t>
            </a:r>
            <a:r>
              <a:rPr lang="en-US" dirty="0">
                <a:solidFill>
                  <a:schemeClr val="tx1"/>
                </a:solidFill>
                <a:latin typeface="+mn-lt"/>
              </a:rPr>
              <a:t>Scylla </a:t>
            </a:r>
            <a:r>
              <a:rPr lang="ru-RU" dirty="0">
                <a:solidFill>
                  <a:schemeClr val="tx1"/>
                </a:solidFill>
                <a:latin typeface="+mn-lt"/>
              </a:rPr>
              <a:t>установлена локально, </a:t>
            </a:r>
            <a:r>
              <a:rPr lang="en-US" dirty="0">
                <a:solidFill>
                  <a:schemeClr val="tx1"/>
                </a:solidFill>
                <a:latin typeface="+mn-lt"/>
              </a:rPr>
              <a:t>IP-</a:t>
            </a:r>
            <a:r>
              <a:rPr lang="ru-RU" dirty="0">
                <a:solidFill>
                  <a:schemeClr val="tx1"/>
                </a:solidFill>
                <a:latin typeface="+mn-lt"/>
              </a:rPr>
              <a:t>адрес указывать необязательно, </a:t>
            </a:r>
            <a:r>
              <a:rPr lang="en-US" dirty="0">
                <a:solidFill>
                  <a:schemeClr val="tx1"/>
                </a:solidFill>
                <a:latin typeface="+mn-lt"/>
              </a:rPr>
              <a:t>request</a:t>
            </a:r>
            <a:r>
              <a:rPr lang="ru-RU" dirty="0">
                <a:solidFill>
                  <a:schemeClr val="tx1"/>
                </a:solidFill>
                <a:latin typeface="+mn-lt"/>
              </a:rPr>
              <a:t> </a:t>
            </a:r>
            <a:r>
              <a:rPr lang="en-US" dirty="0">
                <a:solidFill>
                  <a:schemeClr val="tx1"/>
                </a:solidFill>
                <a:latin typeface="+mn-lt"/>
              </a:rPr>
              <a:t>timeout</a:t>
            </a:r>
            <a:r>
              <a:rPr lang="ru-RU" dirty="0">
                <a:solidFill>
                  <a:schemeClr val="tx1"/>
                </a:solidFill>
                <a:latin typeface="+mn-lt"/>
              </a:rPr>
              <a:t> – по умолчанию, 10 секунд)</a:t>
            </a:r>
            <a:r>
              <a:rPr lang="en-US" dirty="0">
                <a:solidFill>
                  <a:schemeClr val="tx1"/>
                </a:solidFill>
                <a:latin typeface="+mn-lt"/>
              </a:rPr>
              <a:t>: </a:t>
            </a:r>
            <a:endParaRPr lang="ru-RU" dirty="0">
              <a:solidFill>
                <a:schemeClr val="tx1"/>
              </a:solidFill>
              <a:latin typeface="+mn-lt"/>
            </a:endParaRPr>
          </a:p>
          <a:p>
            <a:r>
              <a:rPr lang="en-US" b="1" dirty="0">
                <a:solidFill>
                  <a:schemeClr val="tx1"/>
                </a:solidFill>
                <a:latin typeface="+mn-lt"/>
              </a:rPr>
              <a:t>cqlsh 192.168.1.1 --request-timeout 60000</a:t>
            </a:r>
          </a:p>
          <a:p>
            <a:endParaRPr lang="ru-RU" sz="1200" dirty="0">
              <a:solidFill>
                <a:schemeClr val="tx1"/>
              </a:solidFill>
              <a:latin typeface="+mn-lt"/>
            </a:endParaRPr>
          </a:p>
          <a:p>
            <a:pPr>
              <a:spcAft>
                <a:spcPts val="600"/>
              </a:spcAft>
            </a:pPr>
            <a:r>
              <a:rPr lang="ru-RU" dirty="0">
                <a:solidFill>
                  <a:schemeClr val="tx1"/>
                </a:solidFill>
                <a:latin typeface="+mn-lt"/>
              </a:rPr>
              <a:t>Создание кейспейса с фактором репликации 2 будет выглядеть следующим образом:</a:t>
            </a:r>
          </a:p>
          <a:p>
            <a:r>
              <a:rPr lang="en-US" b="1" dirty="0">
                <a:solidFill>
                  <a:schemeClr val="tx1"/>
                </a:solidFill>
                <a:latin typeface="+mn-lt"/>
              </a:rPr>
              <a:t>CREATE KEYSPACE example WITH replication = {'class': 'SimpleStrategy', 'replication_factor': '</a:t>
            </a:r>
            <a:r>
              <a:rPr lang="ru-RU" b="1" dirty="0">
                <a:solidFill>
                  <a:schemeClr val="tx1"/>
                </a:solidFill>
                <a:latin typeface="+mn-lt"/>
              </a:rPr>
              <a:t>2</a:t>
            </a:r>
            <a:r>
              <a:rPr lang="en-US" b="1" dirty="0">
                <a:solidFill>
                  <a:schemeClr val="tx1"/>
                </a:solidFill>
                <a:latin typeface="+mn-lt"/>
              </a:rPr>
              <a:t>'};</a:t>
            </a:r>
            <a:endParaRPr lang="ru-RU" b="1" dirty="0">
              <a:solidFill>
                <a:schemeClr val="tx1"/>
              </a:solidFill>
              <a:latin typeface="+mn-lt"/>
            </a:endParaRPr>
          </a:p>
          <a:p>
            <a:endParaRPr lang="en-US" sz="1200" dirty="0">
              <a:solidFill>
                <a:schemeClr val="tx1"/>
              </a:solidFill>
              <a:latin typeface="+mn-lt"/>
            </a:endParaRPr>
          </a:p>
          <a:p>
            <a:pPr>
              <a:spcAft>
                <a:spcPts val="600"/>
              </a:spcAft>
            </a:pPr>
            <a:r>
              <a:rPr lang="ru-RU" dirty="0">
                <a:solidFill>
                  <a:schemeClr val="tx1"/>
                </a:solidFill>
                <a:latin typeface="+mn-lt"/>
              </a:rPr>
              <a:t>Для работы в определенном кейспейсе нужно его выбрать при помощи команды: </a:t>
            </a:r>
            <a:endParaRPr lang="en-US" dirty="0">
              <a:solidFill>
                <a:schemeClr val="tx1"/>
              </a:solidFill>
              <a:latin typeface="+mn-lt"/>
            </a:endParaRPr>
          </a:p>
          <a:p>
            <a:r>
              <a:rPr lang="en-US" b="1" dirty="0">
                <a:solidFill>
                  <a:schemeClr val="tx1"/>
                </a:solidFill>
                <a:latin typeface="+mn-lt"/>
              </a:rPr>
              <a:t>use example;</a:t>
            </a:r>
            <a:endParaRPr lang="ru-RU" b="1" dirty="0">
              <a:solidFill>
                <a:schemeClr val="tx1"/>
              </a:solidFill>
              <a:latin typeface="+mn-lt"/>
            </a:endParaRPr>
          </a:p>
          <a:p>
            <a:endParaRPr lang="en-US" sz="1200" dirty="0">
              <a:solidFill>
                <a:schemeClr val="tx1"/>
              </a:solidFill>
              <a:latin typeface="+mn-lt"/>
            </a:endParaRPr>
          </a:p>
          <a:p>
            <a:pPr>
              <a:spcAft>
                <a:spcPts val="600"/>
              </a:spcAft>
            </a:pPr>
            <a:r>
              <a:rPr lang="ru-RU" dirty="0">
                <a:solidFill>
                  <a:schemeClr val="tx1"/>
                </a:solidFill>
                <a:latin typeface="+mn-lt"/>
              </a:rPr>
              <a:t>Таблица создается следующим запросом:</a:t>
            </a:r>
          </a:p>
          <a:p>
            <a:r>
              <a:rPr lang="en-US" b="1" dirty="0">
                <a:solidFill>
                  <a:schemeClr val="tx1"/>
                </a:solidFill>
                <a:latin typeface="+mn-lt"/>
              </a:rPr>
              <a:t>CREATE TABLE users (</a:t>
            </a:r>
          </a:p>
          <a:p>
            <a:r>
              <a:rPr lang="en-US" b="1" dirty="0">
                <a:solidFill>
                  <a:schemeClr val="tx1"/>
                </a:solidFill>
                <a:latin typeface="+mn-lt"/>
              </a:rPr>
              <a:t>    ID int, USERNAME text, FULLNAME text, REGDATE date, STATUS text, PRIMARY KEY (ID)</a:t>
            </a:r>
          </a:p>
          <a:p>
            <a:r>
              <a:rPr lang="en-US" b="1" dirty="0">
                <a:solidFill>
                  <a:schemeClr val="tx1"/>
                </a:solidFill>
                <a:latin typeface="+mn-lt"/>
              </a:rPr>
              <a:t>);</a:t>
            </a:r>
            <a:endParaRPr lang="ru-RU" b="1" dirty="0">
              <a:solidFill>
                <a:schemeClr val="tx1"/>
              </a:solidFill>
              <a:latin typeface="+mn-lt"/>
            </a:endParaRPr>
          </a:p>
        </p:txBody>
      </p:sp>
    </p:spTree>
    <p:extLst>
      <p:ext uri="{BB962C8B-B14F-4D97-AF65-F5344CB8AC3E}">
        <p14:creationId xmlns:p14="http://schemas.microsoft.com/office/powerpoint/2010/main" val="5920693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461640" y="229563"/>
            <a:ext cx="6834296" cy="769441"/>
          </a:xfrm>
          <a:prstGeom prst="rect">
            <a:avLst/>
          </a:prstGeom>
          <a:noFill/>
        </p:spPr>
        <p:txBody>
          <a:bodyPr wrap="square">
            <a:spAutoFit/>
          </a:bodyPr>
          <a:lstStyle/>
          <a:p>
            <a:r>
              <a:rPr lang="en-US" sz="4400" kern="1200" dirty="0">
                <a:solidFill>
                  <a:schemeClr val="accent3"/>
                </a:solidFill>
                <a:latin typeface="+mj-lt"/>
              </a:rPr>
              <a:t>ScyllaDB</a:t>
            </a:r>
            <a:endParaRPr lang="ru-RU" sz="4400" dirty="0">
              <a:solidFill>
                <a:schemeClr val="accent3"/>
              </a:solidFill>
              <a:latin typeface="+mj-lt"/>
            </a:endParaRPr>
          </a:p>
        </p:txBody>
      </p:sp>
      <p:sp>
        <p:nvSpPr>
          <p:cNvPr id="2" name="Прямоугольник 1"/>
          <p:cNvSpPr/>
          <p:nvPr/>
        </p:nvSpPr>
        <p:spPr>
          <a:xfrm>
            <a:off x="461639" y="1076440"/>
            <a:ext cx="2588611" cy="1569660"/>
          </a:xfrm>
          <a:prstGeom prst="rect">
            <a:avLst/>
          </a:prstGeom>
        </p:spPr>
        <p:txBody>
          <a:bodyPr wrap="square">
            <a:spAutoFit/>
          </a:bodyPr>
          <a:lstStyle/>
          <a:p>
            <a:pPr>
              <a:spcAft>
                <a:spcPts val="600"/>
              </a:spcAft>
            </a:pPr>
            <a:r>
              <a:rPr lang="ru-RU" sz="1200" dirty="0">
                <a:solidFill>
                  <a:schemeClr val="tx1"/>
                </a:solidFill>
                <a:latin typeface="+mn-lt"/>
              </a:rPr>
              <a:t>Если у нас имеется 3 узла, </a:t>
            </a:r>
            <a:br>
              <a:rPr lang="en-US" sz="1200" dirty="0">
                <a:solidFill>
                  <a:schemeClr val="tx1"/>
                </a:solidFill>
                <a:latin typeface="+mn-lt"/>
              </a:rPr>
            </a:br>
            <a:r>
              <a:rPr lang="ru-RU" sz="1200" dirty="0">
                <a:solidFill>
                  <a:schemeClr val="tx1"/>
                </a:solidFill>
                <a:latin typeface="+mn-lt"/>
              </a:rPr>
              <a:t>и для упрощения представления мы будем распределять данные по ним, исходя из остатка от деления ID на количество узлов, то получим такой результат (серым цветом выделены реплики).</a:t>
            </a:r>
          </a:p>
        </p:txBody>
      </p:sp>
      <p:sp>
        <p:nvSpPr>
          <p:cNvPr id="4" name="Прямоугольник 3"/>
          <p:cNvSpPr/>
          <p:nvPr/>
        </p:nvSpPr>
        <p:spPr>
          <a:xfrm>
            <a:off x="461639" y="3220276"/>
            <a:ext cx="1391015" cy="461665"/>
          </a:xfrm>
          <a:prstGeom prst="rect">
            <a:avLst/>
          </a:prstGeom>
        </p:spPr>
        <p:txBody>
          <a:bodyPr wrap="square">
            <a:spAutoFit/>
          </a:bodyPr>
          <a:lstStyle/>
          <a:p>
            <a:r>
              <a:rPr lang="nl-NL" sz="1200" dirty="0">
                <a:latin typeface="+mn-lt"/>
              </a:rPr>
              <a:t>rf = 2</a:t>
            </a:r>
          </a:p>
          <a:p>
            <a:r>
              <a:rPr lang="nl-NL" sz="1200" dirty="0">
                <a:latin typeface="+mn-lt"/>
              </a:rPr>
              <a:t>token = ID % 3 </a:t>
            </a:r>
          </a:p>
        </p:txBody>
      </p:sp>
      <p:grpSp>
        <p:nvGrpSpPr>
          <p:cNvPr id="5" name="Группа 4"/>
          <p:cNvGrpSpPr/>
          <p:nvPr/>
        </p:nvGrpSpPr>
        <p:grpSpPr>
          <a:xfrm>
            <a:off x="525247" y="1184744"/>
            <a:ext cx="8362959" cy="3623423"/>
            <a:chOff x="386551" y="1974749"/>
            <a:chExt cx="10665967" cy="4621248"/>
          </a:xfrm>
        </p:grpSpPr>
        <p:grpSp>
          <p:nvGrpSpPr>
            <p:cNvPr id="6" name="Группа 5">
              <a:extLst>
                <a:ext uri="{FF2B5EF4-FFF2-40B4-BE49-F238E27FC236}">
                  <a16:creationId xmlns:a16="http://schemas.microsoft.com/office/drawing/2014/main" id="{F5A534B3-9239-4801-A03D-C66AB4249FA9}"/>
                </a:ext>
              </a:extLst>
            </p:cNvPr>
            <p:cNvGrpSpPr/>
            <p:nvPr/>
          </p:nvGrpSpPr>
          <p:grpSpPr>
            <a:xfrm>
              <a:off x="2980959" y="1974749"/>
              <a:ext cx="4217449" cy="4217449"/>
              <a:chOff x="4178825" y="2548206"/>
              <a:chExt cx="4217449" cy="4217449"/>
            </a:xfrm>
          </p:grpSpPr>
          <p:pic>
            <p:nvPicPr>
              <p:cNvPr id="7" name="Рисунок 6" descr="Мишень со сплошной заливкой">
                <a:extLst>
                  <a:ext uri="{FF2B5EF4-FFF2-40B4-BE49-F238E27FC236}">
                    <a16:creationId xmlns:a16="http://schemas.microsoft.com/office/drawing/2014/main" id="{CBD8F578-A94C-47D5-9CF4-FFB6053477E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7102609">
                <a:off x="4178825" y="2548206"/>
                <a:ext cx="4217449" cy="4217449"/>
              </a:xfrm>
              <a:prstGeom prst="rect">
                <a:avLst/>
              </a:prstGeom>
              <a:ln>
                <a:noFill/>
              </a:ln>
            </p:spPr>
          </p:pic>
          <p:grpSp>
            <p:nvGrpSpPr>
              <p:cNvPr id="8" name="Группа 7">
                <a:extLst>
                  <a:ext uri="{FF2B5EF4-FFF2-40B4-BE49-F238E27FC236}">
                    <a16:creationId xmlns:a16="http://schemas.microsoft.com/office/drawing/2014/main" id="{0783C28F-C135-4F30-ACF7-836FD3BB872B}"/>
                  </a:ext>
                </a:extLst>
              </p:cNvPr>
              <p:cNvGrpSpPr/>
              <p:nvPr/>
            </p:nvGrpSpPr>
            <p:grpSpPr>
              <a:xfrm>
                <a:off x="4270551" y="2743492"/>
                <a:ext cx="3886841" cy="3404677"/>
                <a:chOff x="4270551" y="2743492"/>
                <a:chExt cx="3886841" cy="3404677"/>
              </a:xfrm>
            </p:grpSpPr>
            <p:sp>
              <p:nvSpPr>
                <p:cNvPr id="9" name="Oval 1">
                  <a:extLst>
                    <a:ext uri="{FF2B5EF4-FFF2-40B4-BE49-F238E27FC236}">
                      <a16:creationId xmlns:a16="http://schemas.microsoft.com/office/drawing/2014/main" id="{D445ABC7-9756-4D78-92E1-9BD323CF41FC}"/>
                    </a:ext>
                  </a:extLst>
                </p:cNvPr>
                <p:cNvSpPr/>
                <p:nvPr/>
              </p:nvSpPr>
              <p:spPr>
                <a:xfrm>
                  <a:off x="5833747" y="2743492"/>
                  <a:ext cx="1348785" cy="1348785"/>
                </a:xfrm>
                <a:prstGeom prst="ellipse">
                  <a:avLst/>
                </a:prstGeom>
                <a:solidFill>
                  <a:srgbClr val="99CCFF"/>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2060"/>
                      </a:solidFill>
                    </a:rPr>
                    <a:t>node 0</a:t>
                  </a:r>
                  <a:endParaRPr lang="ru-RU" sz="1600" dirty="0">
                    <a:solidFill>
                      <a:srgbClr val="002060"/>
                    </a:solidFill>
                  </a:endParaRPr>
                </a:p>
              </p:txBody>
            </p:sp>
            <p:sp>
              <p:nvSpPr>
                <p:cNvPr id="10" name="Oval 1">
                  <a:extLst>
                    <a:ext uri="{FF2B5EF4-FFF2-40B4-BE49-F238E27FC236}">
                      <a16:creationId xmlns:a16="http://schemas.microsoft.com/office/drawing/2014/main" id="{28E82B5D-9D75-4AD7-B25E-798C7DD5A7D6}"/>
                    </a:ext>
                  </a:extLst>
                </p:cNvPr>
                <p:cNvSpPr/>
                <p:nvPr/>
              </p:nvSpPr>
              <p:spPr>
                <a:xfrm>
                  <a:off x="4270551" y="4409384"/>
                  <a:ext cx="1348785" cy="1348785"/>
                </a:xfrm>
                <a:prstGeom prst="ellipse">
                  <a:avLst/>
                </a:prstGeom>
                <a:solidFill>
                  <a:srgbClr val="99CCFF"/>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rPr>
                    <a:t>node 2</a:t>
                  </a:r>
                  <a:endParaRPr kumimoji="0" lang="ru-RU" sz="1600" b="0"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
              <p:nvSpPr>
                <p:cNvPr id="11" name="Oval 1">
                  <a:extLst>
                    <a:ext uri="{FF2B5EF4-FFF2-40B4-BE49-F238E27FC236}">
                      <a16:creationId xmlns:a16="http://schemas.microsoft.com/office/drawing/2014/main" id="{A0635F6F-6A43-4072-8713-CDB49F56AAD9}"/>
                    </a:ext>
                  </a:extLst>
                </p:cNvPr>
                <p:cNvSpPr/>
                <p:nvPr/>
              </p:nvSpPr>
              <p:spPr>
                <a:xfrm>
                  <a:off x="6808607" y="4799384"/>
                  <a:ext cx="1348785" cy="1348785"/>
                </a:xfrm>
                <a:prstGeom prst="ellipse">
                  <a:avLst/>
                </a:prstGeom>
                <a:solidFill>
                  <a:srgbClr val="99CCFF"/>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rPr>
                    <a:t>node 1</a:t>
                  </a:r>
                  <a:endParaRPr kumimoji="0" lang="ru-RU" sz="1600" b="0"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grpSp>
        </p:grpSp>
        <p:graphicFrame>
          <p:nvGraphicFramePr>
            <p:cNvPr id="12" name="Объект 11">
              <a:extLst>
                <a:ext uri="{FF2B5EF4-FFF2-40B4-BE49-F238E27FC236}">
                  <a16:creationId xmlns:a16="http://schemas.microsoft.com/office/drawing/2014/main" id="{8D8E299F-3A1C-4063-806D-8430A36DB76B}"/>
                </a:ext>
              </a:extLst>
            </p:cNvPr>
            <p:cNvGraphicFramePr>
              <a:graphicFrameLocks noChangeAspect="1"/>
            </p:cNvGraphicFramePr>
            <p:nvPr>
              <p:extLst>
                <p:ext uri="{D42A27DB-BD31-4B8C-83A1-F6EECF244321}">
                  <p14:modId xmlns:p14="http://schemas.microsoft.com/office/powerpoint/2010/main" val="977712717"/>
                </p:ext>
              </p:extLst>
            </p:nvPr>
          </p:nvGraphicFramePr>
          <p:xfrm>
            <a:off x="5524781" y="5673660"/>
            <a:ext cx="4297363" cy="922337"/>
          </p:xfrm>
          <a:graphic>
            <a:graphicData uri="http://schemas.openxmlformats.org/presentationml/2006/ole">
              <mc:AlternateContent xmlns:mc="http://schemas.openxmlformats.org/markup-compatibility/2006">
                <mc:Choice xmlns:v="urn:schemas-microsoft-com:vml" Requires="v">
                  <p:oleObj name="Worksheet" r:id="rId5" imgW="4297680" imgH="922224" progId="Excel.Sheet.12">
                    <p:embed/>
                  </p:oleObj>
                </mc:Choice>
                <mc:Fallback>
                  <p:oleObj name="Worksheet" r:id="rId5" imgW="4297680" imgH="922224" progId="Excel.Sheet.12">
                    <p:embed/>
                    <p:pic>
                      <p:nvPicPr>
                        <p:cNvPr id="177" name="Объект 176">
                          <a:extLst>
                            <a:ext uri="{FF2B5EF4-FFF2-40B4-BE49-F238E27FC236}">
                              <a16:creationId xmlns:a16="http://schemas.microsoft.com/office/drawing/2014/main" id="{8D8E299F-3A1C-4063-806D-8430A36DB76B}"/>
                            </a:ext>
                          </a:extLst>
                        </p:cNvPr>
                        <p:cNvPicPr/>
                        <p:nvPr/>
                      </p:nvPicPr>
                      <p:blipFill>
                        <a:blip r:embed="rId6"/>
                        <a:stretch>
                          <a:fillRect/>
                        </a:stretch>
                      </p:blipFill>
                      <p:spPr>
                        <a:xfrm>
                          <a:off x="5524781" y="5673660"/>
                          <a:ext cx="4297363" cy="922337"/>
                        </a:xfrm>
                        <a:prstGeom prst="rect">
                          <a:avLst/>
                        </a:prstGeom>
                      </p:spPr>
                    </p:pic>
                  </p:oleObj>
                </mc:Fallback>
              </mc:AlternateContent>
            </a:graphicData>
          </a:graphic>
        </p:graphicFrame>
        <p:graphicFrame>
          <p:nvGraphicFramePr>
            <p:cNvPr id="13" name="Объект 12">
              <a:extLst>
                <a:ext uri="{FF2B5EF4-FFF2-40B4-BE49-F238E27FC236}">
                  <a16:creationId xmlns:a16="http://schemas.microsoft.com/office/drawing/2014/main" id="{51F2F109-0258-4AE4-8884-5A684247F616}"/>
                </a:ext>
              </a:extLst>
            </p:cNvPr>
            <p:cNvGraphicFramePr>
              <a:graphicFrameLocks noChangeAspect="1"/>
            </p:cNvGraphicFramePr>
            <p:nvPr>
              <p:extLst>
                <p:ext uri="{D42A27DB-BD31-4B8C-83A1-F6EECF244321}">
                  <p14:modId xmlns:p14="http://schemas.microsoft.com/office/powerpoint/2010/main" val="1611666005"/>
                </p:ext>
              </p:extLst>
            </p:nvPr>
          </p:nvGraphicFramePr>
          <p:xfrm>
            <a:off x="6755155" y="2480903"/>
            <a:ext cx="4297363" cy="922337"/>
          </p:xfrm>
          <a:graphic>
            <a:graphicData uri="http://schemas.openxmlformats.org/presentationml/2006/ole">
              <mc:AlternateContent xmlns:mc="http://schemas.openxmlformats.org/markup-compatibility/2006">
                <mc:Choice xmlns:v="urn:schemas-microsoft-com:vml" Requires="v">
                  <p:oleObj name="Worksheet" r:id="rId7" imgW="4297680" imgH="922224" progId="Excel.Sheet.12">
                    <p:embed/>
                  </p:oleObj>
                </mc:Choice>
                <mc:Fallback>
                  <p:oleObj name="Worksheet" r:id="rId7" imgW="4297680" imgH="922224" progId="Excel.Sheet.12">
                    <p:embed/>
                    <p:pic>
                      <p:nvPicPr>
                        <p:cNvPr id="179" name="Объект 178">
                          <a:extLst>
                            <a:ext uri="{FF2B5EF4-FFF2-40B4-BE49-F238E27FC236}">
                              <a16:creationId xmlns:a16="http://schemas.microsoft.com/office/drawing/2014/main" id="{51F2F109-0258-4AE4-8884-5A684247F616}"/>
                            </a:ext>
                          </a:extLst>
                        </p:cNvPr>
                        <p:cNvPicPr/>
                        <p:nvPr/>
                      </p:nvPicPr>
                      <p:blipFill>
                        <a:blip r:embed="rId8"/>
                        <a:stretch>
                          <a:fillRect/>
                        </a:stretch>
                      </p:blipFill>
                      <p:spPr>
                        <a:xfrm>
                          <a:off x="6755155" y="2480903"/>
                          <a:ext cx="4297363" cy="922337"/>
                        </a:xfrm>
                        <a:prstGeom prst="rect">
                          <a:avLst/>
                        </a:prstGeom>
                      </p:spPr>
                    </p:pic>
                  </p:oleObj>
                </mc:Fallback>
              </mc:AlternateContent>
            </a:graphicData>
          </a:graphic>
        </p:graphicFrame>
        <p:graphicFrame>
          <p:nvGraphicFramePr>
            <p:cNvPr id="14" name="Объект 13">
              <a:extLst>
                <a:ext uri="{FF2B5EF4-FFF2-40B4-BE49-F238E27FC236}">
                  <a16:creationId xmlns:a16="http://schemas.microsoft.com/office/drawing/2014/main" id="{72D21233-EE3A-49C1-A525-492BAF4F6865}"/>
                </a:ext>
              </a:extLst>
            </p:cNvPr>
            <p:cNvGraphicFramePr>
              <a:graphicFrameLocks noChangeAspect="1"/>
            </p:cNvGraphicFramePr>
            <p:nvPr>
              <p:extLst>
                <p:ext uri="{D42A27DB-BD31-4B8C-83A1-F6EECF244321}">
                  <p14:modId xmlns:p14="http://schemas.microsoft.com/office/powerpoint/2010/main" val="4018689536"/>
                </p:ext>
              </p:extLst>
            </p:nvPr>
          </p:nvGraphicFramePr>
          <p:xfrm>
            <a:off x="386551" y="5673660"/>
            <a:ext cx="4297363" cy="922337"/>
          </p:xfrm>
          <a:graphic>
            <a:graphicData uri="http://schemas.openxmlformats.org/presentationml/2006/ole">
              <mc:AlternateContent xmlns:mc="http://schemas.openxmlformats.org/markup-compatibility/2006">
                <mc:Choice xmlns:v="urn:schemas-microsoft-com:vml" Requires="v">
                  <p:oleObj name="Worksheet" r:id="rId9" imgW="4297680" imgH="922224" progId="Excel.Sheet.12">
                    <p:embed/>
                  </p:oleObj>
                </mc:Choice>
                <mc:Fallback>
                  <p:oleObj name="Worksheet" r:id="rId9" imgW="4297680" imgH="922224" progId="Excel.Sheet.12">
                    <p:embed/>
                    <p:pic>
                      <p:nvPicPr>
                        <p:cNvPr id="181" name="Объект 180">
                          <a:extLst>
                            <a:ext uri="{FF2B5EF4-FFF2-40B4-BE49-F238E27FC236}">
                              <a16:creationId xmlns:a16="http://schemas.microsoft.com/office/drawing/2014/main" id="{72D21233-EE3A-49C1-A525-492BAF4F6865}"/>
                            </a:ext>
                          </a:extLst>
                        </p:cNvPr>
                        <p:cNvPicPr/>
                        <p:nvPr/>
                      </p:nvPicPr>
                      <p:blipFill>
                        <a:blip r:embed="rId10"/>
                        <a:stretch>
                          <a:fillRect/>
                        </a:stretch>
                      </p:blipFill>
                      <p:spPr>
                        <a:xfrm>
                          <a:off x="386551" y="5673660"/>
                          <a:ext cx="4297363" cy="922337"/>
                        </a:xfrm>
                        <a:prstGeom prst="rect">
                          <a:avLst/>
                        </a:prstGeom>
                      </p:spPr>
                    </p:pic>
                  </p:oleObj>
                </mc:Fallback>
              </mc:AlternateContent>
            </a:graphicData>
          </a:graphic>
        </p:graphicFrame>
        <p:cxnSp>
          <p:nvCxnSpPr>
            <p:cNvPr id="15" name="Прямая соединительная линия 14">
              <a:extLst>
                <a:ext uri="{FF2B5EF4-FFF2-40B4-BE49-F238E27FC236}">
                  <a16:creationId xmlns:a16="http://schemas.microsoft.com/office/drawing/2014/main" id="{4C6CB30D-CBE3-498B-9048-731408C2F32F}"/>
                </a:ext>
              </a:extLst>
            </p:cNvPr>
            <p:cNvCxnSpPr>
              <a:cxnSpLocks/>
              <a:stCxn id="9" idx="6"/>
              <a:endCxn id="13" idx="1"/>
            </p:cNvCxnSpPr>
            <p:nvPr/>
          </p:nvCxnSpPr>
          <p:spPr>
            <a:xfrm>
              <a:off x="5984666" y="2844428"/>
              <a:ext cx="770489" cy="97643"/>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a:extLst>
                <a:ext uri="{FF2B5EF4-FFF2-40B4-BE49-F238E27FC236}">
                  <a16:creationId xmlns:a16="http://schemas.microsoft.com/office/drawing/2014/main" id="{F30719ED-7713-410F-BE1F-C3C6C8974703}"/>
                </a:ext>
              </a:extLst>
            </p:cNvPr>
            <p:cNvCxnSpPr>
              <a:cxnSpLocks/>
              <a:stCxn id="14" idx="0"/>
              <a:endCxn id="10" idx="3"/>
            </p:cNvCxnSpPr>
            <p:nvPr/>
          </p:nvCxnSpPr>
          <p:spPr>
            <a:xfrm flipV="1">
              <a:off x="2535232" y="4987187"/>
              <a:ext cx="734978" cy="686473"/>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6">
              <a:extLst>
                <a:ext uri="{FF2B5EF4-FFF2-40B4-BE49-F238E27FC236}">
                  <a16:creationId xmlns:a16="http://schemas.microsoft.com/office/drawing/2014/main" id="{5EEC1D0B-EDAD-493E-B8B2-2DDC359E6F1C}"/>
                </a:ext>
              </a:extLst>
            </p:cNvPr>
            <p:cNvCxnSpPr>
              <a:cxnSpLocks/>
              <a:stCxn id="12" idx="0"/>
              <a:endCxn id="11" idx="6"/>
            </p:cNvCxnSpPr>
            <p:nvPr/>
          </p:nvCxnSpPr>
          <p:spPr>
            <a:xfrm flipH="1" flipV="1">
              <a:off x="6959526" y="4900320"/>
              <a:ext cx="713936" cy="77334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489209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461640" y="372687"/>
            <a:ext cx="8197330" cy="584775"/>
          </a:xfrm>
          <a:prstGeom prst="rect">
            <a:avLst/>
          </a:prstGeom>
          <a:noFill/>
        </p:spPr>
        <p:txBody>
          <a:bodyPr wrap="square">
            <a:spAutoFit/>
          </a:bodyPr>
          <a:lstStyle/>
          <a:p>
            <a:r>
              <a:rPr lang="ru-RU" sz="3200" kern="1200" dirty="0">
                <a:solidFill>
                  <a:schemeClr val="accent3"/>
                </a:solidFill>
                <a:latin typeface="+mj-lt"/>
              </a:rPr>
              <a:t>Операторы манипулирования данными</a:t>
            </a:r>
            <a:endParaRPr lang="ru-RU" sz="3200" dirty="0">
              <a:solidFill>
                <a:schemeClr val="accent3"/>
              </a:solidFill>
              <a:latin typeface="+mj-lt"/>
            </a:endParaRPr>
          </a:p>
        </p:txBody>
      </p:sp>
      <p:sp>
        <p:nvSpPr>
          <p:cNvPr id="2" name="Прямоугольник 1"/>
          <p:cNvSpPr/>
          <p:nvPr/>
        </p:nvSpPr>
        <p:spPr>
          <a:xfrm>
            <a:off x="461639" y="1076441"/>
            <a:ext cx="8197331" cy="3701013"/>
          </a:xfrm>
          <a:prstGeom prst="rect">
            <a:avLst/>
          </a:prstGeom>
        </p:spPr>
        <p:txBody>
          <a:bodyPr wrap="square">
            <a:spAutoFit/>
          </a:bodyPr>
          <a:lstStyle/>
          <a:p>
            <a:pPr>
              <a:spcBef>
                <a:spcPts val="600"/>
              </a:spcBef>
              <a:spcAft>
                <a:spcPts val="600"/>
              </a:spcAft>
              <a:buNone/>
            </a:pPr>
            <a:r>
              <a:rPr lang="ru-RU" sz="1200" dirty="0">
                <a:solidFill>
                  <a:schemeClr val="tx1"/>
                </a:solidFill>
                <a:latin typeface="+mn-lt"/>
              </a:rPr>
              <a:t>После создания кейспейса и необходимых таблиц, мы можем вносить в них данные. Для этого можно использовать операторы языка </a:t>
            </a:r>
            <a:r>
              <a:rPr lang="en-US" sz="1200" dirty="0">
                <a:solidFill>
                  <a:schemeClr val="tx1"/>
                </a:solidFill>
                <a:latin typeface="+mn-lt"/>
              </a:rPr>
              <a:t>CQL:</a:t>
            </a:r>
            <a:endParaRPr lang="ru-RU" sz="1200" dirty="0">
              <a:solidFill>
                <a:schemeClr val="tx1"/>
              </a:solidFill>
              <a:latin typeface="+mn-lt"/>
            </a:endParaRPr>
          </a:p>
          <a:p>
            <a:pPr marL="342900" indent="-342900">
              <a:spcAft>
                <a:spcPts val="600"/>
              </a:spcAft>
            </a:pPr>
            <a:r>
              <a:rPr lang="ru-RU" sz="1200" dirty="0">
                <a:solidFill>
                  <a:schemeClr val="tx1"/>
                </a:solidFill>
                <a:latin typeface="+mn-lt"/>
              </a:rPr>
              <a:t>INSERT - оператор языка СQL, который позволяет добавить строку со значениями в таблицу</a:t>
            </a:r>
          </a:p>
          <a:p>
            <a:pPr eaLnBrk="0" fontAlgn="base" hangingPunct="0">
              <a:spcBef>
                <a:spcPct val="0"/>
              </a:spcBef>
              <a:spcAft>
                <a:spcPct val="0"/>
              </a:spcAft>
              <a:buNone/>
              <a:defRPr/>
            </a:pPr>
            <a:r>
              <a:rPr lang="ru-RU" sz="1000" kern="1200" dirty="0">
                <a:solidFill>
                  <a:schemeClr val="tx1"/>
                </a:solidFill>
                <a:latin typeface="+mn-lt"/>
                <a:cs typeface="Courier New" panose="02070309020205020404" pitchFamily="49" charset="0"/>
              </a:rPr>
              <a:t>   </a:t>
            </a:r>
            <a:r>
              <a:rPr lang="en-US" sz="1000" kern="1200" dirty="0">
                <a:solidFill>
                  <a:schemeClr val="tx1"/>
                </a:solidFill>
                <a:latin typeface="+mn-lt"/>
                <a:cs typeface="Courier New" panose="02070309020205020404" pitchFamily="49" charset="0"/>
              </a:rPr>
              <a:t>cqlsh:example&gt; INSERT INTO users (username, fullname, regdate, status) </a:t>
            </a:r>
            <a:endParaRPr lang="ru-RU" sz="1000" kern="1200" dirty="0">
              <a:solidFill>
                <a:schemeClr val="tx1"/>
              </a:solidFill>
              <a:latin typeface="+mn-lt"/>
              <a:cs typeface="Courier New" panose="02070309020205020404" pitchFamily="49" charset="0"/>
            </a:endParaRPr>
          </a:p>
          <a:p>
            <a:pPr eaLnBrk="0" fontAlgn="base" hangingPunct="0">
              <a:spcBef>
                <a:spcPct val="0"/>
              </a:spcBef>
              <a:spcAft>
                <a:spcPct val="0"/>
              </a:spcAft>
              <a:buNone/>
              <a:defRPr/>
            </a:pPr>
            <a:r>
              <a:rPr lang="ru-RU" sz="1000" dirty="0">
                <a:solidFill>
                  <a:schemeClr val="tx1"/>
                </a:solidFill>
                <a:latin typeface="+mn-lt"/>
                <a:cs typeface="Courier New" panose="02070309020205020404" pitchFamily="49" charset="0"/>
              </a:rPr>
              <a:t>                         </a:t>
            </a:r>
            <a:r>
              <a:rPr lang="en-US" sz="1000" kern="1200" dirty="0">
                <a:solidFill>
                  <a:schemeClr val="tx1"/>
                </a:solidFill>
                <a:latin typeface="+mn-lt"/>
                <a:cs typeface="Courier New" panose="02070309020205020404" pitchFamily="49" charset="0"/>
              </a:rPr>
              <a:t>VALUES ("ivanovi", "</a:t>
            </a:r>
            <a:r>
              <a:rPr lang="ru-RU" sz="1000" kern="1200" dirty="0">
                <a:solidFill>
                  <a:schemeClr val="tx1"/>
                </a:solidFill>
                <a:latin typeface="+mn-lt"/>
                <a:cs typeface="Courier New" panose="02070309020205020404" pitchFamily="49" charset="0"/>
              </a:rPr>
              <a:t>Иван Иванов", 01.01.2020, "</a:t>
            </a:r>
            <a:r>
              <a:rPr lang="en-US" sz="1000" kern="1200" dirty="0">
                <a:solidFill>
                  <a:schemeClr val="tx1"/>
                </a:solidFill>
                <a:latin typeface="+mn-lt"/>
                <a:cs typeface="Courier New" panose="02070309020205020404" pitchFamily="49" charset="0"/>
              </a:rPr>
              <a:t>Available");</a:t>
            </a:r>
            <a:endParaRPr lang="ru-RU" sz="1000" kern="1200" dirty="0">
              <a:solidFill>
                <a:schemeClr val="tx1"/>
              </a:solidFill>
              <a:latin typeface="+mn-lt"/>
              <a:cs typeface="Courier New" panose="02070309020205020404" pitchFamily="49" charset="0"/>
            </a:endParaRPr>
          </a:p>
          <a:p>
            <a:pPr marL="342900" indent="-342900">
              <a:spcBef>
                <a:spcPts val="600"/>
              </a:spcBef>
              <a:spcAft>
                <a:spcPts val="600"/>
              </a:spcAft>
            </a:pPr>
            <a:r>
              <a:rPr lang="ru-RU" sz="1200" dirty="0">
                <a:solidFill>
                  <a:schemeClr val="tx1"/>
                </a:solidFill>
                <a:latin typeface="+mn-lt"/>
              </a:rPr>
              <a:t>SELECT - оператор запроса в языке СQL, возвращающий набор данных (выборку) из базы данных.</a:t>
            </a:r>
          </a:p>
          <a:p>
            <a:r>
              <a:rPr lang="ru-RU" sz="1000" kern="1200" dirty="0">
                <a:solidFill>
                  <a:schemeClr val="tx1"/>
                </a:solidFill>
                <a:latin typeface="+mn-lt"/>
                <a:cs typeface="Courier New" panose="02070309020205020404" pitchFamily="49" charset="0"/>
              </a:rPr>
              <a:t>   </a:t>
            </a:r>
            <a:r>
              <a:rPr lang="en-US" sz="1000" kern="1200" dirty="0">
                <a:solidFill>
                  <a:schemeClr val="tx1"/>
                </a:solidFill>
                <a:latin typeface="+mn-lt"/>
                <a:cs typeface="Courier New" panose="02070309020205020404" pitchFamily="49" charset="0"/>
              </a:rPr>
              <a:t>cqlsh:example&gt; SELECT username FROM users WHERE id = 1; </a:t>
            </a:r>
            <a:endParaRPr lang="ru-RU" sz="1000" kern="1200" dirty="0">
              <a:solidFill>
                <a:schemeClr val="tx1"/>
              </a:solidFill>
              <a:latin typeface="+mn-lt"/>
              <a:cs typeface="Courier New" panose="02070309020205020404" pitchFamily="49" charset="0"/>
            </a:endParaRPr>
          </a:p>
          <a:p>
            <a:r>
              <a:rPr lang="ru-RU" sz="1000" dirty="0">
                <a:solidFill>
                  <a:schemeClr val="tx1"/>
                </a:solidFill>
                <a:latin typeface="+mn-lt"/>
                <a:cs typeface="Courier New" panose="02070309020205020404" pitchFamily="49" charset="0"/>
              </a:rPr>
              <a:t>   </a:t>
            </a:r>
            <a:r>
              <a:rPr lang="en-US" sz="1000" dirty="0">
                <a:solidFill>
                  <a:schemeClr val="tx1"/>
                </a:solidFill>
                <a:latin typeface="+mn-lt"/>
                <a:cs typeface="Courier New" panose="02070309020205020404" pitchFamily="49" charset="0"/>
              </a:rPr>
              <a:t># </a:t>
            </a:r>
            <a:r>
              <a:rPr lang="ru-RU" sz="1000" dirty="0">
                <a:solidFill>
                  <a:schemeClr val="tx1"/>
                </a:solidFill>
                <a:latin typeface="+mn-lt"/>
                <a:cs typeface="Courier New" panose="02070309020205020404" pitchFamily="49" charset="0"/>
              </a:rPr>
              <a:t>или</a:t>
            </a:r>
          </a:p>
          <a:p>
            <a:r>
              <a:rPr lang="ru-RU" sz="1000" kern="1200" dirty="0">
                <a:solidFill>
                  <a:schemeClr val="tx1"/>
                </a:solidFill>
                <a:latin typeface="+mn-lt"/>
                <a:cs typeface="Courier New" panose="02070309020205020404" pitchFamily="49" charset="0"/>
              </a:rPr>
              <a:t>   </a:t>
            </a:r>
            <a:r>
              <a:rPr lang="en-US" sz="1000" kern="1200" dirty="0">
                <a:solidFill>
                  <a:schemeClr val="tx1"/>
                </a:solidFill>
                <a:latin typeface="+mn-lt"/>
                <a:cs typeface="Courier New" panose="02070309020205020404" pitchFamily="49" charset="0"/>
              </a:rPr>
              <a:t>cqlsh:example&gt; SELECT * FROM users WHERE id = 1;</a:t>
            </a:r>
            <a:r>
              <a:rPr lang="ru-RU" sz="1000" kern="1200" dirty="0">
                <a:solidFill>
                  <a:schemeClr val="tx1"/>
                </a:solidFill>
                <a:latin typeface="+mn-lt"/>
                <a:cs typeface="Courier New" panose="02070309020205020404" pitchFamily="49" charset="0"/>
              </a:rPr>
              <a:t> </a:t>
            </a:r>
          </a:p>
          <a:p>
            <a:pPr marL="360000" indent="-360000">
              <a:spcBef>
                <a:spcPts val="600"/>
              </a:spcBef>
              <a:spcAft>
                <a:spcPts val="600"/>
              </a:spcAft>
            </a:pPr>
            <a:r>
              <a:rPr lang="ru-RU" sz="1200" dirty="0">
                <a:solidFill>
                  <a:schemeClr val="tx1"/>
                </a:solidFill>
                <a:latin typeface="+mn-lt"/>
              </a:rPr>
              <a:t>UPDATE — оператор языка СQL, позволяющий обновить значения в заданных столбцах таблицы.</a:t>
            </a:r>
          </a:p>
          <a:p>
            <a:pPr eaLnBrk="0" fontAlgn="base" hangingPunct="0">
              <a:spcBef>
                <a:spcPct val="0"/>
              </a:spcBef>
              <a:spcAft>
                <a:spcPct val="0"/>
              </a:spcAft>
              <a:buNone/>
              <a:defRPr/>
            </a:pPr>
            <a:r>
              <a:rPr lang="ru-RU" sz="1000" kern="1200" dirty="0">
                <a:solidFill>
                  <a:schemeClr val="tx1"/>
                </a:solidFill>
                <a:latin typeface="+mn-lt"/>
                <a:cs typeface="Courier New" panose="02070309020205020404" pitchFamily="49" charset="0"/>
              </a:rPr>
              <a:t>   </a:t>
            </a:r>
            <a:r>
              <a:rPr lang="en-US" sz="1000" kern="1200" dirty="0">
                <a:solidFill>
                  <a:schemeClr val="tx1"/>
                </a:solidFill>
                <a:latin typeface="+mn-lt"/>
                <a:cs typeface="Courier New" panose="02070309020205020404" pitchFamily="49" charset="0"/>
              </a:rPr>
              <a:t>cqlsh:example&gt; UPDATE users SET status = 'Busy' WHERE id = 1;</a:t>
            </a:r>
          </a:p>
          <a:p>
            <a:pPr marL="342900" indent="-342900">
              <a:spcBef>
                <a:spcPts val="600"/>
              </a:spcBef>
              <a:spcAft>
                <a:spcPts val="600"/>
              </a:spcAft>
            </a:pPr>
            <a:r>
              <a:rPr lang="ru-RU" sz="1200" dirty="0">
                <a:solidFill>
                  <a:schemeClr val="tx1"/>
                </a:solidFill>
                <a:latin typeface="+mn-lt"/>
              </a:rPr>
              <a:t>DELETE — оператор удаления записей из таблицы. Критерий отбора записей для удаления определяется выражением </a:t>
            </a:r>
            <a:r>
              <a:rPr lang="ru-RU" sz="1200" b="1" dirty="0">
                <a:solidFill>
                  <a:schemeClr val="tx1"/>
                </a:solidFill>
                <a:latin typeface="+mn-lt"/>
              </a:rPr>
              <a:t>where</a:t>
            </a:r>
            <a:r>
              <a:rPr lang="ru-RU" sz="1200" dirty="0">
                <a:solidFill>
                  <a:schemeClr val="tx1"/>
                </a:solidFill>
                <a:latin typeface="+mn-lt"/>
              </a:rPr>
              <a:t>. В случае, если критерий отбора не определён, выполняется удаление всех записей:</a:t>
            </a:r>
          </a:p>
          <a:p>
            <a:pPr lvl="0" eaLnBrk="0" fontAlgn="base" hangingPunct="0">
              <a:spcBef>
                <a:spcPct val="0"/>
              </a:spcBef>
              <a:spcAft>
                <a:spcPct val="0"/>
              </a:spcAft>
              <a:buClrTx/>
              <a:defRPr/>
            </a:pPr>
            <a:r>
              <a:rPr lang="ru-RU" sz="1000" kern="1200" dirty="0">
                <a:solidFill>
                  <a:schemeClr val="tx1"/>
                </a:solidFill>
                <a:latin typeface="+mn-lt"/>
                <a:cs typeface="Courier New" panose="02070309020205020404" pitchFamily="49" charset="0"/>
              </a:rPr>
              <a:t>   </a:t>
            </a:r>
            <a:r>
              <a:rPr lang="en-US" sz="1000" kern="1200" dirty="0">
                <a:solidFill>
                  <a:schemeClr val="tx1"/>
                </a:solidFill>
                <a:latin typeface="+mn-lt"/>
                <a:cs typeface="Courier New" panose="02070309020205020404" pitchFamily="49" charset="0"/>
              </a:rPr>
              <a:t>cqlsh:example&gt; DELETE FROM users WHERE id = 3;</a:t>
            </a:r>
            <a:endParaRPr lang="ru-RU" sz="1000" kern="1200" dirty="0">
              <a:solidFill>
                <a:schemeClr val="tx1"/>
              </a:solidFill>
              <a:latin typeface="+mn-lt"/>
              <a:cs typeface="Courier New" panose="02070309020205020404" pitchFamily="49" charset="0"/>
            </a:endParaRPr>
          </a:p>
          <a:p>
            <a:pPr lvl="0" eaLnBrk="0" fontAlgn="base" hangingPunct="0">
              <a:spcBef>
                <a:spcPct val="0"/>
              </a:spcBef>
              <a:spcAft>
                <a:spcPct val="0"/>
              </a:spcAft>
              <a:buClrTx/>
              <a:defRPr/>
            </a:pPr>
            <a:r>
              <a:rPr lang="ru-RU" sz="1000" kern="1200" dirty="0">
                <a:solidFill>
                  <a:schemeClr val="tx1"/>
                </a:solidFill>
                <a:latin typeface="+mn-lt"/>
                <a:cs typeface="Courier New" panose="02070309020205020404" pitchFamily="49" charset="0"/>
              </a:rPr>
              <a:t>   </a:t>
            </a:r>
            <a:r>
              <a:rPr lang="en-US" sz="1000" kern="1200" dirty="0">
                <a:solidFill>
                  <a:schemeClr val="tx1"/>
                </a:solidFill>
                <a:latin typeface="+mn-lt"/>
                <a:cs typeface="Courier New" panose="02070309020205020404" pitchFamily="49" charset="0"/>
              </a:rPr>
              <a:t># или</a:t>
            </a:r>
            <a:r>
              <a:rPr lang="ru-RU" sz="1000" kern="1200" dirty="0">
                <a:solidFill>
                  <a:schemeClr val="tx1"/>
                </a:solidFill>
                <a:latin typeface="+mn-lt"/>
                <a:cs typeface="Courier New" panose="02070309020205020404" pitchFamily="49" charset="0"/>
              </a:rPr>
              <a:t>:</a:t>
            </a:r>
            <a:endParaRPr lang="en-US" sz="1000" kern="1200" dirty="0">
              <a:solidFill>
                <a:schemeClr val="tx1"/>
              </a:solidFill>
              <a:latin typeface="+mn-lt"/>
              <a:cs typeface="Courier New" panose="02070309020205020404" pitchFamily="49" charset="0"/>
            </a:endParaRPr>
          </a:p>
          <a:p>
            <a:pPr lvl="0" eaLnBrk="0" fontAlgn="base" hangingPunct="0">
              <a:spcBef>
                <a:spcPct val="0"/>
              </a:spcBef>
              <a:spcAft>
                <a:spcPct val="0"/>
              </a:spcAft>
              <a:buClrTx/>
              <a:defRPr/>
            </a:pPr>
            <a:r>
              <a:rPr lang="ru-RU" sz="1000" kern="1200" dirty="0">
                <a:solidFill>
                  <a:schemeClr val="tx1"/>
                </a:solidFill>
                <a:latin typeface="+mn-lt"/>
                <a:cs typeface="Courier New" panose="02070309020205020404" pitchFamily="49" charset="0"/>
              </a:rPr>
              <a:t>   </a:t>
            </a:r>
            <a:r>
              <a:rPr lang="en-US" sz="1000" kern="1200" dirty="0">
                <a:solidFill>
                  <a:schemeClr val="tx1"/>
                </a:solidFill>
                <a:latin typeface="+mn-lt"/>
                <a:cs typeface="Courier New" panose="02070309020205020404" pitchFamily="49" charset="0"/>
              </a:rPr>
              <a:t>cqlsh:example&gt; DELETE FROM users;</a:t>
            </a:r>
            <a:endParaRPr lang="ru-RU" sz="1000" kern="1200" dirty="0">
              <a:solidFill>
                <a:schemeClr val="tx1"/>
              </a:solidFill>
              <a:latin typeface="+mn-lt"/>
              <a:cs typeface="Courier New" panose="02070309020205020404" pitchFamily="49" charset="0"/>
            </a:endParaRPr>
          </a:p>
          <a:p>
            <a:pPr eaLnBrk="1" hangingPunct="1">
              <a:spcBef>
                <a:spcPts val="600"/>
              </a:spcBef>
              <a:buFontTx/>
              <a:buNone/>
            </a:pPr>
            <a:r>
              <a:rPr lang="ru-RU" altLang="ru-RU" sz="1200" dirty="0">
                <a:solidFill>
                  <a:schemeClr val="tx1"/>
                </a:solidFill>
                <a:latin typeface="+mn-lt"/>
              </a:rPr>
              <a:t>Больше информации по операторам </a:t>
            </a:r>
            <a:r>
              <a:rPr lang="en-US" altLang="ru-RU" sz="1200" dirty="0">
                <a:solidFill>
                  <a:schemeClr val="tx1"/>
                </a:solidFill>
                <a:latin typeface="+mn-lt"/>
              </a:rPr>
              <a:t>CQL</a:t>
            </a:r>
            <a:r>
              <a:rPr lang="ru-RU" altLang="ru-RU" sz="1200" dirty="0">
                <a:solidFill>
                  <a:schemeClr val="tx1"/>
                </a:solidFill>
                <a:latin typeface="+mn-lt"/>
              </a:rPr>
              <a:t> (</a:t>
            </a:r>
            <a:r>
              <a:rPr lang="en-US" altLang="ru-RU" sz="1200" dirty="0">
                <a:solidFill>
                  <a:schemeClr val="tx1"/>
                </a:solidFill>
                <a:latin typeface="+mn-lt"/>
              </a:rPr>
              <a:t>DML</a:t>
            </a:r>
            <a:r>
              <a:rPr lang="ru-RU" altLang="ru-RU" sz="1200" dirty="0">
                <a:solidFill>
                  <a:schemeClr val="tx1"/>
                </a:solidFill>
                <a:latin typeface="+mn-lt"/>
              </a:rPr>
              <a:t>): </a:t>
            </a:r>
            <a:r>
              <a:rPr lang="en-US" altLang="ru-RU" sz="1200" dirty="0">
                <a:solidFill>
                  <a:schemeClr val="tx1"/>
                </a:solidFill>
                <a:latin typeface="+mn-lt"/>
                <a:hlinkClick r:id="rId3"/>
              </a:rPr>
              <a:t>https://docs.scylladb.com/getting-started/dml/#</a:t>
            </a:r>
            <a:r>
              <a:rPr lang="ru-RU" altLang="ru-RU" sz="1200" dirty="0">
                <a:solidFill>
                  <a:schemeClr val="tx1"/>
                </a:solidFill>
                <a:latin typeface="+mn-lt"/>
              </a:rPr>
              <a:t> </a:t>
            </a:r>
          </a:p>
        </p:txBody>
      </p:sp>
    </p:spTree>
    <p:extLst>
      <p:ext uri="{BB962C8B-B14F-4D97-AF65-F5344CB8AC3E}">
        <p14:creationId xmlns:p14="http://schemas.microsoft.com/office/powerpoint/2010/main" val="14385433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461640" y="309076"/>
            <a:ext cx="8197330" cy="707886"/>
          </a:xfrm>
          <a:prstGeom prst="rect">
            <a:avLst/>
          </a:prstGeom>
          <a:noFill/>
        </p:spPr>
        <p:txBody>
          <a:bodyPr wrap="square">
            <a:spAutoFit/>
          </a:bodyPr>
          <a:lstStyle/>
          <a:p>
            <a:r>
              <a:rPr lang="ru-RU" sz="4000" kern="1200" dirty="0">
                <a:solidFill>
                  <a:schemeClr val="accent3"/>
                </a:solidFill>
                <a:latin typeface="+mj-lt"/>
              </a:rPr>
              <a:t>Работа со ScyllaDB из Python</a:t>
            </a:r>
            <a:endParaRPr lang="ru-RU" sz="4000" dirty="0">
              <a:solidFill>
                <a:schemeClr val="accent3"/>
              </a:solidFill>
              <a:latin typeface="+mj-lt"/>
            </a:endParaRPr>
          </a:p>
        </p:txBody>
      </p:sp>
      <p:sp>
        <p:nvSpPr>
          <p:cNvPr id="2" name="Прямоугольник 1"/>
          <p:cNvSpPr/>
          <p:nvPr/>
        </p:nvSpPr>
        <p:spPr>
          <a:xfrm>
            <a:off x="461639" y="1076441"/>
            <a:ext cx="8197331" cy="3739485"/>
          </a:xfrm>
          <a:prstGeom prst="rect">
            <a:avLst/>
          </a:prstGeom>
        </p:spPr>
        <p:txBody>
          <a:bodyPr wrap="square">
            <a:spAutoFit/>
          </a:bodyPr>
          <a:lstStyle/>
          <a:p>
            <a:pPr algn="just" eaLnBrk="1" hangingPunct="1">
              <a:spcBef>
                <a:spcPts val="600"/>
              </a:spcBef>
              <a:spcAft>
                <a:spcPts val="600"/>
              </a:spcAft>
              <a:buNone/>
            </a:pPr>
            <a:r>
              <a:rPr lang="ru-RU" sz="1200" dirty="0">
                <a:solidFill>
                  <a:schemeClr val="tx1"/>
                </a:solidFill>
                <a:latin typeface="+mn-lt"/>
              </a:rPr>
              <a:t>Для работы со </a:t>
            </a:r>
            <a:r>
              <a:rPr lang="en-US" sz="1200" dirty="0">
                <a:solidFill>
                  <a:schemeClr val="tx1"/>
                </a:solidFill>
                <a:latin typeface="+mn-lt"/>
              </a:rPr>
              <a:t>Scylla </a:t>
            </a:r>
            <a:r>
              <a:rPr lang="ru-RU" sz="1200" dirty="0">
                <a:solidFill>
                  <a:schemeClr val="tx1"/>
                </a:solidFill>
                <a:latin typeface="+mn-lt"/>
              </a:rPr>
              <a:t>из </a:t>
            </a:r>
            <a:r>
              <a:rPr lang="en-US" sz="1200" dirty="0">
                <a:solidFill>
                  <a:schemeClr val="tx1"/>
                </a:solidFill>
                <a:latin typeface="+mn-lt"/>
              </a:rPr>
              <a:t>Python </a:t>
            </a:r>
            <a:r>
              <a:rPr lang="ru-RU" sz="1200" dirty="0">
                <a:solidFill>
                  <a:schemeClr val="tx1"/>
                </a:solidFill>
                <a:latin typeface="+mn-lt"/>
              </a:rPr>
              <a:t>необходимо установить библиотеку </a:t>
            </a:r>
            <a:r>
              <a:rPr lang="en-US" sz="1200" dirty="0">
                <a:solidFill>
                  <a:schemeClr val="tx1"/>
                </a:solidFill>
                <a:latin typeface="+mn-lt"/>
              </a:rPr>
              <a:t>cassandra-driver.</a:t>
            </a:r>
          </a:p>
          <a:p>
            <a:r>
              <a:rPr lang="en-US" sz="1000" b="1" dirty="0">
                <a:solidFill>
                  <a:srgbClr val="0000FF"/>
                </a:solidFill>
                <a:latin typeface="+mn-lt"/>
              </a:rPr>
              <a:t>from</a:t>
            </a:r>
            <a:r>
              <a:rPr lang="en-US" sz="1000" dirty="0">
                <a:latin typeface="+mn-lt"/>
              </a:rPr>
              <a:t> cassandra</a:t>
            </a:r>
            <a:r>
              <a:rPr lang="en-US" sz="1000" b="1" dirty="0">
                <a:solidFill>
                  <a:srgbClr val="000080"/>
                </a:solidFill>
                <a:latin typeface="+mn-lt"/>
              </a:rPr>
              <a:t>.</a:t>
            </a:r>
            <a:r>
              <a:rPr lang="en-US" sz="1000" dirty="0">
                <a:latin typeface="+mn-lt"/>
              </a:rPr>
              <a:t>cluster </a:t>
            </a:r>
            <a:r>
              <a:rPr lang="en-US" sz="1000" b="1" dirty="0">
                <a:solidFill>
                  <a:srgbClr val="0000FF"/>
                </a:solidFill>
                <a:latin typeface="+mn-lt"/>
              </a:rPr>
              <a:t>import</a:t>
            </a:r>
            <a:r>
              <a:rPr lang="en-US" sz="1000" dirty="0">
                <a:latin typeface="+mn-lt"/>
              </a:rPr>
              <a:t> Cluster </a:t>
            </a:r>
          </a:p>
          <a:p>
            <a:endParaRPr lang="en-US" sz="1000" b="1" dirty="0">
              <a:latin typeface="+mn-lt"/>
            </a:endParaRPr>
          </a:p>
          <a:p>
            <a:r>
              <a:rPr lang="en-US" sz="1000" b="1" dirty="0">
                <a:solidFill>
                  <a:srgbClr val="0000FF"/>
                </a:solidFill>
                <a:latin typeface="+mn-lt"/>
              </a:rPr>
              <a:t>def</a:t>
            </a:r>
            <a:r>
              <a:rPr lang="en-US" sz="1000" dirty="0">
                <a:latin typeface="+mn-lt"/>
              </a:rPr>
              <a:t> </a:t>
            </a:r>
            <a:r>
              <a:rPr lang="en-US" sz="1000" dirty="0">
                <a:solidFill>
                  <a:srgbClr val="FF00FF"/>
                </a:solidFill>
                <a:latin typeface="+mn-lt"/>
              </a:rPr>
              <a:t>insert_users</a:t>
            </a:r>
            <a:r>
              <a:rPr lang="en-US" sz="1000" b="1" dirty="0">
                <a:solidFill>
                  <a:srgbClr val="000080"/>
                </a:solidFill>
                <a:latin typeface="+mn-lt"/>
              </a:rPr>
              <a:t>(</a:t>
            </a:r>
            <a:r>
              <a:rPr lang="en-US" sz="1000" dirty="0">
                <a:latin typeface="+mn-lt"/>
              </a:rPr>
              <a:t>id</a:t>
            </a:r>
            <a:r>
              <a:rPr lang="en-US" sz="1000" b="1" dirty="0">
                <a:solidFill>
                  <a:srgbClr val="000080"/>
                </a:solidFill>
                <a:latin typeface="+mn-lt"/>
              </a:rPr>
              <a:t>,</a:t>
            </a:r>
            <a:r>
              <a:rPr lang="en-US" sz="1000" dirty="0">
                <a:latin typeface="+mn-lt"/>
              </a:rPr>
              <a:t> username</a:t>
            </a:r>
            <a:r>
              <a:rPr lang="en-US" sz="1000" b="1" dirty="0">
                <a:solidFill>
                  <a:srgbClr val="000080"/>
                </a:solidFill>
                <a:latin typeface="+mn-lt"/>
              </a:rPr>
              <a:t>,</a:t>
            </a:r>
            <a:r>
              <a:rPr lang="en-US" sz="1000" dirty="0">
                <a:latin typeface="+mn-lt"/>
              </a:rPr>
              <a:t> fullname</a:t>
            </a:r>
            <a:r>
              <a:rPr lang="en-US" sz="1000" b="1" dirty="0">
                <a:solidFill>
                  <a:srgbClr val="000080"/>
                </a:solidFill>
                <a:latin typeface="+mn-lt"/>
              </a:rPr>
              <a:t>,</a:t>
            </a:r>
            <a:r>
              <a:rPr lang="en-US" sz="1000" dirty="0">
                <a:latin typeface="+mn-lt"/>
              </a:rPr>
              <a:t> regdate</a:t>
            </a:r>
            <a:r>
              <a:rPr lang="en-US" sz="1000" b="1" dirty="0">
                <a:solidFill>
                  <a:srgbClr val="000080"/>
                </a:solidFill>
                <a:latin typeface="+mn-lt"/>
              </a:rPr>
              <a:t>,</a:t>
            </a:r>
            <a:r>
              <a:rPr lang="en-US" sz="1000" dirty="0">
                <a:latin typeface="+mn-lt"/>
              </a:rPr>
              <a:t> status</a:t>
            </a:r>
            <a:r>
              <a:rPr lang="en-US" sz="1000" b="1" dirty="0">
                <a:solidFill>
                  <a:srgbClr val="000080"/>
                </a:solidFill>
                <a:latin typeface="+mn-lt"/>
              </a:rPr>
              <a:t>):</a:t>
            </a:r>
            <a:r>
              <a:rPr lang="en-US" sz="1000" dirty="0">
                <a:latin typeface="+mn-lt"/>
              </a:rPr>
              <a:t>     </a:t>
            </a:r>
          </a:p>
          <a:p>
            <a:r>
              <a:rPr lang="en-US" sz="1000" dirty="0">
                <a:latin typeface="+mn-lt"/>
              </a:rPr>
              <a:t>    session</a:t>
            </a:r>
            <a:r>
              <a:rPr lang="en-US" sz="1000" b="1" dirty="0">
                <a:solidFill>
                  <a:srgbClr val="000080"/>
                </a:solidFill>
                <a:latin typeface="+mn-lt"/>
              </a:rPr>
              <a:t>.</a:t>
            </a:r>
            <a:r>
              <a:rPr lang="en-US" sz="1000" dirty="0">
                <a:latin typeface="+mn-lt"/>
              </a:rPr>
              <a:t>execute</a:t>
            </a:r>
            <a:r>
              <a:rPr lang="en-US" sz="1000" b="1" dirty="0">
                <a:solidFill>
                  <a:srgbClr val="000080"/>
                </a:solidFill>
                <a:latin typeface="+mn-lt"/>
              </a:rPr>
              <a:t>(</a:t>
            </a:r>
          </a:p>
          <a:p>
            <a:r>
              <a:rPr lang="en-US" sz="1000" b="1" dirty="0">
                <a:solidFill>
                  <a:srgbClr val="000080"/>
                </a:solidFill>
                <a:latin typeface="+mn-lt"/>
              </a:rPr>
              <a:t>        </a:t>
            </a:r>
            <a:r>
              <a:rPr lang="en-US" sz="1000" dirty="0">
                <a:solidFill>
                  <a:srgbClr val="808080"/>
                </a:solidFill>
                <a:latin typeface="+mn-lt"/>
              </a:rPr>
              <a:t>"INSERT INTO users (id, username, fullname, regdate, status) VALUES (%s, %s, %s, %s, %s)"</a:t>
            </a:r>
            <a:r>
              <a:rPr lang="en-US" sz="1000" b="1" dirty="0">
                <a:solidFill>
                  <a:srgbClr val="000080"/>
                </a:solidFill>
                <a:latin typeface="+mn-lt"/>
              </a:rPr>
              <a:t>,</a:t>
            </a:r>
            <a:r>
              <a:rPr lang="en-US" sz="1000" dirty="0">
                <a:latin typeface="+mn-lt"/>
              </a:rPr>
              <a:t> </a:t>
            </a:r>
          </a:p>
          <a:p>
            <a:r>
              <a:rPr lang="en-US" sz="1000" b="1" dirty="0">
                <a:latin typeface="+mn-lt"/>
              </a:rPr>
              <a:t>        </a:t>
            </a:r>
            <a:r>
              <a:rPr lang="en-US" sz="1000" b="1" dirty="0">
                <a:solidFill>
                  <a:srgbClr val="000080"/>
                </a:solidFill>
                <a:latin typeface="+mn-lt"/>
              </a:rPr>
              <a:t>(</a:t>
            </a:r>
            <a:r>
              <a:rPr lang="en-US" sz="1000" dirty="0">
                <a:latin typeface="+mn-lt"/>
              </a:rPr>
              <a:t>id</a:t>
            </a:r>
            <a:r>
              <a:rPr lang="en-US" sz="1000" b="1" dirty="0">
                <a:solidFill>
                  <a:srgbClr val="000080"/>
                </a:solidFill>
                <a:latin typeface="+mn-lt"/>
              </a:rPr>
              <a:t>,</a:t>
            </a:r>
            <a:r>
              <a:rPr lang="en-US" sz="1000" dirty="0">
                <a:latin typeface="+mn-lt"/>
              </a:rPr>
              <a:t> username</a:t>
            </a:r>
            <a:r>
              <a:rPr lang="en-US" sz="1000" b="1" dirty="0">
                <a:solidFill>
                  <a:srgbClr val="000080"/>
                </a:solidFill>
                <a:latin typeface="+mn-lt"/>
              </a:rPr>
              <a:t>,</a:t>
            </a:r>
            <a:r>
              <a:rPr lang="en-US" sz="1000" dirty="0">
                <a:latin typeface="+mn-lt"/>
              </a:rPr>
              <a:t> fullname</a:t>
            </a:r>
            <a:r>
              <a:rPr lang="en-US" sz="1000" b="1" dirty="0">
                <a:solidFill>
                  <a:srgbClr val="000080"/>
                </a:solidFill>
                <a:latin typeface="+mn-lt"/>
              </a:rPr>
              <a:t>,</a:t>
            </a:r>
            <a:r>
              <a:rPr lang="en-US" sz="1000" dirty="0">
                <a:latin typeface="+mn-lt"/>
              </a:rPr>
              <a:t> regdate</a:t>
            </a:r>
            <a:r>
              <a:rPr lang="en-US" sz="1000" b="1" dirty="0">
                <a:solidFill>
                  <a:srgbClr val="000080"/>
                </a:solidFill>
                <a:latin typeface="+mn-lt"/>
              </a:rPr>
              <a:t>,</a:t>
            </a:r>
            <a:r>
              <a:rPr lang="en-US" sz="1000" dirty="0">
                <a:latin typeface="+mn-lt"/>
              </a:rPr>
              <a:t> status</a:t>
            </a:r>
            <a:r>
              <a:rPr lang="en-US" sz="1000" b="1" dirty="0">
                <a:solidFill>
                  <a:srgbClr val="000080"/>
                </a:solidFill>
                <a:latin typeface="+mn-lt"/>
              </a:rPr>
              <a:t>)</a:t>
            </a:r>
            <a:r>
              <a:rPr lang="en-US" sz="1000" dirty="0">
                <a:latin typeface="+mn-lt"/>
              </a:rPr>
              <a:t> </a:t>
            </a:r>
          </a:p>
          <a:p>
            <a:r>
              <a:rPr lang="en-US" sz="1000" b="1" dirty="0">
                <a:latin typeface="+mn-lt"/>
              </a:rPr>
              <a:t>    </a:t>
            </a:r>
            <a:r>
              <a:rPr lang="en-US" sz="1000" b="1" dirty="0">
                <a:solidFill>
                  <a:srgbClr val="000080"/>
                </a:solidFill>
                <a:latin typeface="+mn-lt"/>
              </a:rPr>
              <a:t>)</a:t>
            </a:r>
            <a:r>
              <a:rPr lang="en-US" sz="1000" dirty="0">
                <a:latin typeface="+mn-lt"/>
              </a:rPr>
              <a:t> </a:t>
            </a:r>
          </a:p>
          <a:p>
            <a:endParaRPr lang="en-US" sz="1000" b="1" dirty="0">
              <a:latin typeface="+mn-lt"/>
            </a:endParaRPr>
          </a:p>
          <a:p>
            <a:r>
              <a:rPr lang="en-US" sz="1000" b="1" dirty="0">
                <a:solidFill>
                  <a:srgbClr val="0000FF"/>
                </a:solidFill>
                <a:latin typeface="+mn-lt"/>
              </a:rPr>
              <a:t>def</a:t>
            </a:r>
            <a:r>
              <a:rPr lang="en-US" sz="1000" dirty="0">
                <a:latin typeface="+mn-lt"/>
              </a:rPr>
              <a:t> </a:t>
            </a:r>
            <a:r>
              <a:rPr lang="en-US" sz="1000" dirty="0">
                <a:solidFill>
                  <a:srgbClr val="FF00FF"/>
                </a:solidFill>
                <a:latin typeface="+mn-lt"/>
              </a:rPr>
              <a:t>select_users</a:t>
            </a:r>
            <a:r>
              <a:rPr lang="en-US" sz="1000" b="1" dirty="0">
                <a:solidFill>
                  <a:srgbClr val="000080"/>
                </a:solidFill>
                <a:latin typeface="+mn-lt"/>
              </a:rPr>
              <a:t>(</a:t>
            </a:r>
            <a:r>
              <a:rPr lang="en-US" sz="1000" dirty="0">
                <a:latin typeface="+mn-lt"/>
              </a:rPr>
              <a:t>id</a:t>
            </a:r>
            <a:r>
              <a:rPr lang="en-US" sz="1000" b="1" dirty="0">
                <a:solidFill>
                  <a:srgbClr val="000080"/>
                </a:solidFill>
                <a:latin typeface="+mn-lt"/>
              </a:rPr>
              <a:t>=</a:t>
            </a:r>
            <a:r>
              <a:rPr lang="en-US" sz="1000" b="1" dirty="0">
                <a:solidFill>
                  <a:srgbClr val="0000FF"/>
                </a:solidFill>
                <a:latin typeface="+mn-lt"/>
              </a:rPr>
              <a:t>None</a:t>
            </a:r>
            <a:r>
              <a:rPr lang="en-US" sz="1000" b="1" dirty="0">
                <a:solidFill>
                  <a:srgbClr val="000080"/>
                </a:solidFill>
                <a:latin typeface="+mn-lt"/>
              </a:rPr>
              <a:t>):</a:t>
            </a:r>
            <a:r>
              <a:rPr lang="en-US" sz="1000" dirty="0">
                <a:latin typeface="+mn-lt"/>
              </a:rPr>
              <a:t> </a:t>
            </a:r>
          </a:p>
          <a:p>
            <a:r>
              <a:rPr lang="en-US" sz="1000" b="1" dirty="0">
                <a:latin typeface="+mn-lt"/>
              </a:rPr>
              <a:t>    </a:t>
            </a:r>
            <a:r>
              <a:rPr lang="en-US" sz="1000" b="1" dirty="0">
                <a:solidFill>
                  <a:srgbClr val="0000FF"/>
                </a:solidFill>
                <a:latin typeface="+mn-lt"/>
              </a:rPr>
              <a:t>if</a:t>
            </a:r>
            <a:r>
              <a:rPr lang="en-US" sz="1000" dirty="0">
                <a:latin typeface="+mn-lt"/>
              </a:rPr>
              <a:t> id </a:t>
            </a:r>
            <a:r>
              <a:rPr lang="en-US" sz="1000" b="1" dirty="0">
                <a:solidFill>
                  <a:srgbClr val="0000FF"/>
                </a:solidFill>
                <a:latin typeface="+mn-lt"/>
              </a:rPr>
              <a:t>is</a:t>
            </a:r>
            <a:r>
              <a:rPr lang="en-US" sz="1000" dirty="0">
                <a:latin typeface="+mn-lt"/>
              </a:rPr>
              <a:t> </a:t>
            </a:r>
            <a:r>
              <a:rPr lang="en-US" sz="1000" b="1" dirty="0">
                <a:solidFill>
                  <a:srgbClr val="0000FF"/>
                </a:solidFill>
                <a:latin typeface="+mn-lt"/>
              </a:rPr>
              <a:t>None</a:t>
            </a:r>
            <a:r>
              <a:rPr lang="en-US" sz="1000" b="1" dirty="0">
                <a:solidFill>
                  <a:srgbClr val="000080"/>
                </a:solidFill>
                <a:latin typeface="+mn-lt"/>
              </a:rPr>
              <a:t>:</a:t>
            </a:r>
            <a:r>
              <a:rPr lang="en-US" sz="1000" dirty="0">
                <a:latin typeface="+mn-lt"/>
              </a:rPr>
              <a:t> </a:t>
            </a:r>
          </a:p>
          <a:p>
            <a:r>
              <a:rPr lang="en-US" sz="1000" dirty="0">
                <a:latin typeface="+mn-lt"/>
              </a:rPr>
              <a:t>        res </a:t>
            </a:r>
            <a:r>
              <a:rPr lang="en-US" sz="1000" b="1" dirty="0">
                <a:solidFill>
                  <a:srgbClr val="000080"/>
                </a:solidFill>
                <a:latin typeface="+mn-lt"/>
              </a:rPr>
              <a:t>=</a:t>
            </a:r>
            <a:r>
              <a:rPr lang="en-US" sz="1000" dirty="0">
                <a:latin typeface="+mn-lt"/>
              </a:rPr>
              <a:t> session</a:t>
            </a:r>
            <a:r>
              <a:rPr lang="en-US" sz="1000" b="1" dirty="0">
                <a:solidFill>
                  <a:srgbClr val="000080"/>
                </a:solidFill>
                <a:latin typeface="+mn-lt"/>
              </a:rPr>
              <a:t>.</a:t>
            </a:r>
            <a:r>
              <a:rPr lang="en-US" sz="1000" dirty="0">
                <a:latin typeface="+mn-lt"/>
              </a:rPr>
              <a:t>execute</a:t>
            </a:r>
            <a:r>
              <a:rPr lang="en-US" sz="1000" b="1" dirty="0">
                <a:solidFill>
                  <a:srgbClr val="000080"/>
                </a:solidFill>
                <a:latin typeface="+mn-lt"/>
              </a:rPr>
              <a:t>(</a:t>
            </a:r>
            <a:r>
              <a:rPr lang="en-US" sz="1000" dirty="0">
                <a:solidFill>
                  <a:srgbClr val="808080"/>
                </a:solidFill>
                <a:latin typeface="+mn-lt"/>
              </a:rPr>
              <a:t>"SELECT * FROM users"</a:t>
            </a:r>
            <a:r>
              <a:rPr lang="en-US" sz="1000" b="1" dirty="0">
                <a:solidFill>
                  <a:srgbClr val="000080"/>
                </a:solidFill>
                <a:latin typeface="+mn-lt"/>
              </a:rPr>
              <a:t>)</a:t>
            </a:r>
            <a:r>
              <a:rPr lang="en-US" sz="1000" dirty="0">
                <a:latin typeface="+mn-lt"/>
              </a:rPr>
              <a:t> </a:t>
            </a:r>
          </a:p>
          <a:p>
            <a:r>
              <a:rPr lang="en-US" sz="1000" b="1" dirty="0">
                <a:latin typeface="+mn-lt"/>
              </a:rPr>
              <a:t>    </a:t>
            </a:r>
            <a:r>
              <a:rPr lang="en-US" sz="1000" b="1" dirty="0">
                <a:solidFill>
                  <a:srgbClr val="0000FF"/>
                </a:solidFill>
                <a:latin typeface="+mn-lt"/>
              </a:rPr>
              <a:t>else</a:t>
            </a:r>
            <a:r>
              <a:rPr lang="en-US" sz="1000" b="1" dirty="0">
                <a:solidFill>
                  <a:srgbClr val="000080"/>
                </a:solidFill>
                <a:latin typeface="+mn-lt"/>
              </a:rPr>
              <a:t>:</a:t>
            </a:r>
            <a:r>
              <a:rPr lang="en-US" sz="1000" dirty="0">
                <a:latin typeface="+mn-lt"/>
              </a:rPr>
              <a:t> </a:t>
            </a:r>
          </a:p>
          <a:p>
            <a:r>
              <a:rPr lang="en-US" sz="1000" dirty="0">
                <a:latin typeface="+mn-lt"/>
              </a:rPr>
              <a:t>        res </a:t>
            </a:r>
            <a:r>
              <a:rPr lang="en-US" sz="1000" b="1" dirty="0">
                <a:solidFill>
                  <a:srgbClr val="000080"/>
                </a:solidFill>
                <a:latin typeface="+mn-lt"/>
              </a:rPr>
              <a:t>=</a:t>
            </a:r>
            <a:r>
              <a:rPr lang="en-US" sz="1000" dirty="0">
                <a:latin typeface="+mn-lt"/>
              </a:rPr>
              <a:t> session</a:t>
            </a:r>
            <a:r>
              <a:rPr lang="en-US" sz="1000" b="1" dirty="0">
                <a:solidFill>
                  <a:srgbClr val="000080"/>
                </a:solidFill>
                <a:latin typeface="+mn-lt"/>
              </a:rPr>
              <a:t>.</a:t>
            </a:r>
            <a:r>
              <a:rPr lang="en-US" sz="1000" dirty="0">
                <a:latin typeface="+mn-lt"/>
              </a:rPr>
              <a:t>execute</a:t>
            </a:r>
            <a:r>
              <a:rPr lang="en-US" sz="1000" b="1" dirty="0">
                <a:solidFill>
                  <a:srgbClr val="000080"/>
                </a:solidFill>
                <a:latin typeface="+mn-lt"/>
              </a:rPr>
              <a:t>(</a:t>
            </a:r>
            <a:r>
              <a:rPr lang="en-US" sz="1000" dirty="0">
                <a:solidFill>
                  <a:srgbClr val="808080"/>
                </a:solidFill>
                <a:latin typeface="+mn-lt"/>
              </a:rPr>
              <a:t>"SELECT * FROM users WHERE id = %s"</a:t>
            </a:r>
            <a:r>
              <a:rPr lang="en-US" sz="1000" b="1" dirty="0">
                <a:solidFill>
                  <a:srgbClr val="000080"/>
                </a:solidFill>
                <a:latin typeface="+mn-lt"/>
              </a:rPr>
              <a:t>,</a:t>
            </a:r>
            <a:r>
              <a:rPr lang="en-US" sz="1000" dirty="0">
                <a:latin typeface="+mn-lt"/>
              </a:rPr>
              <a:t> </a:t>
            </a:r>
            <a:r>
              <a:rPr lang="en-US" sz="1000" b="1" dirty="0">
                <a:solidFill>
                  <a:srgbClr val="000080"/>
                </a:solidFill>
                <a:latin typeface="+mn-lt"/>
              </a:rPr>
              <a:t>(</a:t>
            </a:r>
            <a:r>
              <a:rPr lang="en-US" sz="1000" dirty="0">
                <a:latin typeface="+mn-lt"/>
              </a:rPr>
              <a:t>id</a:t>
            </a:r>
            <a:r>
              <a:rPr lang="en-US" sz="1000" b="1" dirty="0">
                <a:solidFill>
                  <a:srgbClr val="000080"/>
                </a:solidFill>
                <a:latin typeface="+mn-lt"/>
              </a:rPr>
              <a:t>,))</a:t>
            </a:r>
            <a:r>
              <a:rPr lang="en-US" sz="1000" dirty="0">
                <a:latin typeface="+mn-lt"/>
              </a:rPr>
              <a:t> </a:t>
            </a:r>
          </a:p>
          <a:p>
            <a:r>
              <a:rPr lang="en-US" sz="1000" b="1" dirty="0">
                <a:latin typeface="+mn-lt"/>
              </a:rPr>
              <a:t>    </a:t>
            </a:r>
            <a:r>
              <a:rPr lang="en-US" sz="1000" b="1" dirty="0">
                <a:solidFill>
                  <a:srgbClr val="0000FF"/>
                </a:solidFill>
                <a:latin typeface="+mn-lt"/>
              </a:rPr>
              <a:t>if</a:t>
            </a:r>
            <a:r>
              <a:rPr lang="en-US" sz="1000" dirty="0">
                <a:latin typeface="+mn-lt"/>
              </a:rPr>
              <a:t> res</a:t>
            </a:r>
            <a:r>
              <a:rPr lang="en-US" sz="1000" b="1" dirty="0">
                <a:solidFill>
                  <a:srgbClr val="000080"/>
                </a:solidFill>
                <a:latin typeface="+mn-lt"/>
              </a:rPr>
              <a:t>:</a:t>
            </a:r>
            <a:r>
              <a:rPr lang="en-US" sz="1000" dirty="0">
                <a:latin typeface="+mn-lt"/>
              </a:rPr>
              <a:t> </a:t>
            </a:r>
          </a:p>
          <a:p>
            <a:r>
              <a:rPr lang="en-US" sz="1000" dirty="0">
                <a:latin typeface="+mn-lt"/>
              </a:rPr>
              <a:t>        res </a:t>
            </a:r>
            <a:r>
              <a:rPr lang="en-US" sz="1000" b="1" dirty="0">
                <a:solidFill>
                  <a:srgbClr val="000080"/>
                </a:solidFill>
                <a:latin typeface="+mn-lt"/>
              </a:rPr>
              <a:t>=</a:t>
            </a:r>
            <a:r>
              <a:rPr lang="en-US" sz="1000" dirty="0">
                <a:latin typeface="+mn-lt"/>
              </a:rPr>
              <a:t> </a:t>
            </a:r>
            <a:r>
              <a:rPr lang="en-US" sz="1000" b="1" dirty="0">
                <a:solidFill>
                  <a:srgbClr val="000080"/>
                </a:solidFill>
                <a:latin typeface="+mn-lt"/>
              </a:rPr>
              <a:t>[</a:t>
            </a:r>
            <a:r>
              <a:rPr lang="en-US" sz="1000" dirty="0">
                <a:latin typeface="+mn-lt"/>
              </a:rPr>
              <a:t>item </a:t>
            </a:r>
            <a:r>
              <a:rPr lang="en-US" sz="1000" b="1" dirty="0">
                <a:solidFill>
                  <a:srgbClr val="0000FF"/>
                </a:solidFill>
                <a:latin typeface="+mn-lt"/>
              </a:rPr>
              <a:t>for</a:t>
            </a:r>
            <a:r>
              <a:rPr lang="en-US" sz="1000" dirty="0">
                <a:latin typeface="+mn-lt"/>
              </a:rPr>
              <a:t> item </a:t>
            </a:r>
            <a:r>
              <a:rPr lang="en-US" sz="1000" b="1" dirty="0">
                <a:solidFill>
                  <a:srgbClr val="0000FF"/>
                </a:solidFill>
                <a:latin typeface="+mn-lt"/>
              </a:rPr>
              <a:t>in</a:t>
            </a:r>
            <a:r>
              <a:rPr lang="en-US" sz="1000" dirty="0">
                <a:latin typeface="+mn-lt"/>
              </a:rPr>
              <a:t> res</a:t>
            </a:r>
            <a:r>
              <a:rPr lang="en-US" sz="1000" b="1" dirty="0">
                <a:solidFill>
                  <a:srgbClr val="000080"/>
                </a:solidFill>
                <a:latin typeface="+mn-lt"/>
              </a:rPr>
              <a:t>]</a:t>
            </a:r>
            <a:r>
              <a:rPr lang="en-US" sz="1000" dirty="0">
                <a:latin typeface="+mn-lt"/>
              </a:rPr>
              <a:t> </a:t>
            </a:r>
          </a:p>
          <a:p>
            <a:r>
              <a:rPr lang="en-US" sz="1000" b="1" dirty="0">
                <a:latin typeface="+mn-lt"/>
              </a:rPr>
              <a:t>    </a:t>
            </a:r>
            <a:r>
              <a:rPr lang="en-US" sz="1000" b="1" dirty="0">
                <a:solidFill>
                  <a:srgbClr val="0000FF"/>
                </a:solidFill>
                <a:latin typeface="+mn-lt"/>
              </a:rPr>
              <a:t>return</a:t>
            </a:r>
            <a:r>
              <a:rPr lang="en-US" sz="1000" dirty="0">
                <a:latin typeface="+mn-lt"/>
              </a:rPr>
              <a:t> res </a:t>
            </a:r>
            <a:endParaRPr lang="en-US" sz="1000" b="1" dirty="0">
              <a:latin typeface="+mn-lt"/>
            </a:endParaRPr>
          </a:p>
          <a:p>
            <a:endParaRPr lang="en-US" sz="1000" b="1" dirty="0">
              <a:latin typeface="+mn-lt"/>
            </a:endParaRPr>
          </a:p>
          <a:p>
            <a:r>
              <a:rPr lang="en-US" sz="1000" b="1" dirty="0">
                <a:solidFill>
                  <a:srgbClr val="0000FF"/>
                </a:solidFill>
                <a:latin typeface="+mn-lt"/>
              </a:rPr>
              <a:t>def</a:t>
            </a:r>
            <a:r>
              <a:rPr lang="en-US" sz="1000" dirty="0">
                <a:latin typeface="+mn-lt"/>
              </a:rPr>
              <a:t> </a:t>
            </a:r>
            <a:r>
              <a:rPr lang="en-US" sz="1000" dirty="0">
                <a:solidFill>
                  <a:srgbClr val="FF00FF"/>
                </a:solidFill>
                <a:latin typeface="+mn-lt"/>
              </a:rPr>
              <a:t>update_user_status</a:t>
            </a:r>
            <a:r>
              <a:rPr lang="en-US" sz="1000" b="1" dirty="0">
                <a:solidFill>
                  <a:srgbClr val="000080"/>
                </a:solidFill>
                <a:latin typeface="+mn-lt"/>
              </a:rPr>
              <a:t>(</a:t>
            </a:r>
            <a:r>
              <a:rPr lang="en-US" sz="1000" dirty="0">
                <a:latin typeface="+mn-lt"/>
              </a:rPr>
              <a:t>new_status</a:t>
            </a:r>
            <a:r>
              <a:rPr lang="en-US" sz="1000" b="1" dirty="0">
                <a:solidFill>
                  <a:srgbClr val="000080"/>
                </a:solidFill>
                <a:latin typeface="+mn-lt"/>
              </a:rPr>
              <a:t>,</a:t>
            </a:r>
            <a:r>
              <a:rPr lang="en-US" sz="1000" dirty="0">
                <a:latin typeface="+mn-lt"/>
              </a:rPr>
              <a:t> id</a:t>
            </a:r>
            <a:r>
              <a:rPr lang="en-US" sz="1000" b="1" dirty="0">
                <a:solidFill>
                  <a:srgbClr val="000080"/>
                </a:solidFill>
                <a:latin typeface="+mn-lt"/>
              </a:rPr>
              <a:t>=</a:t>
            </a:r>
            <a:r>
              <a:rPr lang="en-US" sz="1000" b="1" dirty="0">
                <a:solidFill>
                  <a:srgbClr val="0000FF"/>
                </a:solidFill>
                <a:latin typeface="+mn-lt"/>
              </a:rPr>
              <a:t>None</a:t>
            </a:r>
            <a:r>
              <a:rPr lang="en-US" sz="1000" b="1" dirty="0">
                <a:solidFill>
                  <a:srgbClr val="000080"/>
                </a:solidFill>
                <a:latin typeface="+mn-lt"/>
              </a:rPr>
              <a:t>):</a:t>
            </a:r>
            <a:r>
              <a:rPr lang="en-US" sz="1000" dirty="0">
                <a:latin typeface="+mn-lt"/>
              </a:rPr>
              <a:t> </a:t>
            </a:r>
          </a:p>
          <a:p>
            <a:r>
              <a:rPr lang="en-US" sz="1000" b="1" dirty="0">
                <a:latin typeface="+mn-lt"/>
              </a:rPr>
              <a:t>    </a:t>
            </a:r>
            <a:r>
              <a:rPr lang="en-US" sz="1000" b="1" dirty="0">
                <a:solidFill>
                  <a:srgbClr val="0000FF"/>
                </a:solidFill>
                <a:latin typeface="+mn-lt"/>
              </a:rPr>
              <a:t>if</a:t>
            </a:r>
            <a:r>
              <a:rPr lang="en-US" sz="1000" dirty="0">
                <a:latin typeface="+mn-lt"/>
              </a:rPr>
              <a:t> id </a:t>
            </a:r>
            <a:r>
              <a:rPr lang="en-US" sz="1000" b="1" dirty="0">
                <a:solidFill>
                  <a:srgbClr val="0000FF"/>
                </a:solidFill>
                <a:latin typeface="+mn-lt"/>
              </a:rPr>
              <a:t>is</a:t>
            </a:r>
            <a:r>
              <a:rPr lang="en-US" sz="1000" dirty="0">
                <a:latin typeface="+mn-lt"/>
              </a:rPr>
              <a:t> </a:t>
            </a:r>
            <a:r>
              <a:rPr lang="en-US" sz="1000" b="1" dirty="0">
                <a:solidFill>
                  <a:srgbClr val="0000FF"/>
                </a:solidFill>
                <a:latin typeface="+mn-lt"/>
              </a:rPr>
              <a:t>None</a:t>
            </a:r>
            <a:r>
              <a:rPr lang="en-US" sz="1000" b="1" dirty="0">
                <a:solidFill>
                  <a:srgbClr val="000080"/>
                </a:solidFill>
                <a:latin typeface="+mn-lt"/>
              </a:rPr>
              <a:t>:</a:t>
            </a:r>
            <a:r>
              <a:rPr lang="en-US" sz="1000" dirty="0">
                <a:latin typeface="+mn-lt"/>
              </a:rPr>
              <a:t> </a:t>
            </a:r>
          </a:p>
          <a:p>
            <a:r>
              <a:rPr lang="en-US" sz="1000" dirty="0">
                <a:latin typeface="+mn-lt"/>
              </a:rPr>
              <a:t>        session</a:t>
            </a:r>
            <a:r>
              <a:rPr lang="en-US" sz="1000" b="1" dirty="0">
                <a:solidFill>
                  <a:srgbClr val="000080"/>
                </a:solidFill>
                <a:latin typeface="+mn-lt"/>
              </a:rPr>
              <a:t>.</a:t>
            </a:r>
            <a:r>
              <a:rPr lang="en-US" sz="1000" dirty="0">
                <a:latin typeface="+mn-lt"/>
              </a:rPr>
              <a:t>execute</a:t>
            </a:r>
            <a:r>
              <a:rPr lang="en-US" sz="1000" b="1" dirty="0">
                <a:solidFill>
                  <a:srgbClr val="000080"/>
                </a:solidFill>
                <a:latin typeface="+mn-lt"/>
              </a:rPr>
              <a:t>(</a:t>
            </a:r>
            <a:r>
              <a:rPr lang="en-US" sz="1000" dirty="0">
                <a:solidFill>
                  <a:srgbClr val="808080"/>
                </a:solidFill>
                <a:latin typeface="+mn-lt"/>
              </a:rPr>
              <a:t>"UPDATE users SET status = %s"</a:t>
            </a:r>
            <a:r>
              <a:rPr lang="en-US" sz="1000" b="1" dirty="0">
                <a:solidFill>
                  <a:srgbClr val="000080"/>
                </a:solidFill>
                <a:latin typeface="+mn-lt"/>
              </a:rPr>
              <a:t>,</a:t>
            </a:r>
            <a:r>
              <a:rPr lang="en-US" sz="1000" dirty="0">
                <a:latin typeface="+mn-lt"/>
              </a:rPr>
              <a:t> </a:t>
            </a:r>
            <a:r>
              <a:rPr lang="en-US" sz="1000" b="1" dirty="0">
                <a:solidFill>
                  <a:srgbClr val="000080"/>
                </a:solidFill>
                <a:latin typeface="+mn-lt"/>
              </a:rPr>
              <a:t>(</a:t>
            </a:r>
            <a:r>
              <a:rPr lang="en-US" sz="1000" dirty="0">
                <a:latin typeface="+mn-lt"/>
              </a:rPr>
              <a:t>new_status</a:t>
            </a:r>
            <a:r>
              <a:rPr lang="en-US" sz="1000" b="1" dirty="0">
                <a:solidFill>
                  <a:srgbClr val="000080"/>
                </a:solidFill>
                <a:latin typeface="+mn-lt"/>
              </a:rPr>
              <a:t>))</a:t>
            </a:r>
            <a:r>
              <a:rPr lang="en-US" sz="1000" dirty="0">
                <a:latin typeface="+mn-lt"/>
              </a:rPr>
              <a:t> </a:t>
            </a:r>
          </a:p>
          <a:p>
            <a:r>
              <a:rPr lang="en-US" sz="1000" b="1" dirty="0">
                <a:latin typeface="+mn-lt"/>
              </a:rPr>
              <a:t>    </a:t>
            </a:r>
            <a:r>
              <a:rPr lang="en-US" sz="1000" b="1" dirty="0">
                <a:solidFill>
                  <a:srgbClr val="0000FF"/>
                </a:solidFill>
                <a:latin typeface="+mn-lt"/>
              </a:rPr>
              <a:t>else</a:t>
            </a:r>
            <a:r>
              <a:rPr lang="en-US" sz="1000" b="1" dirty="0">
                <a:solidFill>
                  <a:srgbClr val="000080"/>
                </a:solidFill>
                <a:latin typeface="+mn-lt"/>
              </a:rPr>
              <a:t>:</a:t>
            </a:r>
            <a:r>
              <a:rPr lang="en-US" sz="1000" dirty="0">
                <a:latin typeface="+mn-lt"/>
              </a:rPr>
              <a:t> </a:t>
            </a:r>
          </a:p>
          <a:p>
            <a:r>
              <a:rPr lang="en-US" sz="1000" dirty="0">
                <a:latin typeface="+mn-lt"/>
              </a:rPr>
              <a:t>        session</a:t>
            </a:r>
            <a:r>
              <a:rPr lang="en-US" sz="1000" b="1" dirty="0">
                <a:solidFill>
                  <a:srgbClr val="000080"/>
                </a:solidFill>
                <a:latin typeface="+mn-lt"/>
              </a:rPr>
              <a:t>.</a:t>
            </a:r>
            <a:r>
              <a:rPr lang="en-US" sz="1000" dirty="0">
                <a:latin typeface="+mn-lt"/>
              </a:rPr>
              <a:t>execute</a:t>
            </a:r>
            <a:r>
              <a:rPr lang="en-US" sz="1000" b="1" dirty="0">
                <a:solidFill>
                  <a:srgbClr val="000080"/>
                </a:solidFill>
                <a:latin typeface="+mn-lt"/>
              </a:rPr>
              <a:t>(</a:t>
            </a:r>
            <a:r>
              <a:rPr lang="en-US" sz="1000" dirty="0">
                <a:solidFill>
                  <a:srgbClr val="808080"/>
                </a:solidFill>
                <a:latin typeface="+mn-lt"/>
              </a:rPr>
              <a:t>"UPDATE users SET status = %s WHERE id = %s"</a:t>
            </a:r>
            <a:r>
              <a:rPr lang="en-US" sz="1000" b="1" dirty="0">
                <a:solidFill>
                  <a:srgbClr val="000080"/>
                </a:solidFill>
                <a:latin typeface="+mn-lt"/>
              </a:rPr>
              <a:t>,</a:t>
            </a:r>
            <a:r>
              <a:rPr lang="en-US" sz="1000" dirty="0">
                <a:latin typeface="+mn-lt"/>
              </a:rPr>
              <a:t> </a:t>
            </a:r>
            <a:r>
              <a:rPr lang="en-US" sz="1000" b="1" dirty="0">
                <a:solidFill>
                  <a:srgbClr val="000080"/>
                </a:solidFill>
                <a:latin typeface="+mn-lt"/>
              </a:rPr>
              <a:t>(</a:t>
            </a:r>
            <a:r>
              <a:rPr lang="en-US" sz="1000" dirty="0">
                <a:latin typeface="+mn-lt"/>
              </a:rPr>
              <a:t>new_status</a:t>
            </a:r>
            <a:r>
              <a:rPr lang="en-US" sz="1000" b="1" dirty="0">
                <a:solidFill>
                  <a:srgbClr val="000080"/>
                </a:solidFill>
                <a:latin typeface="+mn-lt"/>
              </a:rPr>
              <a:t>,</a:t>
            </a:r>
            <a:r>
              <a:rPr lang="en-US" sz="1000" dirty="0">
                <a:latin typeface="+mn-lt"/>
              </a:rPr>
              <a:t> id</a:t>
            </a:r>
            <a:r>
              <a:rPr lang="en-US" sz="1000" b="1" dirty="0">
                <a:solidFill>
                  <a:srgbClr val="000080"/>
                </a:solidFill>
                <a:latin typeface="+mn-lt"/>
              </a:rPr>
              <a:t>))</a:t>
            </a:r>
            <a:endParaRPr lang="en-US" sz="1000" dirty="0">
              <a:latin typeface="+mn-lt"/>
            </a:endParaRPr>
          </a:p>
        </p:txBody>
      </p:sp>
    </p:spTree>
    <p:extLst>
      <p:ext uri="{BB962C8B-B14F-4D97-AF65-F5344CB8AC3E}">
        <p14:creationId xmlns:p14="http://schemas.microsoft.com/office/powerpoint/2010/main" val="10768318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8" name="TextBox 17">
            <a:extLst>
              <a:ext uri="{FF2B5EF4-FFF2-40B4-BE49-F238E27FC236}">
                <a16:creationId xmlns:a16="http://schemas.microsoft.com/office/drawing/2014/main" id="{C395706E-6585-475C-9C3C-2EC9DC4818D5}"/>
              </a:ext>
            </a:extLst>
          </p:cNvPr>
          <p:cNvSpPr txBox="1"/>
          <p:nvPr/>
        </p:nvSpPr>
        <p:spPr>
          <a:xfrm>
            <a:off x="461639" y="1485869"/>
            <a:ext cx="2933567" cy="1938992"/>
          </a:xfrm>
          <a:prstGeom prst="rect">
            <a:avLst/>
          </a:prstGeom>
          <a:noFill/>
        </p:spPr>
        <p:txBody>
          <a:bodyPr wrap="square">
            <a:spAutoFit/>
          </a:bodyPr>
          <a:lstStyle/>
          <a:p>
            <a:r>
              <a:rPr lang="ru-RU" sz="4000" kern="1200" dirty="0">
                <a:solidFill>
                  <a:schemeClr val="accent3"/>
                </a:solidFill>
                <a:latin typeface="+mj-lt"/>
              </a:rPr>
              <a:t>Работа </a:t>
            </a:r>
            <a:br>
              <a:rPr lang="en-US" sz="4000" kern="1200" dirty="0">
                <a:solidFill>
                  <a:schemeClr val="accent3"/>
                </a:solidFill>
                <a:latin typeface="+mj-lt"/>
              </a:rPr>
            </a:br>
            <a:r>
              <a:rPr lang="ru-RU" sz="4000" kern="1200" dirty="0">
                <a:solidFill>
                  <a:schemeClr val="accent3"/>
                </a:solidFill>
                <a:latin typeface="+mj-lt"/>
              </a:rPr>
              <a:t>со ScyllaDB из Python</a:t>
            </a:r>
            <a:endParaRPr lang="ru-RU" sz="4000" dirty="0">
              <a:solidFill>
                <a:schemeClr val="accent3"/>
              </a:solidFill>
              <a:latin typeface="+mj-lt"/>
            </a:endParaRPr>
          </a:p>
        </p:txBody>
      </p:sp>
      <p:sp>
        <p:nvSpPr>
          <p:cNvPr id="2" name="Прямоугольник 1"/>
          <p:cNvSpPr/>
          <p:nvPr/>
        </p:nvSpPr>
        <p:spPr>
          <a:xfrm>
            <a:off x="3967701" y="364736"/>
            <a:ext cx="4746928" cy="4493538"/>
          </a:xfrm>
          <a:prstGeom prst="rect">
            <a:avLst/>
          </a:prstGeom>
        </p:spPr>
        <p:txBody>
          <a:bodyPr wrap="square">
            <a:spAutoFit/>
          </a:bodyPr>
          <a:lstStyle/>
          <a:p>
            <a:r>
              <a:rPr lang="en-US" sz="1100" b="1" dirty="0">
                <a:solidFill>
                  <a:srgbClr val="0000FF"/>
                </a:solidFill>
                <a:latin typeface="+mn-lt"/>
              </a:rPr>
              <a:t>def</a:t>
            </a:r>
            <a:r>
              <a:rPr lang="en-US" sz="1100" dirty="0">
                <a:latin typeface="+mn-lt"/>
              </a:rPr>
              <a:t> </a:t>
            </a:r>
            <a:r>
              <a:rPr lang="en-US" sz="1100" dirty="0">
                <a:solidFill>
                  <a:srgbClr val="FF00FF"/>
                </a:solidFill>
                <a:latin typeface="+mn-lt"/>
              </a:rPr>
              <a:t>delete_users</a:t>
            </a:r>
            <a:r>
              <a:rPr lang="en-US" sz="1100" b="1" dirty="0">
                <a:solidFill>
                  <a:srgbClr val="000080"/>
                </a:solidFill>
                <a:latin typeface="+mn-lt"/>
              </a:rPr>
              <a:t>(</a:t>
            </a:r>
            <a:r>
              <a:rPr lang="en-US" sz="1100" dirty="0">
                <a:latin typeface="+mn-lt"/>
              </a:rPr>
              <a:t>id</a:t>
            </a:r>
            <a:r>
              <a:rPr lang="en-US" sz="1100" b="1" dirty="0">
                <a:solidFill>
                  <a:srgbClr val="000080"/>
                </a:solidFill>
                <a:latin typeface="+mn-lt"/>
              </a:rPr>
              <a:t>=</a:t>
            </a:r>
            <a:r>
              <a:rPr lang="en-US" sz="1100" b="1" dirty="0">
                <a:solidFill>
                  <a:srgbClr val="0000FF"/>
                </a:solidFill>
                <a:latin typeface="+mn-lt"/>
              </a:rPr>
              <a:t>None</a:t>
            </a:r>
            <a:r>
              <a:rPr lang="en-US" sz="1100" b="1" dirty="0">
                <a:solidFill>
                  <a:srgbClr val="000080"/>
                </a:solidFill>
                <a:latin typeface="+mn-lt"/>
              </a:rPr>
              <a:t>):</a:t>
            </a:r>
            <a:r>
              <a:rPr lang="en-US" sz="1100" dirty="0">
                <a:latin typeface="+mn-lt"/>
              </a:rPr>
              <a:t> </a:t>
            </a:r>
          </a:p>
          <a:p>
            <a:r>
              <a:rPr lang="en-US" sz="1100" b="1" dirty="0">
                <a:latin typeface="+mn-lt"/>
              </a:rPr>
              <a:t>    </a:t>
            </a:r>
            <a:r>
              <a:rPr lang="en-US" sz="1100" b="1" dirty="0">
                <a:solidFill>
                  <a:srgbClr val="0000FF"/>
                </a:solidFill>
                <a:latin typeface="+mn-lt"/>
              </a:rPr>
              <a:t>if</a:t>
            </a:r>
            <a:r>
              <a:rPr lang="en-US" sz="1100" dirty="0">
                <a:latin typeface="+mn-lt"/>
              </a:rPr>
              <a:t> id </a:t>
            </a:r>
            <a:r>
              <a:rPr lang="en-US" sz="1100" b="1" dirty="0">
                <a:solidFill>
                  <a:srgbClr val="0000FF"/>
                </a:solidFill>
                <a:latin typeface="+mn-lt"/>
              </a:rPr>
              <a:t>is</a:t>
            </a:r>
            <a:r>
              <a:rPr lang="en-US" sz="1100" dirty="0">
                <a:latin typeface="+mn-lt"/>
              </a:rPr>
              <a:t> </a:t>
            </a:r>
            <a:r>
              <a:rPr lang="en-US" sz="1100" b="1" dirty="0">
                <a:solidFill>
                  <a:srgbClr val="0000FF"/>
                </a:solidFill>
                <a:latin typeface="+mn-lt"/>
              </a:rPr>
              <a:t>None</a:t>
            </a:r>
            <a:r>
              <a:rPr lang="en-US" sz="1100" b="1" dirty="0">
                <a:solidFill>
                  <a:srgbClr val="000080"/>
                </a:solidFill>
                <a:latin typeface="+mn-lt"/>
              </a:rPr>
              <a:t>:</a:t>
            </a:r>
            <a:r>
              <a:rPr lang="en-US" sz="1100" dirty="0">
                <a:latin typeface="+mn-lt"/>
              </a:rPr>
              <a:t> </a:t>
            </a:r>
          </a:p>
          <a:p>
            <a:r>
              <a:rPr lang="en-US" sz="1100" dirty="0">
                <a:latin typeface="+mn-lt"/>
              </a:rPr>
              <a:t>        res </a:t>
            </a:r>
            <a:r>
              <a:rPr lang="en-US" sz="1100" b="1" dirty="0">
                <a:solidFill>
                  <a:srgbClr val="000080"/>
                </a:solidFill>
                <a:latin typeface="+mn-lt"/>
              </a:rPr>
              <a:t>=</a:t>
            </a:r>
            <a:r>
              <a:rPr lang="en-US" sz="1100" dirty="0">
                <a:latin typeface="+mn-lt"/>
              </a:rPr>
              <a:t> session</a:t>
            </a:r>
            <a:r>
              <a:rPr lang="en-US" sz="1100" b="1" dirty="0">
                <a:solidFill>
                  <a:srgbClr val="000080"/>
                </a:solidFill>
                <a:latin typeface="+mn-lt"/>
              </a:rPr>
              <a:t>.</a:t>
            </a:r>
            <a:r>
              <a:rPr lang="en-US" sz="1100" dirty="0">
                <a:latin typeface="+mn-lt"/>
              </a:rPr>
              <a:t>execute</a:t>
            </a:r>
            <a:r>
              <a:rPr lang="en-US" sz="1100" b="1" dirty="0">
                <a:solidFill>
                  <a:srgbClr val="000080"/>
                </a:solidFill>
                <a:latin typeface="+mn-lt"/>
              </a:rPr>
              <a:t>(</a:t>
            </a:r>
            <a:r>
              <a:rPr lang="en-US" sz="1100" dirty="0">
                <a:solidFill>
                  <a:srgbClr val="808080"/>
                </a:solidFill>
                <a:latin typeface="+mn-lt"/>
              </a:rPr>
              <a:t>"DELETE FROM users"</a:t>
            </a:r>
            <a:r>
              <a:rPr lang="en-US" sz="1100" b="1" dirty="0">
                <a:solidFill>
                  <a:srgbClr val="000080"/>
                </a:solidFill>
                <a:latin typeface="+mn-lt"/>
              </a:rPr>
              <a:t>)</a:t>
            </a:r>
            <a:r>
              <a:rPr lang="en-US" sz="1100" dirty="0">
                <a:latin typeface="+mn-lt"/>
              </a:rPr>
              <a:t> </a:t>
            </a:r>
          </a:p>
          <a:p>
            <a:r>
              <a:rPr lang="en-US" sz="1100" b="1" dirty="0">
                <a:latin typeface="+mn-lt"/>
              </a:rPr>
              <a:t>    </a:t>
            </a:r>
            <a:r>
              <a:rPr lang="en-US" sz="1100" b="1" dirty="0">
                <a:solidFill>
                  <a:srgbClr val="0000FF"/>
                </a:solidFill>
                <a:latin typeface="+mn-lt"/>
              </a:rPr>
              <a:t>else</a:t>
            </a:r>
            <a:r>
              <a:rPr lang="en-US" sz="1100" b="1" dirty="0">
                <a:solidFill>
                  <a:srgbClr val="000080"/>
                </a:solidFill>
                <a:latin typeface="+mn-lt"/>
              </a:rPr>
              <a:t>:</a:t>
            </a:r>
            <a:r>
              <a:rPr lang="en-US" sz="1100" dirty="0">
                <a:latin typeface="+mn-lt"/>
              </a:rPr>
              <a:t> </a:t>
            </a:r>
          </a:p>
          <a:p>
            <a:r>
              <a:rPr lang="en-US" sz="1100" dirty="0">
                <a:latin typeface="+mn-lt"/>
              </a:rPr>
              <a:t>        res </a:t>
            </a:r>
            <a:r>
              <a:rPr lang="en-US" sz="1100" b="1" dirty="0">
                <a:solidFill>
                  <a:srgbClr val="000080"/>
                </a:solidFill>
                <a:latin typeface="+mn-lt"/>
              </a:rPr>
              <a:t>=</a:t>
            </a:r>
            <a:r>
              <a:rPr lang="en-US" sz="1100" dirty="0">
                <a:latin typeface="+mn-lt"/>
              </a:rPr>
              <a:t> session</a:t>
            </a:r>
            <a:r>
              <a:rPr lang="en-US" sz="1100" b="1" dirty="0">
                <a:solidFill>
                  <a:srgbClr val="000080"/>
                </a:solidFill>
                <a:latin typeface="+mn-lt"/>
              </a:rPr>
              <a:t>.</a:t>
            </a:r>
            <a:r>
              <a:rPr lang="en-US" sz="1100" dirty="0">
                <a:latin typeface="+mn-lt"/>
              </a:rPr>
              <a:t>execute</a:t>
            </a:r>
            <a:r>
              <a:rPr lang="en-US" sz="1100" b="1" dirty="0">
                <a:solidFill>
                  <a:srgbClr val="000080"/>
                </a:solidFill>
                <a:latin typeface="+mn-lt"/>
              </a:rPr>
              <a:t>(</a:t>
            </a:r>
            <a:r>
              <a:rPr lang="en-US" sz="1100" dirty="0">
                <a:solidFill>
                  <a:srgbClr val="808080"/>
                </a:solidFill>
                <a:latin typeface="+mn-lt"/>
              </a:rPr>
              <a:t>"DELETE FROM users WHERE id = %s"</a:t>
            </a:r>
            <a:r>
              <a:rPr lang="en-US" sz="1100" b="1" dirty="0">
                <a:solidFill>
                  <a:srgbClr val="000080"/>
                </a:solidFill>
                <a:latin typeface="+mn-lt"/>
              </a:rPr>
              <a:t>,</a:t>
            </a:r>
            <a:r>
              <a:rPr lang="en-US" sz="1100" dirty="0">
                <a:latin typeface="+mn-lt"/>
              </a:rPr>
              <a:t> </a:t>
            </a:r>
            <a:r>
              <a:rPr lang="en-US" sz="1100" b="1" dirty="0">
                <a:solidFill>
                  <a:srgbClr val="000080"/>
                </a:solidFill>
                <a:latin typeface="+mn-lt"/>
              </a:rPr>
              <a:t>(</a:t>
            </a:r>
            <a:r>
              <a:rPr lang="en-US" sz="1100" dirty="0">
                <a:latin typeface="+mn-lt"/>
              </a:rPr>
              <a:t>id</a:t>
            </a:r>
            <a:r>
              <a:rPr lang="en-US" sz="1100" b="1" dirty="0">
                <a:solidFill>
                  <a:srgbClr val="000080"/>
                </a:solidFill>
                <a:latin typeface="+mn-lt"/>
              </a:rPr>
              <a:t>,))</a:t>
            </a:r>
            <a:r>
              <a:rPr lang="en-US" sz="1100" dirty="0">
                <a:latin typeface="+mn-lt"/>
              </a:rPr>
              <a:t> </a:t>
            </a:r>
          </a:p>
          <a:p>
            <a:endParaRPr lang="en-US" sz="1100" b="1" dirty="0">
              <a:latin typeface="+mn-lt"/>
            </a:endParaRPr>
          </a:p>
          <a:p>
            <a:endParaRPr lang="en-US" sz="1100" b="1" dirty="0">
              <a:latin typeface="+mn-lt"/>
            </a:endParaRPr>
          </a:p>
          <a:p>
            <a:r>
              <a:rPr lang="en-US" sz="1100" b="1" dirty="0">
                <a:solidFill>
                  <a:srgbClr val="0000FF"/>
                </a:solidFill>
                <a:latin typeface="+mn-lt"/>
              </a:rPr>
              <a:t>if</a:t>
            </a:r>
            <a:r>
              <a:rPr lang="en-US" sz="1100" dirty="0">
                <a:latin typeface="+mn-lt"/>
              </a:rPr>
              <a:t> __name__ </a:t>
            </a:r>
            <a:r>
              <a:rPr lang="en-US" sz="1100" b="1" dirty="0">
                <a:solidFill>
                  <a:srgbClr val="000080"/>
                </a:solidFill>
                <a:latin typeface="+mn-lt"/>
              </a:rPr>
              <a:t>==</a:t>
            </a:r>
            <a:r>
              <a:rPr lang="en-US" sz="1100" dirty="0">
                <a:latin typeface="+mn-lt"/>
              </a:rPr>
              <a:t> </a:t>
            </a:r>
            <a:r>
              <a:rPr lang="en-US" sz="1100" dirty="0">
                <a:solidFill>
                  <a:srgbClr val="808080"/>
                </a:solidFill>
                <a:latin typeface="+mn-lt"/>
              </a:rPr>
              <a:t>"__main__"</a:t>
            </a:r>
            <a:r>
              <a:rPr lang="en-US" sz="1100" b="1" dirty="0">
                <a:solidFill>
                  <a:srgbClr val="000080"/>
                </a:solidFill>
                <a:latin typeface="+mn-lt"/>
              </a:rPr>
              <a:t>:</a:t>
            </a:r>
            <a:r>
              <a:rPr lang="en-US" sz="1100" dirty="0">
                <a:latin typeface="+mn-lt"/>
              </a:rPr>
              <a:t> </a:t>
            </a:r>
          </a:p>
          <a:p>
            <a:r>
              <a:rPr lang="en-US" sz="1100" dirty="0">
                <a:latin typeface="+mn-lt"/>
              </a:rPr>
              <a:t>    </a:t>
            </a:r>
            <a:r>
              <a:rPr lang="en-US" sz="1100" dirty="0">
                <a:solidFill>
                  <a:srgbClr val="008000"/>
                </a:solidFill>
                <a:latin typeface="+mn-lt"/>
              </a:rPr>
              <a:t># </a:t>
            </a:r>
            <a:r>
              <a:rPr lang="ru-RU" sz="1100" dirty="0">
                <a:solidFill>
                  <a:srgbClr val="008000"/>
                </a:solidFill>
                <a:latin typeface="+mn-lt"/>
              </a:rPr>
              <a:t>Подключение к кластеру</a:t>
            </a:r>
            <a:r>
              <a:rPr lang="ru-RU" sz="1100" dirty="0">
                <a:latin typeface="+mn-lt"/>
              </a:rPr>
              <a:t> </a:t>
            </a:r>
            <a:endParaRPr lang="en-US" sz="1100" dirty="0">
              <a:latin typeface="+mn-lt"/>
            </a:endParaRPr>
          </a:p>
          <a:p>
            <a:r>
              <a:rPr lang="en-US" sz="1100" dirty="0">
                <a:latin typeface="+mn-lt"/>
              </a:rPr>
              <a:t>    cluster </a:t>
            </a:r>
            <a:r>
              <a:rPr lang="en-US" sz="1100" b="1" dirty="0">
                <a:solidFill>
                  <a:srgbClr val="000080"/>
                </a:solidFill>
                <a:latin typeface="+mn-lt"/>
              </a:rPr>
              <a:t>=</a:t>
            </a:r>
            <a:r>
              <a:rPr lang="en-US" sz="1100" dirty="0">
                <a:latin typeface="+mn-lt"/>
              </a:rPr>
              <a:t> Cluster</a:t>
            </a:r>
            <a:r>
              <a:rPr lang="en-US" sz="1100" b="1" dirty="0">
                <a:solidFill>
                  <a:srgbClr val="000080"/>
                </a:solidFill>
                <a:latin typeface="+mn-lt"/>
              </a:rPr>
              <a:t>([</a:t>
            </a:r>
            <a:r>
              <a:rPr lang="en-US" sz="1100" dirty="0">
                <a:solidFill>
                  <a:srgbClr val="808080"/>
                </a:solidFill>
                <a:latin typeface="+mn-lt"/>
              </a:rPr>
              <a:t>'127.0.0.1'</a:t>
            </a:r>
            <a:r>
              <a:rPr lang="en-US" sz="1100" b="1" dirty="0">
                <a:solidFill>
                  <a:srgbClr val="000080"/>
                </a:solidFill>
                <a:latin typeface="+mn-lt"/>
              </a:rPr>
              <a:t>])</a:t>
            </a:r>
            <a:r>
              <a:rPr lang="en-US" sz="1100" dirty="0">
                <a:latin typeface="+mn-lt"/>
              </a:rPr>
              <a:t> </a:t>
            </a:r>
          </a:p>
          <a:p>
            <a:r>
              <a:rPr lang="en-US" sz="1100" dirty="0">
                <a:latin typeface="+mn-lt"/>
              </a:rPr>
              <a:t>    </a:t>
            </a:r>
            <a:r>
              <a:rPr lang="en-US" sz="1100" dirty="0">
                <a:solidFill>
                  <a:srgbClr val="008000"/>
                </a:solidFill>
                <a:latin typeface="+mn-lt"/>
              </a:rPr>
              <a:t># </a:t>
            </a:r>
            <a:r>
              <a:rPr lang="ru-RU" sz="1100" dirty="0">
                <a:solidFill>
                  <a:srgbClr val="008000"/>
                </a:solidFill>
                <a:latin typeface="+mn-lt"/>
              </a:rPr>
              <a:t>Выбор кейспейса</a:t>
            </a:r>
            <a:r>
              <a:rPr lang="ru-RU" sz="1100" dirty="0">
                <a:latin typeface="+mn-lt"/>
              </a:rPr>
              <a:t> </a:t>
            </a:r>
            <a:endParaRPr lang="en-US" sz="1100" dirty="0">
              <a:latin typeface="+mn-lt"/>
            </a:endParaRPr>
          </a:p>
          <a:p>
            <a:r>
              <a:rPr lang="en-US" sz="1100" dirty="0">
                <a:latin typeface="+mn-lt"/>
              </a:rPr>
              <a:t>    session </a:t>
            </a:r>
            <a:r>
              <a:rPr lang="en-US" sz="1100" b="1" dirty="0">
                <a:solidFill>
                  <a:srgbClr val="000080"/>
                </a:solidFill>
                <a:latin typeface="+mn-lt"/>
              </a:rPr>
              <a:t>=</a:t>
            </a:r>
            <a:r>
              <a:rPr lang="en-US" sz="1100" dirty="0">
                <a:latin typeface="+mn-lt"/>
              </a:rPr>
              <a:t> cluster</a:t>
            </a:r>
            <a:r>
              <a:rPr lang="en-US" sz="1100" b="1" dirty="0">
                <a:solidFill>
                  <a:srgbClr val="000080"/>
                </a:solidFill>
                <a:latin typeface="+mn-lt"/>
              </a:rPr>
              <a:t>.</a:t>
            </a:r>
            <a:r>
              <a:rPr lang="en-US" sz="1100" dirty="0">
                <a:latin typeface="+mn-lt"/>
              </a:rPr>
              <a:t>connect</a:t>
            </a:r>
            <a:r>
              <a:rPr lang="en-US" sz="1100" b="1" dirty="0">
                <a:solidFill>
                  <a:srgbClr val="000080"/>
                </a:solidFill>
                <a:latin typeface="+mn-lt"/>
              </a:rPr>
              <a:t>(</a:t>
            </a:r>
            <a:r>
              <a:rPr lang="en-US" sz="1100" dirty="0">
                <a:solidFill>
                  <a:srgbClr val="808080"/>
                </a:solidFill>
                <a:latin typeface="+mn-lt"/>
              </a:rPr>
              <a:t>'example'</a:t>
            </a:r>
            <a:r>
              <a:rPr lang="en-US" sz="1100" b="1" dirty="0">
                <a:solidFill>
                  <a:srgbClr val="000080"/>
                </a:solidFill>
                <a:latin typeface="+mn-lt"/>
              </a:rPr>
              <a:t>)</a:t>
            </a:r>
            <a:r>
              <a:rPr lang="en-US" sz="1100" dirty="0">
                <a:latin typeface="+mn-lt"/>
              </a:rPr>
              <a:t> </a:t>
            </a:r>
          </a:p>
          <a:p>
            <a:r>
              <a:rPr lang="en-US" sz="1100" dirty="0">
                <a:latin typeface="+mn-lt"/>
              </a:rPr>
              <a:t>    </a:t>
            </a:r>
            <a:r>
              <a:rPr lang="en-US" sz="1100" dirty="0">
                <a:solidFill>
                  <a:srgbClr val="008000"/>
                </a:solidFill>
                <a:latin typeface="+mn-lt"/>
              </a:rPr>
              <a:t># </a:t>
            </a:r>
            <a:r>
              <a:rPr lang="ru-RU" sz="1100" dirty="0">
                <a:solidFill>
                  <a:srgbClr val="008000"/>
                </a:solidFill>
                <a:latin typeface="+mn-lt"/>
              </a:rPr>
              <a:t>Добавление записей</a:t>
            </a:r>
            <a:r>
              <a:rPr lang="ru-RU" sz="1100" dirty="0">
                <a:latin typeface="+mn-lt"/>
              </a:rPr>
              <a:t> </a:t>
            </a:r>
            <a:endParaRPr lang="en-US" sz="1100" dirty="0">
              <a:latin typeface="+mn-lt"/>
            </a:endParaRPr>
          </a:p>
          <a:p>
            <a:r>
              <a:rPr lang="en-US" sz="1100" dirty="0">
                <a:latin typeface="+mn-lt"/>
              </a:rPr>
              <a:t>    insert_users</a:t>
            </a:r>
            <a:r>
              <a:rPr lang="en-US" sz="1100" b="1" dirty="0">
                <a:solidFill>
                  <a:srgbClr val="000080"/>
                </a:solidFill>
                <a:latin typeface="+mn-lt"/>
              </a:rPr>
              <a:t>(</a:t>
            </a:r>
            <a:r>
              <a:rPr lang="en-US" sz="1100" dirty="0">
                <a:solidFill>
                  <a:srgbClr val="FF0000"/>
                </a:solidFill>
                <a:latin typeface="+mn-lt"/>
              </a:rPr>
              <a:t>1</a:t>
            </a:r>
            <a:r>
              <a:rPr lang="en-US" sz="1100" b="1" dirty="0">
                <a:solidFill>
                  <a:srgbClr val="000080"/>
                </a:solidFill>
                <a:latin typeface="+mn-lt"/>
              </a:rPr>
              <a:t>,</a:t>
            </a:r>
            <a:r>
              <a:rPr lang="en-US" sz="1100" dirty="0">
                <a:latin typeface="+mn-lt"/>
              </a:rPr>
              <a:t> </a:t>
            </a:r>
            <a:r>
              <a:rPr lang="en-US" sz="1100" dirty="0">
                <a:solidFill>
                  <a:srgbClr val="808080"/>
                </a:solidFill>
                <a:latin typeface="+mn-lt"/>
              </a:rPr>
              <a:t>'ivanovi'</a:t>
            </a:r>
            <a:r>
              <a:rPr lang="en-US" sz="1100" b="1" dirty="0">
                <a:solidFill>
                  <a:srgbClr val="000080"/>
                </a:solidFill>
                <a:latin typeface="+mn-lt"/>
              </a:rPr>
              <a:t>,</a:t>
            </a:r>
            <a:r>
              <a:rPr lang="en-US" sz="1100" dirty="0">
                <a:latin typeface="+mn-lt"/>
              </a:rPr>
              <a:t> </a:t>
            </a:r>
            <a:r>
              <a:rPr lang="en-US" sz="1100" dirty="0">
                <a:solidFill>
                  <a:srgbClr val="808080"/>
                </a:solidFill>
                <a:latin typeface="+mn-lt"/>
              </a:rPr>
              <a:t>'</a:t>
            </a:r>
            <a:r>
              <a:rPr lang="ru-RU" sz="1100" dirty="0">
                <a:solidFill>
                  <a:srgbClr val="808080"/>
                </a:solidFill>
                <a:latin typeface="+mn-lt"/>
              </a:rPr>
              <a:t>Иван Иванов'</a:t>
            </a:r>
            <a:r>
              <a:rPr lang="ru-RU" sz="1100" b="1" dirty="0">
                <a:solidFill>
                  <a:srgbClr val="000080"/>
                </a:solidFill>
                <a:latin typeface="+mn-lt"/>
              </a:rPr>
              <a:t>,</a:t>
            </a:r>
            <a:r>
              <a:rPr lang="ru-RU" sz="1100" dirty="0">
                <a:latin typeface="+mn-lt"/>
              </a:rPr>
              <a:t> </a:t>
            </a:r>
            <a:r>
              <a:rPr lang="ru-RU" sz="1100" dirty="0">
                <a:solidFill>
                  <a:srgbClr val="808080"/>
                </a:solidFill>
                <a:latin typeface="+mn-lt"/>
              </a:rPr>
              <a:t>'2020-01-01'</a:t>
            </a:r>
            <a:r>
              <a:rPr lang="ru-RU" sz="1100" b="1" dirty="0">
                <a:solidFill>
                  <a:srgbClr val="000080"/>
                </a:solidFill>
                <a:latin typeface="+mn-lt"/>
              </a:rPr>
              <a:t>,</a:t>
            </a:r>
            <a:r>
              <a:rPr lang="ru-RU" sz="1100" dirty="0">
                <a:latin typeface="+mn-lt"/>
              </a:rPr>
              <a:t> </a:t>
            </a:r>
            <a:r>
              <a:rPr lang="ru-RU" sz="1100" dirty="0">
                <a:solidFill>
                  <a:srgbClr val="808080"/>
                </a:solidFill>
                <a:latin typeface="+mn-lt"/>
              </a:rPr>
              <a:t>'</a:t>
            </a:r>
            <a:r>
              <a:rPr lang="en-US" sz="1100" dirty="0">
                <a:solidFill>
                  <a:srgbClr val="808080"/>
                </a:solidFill>
                <a:latin typeface="+mn-lt"/>
              </a:rPr>
              <a:t>Available'</a:t>
            </a:r>
            <a:r>
              <a:rPr lang="en-US" sz="1100" b="1" dirty="0">
                <a:solidFill>
                  <a:srgbClr val="000080"/>
                </a:solidFill>
                <a:latin typeface="+mn-lt"/>
              </a:rPr>
              <a:t>)</a:t>
            </a:r>
            <a:r>
              <a:rPr lang="en-US" sz="1100" dirty="0">
                <a:latin typeface="+mn-lt"/>
              </a:rPr>
              <a:t> </a:t>
            </a:r>
          </a:p>
          <a:p>
            <a:r>
              <a:rPr lang="en-US" sz="1100" dirty="0">
                <a:latin typeface="+mn-lt"/>
              </a:rPr>
              <a:t>    insert_users</a:t>
            </a:r>
            <a:r>
              <a:rPr lang="en-US" sz="1100" b="1" dirty="0">
                <a:solidFill>
                  <a:srgbClr val="000080"/>
                </a:solidFill>
                <a:latin typeface="+mn-lt"/>
              </a:rPr>
              <a:t>(</a:t>
            </a:r>
            <a:r>
              <a:rPr lang="en-US" sz="1100" dirty="0">
                <a:solidFill>
                  <a:srgbClr val="FF0000"/>
                </a:solidFill>
                <a:latin typeface="+mn-lt"/>
              </a:rPr>
              <a:t>2</a:t>
            </a:r>
            <a:r>
              <a:rPr lang="en-US" sz="1100" b="1" dirty="0">
                <a:solidFill>
                  <a:srgbClr val="000080"/>
                </a:solidFill>
                <a:latin typeface="+mn-lt"/>
              </a:rPr>
              <a:t>,</a:t>
            </a:r>
            <a:r>
              <a:rPr lang="en-US" sz="1100" dirty="0">
                <a:latin typeface="+mn-lt"/>
              </a:rPr>
              <a:t> </a:t>
            </a:r>
            <a:r>
              <a:rPr lang="en-US" sz="1100" dirty="0">
                <a:solidFill>
                  <a:srgbClr val="808080"/>
                </a:solidFill>
                <a:latin typeface="+mn-lt"/>
              </a:rPr>
              <a:t>'petrovp'</a:t>
            </a:r>
            <a:r>
              <a:rPr lang="en-US" sz="1100" b="1" dirty="0">
                <a:solidFill>
                  <a:srgbClr val="000080"/>
                </a:solidFill>
                <a:latin typeface="+mn-lt"/>
              </a:rPr>
              <a:t>,</a:t>
            </a:r>
            <a:r>
              <a:rPr lang="en-US" sz="1100" dirty="0">
                <a:latin typeface="+mn-lt"/>
              </a:rPr>
              <a:t> </a:t>
            </a:r>
            <a:r>
              <a:rPr lang="en-US" sz="1100" dirty="0">
                <a:solidFill>
                  <a:srgbClr val="808080"/>
                </a:solidFill>
                <a:latin typeface="+mn-lt"/>
              </a:rPr>
              <a:t>'</a:t>
            </a:r>
            <a:r>
              <a:rPr lang="ru-RU" sz="1100" dirty="0">
                <a:solidFill>
                  <a:srgbClr val="808080"/>
                </a:solidFill>
                <a:latin typeface="+mn-lt"/>
              </a:rPr>
              <a:t>Петр Петров'</a:t>
            </a:r>
            <a:r>
              <a:rPr lang="ru-RU" sz="1100" b="1" dirty="0">
                <a:solidFill>
                  <a:srgbClr val="000080"/>
                </a:solidFill>
                <a:latin typeface="+mn-lt"/>
              </a:rPr>
              <a:t>,</a:t>
            </a:r>
            <a:r>
              <a:rPr lang="ru-RU" sz="1100" dirty="0">
                <a:latin typeface="+mn-lt"/>
              </a:rPr>
              <a:t> </a:t>
            </a:r>
            <a:r>
              <a:rPr lang="ru-RU" sz="1100" dirty="0">
                <a:solidFill>
                  <a:srgbClr val="808080"/>
                </a:solidFill>
                <a:latin typeface="+mn-lt"/>
              </a:rPr>
              <a:t>'2020-02-02'</a:t>
            </a:r>
            <a:r>
              <a:rPr lang="ru-RU" sz="1100" b="1" dirty="0">
                <a:solidFill>
                  <a:srgbClr val="000080"/>
                </a:solidFill>
                <a:latin typeface="+mn-lt"/>
              </a:rPr>
              <a:t>,</a:t>
            </a:r>
            <a:r>
              <a:rPr lang="ru-RU" sz="1100" dirty="0">
                <a:latin typeface="+mn-lt"/>
              </a:rPr>
              <a:t> </a:t>
            </a:r>
            <a:r>
              <a:rPr lang="ru-RU" sz="1100" dirty="0">
                <a:solidFill>
                  <a:srgbClr val="808080"/>
                </a:solidFill>
                <a:latin typeface="+mn-lt"/>
              </a:rPr>
              <a:t>'</a:t>
            </a:r>
            <a:r>
              <a:rPr lang="en-US" sz="1100" dirty="0">
                <a:solidFill>
                  <a:srgbClr val="808080"/>
                </a:solidFill>
                <a:latin typeface="+mn-lt"/>
              </a:rPr>
              <a:t>Busy'</a:t>
            </a:r>
            <a:r>
              <a:rPr lang="en-US" sz="1100" b="1" dirty="0">
                <a:solidFill>
                  <a:srgbClr val="000080"/>
                </a:solidFill>
                <a:latin typeface="+mn-lt"/>
              </a:rPr>
              <a:t>)</a:t>
            </a:r>
            <a:r>
              <a:rPr lang="en-US" sz="1100" dirty="0">
                <a:latin typeface="+mn-lt"/>
              </a:rPr>
              <a:t> </a:t>
            </a:r>
          </a:p>
          <a:p>
            <a:r>
              <a:rPr lang="en-US" sz="1100" dirty="0">
                <a:latin typeface="+mn-lt"/>
              </a:rPr>
              <a:t>    insert_users</a:t>
            </a:r>
            <a:r>
              <a:rPr lang="en-US" sz="1100" b="1" dirty="0">
                <a:solidFill>
                  <a:srgbClr val="000080"/>
                </a:solidFill>
                <a:latin typeface="+mn-lt"/>
              </a:rPr>
              <a:t>(</a:t>
            </a:r>
            <a:r>
              <a:rPr lang="en-US" sz="1100" dirty="0">
                <a:solidFill>
                  <a:srgbClr val="FF0000"/>
                </a:solidFill>
                <a:latin typeface="+mn-lt"/>
              </a:rPr>
              <a:t>3</a:t>
            </a:r>
            <a:r>
              <a:rPr lang="en-US" sz="1100" b="1" dirty="0">
                <a:solidFill>
                  <a:srgbClr val="000080"/>
                </a:solidFill>
                <a:latin typeface="+mn-lt"/>
              </a:rPr>
              <a:t>,</a:t>
            </a:r>
            <a:r>
              <a:rPr lang="en-US" sz="1100" dirty="0">
                <a:latin typeface="+mn-lt"/>
              </a:rPr>
              <a:t> </a:t>
            </a:r>
            <a:r>
              <a:rPr lang="en-US" sz="1100" dirty="0">
                <a:solidFill>
                  <a:srgbClr val="808080"/>
                </a:solidFill>
                <a:latin typeface="+mn-lt"/>
              </a:rPr>
              <a:t>'orlovi'</a:t>
            </a:r>
            <a:r>
              <a:rPr lang="en-US" sz="1100" b="1" dirty="0">
                <a:solidFill>
                  <a:srgbClr val="000080"/>
                </a:solidFill>
                <a:latin typeface="+mn-lt"/>
              </a:rPr>
              <a:t>,</a:t>
            </a:r>
            <a:r>
              <a:rPr lang="en-US" sz="1100" dirty="0">
                <a:latin typeface="+mn-lt"/>
              </a:rPr>
              <a:t> </a:t>
            </a:r>
            <a:r>
              <a:rPr lang="en-US" sz="1100" dirty="0">
                <a:solidFill>
                  <a:srgbClr val="808080"/>
                </a:solidFill>
                <a:latin typeface="+mn-lt"/>
              </a:rPr>
              <a:t>'</a:t>
            </a:r>
            <a:r>
              <a:rPr lang="ru-RU" sz="1100" dirty="0">
                <a:solidFill>
                  <a:srgbClr val="808080"/>
                </a:solidFill>
                <a:latin typeface="+mn-lt"/>
              </a:rPr>
              <a:t>Илья Орлов'</a:t>
            </a:r>
            <a:r>
              <a:rPr lang="ru-RU" sz="1100" b="1" dirty="0">
                <a:solidFill>
                  <a:srgbClr val="000080"/>
                </a:solidFill>
                <a:latin typeface="+mn-lt"/>
              </a:rPr>
              <a:t>,</a:t>
            </a:r>
            <a:r>
              <a:rPr lang="ru-RU" sz="1100" dirty="0">
                <a:latin typeface="+mn-lt"/>
              </a:rPr>
              <a:t> </a:t>
            </a:r>
            <a:r>
              <a:rPr lang="ru-RU" sz="1100" dirty="0">
                <a:solidFill>
                  <a:srgbClr val="808080"/>
                </a:solidFill>
                <a:latin typeface="+mn-lt"/>
              </a:rPr>
              <a:t>'2020-03-03'</a:t>
            </a:r>
            <a:r>
              <a:rPr lang="ru-RU" sz="1100" b="1" dirty="0">
                <a:solidFill>
                  <a:srgbClr val="000080"/>
                </a:solidFill>
                <a:latin typeface="+mn-lt"/>
              </a:rPr>
              <a:t>,</a:t>
            </a:r>
            <a:r>
              <a:rPr lang="ru-RU" sz="1100" dirty="0">
                <a:latin typeface="+mn-lt"/>
              </a:rPr>
              <a:t> </a:t>
            </a:r>
            <a:r>
              <a:rPr lang="ru-RU" sz="1100" dirty="0">
                <a:solidFill>
                  <a:srgbClr val="808080"/>
                </a:solidFill>
                <a:latin typeface="+mn-lt"/>
              </a:rPr>
              <a:t>'</a:t>
            </a:r>
            <a:r>
              <a:rPr lang="en-US" sz="1100" dirty="0">
                <a:solidFill>
                  <a:srgbClr val="808080"/>
                </a:solidFill>
                <a:latin typeface="+mn-lt"/>
              </a:rPr>
              <a:t>Available'</a:t>
            </a:r>
            <a:r>
              <a:rPr lang="en-US" sz="1100" b="1" dirty="0">
                <a:solidFill>
                  <a:srgbClr val="000080"/>
                </a:solidFill>
                <a:latin typeface="+mn-lt"/>
              </a:rPr>
              <a:t>)</a:t>
            </a:r>
            <a:r>
              <a:rPr lang="en-US" sz="1100" dirty="0">
                <a:latin typeface="+mn-lt"/>
              </a:rPr>
              <a:t> </a:t>
            </a:r>
          </a:p>
          <a:p>
            <a:r>
              <a:rPr lang="en-US" sz="1100" dirty="0">
                <a:latin typeface="+mn-lt"/>
              </a:rPr>
              <a:t>    </a:t>
            </a:r>
            <a:r>
              <a:rPr lang="en-US" sz="1100" dirty="0">
                <a:solidFill>
                  <a:srgbClr val="008000"/>
                </a:solidFill>
                <a:latin typeface="+mn-lt"/>
              </a:rPr>
              <a:t># </a:t>
            </a:r>
            <a:r>
              <a:rPr lang="ru-RU" sz="1100" dirty="0">
                <a:solidFill>
                  <a:srgbClr val="008000"/>
                </a:solidFill>
                <a:latin typeface="+mn-lt"/>
              </a:rPr>
              <a:t>Чтение всех записей</a:t>
            </a:r>
            <a:r>
              <a:rPr lang="ru-RU" sz="1100" dirty="0">
                <a:latin typeface="+mn-lt"/>
              </a:rPr>
              <a:t> </a:t>
            </a:r>
            <a:endParaRPr lang="en-US" sz="1100" dirty="0">
              <a:latin typeface="+mn-lt"/>
            </a:endParaRPr>
          </a:p>
          <a:p>
            <a:r>
              <a:rPr lang="en-US" sz="1100" b="1" dirty="0">
                <a:latin typeface="+mn-lt"/>
              </a:rPr>
              <a:t>    </a:t>
            </a:r>
            <a:r>
              <a:rPr lang="en-US" sz="1100" b="1" dirty="0">
                <a:solidFill>
                  <a:srgbClr val="0000FF"/>
                </a:solidFill>
                <a:latin typeface="+mn-lt"/>
              </a:rPr>
              <a:t>print</a:t>
            </a:r>
            <a:r>
              <a:rPr lang="en-US" sz="1100" b="1" dirty="0">
                <a:solidFill>
                  <a:srgbClr val="000080"/>
                </a:solidFill>
                <a:latin typeface="+mn-lt"/>
              </a:rPr>
              <a:t>(</a:t>
            </a:r>
            <a:r>
              <a:rPr lang="en-US" sz="1100" dirty="0">
                <a:latin typeface="+mn-lt"/>
              </a:rPr>
              <a:t>select_users</a:t>
            </a:r>
            <a:r>
              <a:rPr lang="en-US" sz="1100" b="1" dirty="0">
                <a:solidFill>
                  <a:srgbClr val="000080"/>
                </a:solidFill>
                <a:latin typeface="+mn-lt"/>
              </a:rPr>
              <a:t>())</a:t>
            </a:r>
            <a:r>
              <a:rPr lang="en-US" sz="1100" dirty="0">
                <a:latin typeface="+mn-lt"/>
              </a:rPr>
              <a:t> </a:t>
            </a:r>
          </a:p>
          <a:p>
            <a:r>
              <a:rPr lang="en-US" sz="1100" dirty="0">
                <a:latin typeface="+mn-lt"/>
              </a:rPr>
              <a:t>    </a:t>
            </a:r>
            <a:r>
              <a:rPr lang="en-US" sz="1100" dirty="0">
                <a:solidFill>
                  <a:srgbClr val="008000"/>
                </a:solidFill>
                <a:latin typeface="+mn-lt"/>
              </a:rPr>
              <a:t># </a:t>
            </a:r>
            <a:r>
              <a:rPr lang="ru-RU" sz="1100" dirty="0">
                <a:solidFill>
                  <a:srgbClr val="008000"/>
                </a:solidFill>
                <a:latin typeface="+mn-lt"/>
              </a:rPr>
              <a:t>Чтение записи по </a:t>
            </a:r>
            <a:r>
              <a:rPr lang="en-US" sz="1100" dirty="0">
                <a:solidFill>
                  <a:srgbClr val="008000"/>
                </a:solidFill>
                <a:latin typeface="+mn-lt"/>
              </a:rPr>
              <a:t>id</a:t>
            </a:r>
            <a:r>
              <a:rPr lang="en-US" sz="1100" dirty="0">
                <a:latin typeface="+mn-lt"/>
              </a:rPr>
              <a:t> </a:t>
            </a:r>
          </a:p>
          <a:p>
            <a:r>
              <a:rPr lang="en-US" sz="1100" b="1" dirty="0">
                <a:latin typeface="+mn-lt"/>
              </a:rPr>
              <a:t>    </a:t>
            </a:r>
            <a:r>
              <a:rPr lang="en-US" sz="1100" b="1" dirty="0">
                <a:solidFill>
                  <a:srgbClr val="0000FF"/>
                </a:solidFill>
                <a:latin typeface="+mn-lt"/>
              </a:rPr>
              <a:t>print</a:t>
            </a:r>
            <a:r>
              <a:rPr lang="en-US" sz="1100" b="1" dirty="0">
                <a:solidFill>
                  <a:srgbClr val="000080"/>
                </a:solidFill>
                <a:latin typeface="+mn-lt"/>
              </a:rPr>
              <a:t>(</a:t>
            </a:r>
            <a:r>
              <a:rPr lang="en-US" sz="1100" dirty="0">
                <a:latin typeface="+mn-lt"/>
              </a:rPr>
              <a:t>select_users</a:t>
            </a:r>
            <a:r>
              <a:rPr lang="en-US" sz="1100" b="1" dirty="0">
                <a:solidFill>
                  <a:srgbClr val="000080"/>
                </a:solidFill>
                <a:latin typeface="+mn-lt"/>
              </a:rPr>
              <a:t>(</a:t>
            </a:r>
            <a:r>
              <a:rPr lang="en-US" sz="1100" dirty="0">
                <a:solidFill>
                  <a:srgbClr val="FF0000"/>
                </a:solidFill>
                <a:latin typeface="+mn-lt"/>
              </a:rPr>
              <a:t>1</a:t>
            </a:r>
            <a:r>
              <a:rPr lang="en-US" sz="1100" b="1" dirty="0">
                <a:solidFill>
                  <a:srgbClr val="000080"/>
                </a:solidFill>
                <a:latin typeface="+mn-lt"/>
              </a:rPr>
              <a:t>))</a:t>
            </a:r>
            <a:r>
              <a:rPr lang="en-US" sz="1100" dirty="0">
                <a:latin typeface="+mn-lt"/>
              </a:rPr>
              <a:t> </a:t>
            </a:r>
          </a:p>
          <a:p>
            <a:r>
              <a:rPr lang="en-US" sz="1100" dirty="0">
                <a:latin typeface="+mn-lt"/>
              </a:rPr>
              <a:t>    </a:t>
            </a:r>
            <a:r>
              <a:rPr lang="en-US" sz="1100" dirty="0">
                <a:solidFill>
                  <a:srgbClr val="008000"/>
                </a:solidFill>
                <a:latin typeface="+mn-lt"/>
              </a:rPr>
              <a:t># </a:t>
            </a:r>
            <a:r>
              <a:rPr lang="ru-RU" sz="1100" dirty="0">
                <a:solidFill>
                  <a:srgbClr val="008000"/>
                </a:solidFill>
                <a:latin typeface="+mn-lt"/>
              </a:rPr>
              <a:t>Изменение записи (колонки </a:t>
            </a:r>
            <a:r>
              <a:rPr lang="en-US" sz="1100" dirty="0">
                <a:solidFill>
                  <a:srgbClr val="008000"/>
                </a:solidFill>
                <a:latin typeface="+mn-lt"/>
              </a:rPr>
              <a:t>Status)</a:t>
            </a:r>
            <a:r>
              <a:rPr lang="en-US" sz="1100" dirty="0">
                <a:latin typeface="+mn-lt"/>
              </a:rPr>
              <a:t> </a:t>
            </a:r>
          </a:p>
          <a:p>
            <a:r>
              <a:rPr lang="en-US" sz="1100" dirty="0">
                <a:latin typeface="+mn-lt"/>
              </a:rPr>
              <a:t>    update_user_status</a:t>
            </a:r>
            <a:r>
              <a:rPr lang="en-US" sz="1100" b="1" dirty="0">
                <a:solidFill>
                  <a:srgbClr val="000080"/>
                </a:solidFill>
                <a:latin typeface="+mn-lt"/>
              </a:rPr>
              <a:t>(</a:t>
            </a:r>
            <a:r>
              <a:rPr lang="en-US" sz="1100" dirty="0">
                <a:solidFill>
                  <a:srgbClr val="808080"/>
                </a:solidFill>
                <a:latin typeface="+mn-lt"/>
              </a:rPr>
              <a:t>'Busy'</a:t>
            </a:r>
            <a:r>
              <a:rPr lang="en-US" sz="1100" b="1" dirty="0">
                <a:solidFill>
                  <a:srgbClr val="000080"/>
                </a:solidFill>
                <a:latin typeface="+mn-lt"/>
              </a:rPr>
              <a:t>,</a:t>
            </a:r>
            <a:r>
              <a:rPr lang="en-US" sz="1100" dirty="0">
                <a:latin typeface="+mn-lt"/>
              </a:rPr>
              <a:t> </a:t>
            </a:r>
            <a:r>
              <a:rPr lang="en-US" sz="1100" dirty="0">
                <a:solidFill>
                  <a:srgbClr val="FF0000"/>
                </a:solidFill>
                <a:latin typeface="+mn-lt"/>
              </a:rPr>
              <a:t>1</a:t>
            </a:r>
            <a:r>
              <a:rPr lang="en-US" sz="1100" b="1" dirty="0">
                <a:solidFill>
                  <a:srgbClr val="000080"/>
                </a:solidFill>
                <a:latin typeface="+mn-lt"/>
              </a:rPr>
              <a:t>)</a:t>
            </a:r>
            <a:r>
              <a:rPr lang="en-US" sz="1100" dirty="0">
                <a:latin typeface="+mn-lt"/>
              </a:rPr>
              <a:t> </a:t>
            </a:r>
          </a:p>
          <a:p>
            <a:r>
              <a:rPr lang="en-US" sz="1100" b="1" dirty="0">
                <a:solidFill>
                  <a:srgbClr val="0000FF"/>
                </a:solidFill>
                <a:latin typeface="+mn-lt"/>
              </a:rPr>
              <a:t>    print</a:t>
            </a:r>
            <a:r>
              <a:rPr lang="en-US" sz="1100" b="1" dirty="0">
                <a:solidFill>
                  <a:srgbClr val="000080"/>
                </a:solidFill>
                <a:latin typeface="+mn-lt"/>
              </a:rPr>
              <a:t>(</a:t>
            </a:r>
            <a:r>
              <a:rPr lang="en-US" sz="1100" dirty="0">
                <a:latin typeface="+mn-lt"/>
              </a:rPr>
              <a:t>select_users</a:t>
            </a:r>
            <a:r>
              <a:rPr lang="en-US" sz="1100" b="1" dirty="0">
                <a:solidFill>
                  <a:srgbClr val="000080"/>
                </a:solidFill>
                <a:latin typeface="+mn-lt"/>
              </a:rPr>
              <a:t>(</a:t>
            </a:r>
            <a:r>
              <a:rPr lang="en-US" sz="1100" dirty="0">
                <a:solidFill>
                  <a:srgbClr val="FF0000"/>
                </a:solidFill>
                <a:latin typeface="+mn-lt"/>
              </a:rPr>
              <a:t>1</a:t>
            </a:r>
            <a:r>
              <a:rPr lang="en-US" sz="1100" b="1" dirty="0">
                <a:solidFill>
                  <a:srgbClr val="000080"/>
                </a:solidFill>
                <a:latin typeface="+mn-lt"/>
              </a:rPr>
              <a:t>))</a:t>
            </a:r>
            <a:r>
              <a:rPr lang="en-US" sz="1100" dirty="0">
                <a:latin typeface="+mn-lt"/>
              </a:rPr>
              <a:t> </a:t>
            </a:r>
            <a:r>
              <a:rPr lang="en-US" sz="1100" dirty="0">
                <a:solidFill>
                  <a:srgbClr val="008000"/>
                </a:solidFill>
                <a:latin typeface="+mn-lt"/>
              </a:rPr>
              <a:t># </a:t>
            </a:r>
            <a:r>
              <a:rPr lang="ru-RU" sz="1100" dirty="0">
                <a:solidFill>
                  <a:srgbClr val="008000"/>
                </a:solidFill>
                <a:latin typeface="+mn-lt"/>
              </a:rPr>
              <a:t>Проверяем, что изменения применились</a:t>
            </a:r>
            <a:r>
              <a:rPr lang="ru-RU" sz="1100" dirty="0">
                <a:latin typeface="+mn-lt"/>
              </a:rPr>
              <a:t> </a:t>
            </a:r>
            <a:endParaRPr lang="en-US" sz="1100" dirty="0">
              <a:latin typeface="+mn-lt"/>
            </a:endParaRPr>
          </a:p>
          <a:p>
            <a:r>
              <a:rPr lang="en-US" sz="1100" dirty="0">
                <a:latin typeface="+mn-lt"/>
              </a:rPr>
              <a:t>    </a:t>
            </a:r>
            <a:r>
              <a:rPr lang="en-US" sz="1100" dirty="0">
                <a:solidFill>
                  <a:srgbClr val="008000"/>
                </a:solidFill>
                <a:latin typeface="+mn-lt"/>
              </a:rPr>
              <a:t># </a:t>
            </a:r>
            <a:r>
              <a:rPr lang="ru-RU" sz="1100" dirty="0">
                <a:solidFill>
                  <a:srgbClr val="008000"/>
                </a:solidFill>
                <a:latin typeface="+mn-lt"/>
              </a:rPr>
              <a:t>Удаление записи по </a:t>
            </a:r>
            <a:r>
              <a:rPr lang="en-US" sz="1100" dirty="0">
                <a:solidFill>
                  <a:srgbClr val="008000"/>
                </a:solidFill>
                <a:latin typeface="+mn-lt"/>
              </a:rPr>
              <a:t>id</a:t>
            </a:r>
            <a:r>
              <a:rPr lang="en-US" sz="1100" dirty="0">
                <a:latin typeface="+mn-lt"/>
              </a:rPr>
              <a:t> </a:t>
            </a:r>
          </a:p>
          <a:p>
            <a:r>
              <a:rPr lang="en-US" sz="1100" dirty="0">
                <a:latin typeface="+mn-lt"/>
              </a:rPr>
              <a:t>    delete_users</a:t>
            </a:r>
            <a:r>
              <a:rPr lang="en-US" sz="1100" b="1" dirty="0">
                <a:solidFill>
                  <a:srgbClr val="000080"/>
                </a:solidFill>
                <a:latin typeface="+mn-lt"/>
              </a:rPr>
              <a:t>(</a:t>
            </a:r>
            <a:r>
              <a:rPr lang="en-US" sz="1100" dirty="0">
                <a:solidFill>
                  <a:srgbClr val="FF0000"/>
                </a:solidFill>
                <a:latin typeface="+mn-lt"/>
              </a:rPr>
              <a:t>3</a:t>
            </a:r>
            <a:r>
              <a:rPr lang="en-US" sz="1100" b="1" dirty="0">
                <a:solidFill>
                  <a:srgbClr val="000080"/>
                </a:solidFill>
                <a:latin typeface="+mn-lt"/>
              </a:rPr>
              <a:t>)</a:t>
            </a:r>
            <a:r>
              <a:rPr lang="en-US" sz="1100" dirty="0">
                <a:latin typeface="+mn-lt"/>
              </a:rPr>
              <a:t> </a:t>
            </a:r>
          </a:p>
          <a:p>
            <a:r>
              <a:rPr lang="en-US" sz="1100" b="1" dirty="0">
                <a:solidFill>
                  <a:srgbClr val="0000FF"/>
                </a:solidFill>
                <a:latin typeface="+mn-lt"/>
              </a:rPr>
              <a:t>    print</a:t>
            </a:r>
            <a:r>
              <a:rPr lang="en-US" sz="1100" b="1" dirty="0">
                <a:solidFill>
                  <a:srgbClr val="000080"/>
                </a:solidFill>
                <a:latin typeface="+mn-lt"/>
              </a:rPr>
              <a:t>(</a:t>
            </a:r>
            <a:r>
              <a:rPr lang="en-US" sz="1100" dirty="0">
                <a:latin typeface="+mn-lt"/>
              </a:rPr>
              <a:t>select_users</a:t>
            </a:r>
            <a:r>
              <a:rPr lang="en-US" sz="1100" b="1" dirty="0">
                <a:solidFill>
                  <a:srgbClr val="000080"/>
                </a:solidFill>
                <a:latin typeface="+mn-lt"/>
              </a:rPr>
              <a:t>())</a:t>
            </a:r>
            <a:r>
              <a:rPr lang="en-US" sz="1100" dirty="0">
                <a:latin typeface="+mn-lt"/>
              </a:rPr>
              <a:t> </a:t>
            </a:r>
            <a:r>
              <a:rPr lang="en-US" sz="1100" dirty="0">
                <a:solidFill>
                  <a:srgbClr val="008000"/>
                </a:solidFill>
                <a:latin typeface="+mn-lt"/>
              </a:rPr>
              <a:t># </a:t>
            </a:r>
            <a:r>
              <a:rPr lang="ru-RU" sz="1100" dirty="0">
                <a:solidFill>
                  <a:srgbClr val="008000"/>
                </a:solidFill>
                <a:latin typeface="+mn-lt"/>
              </a:rPr>
              <a:t>Проверяем, что запись удалилась</a:t>
            </a:r>
            <a:r>
              <a:rPr lang="ru-RU" sz="1100" dirty="0">
                <a:latin typeface="+mn-lt"/>
              </a:rPr>
              <a:t> </a:t>
            </a:r>
            <a:endParaRPr lang="en-US" sz="1100" dirty="0">
              <a:latin typeface="+mn-lt"/>
            </a:endParaRPr>
          </a:p>
        </p:txBody>
      </p:sp>
    </p:spTree>
    <p:extLst>
      <p:ext uri="{BB962C8B-B14F-4D97-AF65-F5344CB8AC3E}">
        <p14:creationId xmlns:p14="http://schemas.microsoft.com/office/powerpoint/2010/main" val="34995559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itle 2"/>
          <p:cNvSpPr txBox="1">
            <a:spLocks/>
          </p:cNvSpPr>
          <p:nvPr/>
        </p:nvSpPr>
        <p:spPr>
          <a:xfrm>
            <a:off x="1870362" y="620490"/>
            <a:ext cx="5410200" cy="56221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r>
              <a:rPr lang="ru-RU" sz="3200" b="1" kern="1200" dirty="0">
                <a:solidFill>
                  <a:schemeClr val="bg1"/>
                </a:solidFill>
                <a:latin typeface="+mn-lt"/>
              </a:rPr>
              <a:t>Практика</a:t>
            </a:r>
            <a:endParaRPr lang="ru-RU" sz="3200" b="1" kern="1200" dirty="0">
              <a:solidFill>
                <a:schemeClr val="bg1"/>
              </a:solidFill>
              <a:latin typeface="+mn-lt"/>
              <a:ea typeface="+mn-ea"/>
              <a:cs typeface="+mn-cs"/>
            </a:endParaRPr>
          </a:p>
        </p:txBody>
      </p:sp>
      <p:sp>
        <p:nvSpPr>
          <p:cNvPr id="3" name="Прямоугольник 2"/>
          <p:cNvSpPr/>
          <p:nvPr/>
        </p:nvSpPr>
        <p:spPr>
          <a:xfrm>
            <a:off x="565906" y="1352366"/>
            <a:ext cx="8085214" cy="3046988"/>
          </a:xfrm>
          <a:prstGeom prst="rect">
            <a:avLst/>
          </a:prstGeom>
        </p:spPr>
        <p:txBody>
          <a:bodyPr wrap="square">
            <a:spAutoFit/>
          </a:bodyPr>
          <a:lstStyle/>
          <a:p>
            <a:pPr marL="228600" indent="-228600">
              <a:spcBef>
                <a:spcPts val="600"/>
              </a:spcBef>
              <a:buClr>
                <a:schemeClr val="accent6"/>
              </a:buClr>
              <a:buFont typeface="+mj-lt"/>
              <a:buAutoNum type="arabicPeriod"/>
            </a:pPr>
            <a:r>
              <a:rPr lang="ru-RU" dirty="0">
                <a:solidFill>
                  <a:schemeClr val="bg1"/>
                </a:solidFill>
                <a:latin typeface="+mn-lt"/>
              </a:rPr>
              <a:t>Создать NoSQL базу данных для сервиса заказа такси. Предусмотреть наличие в предметной области таких сущностей, как пользователи сервиса (логин, рейтинг) и, собственно, машины такси (номер, рейтинг, цена, координаты). API для работы с БД должен предусматривать поиск ближайшей по координатам, либо оптимальной по цене, машины, начало и завершение поездки. Для оптимизации поиска следует использовать индексирование</a:t>
            </a:r>
            <a:endParaRPr lang="en-US" dirty="0">
              <a:solidFill>
                <a:schemeClr val="bg1"/>
              </a:solidFill>
              <a:latin typeface="+mn-lt"/>
            </a:endParaRPr>
          </a:p>
          <a:p>
            <a:pPr marL="228600" indent="-228600">
              <a:spcBef>
                <a:spcPts val="600"/>
              </a:spcBef>
              <a:buClr>
                <a:schemeClr val="accent6"/>
              </a:buClr>
              <a:buFont typeface="+mj-lt"/>
              <a:buAutoNum type="arabicPeriod"/>
            </a:pPr>
            <a:endParaRPr lang="ru-RU" dirty="0">
              <a:solidFill>
                <a:schemeClr val="bg1"/>
              </a:solidFill>
              <a:latin typeface="+mn-lt"/>
            </a:endParaRPr>
          </a:p>
          <a:p>
            <a:pPr marL="228600" indent="-228600">
              <a:spcBef>
                <a:spcPts val="600"/>
              </a:spcBef>
              <a:buClr>
                <a:schemeClr val="accent6"/>
              </a:buClr>
              <a:buFont typeface="+mj-lt"/>
              <a:buAutoNum type="arabicPeriod"/>
            </a:pPr>
            <a:r>
              <a:rPr lang="ru-RU" dirty="0">
                <a:solidFill>
                  <a:schemeClr val="bg1"/>
                </a:solidFill>
                <a:latin typeface="+mn-lt"/>
              </a:rPr>
              <a:t>Реализовать сервис коротких ссылок. При передаче скрипту в качестве аргумента (с ключом "-r") реальной ссылки на веб-ресурс (URI), скрипт должен сгенерировать, сохранить и вернуть короткую ссылку (например, вместо google.com – g.co). При передаче короткой ссылки (с ключом "-s") скрипт должен вернуть соответствующий настоящий URI. Если для указанной короткой ссылки URI не найден, возвращается None. Время хранения коротких ссылок ограничено двумя минутами</a:t>
            </a:r>
          </a:p>
        </p:txBody>
      </p:sp>
    </p:spTree>
    <p:extLst>
      <p:ext uri="{BB962C8B-B14F-4D97-AF65-F5344CB8AC3E}">
        <p14:creationId xmlns:p14="http://schemas.microsoft.com/office/powerpoint/2010/main" val="3173298353"/>
      </p:ext>
    </p:extLst>
  </p:cSld>
  <p:clrMapOvr>
    <a:masterClrMapping/>
  </p:clrMapOvr>
</p:sld>
</file>

<file path=ppt/theme/theme1.xml><?xml version="1.0" encoding="utf-8"?>
<a:theme xmlns:a="http://schemas.openxmlformats.org/drawingml/2006/main" name="Cyber Security Business Plan">
  <a:themeElements>
    <a:clrScheme name="Другая 6">
      <a:dk1>
        <a:srgbClr val="000000"/>
      </a:dk1>
      <a:lt1>
        <a:srgbClr val="FFFFFF"/>
      </a:lt1>
      <a:dk2>
        <a:srgbClr val="595959"/>
      </a:dk2>
      <a:lt2>
        <a:srgbClr val="1F1C51"/>
      </a:lt2>
      <a:accent1>
        <a:srgbClr val="4482CC"/>
      </a:accent1>
      <a:accent2>
        <a:srgbClr val="ACFFD9"/>
      </a:accent2>
      <a:accent3>
        <a:srgbClr val="4482CC"/>
      </a:accent3>
      <a:accent4>
        <a:srgbClr val="CC7C58"/>
      </a:accent4>
      <a:accent5>
        <a:srgbClr val="2525A5"/>
      </a:accent5>
      <a:accent6>
        <a:srgbClr val="8BE3FF"/>
      </a:accent6>
      <a:hlink>
        <a:srgbClr val="8BE3FF"/>
      </a:hlink>
      <a:folHlink>
        <a:srgbClr val="0097A7"/>
      </a:folHlink>
    </a:clrScheme>
    <a:fontScheme name="Другая 13">
      <a:majorFont>
        <a:latin typeface="proxima nova bold"/>
        <a:ea typeface=""/>
        <a:cs typeface=""/>
      </a:majorFont>
      <a:minorFont>
        <a:latin typeface="proxima nova rg"/>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2151</TotalTime>
  <Words>5871</Words>
  <Application>Microsoft Office PowerPoint</Application>
  <PresentationFormat>Экран (16:9)</PresentationFormat>
  <Paragraphs>709</Paragraphs>
  <Slides>41</Slides>
  <Notes>40</Notes>
  <HiddenSlides>0</HiddenSlides>
  <MMClips>0</MMClips>
  <ScaleCrop>false</ScaleCrop>
  <HeadingPairs>
    <vt:vector size="8" baseType="variant">
      <vt:variant>
        <vt:lpstr>Использованные шрифты</vt:lpstr>
      </vt:variant>
      <vt:variant>
        <vt:i4>7</vt:i4>
      </vt:variant>
      <vt:variant>
        <vt:lpstr>Тема</vt:lpstr>
      </vt:variant>
      <vt:variant>
        <vt:i4>1</vt:i4>
      </vt:variant>
      <vt:variant>
        <vt:lpstr>Внедренные серверы OLE</vt:lpstr>
      </vt:variant>
      <vt:variant>
        <vt:i4>2</vt:i4>
      </vt:variant>
      <vt:variant>
        <vt:lpstr>Заголовки слайдов</vt:lpstr>
      </vt:variant>
      <vt:variant>
        <vt:i4>41</vt:i4>
      </vt:variant>
    </vt:vector>
  </HeadingPairs>
  <TitlesOfParts>
    <vt:vector size="51" baseType="lpstr">
      <vt:lpstr>DM Sans</vt:lpstr>
      <vt:lpstr>Arial</vt:lpstr>
      <vt:lpstr>Verdana</vt:lpstr>
      <vt:lpstr>Calibri</vt:lpstr>
      <vt:lpstr>proxima nova rg</vt:lpstr>
      <vt:lpstr>Viga</vt:lpstr>
      <vt:lpstr>proxima nova bold</vt:lpstr>
      <vt:lpstr>Cyber Security Business Plan</vt:lpstr>
      <vt:lpstr>Лист</vt:lpstr>
      <vt:lpstr>Worksheet</vt:lpstr>
      <vt:lpstr>Лекция №12</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Программирование на языке Python</dc:title>
  <dc:creator>Ksenia</dc:creator>
  <cp:lastModifiedBy>Ilya Orlov</cp:lastModifiedBy>
  <cp:revision>125</cp:revision>
  <dcterms:modified xsi:type="dcterms:W3CDTF">2021-10-07T18:02:49Z</dcterms:modified>
</cp:coreProperties>
</file>