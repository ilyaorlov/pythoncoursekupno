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53"/>
  </p:notesMasterIdLst>
  <p:sldIdLst>
    <p:sldId id="257" r:id="rId2"/>
    <p:sldId id="419" r:id="rId3"/>
    <p:sldId id="468" r:id="rId4"/>
    <p:sldId id="469" r:id="rId5"/>
    <p:sldId id="470" r:id="rId6"/>
    <p:sldId id="467" r:id="rId7"/>
    <p:sldId id="471" r:id="rId8"/>
    <p:sldId id="472" r:id="rId9"/>
    <p:sldId id="473" r:id="rId10"/>
    <p:sldId id="474" r:id="rId11"/>
    <p:sldId id="475" r:id="rId12"/>
    <p:sldId id="476" r:id="rId13"/>
    <p:sldId id="477" r:id="rId14"/>
    <p:sldId id="478" r:id="rId15"/>
    <p:sldId id="479" r:id="rId16"/>
    <p:sldId id="480" r:id="rId17"/>
    <p:sldId id="481" r:id="rId18"/>
    <p:sldId id="482" r:id="rId19"/>
    <p:sldId id="483" r:id="rId20"/>
    <p:sldId id="484" r:id="rId21"/>
    <p:sldId id="486" r:id="rId22"/>
    <p:sldId id="487" r:id="rId23"/>
    <p:sldId id="488" r:id="rId24"/>
    <p:sldId id="489" r:id="rId25"/>
    <p:sldId id="490" r:id="rId26"/>
    <p:sldId id="491" r:id="rId27"/>
    <p:sldId id="492" r:id="rId28"/>
    <p:sldId id="493" r:id="rId29"/>
    <p:sldId id="494" r:id="rId30"/>
    <p:sldId id="495" r:id="rId31"/>
    <p:sldId id="496" r:id="rId32"/>
    <p:sldId id="497" r:id="rId33"/>
    <p:sldId id="498" r:id="rId34"/>
    <p:sldId id="499" r:id="rId35"/>
    <p:sldId id="500" r:id="rId36"/>
    <p:sldId id="502" r:id="rId37"/>
    <p:sldId id="503" r:id="rId38"/>
    <p:sldId id="504" r:id="rId39"/>
    <p:sldId id="505" r:id="rId40"/>
    <p:sldId id="506" r:id="rId41"/>
    <p:sldId id="507" r:id="rId42"/>
    <p:sldId id="508" r:id="rId43"/>
    <p:sldId id="509" r:id="rId44"/>
    <p:sldId id="510" r:id="rId45"/>
    <p:sldId id="511" r:id="rId46"/>
    <p:sldId id="512" r:id="rId47"/>
    <p:sldId id="513" r:id="rId48"/>
    <p:sldId id="514" r:id="rId49"/>
    <p:sldId id="515" r:id="rId50"/>
    <p:sldId id="444" r:id="rId51"/>
    <p:sldId id="516" r:id="rId52"/>
  </p:sldIdLst>
  <p:sldSz cx="9144000" cy="5143500" type="screen16x9"/>
  <p:notesSz cx="6858000" cy="9144000"/>
  <p:embeddedFontLst>
    <p:embeddedFont>
      <p:font typeface="DM Sans" panose="020B0604020202020204" charset="0"/>
      <p:regular r:id="rId54"/>
      <p:bold r:id="rId55"/>
      <p:italic r:id="rId56"/>
      <p:boldItalic r:id="rId57"/>
    </p:embeddedFont>
    <p:embeddedFont>
      <p:font typeface="proxima nova bold" panose="02000506030000020004" charset="0"/>
      <p:bold r:id="rId58"/>
    </p:embeddedFont>
    <p:embeddedFont>
      <p:font typeface="proxima nova rg" panose="02000506030000020004" charset="0"/>
      <p:regular r:id="rId59"/>
      <p:bold r:id="rId60"/>
      <p:italic r:id="rId61"/>
      <p:boldItalic r:id="rId62"/>
    </p:embeddedFont>
    <p:embeddedFont>
      <p:font typeface="Viga" panose="020B0604020202020204" charset="0"/>
      <p:regular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18" userDrawn="1">
          <p15:clr>
            <a:srgbClr val="9AA0A6"/>
          </p15:clr>
        </p15:guide>
        <p15:guide id="2" pos="2880" userDrawn="1">
          <p15:clr>
            <a:srgbClr val="9AA0A6"/>
          </p15:clr>
        </p15:guide>
        <p15:guide id="3" pos="431" userDrawn="1">
          <p15:clr>
            <a:srgbClr val="9AA0A6"/>
          </p15:clr>
        </p15:guide>
        <p15:guide id="5" orient="horz" pos="2663" userDrawn="1">
          <p15:clr>
            <a:srgbClr val="9AA0A6"/>
          </p15:clr>
        </p15:guide>
        <p15:guide id="6" orient="horz" pos="146" userDrawn="1">
          <p15:clr>
            <a:srgbClr val="A4A3A4"/>
          </p15:clr>
        </p15:guide>
        <p15:guide id="7" orient="horz" pos="3003" userDrawn="1">
          <p15:clr>
            <a:srgbClr val="A4A3A4"/>
          </p15:clr>
        </p15:guide>
        <p15:guide id="8" pos="53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5" autoAdjust="0"/>
    <p:restoredTop sz="96395" autoAdjust="0"/>
  </p:normalViewPr>
  <p:slideViewPr>
    <p:cSldViewPr snapToGrid="0">
      <p:cViewPr varScale="1">
        <p:scale>
          <a:sx n="108" d="100"/>
          <a:sy n="108" d="100"/>
        </p:scale>
        <p:origin x="792" y="77"/>
      </p:cViewPr>
      <p:guideLst>
        <p:guide orient="horz" pos="418"/>
        <p:guide pos="2880"/>
        <p:guide pos="431"/>
        <p:guide orient="horz" pos="2663"/>
        <p:guide orient="horz" pos="146"/>
        <p:guide orient="horz" pos="3003"/>
        <p:guide pos="53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2.fntdata"/><Relationship Id="rId63" Type="http://schemas.openxmlformats.org/officeDocument/2006/relationships/font" Target="fonts/font1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61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7.fntdata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6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4600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05596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9016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51624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34565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83145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5601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7695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21151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32324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5497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15401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05455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98034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14021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38180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427805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5958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827765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99987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90704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2509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48568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2180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7038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62422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287282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26456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859276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13274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840588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944837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29581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2315811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05215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001091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00071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86910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714685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369716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438150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19424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70503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45025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259984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00017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226061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78467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07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3" r:id="rId2"/>
    <p:sldLayoutId id="214748365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582020" y="200807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№1</a:t>
            </a:r>
            <a:r>
              <a:rPr lang="en-US" sz="4800" dirty="0">
                <a:latin typeface="+mj-lt"/>
              </a:rPr>
              <a:t>3</a:t>
            </a:r>
            <a:endParaRPr sz="4800" dirty="0"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7151" y="1223829"/>
            <a:ext cx="8081089" cy="1100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ru-RU" sz="3600" dirty="0">
                <a:solidFill>
                  <a:schemeClr val="accent3"/>
                </a:solidFill>
                <a:latin typeface="+mj-lt"/>
              </a:rPr>
              <a:t>Тестирование </a:t>
            </a:r>
            <a:br>
              <a:rPr lang="en-US" sz="3600" dirty="0">
                <a:solidFill>
                  <a:schemeClr val="accent3"/>
                </a:solidFill>
                <a:latin typeface="+mj-lt"/>
              </a:rPr>
            </a:br>
            <a:r>
              <a:rPr lang="ru-RU" sz="3600" dirty="0">
                <a:solidFill>
                  <a:schemeClr val="accent3"/>
                </a:solidFill>
                <a:latin typeface="+mj-lt"/>
              </a:rPr>
              <a:t>программного обеспечения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582020" y="2324258"/>
            <a:ext cx="3887787" cy="2360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Общая информация 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Виды тестирования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unittest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coverage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nose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819879" y="2324258"/>
            <a:ext cx="4244608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2000" dirty="0">
                <a:solidFill>
                  <a:schemeClr val="tx1"/>
                </a:solidFill>
                <a:latin typeface="+mn-lt"/>
              </a:rPr>
              <a:t>pytest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2000" dirty="0">
                <a:solidFill>
                  <a:schemeClr val="tx1"/>
                </a:solidFill>
                <a:latin typeface="+mn-lt"/>
              </a:rPr>
              <a:t>mock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Системное тестирование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2000" dirty="0">
                <a:solidFill>
                  <a:schemeClr val="tx1"/>
                </a:solidFill>
                <a:latin typeface="+mn-lt"/>
              </a:rPr>
              <a:t>selenium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2000" dirty="0">
                <a:solidFill>
                  <a:schemeClr val="tx1"/>
                </a:solidFill>
                <a:latin typeface="+mn-lt"/>
              </a:rPr>
              <a:t>robotframework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1030749"/>
            <a:ext cx="9144000" cy="12274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229504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Общая информация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105915"/>
            <a:ext cx="8168886" cy="3714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b="1" dirty="0">
                <a:solidFill>
                  <a:schemeClr val="accent3"/>
                </a:solidFill>
                <a:latin typeface="+mn-lt"/>
              </a:rPr>
              <a:t>Тестирование программного обеспечения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— процесс исследования, испытания программного продукта, имеющий своей целью проверку соответствия между реальным поведением программы и её ожидаемым поведением на конечном наборе тестов, выбранных определенным образом (ISO/IEC TR 19759:2005).</a:t>
            </a:r>
            <a:br>
              <a:rPr lang="en-US" altLang="ru-RU" dirty="0">
                <a:solidFill>
                  <a:schemeClr val="tx1"/>
                </a:solidFill>
                <a:latin typeface="+mn-lt"/>
              </a:rPr>
            </a:br>
            <a:endParaRPr lang="ru-RU" altLang="ru-RU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Качество написанной программы определяется, в первую очередь, соответствием реальных результатов работы программы и ожидаемых.</a:t>
            </a:r>
            <a:br>
              <a:rPr lang="en-US" altLang="ru-RU" dirty="0">
                <a:solidFill>
                  <a:schemeClr val="tx1"/>
                </a:solidFill>
                <a:latin typeface="+mn-lt"/>
              </a:rPr>
            </a:b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Прежде чем поставляться заказчику, программный продукт должен пройти проверку на соответствие требованиям заказчика. Проверка подразумевает передачу программе (или отдельным ее компонентам) входных данных, считывание результата или определенных статистик выполнения программы и сравнение этих выходных данных с ожидаемым результатом.</a:t>
            </a:r>
            <a:br>
              <a:rPr lang="en-US" altLang="ru-RU" dirty="0">
                <a:solidFill>
                  <a:schemeClr val="tx1"/>
                </a:solidFill>
                <a:latin typeface="+mn-lt"/>
              </a:rPr>
            </a:b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Тестовые сценарии определяются в соответствии с требованиями заказчика (для всего продукта), либо с требованиями к компоненту по дизайну проекта (для отдельных компонентов).</a:t>
            </a:r>
          </a:p>
        </p:txBody>
      </p:sp>
    </p:spTree>
    <p:extLst>
      <p:ext uri="{BB962C8B-B14F-4D97-AF65-F5344CB8AC3E}">
        <p14:creationId xmlns:p14="http://schemas.microsoft.com/office/powerpoint/2010/main" val="2943240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388531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Виды тестирования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8" y="1264942"/>
            <a:ext cx="8359717" cy="33424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Существуют различные способы классификации видов тестирования: </a:t>
            </a:r>
            <a:r>
              <a:rPr lang="ru-RU" altLang="ru-RU" b="1" dirty="0">
                <a:solidFill>
                  <a:schemeClr val="accent3"/>
                </a:solidFill>
                <a:latin typeface="+mn-lt"/>
              </a:rPr>
              <a:t>по объекту тестирования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(функциональные тесты, стресс-тесты), </a:t>
            </a:r>
            <a:r>
              <a:rPr lang="ru-RU" altLang="ru-RU" b="1" dirty="0">
                <a:solidFill>
                  <a:schemeClr val="accent3"/>
                </a:solidFill>
                <a:latin typeface="+mn-lt"/>
              </a:rPr>
              <a:t>по степени изолированности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(юнит-тестирование, интеграционное. системное) </a:t>
            </a:r>
            <a:r>
              <a:rPr lang="ru-RU" altLang="ru-RU" b="1" dirty="0">
                <a:solidFill>
                  <a:schemeClr val="accent3"/>
                </a:solidFill>
                <a:latin typeface="+mn-lt"/>
              </a:rPr>
              <a:t>по степени автоматизации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и т.д.</a:t>
            </a:r>
            <a:endParaRPr lang="en-US" altLang="ru-RU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В самом общем случае программное обеспечение должно проходит компонентное (юнит-) и системное тестирование.</a:t>
            </a:r>
            <a:endParaRPr lang="en-US" altLang="ru-RU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Юнит-тестирование подразумевает проверку отдельных модулей, функций и классов. За написание и выполнение соответствующих тестов обычно отвечает сам программист, который пишет тестируемый код. Основная цель при написании тестов – максимально покрыть ими код, </a:t>
            </a:r>
            <a:br>
              <a:rPr lang="en-US" altLang="ru-RU" dirty="0">
                <a:solidFill>
                  <a:schemeClr val="tx1"/>
                </a:solidFill>
                <a:latin typeface="+mn-lt"/>
              </a:rPr>
            </a:br>
            <a:r>
              <a:rPr lang="ru-RU" altLang="ru-RU" dirty="0">
                <a:solidFill>
                  <a:schemeClr val="tx1"/>
                </a:solidFill>
                <a:latin typeface="+mn-lt"/>
              </a:rPr>
              <a:t>т.е. задействовать весь функционал компонента.</a:t>
            </a:r>
            <a:endParaRPr lang="en-US" altLang="ru-RU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Системное тестирование заключается в проверке сразу всей программы на соответствие исходным требованиям. Сама программа обычно рассматривается как черный ящик. За написание и выполнение системных тестов обычно отвечает отдельный специалист – </a:t>
            </a:r>
            <a:r>
              <a:rPr lang="ru-RU" altLang="ru-RU" dirty="0" err="1">
                <a:solidFill>
                  <a:schemeClr val="tx1"/>
                </a:solidFill>
                <a:latin typeface="+mn-lt"/>
              </a:rPr>
              <a:t>тестировщик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46949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261310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unittest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137721"/>
            <a:ext cx="8152984" cy="36132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Для написания компонентных тестов к коду на языке Python в Python существует удобная библиотека - unittest. unittest обеспечивает автоматизацию тестирования, поддерживает возможности объединения тестов в наборы, задания общего кода для запуска и завершения тестов, независимость самих тестов от фреймворка, генерирующего отчеты. Unittest предоставляет специальные классы, упрощающие управление наборами тестов. В связи с этим unittest использует следующие важные концепции: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b="1" dirty="0">
                <a:solidFill>
                  <a:schemeClr val="tx1"/>
                </a:solidFill>
                <a:latin typeface="+mn-lt"/>
              </a:rPr>
              <a:t>test case 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– тест как минимальная единица тестирования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b="1" dirty="0">
                <a:solidFill>
                  <a:schemeClr val="tx1"/>
                </a:solidFill>
                <a:latin typeface="+mn-lt"/>
              </a:rPr>
              <a:t>test suite 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– набор тестов (test cases) или других наборов (test suites)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b="1" dirty="0">
                <a:solidFill>
                  <a:schemeClr val="tx1"/>
                </a:solidFill>
                <a:latin typeface="+mn-lt"/>
              </a:rPr>
              <a:t>test fixture 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– вспомогательные действия по подготовке к запуску и зачистке после тестов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b="1" dirty="0">
                <a:solidFill>
                  <a:schemeClr val="tx1"/>
                </a:solidFill>
                <a:latin typeface="+mn-lt"/>
              </a:rPr>
              <a:t>test runner 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– компонент, управляющий запуском тестов и предоставлением отчета </a:t>
            </a:r>
          </a:p>
        </p:txBody>
      </p:sp>
    </p:spTree>
    <p:extLst>
      <p:ext uri="{BB962C8B-B14F-4D97-AF65-F5344CB8AC3E}">
        <p14:creationId xmlns:p14="http://schemas.microsoft.com/office/powerpoint/2010/main" val="3594210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873560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unittest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749971"/>
            <a:ext cx="7890590" cy="2251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Каркас тестов в PyCharm можно создавать автоматически, просто выбрав в контекстном меню для функции или класса: Go To -&gt; Test -&gt; Create New Test (или то же самое через меню Navigate). 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В unittest тесты представлены экземплярами класса TestCase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Для создания своих тестов необходимо порождать подклассы TestCase или FunctionTestCase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Экземпляр подкласса TestCase может выполнить один метод runTest() с необязательными методами подготовки (setUp) и зачистки (tearDown)</a:t>
            </a:r>
          </a:p>
        </p:txBody>
      </p:sp>
    </p:spTree>
    <p:extLst>
      <p:ext uri="{BB962C8B-B14F-4D97-AF65-F5344CB8AC3E}">
        <p14:creationId xmlns:p14="http://schemas.microsoft.com/office/powerpoint/2010/main" val="4000354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319" y="513183"/>
            <a:ext cx="3975652" cy="41171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# пример - тестирует методы строк</a:t>
            </a: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unittest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TestStringMethods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assertEqual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'FOO', 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assertTrue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assertFalse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'hello world'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assertEqual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'hello'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'world'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])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Проверим, что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s.split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не работает, если разделитель - не строка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assertRaises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TypeError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# обеспечиваем возможность запуска тестового скрипта из консоли</a:t>
            </a:r>
            <a:endParaRPr lang="en-US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endParaRPr lang="en-US" sz="105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53680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тестовый класс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76902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377190"/>
            <a:ext cx="3974124" cy="43891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# пример - добавляем методы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setUp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и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tearDown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unittest </a:t>
            </a: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TestStringMethods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setUp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'start'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assertEqual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assertTrue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assertFalse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'hello world'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assertEqual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'hello'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'world'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])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Проверим, что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s.split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не работает, если разделитель - не строка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assertRaises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TypeError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    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tearDown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        print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'end'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   unittest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53680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пред- и постусловия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36650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1360915"/>
            <a:ext cx="3974124" cy="242166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Запуск тестов в консоли: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python3 -m unittest test_string_methods.py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Ran 3 tests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OK</a:t>
            </a:r>
            <a:endParaRPr lang="ru-RU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53680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вывод на экран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66013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205651"/>
            <a:ext cx="82563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unittest: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примеры проверок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graphicFrame>
        <p:nvGraphicFramePr>
          <p:cNvPr id="4" name="Table 8">
            <a:extLst>
              <a:ext uri="{FF2B5EF4-FFF2-40B4-BE49-F238E27FC236}">
                <a16:creationId xmlns:a16="http://schemas.microsoft.com/office/drawing/2014/main" id="{ABACC854-09C0-4975-BF71-19AC468AA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373429"/>
              </p:ext>
            </p:extLst>
          </p:nvPr>
        </p:nvGraphicFramePr>
        <p:xfrm>
          <a:off x="675861" y="1091689"/>
          <a:ext cx="7935402" cy="3698671"/>
        </p:xfrm>
        <a:graphic>
          <a:graphicData uri="http://schemas.openxmlformats.org/drawingml/2006/table">
            <a:tbl>
              <a:tblPr/>
              <a:tblGrid>
                <a:gridCol w="3352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83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6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572B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Проверяет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572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assertEqual(a,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==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291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assertNotEqual(a,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!=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assertTrue(x)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bool(x) is True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assertFalse(x)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bool(x) is False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assertRaises(exc, fun, *args, **kwds)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fun(*args, **kwds) raises exc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91075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is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assertIsNot(a,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is not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assertIsNone(x)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x is None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assertIsNotNone(x)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x is not None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assertIn(a,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in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assertNotIn(a,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not in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assertIsInstance(a,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isinstance(a,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assertNotIsInstance(a,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not isinstance(a,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assertRaisesRegex(exc, r, fun, *args, **kwds)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fun(*args, **kwds) raises exc</a:t>
                      </a:r>
                      <a:r>
                        <a:rPr lang="ru-RU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and the message matches regex 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8063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8865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556591"/>
            <a:ext cx="3974124" cy="415058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800" dirty="0">
                <a:solidFill>
                  <a:schemeClr val="tx1"/>
                </a:solidFill>
                <a:latin typeface="+mn-lt"/>
              </a:rPr>
              <a:t>Запуск тестов в консоли: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unittest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sys </a:t>
            </a:r>
            <a:endParaRPr lang="ru-RU" sz="12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kern="1200" dirty="0">
                <a:solidFill>
                  <a:srgbClr val="000000"/>
                </a:solidFill>
                <a:latin typeface="+mn-lt"/>
              </a:rPr>
              <a:t>MyTestCase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@unittest.skip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"demonstrating skipping"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FF00FF"/>
                </a:solidFill>
                <a:latin typeface="+mn-lt"/>
              </a:rPr>
              <a:t>test_nothing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fail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"shouldn't happen"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@unittest.skipIf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sys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version_info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minor 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!=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FF0000"/>
                </a:solidFill>
                <a:latin typeface="+mn-lt"/>
              </a:rPr>
              <a:t>6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                 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"not supported in this python version"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FF00FF"/>
                </a:solidFill>
                <a:latin typeface="+mn-lt"/>
              </a:rPr>
              <a:t>test_format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kern="1200" dirty="0">
                <a:solidFill>
                  <a:srgbClr val="008000"/>
                </a:solidFill>
                <a:latin typeface="+mn-lt"/>
              </a:rPr>
              <a:t># Tests that work for only a certain version of the library.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pass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@unittest.skipUnless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sys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platform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startswith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"win"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"requires Windows"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FF00FF"/>
                </a:solidFill>
                <a:latin typeface="+mn-lt"/>
              </a:rPr>
              <a:t>test_windows_support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kern="1200" dirty="0">
                <a:solidFill>
                  <a:srgbClr val="008000"/>
                </a:solidFill>
                <a:latin typeface="+mn-lt"/>
              </a:rPr>
              <a:t># windows specific testing code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pass</a:t>
            </a:r>
            <a:endParaRPr lang="en-US" sz="1200" kern="1200" dirty="0">
              <a:solidFill>
                <a:srgbClr val="000000"/>
              </a:solidFill>
              <a:latin typeface="+mn-lt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18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br>
              <a:rPr lang="en-US" sz="3200" kern="1200" dirty="0">
                <a:solidFill>
                  <a:schemeClr val="bg1"/>
                </a:solidFill>
                <a:latin typeface="+mj-lt"/>
              </a:rPr>
            </a:b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пропуск тестовых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25298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397565"/>
            <a:ext cx="3974124" cy="4476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Запуск тестов с пропусками (опция –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 v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 позволяет получить более детальный отчет):</a:t>
            </a:r>
            <a:endParaRPr lang="en-US" dirty="0">
              <a:solidFill>
                <a:schemeClr val="accent3"/>
              </a:solidFill>
              <a:latin typeface="+mn-lt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python3 -m unittest -v test_skip.py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test_format (tests_skip.MyTestCase) ... skipped 'not supported in this python version'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test_nothing (tests_skip.MyTestCase) ... skipped 'demonstrating skipping'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test_windows_support (tests_skip.MyTestCase) ... skipped 'requires Windows'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Ran 3 tests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OK (skipped=3)</a:t>
            </a:r>
            <a:endParaRPr lang="ru-RU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dirty="0">
              <a:solidFill>
                <a:schemeClr val="accent3"/>
              </a:solidFill>
              <a:latin typeface="+mn-lt"/>
              <a:cs typeface="Courier New" panose="02070309020205020404" pitchFamily="49" charset="0"/>
            </a:endParaRPr>
          </a:p>
          <a:p>
            <a:pPr>
              <a:spcBef>
                <a:spcPct val="0"/>
              </a:spcBef>
              <a:buNone/>
              <a:defRPr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Можно запускать отдельные методы тестового класса: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python</a:t>
            </a: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 -m unittest -v test_s</a:t>
            </a: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kip</a:t>
            </a: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.MyTestCase.test_format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test_format (tests_s</a:t>
            </a: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kip</a:t>
            </a: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.MyTestCase) ... skipped 'not supported in this python version'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Ran 1 test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ru-RU" altLang="ru-RU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br>
              <a:rPr lang="en-US" sz="3200" kern="1200" dirty="0">
                <a:solidFill>
                  <a:schemeClr val="bg1"/>
                </a:solidFill>
                <a:latin typeface="+mj-lt"/>
              </a:rPr>
            </a:b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вывод на экран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278216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531655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unittest: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структура папок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408066"/>
            <a:ext cx="8152984" cy="307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При создании тестовых скриптов используются следующие принципы наименования и расположения файлов:</a:t>
            </a:r>
            <a:endParaRPr lang="en-US" altLang="ru-RU" sz="16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 marL="285750" indent="-285750">
              <a:lnSpc>
                <a:spcPct val="11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Если тестируется код в файле module.py, скрипт с юнит-тестами к этому файлу должен называться test_module.py.</a:t>
            </a:r>
            <a:br>
              <a:rPr lang="en-US" altLang="ru-RU" sz="1600" dirty="0">
                <a:solidFill>
                  <a:schemeClr val="tx1"/>
                </a:solidFill>
                <a:latin typeface="+mn-lt"/>
              </a:rPr>
            </a:b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 marL="285750" indent="-285750">
              <a:lnSpc>
                <a:spcPct val="11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При этом скрипт test_module.py можно разместить:</a:t>
            </a:r>
          </a:p>
          <a:p>
            <a:pPr marL="628650" indent="-271463">
              <a:lnSpc>
                <a:spcPct val="110000"/>
              </a:lnSpc>
              <a:buFont typeface="proxima nova rg" panose="02000506030000020004" pitchFamily="2" charset="0"/>
              <a:buChar char="−"/>
              <a:tabLst>
                <a:tab pos="628650" algn="l"/>
              </a:tabLst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в той же папке, что и module.py</a:t>
            </a:r>
          </a:p>
          <a:p>
            <a:pPr marL="628650" indent="-271463">
              <a:lnSpc>
                <a:spcPct val="110000"/>
              </a:lnSpc>
              <a:buFont typeface="proxima nova rg" panose="02000506030000020004" pitchFamily="2" charset="0"/>
              <a:buChar char="−"/>
              <a:tabLst>
                <a:tab pos="628650" algn="l"/>
              </a:tabLst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в папке ../tests/test_module.py (в отдельной папке для тестов, но на том же уровне, что и файл с кодом)</a:t>
            </a:r>
          </a:p>
          <a:p>
            <a:pPr marL="628650" indent="-271463">
              <a:lnSpc>
                <a:spcPct val="110000"/>
              </a:lnSpc>
              <a:buFont typeface="proxima nova rg" panose="02000506030000020004" pitchFamily="2" charset="0"/>
              <a:buChar char="−"/>
              <a:tabLst>
                <a:tab pos="628650" algn="l"/>
              </a:tabLst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в папке tests/test_module.py (в отдельной папке для тестов, которая расположена в той же папке, что и файл с кодом)</a:t>
            </a:r>
          </a:p>
        </p:txBody>
      </p:sp>
    </p:spTree>
    <p:extLst>
      <p:ext uri="{BB962C8B-B14F-4D97-AF65-F5344CB8AC3E}">
        <p14:creationId xmlns:p14="http://schemas.microsoft.com/office/powerpoint/2010/main" val="3480428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723569"/>
            <a:ext cx="3974124" cy="409492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sz="1600" dirty="0">
                <a:solidFill>
                  <a:schemeClr val="accent3"/>
                </a:solidFill>
                <a:latin typeface="+mn-lt"/>
              </a:rPr>
              <a:t>Для запуска всех тестов в папке необходимо создать TestRunner, либо воспользоваться опцией discover</a:t>
            </a:r>
            <a:br>
              <a:rPr lang="en-US" sz="1800" dirty="0">
                <a:solidFill>
                  <a:schemeClr val="accent3"/>
                </a:solidFill>
                <a:latin typeface="+mn-lt"/>
              </a:rPr>
            </a:br>
            <a:endParaRPr lang="ru-RU" sz="1200" dirty="0">
              <a:solidFill>
                <a:schemeClr val="accent3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unittest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kern="1200" dirty="0">
                <a:solidFill>
                  <a:srgbClr val="000000"/>
                </a:solidFill>
                <a:latin typeface="+mn-lt"/>
              </a:rPr>
              <a:t>testmodules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kern="1200" dirty="0">
                <a:solidFill>
                  <a:srgbClr val="808080"/>
                </a:solidFill>
                <a:latin typeface="+mn-lt"/>
              </a:rPr>
              <a:t>'test_string_methods'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kern="1200" dirty="0">
                <a:solidFill>
                  <a:srgbClr val="808080"/>
                </a:solidFill>
                <a:latin typeface="+mn-lt"/>
              </a:rPr>
              <a:t>'test_skip'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kern="1200" dirty="0">
                <a:solidFill>
                  <a:srgbClr val="000000"/>
                </a:solidFill>
                <a:latin typeface="+mn-lt"/>
              </a:rPr>
              <a:t>    suite 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unittest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TestSuite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kern="1200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tm </a:t>
            </a:r>
            <a:r>
              <a:rPr lang="en-US" b="1" kern="1200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testmodules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kern="1200" dirty="0">
                <a:solidFill>
                  <a:srgbClr val="000000"/>
                </a:solidFill>
                <a:latin typeface="+mn-lt"/>
              </a:rPr>
              <a:t>        suite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addTest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defaultTestLoader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loadTestsFromName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tm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kern="1200" dirty="0">
                <a:solidFill>
                  <a:srgbClr val="000000"/>
                </a:solidFill>
                <a:latin typeface="+mn-lt"/>
              </a:rPr>
              <a:t>    unittest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TextTestRunner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().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suite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en-US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TestRunner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89320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273823"/>
            <a:ext cx="3974124" cy="45958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Результат запуска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TestRunner: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</a:t>
            </a:r>
            <a:r>
              <a:rPr lang="en-US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python3 </a:t>
            </a: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testrunner.py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-------------------------------------------------------Ran 6 tests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OK (skipped=2)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  <a:defRPr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Использование опции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discover: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</a:t>
            </a: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py</a:t>
            </a:r>
            <a:r>
              <a:rPr lang="en-US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thon3</a:t>
            </a: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 -m unittest discover . test_*.py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ss.start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Ran 6 tests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OK (skipped=2)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br>
              <a:rPr lang="en-US" sz="3200" kern="1200" dirty="0">
                <a:solidFill>
                  <a:schemeClr val="bg1"/>
                </a:solidFill>
                <a:latin typeface="+mj-lt"/>
              </a:rPr>
            </a:b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вывод на экран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59600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81797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coverage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002551"/>
            <a:ext cx="8152984" cy="25976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accent3"/>
                </a:solidFill>
                <a:latin typeface="+mn-lt"/>
              </a:rPr>
              <a:t>Для оценки покрытия кода тестами используется скрипт </a:t>
            </a:r>
            <a:r>
              <a:rPr lang="en-US" altLang="ru-RU" dirty="0">
                <a:solidFill>
                  <a:schemeClr val="accent3"/>
                </a:solidFill>
                <a:latin typeface="+mn-lt"/>
              </a:rPr>
              <a:t>coverage: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__________________________________________________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$ pip3 install coverage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$ coverage run test_string_methods.py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$ coverage report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Name                     Stmts   Miss  Cover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--------------------------------------------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test_string_methods.py      18      0   100%</a:t>
            </a:r>
          </a:p>
          <a:p>
            <a:pPr>
              <a:lnSpc>
                <a:spcPct val="110000"/>
              </a:lnSpc>
            </a:pPr>
            <a:endParaRPr lang="en-US" altLang="ru-RU" sz="12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accent3"/>
                </a:solidFill>
                <a:latin typeface="+mn-lt"/>
              </a:rPr>
              <a:t>Можно получить отчет </a:t>
            </a:r>
            <a:r>
              <a:rPr lang="en-US" altLang="ru-RU" dirty="0">
                <a:solidFill>
                  <a:schemeClr val="accent3"/>
                </a:solidFill>
                <a:latin typeface="+mn-lt"/>
              </a:rPr>
              <a:t>coverage </a:t>
            </a:r>
            <a:r>
              <a:rPr lang="ru-RU" altLang="ru-RU" dirty="0">
                <a:solidFill>
                  <a:schemeClr val="accent3"/>
                </a:solidFill>
                <a:latin typeface="+mn-lt"/>
              </a:rPr>
              <a:t>в более удобном формате </a:t>
            </a:r>
            <a:r>
              <a:rPr lang="en-US" altLang="ru-RU" dirty="0">
                <a:solidFill>
                  <a:schemeClr val="accent3"/>
                </a:solidFill>
                <a:latin typeface="+mn-lt"/>
              </a:rPr>
              <a:t>html (</a:t>
            </a:r>
            <a:r>
              <a:rPr lang="ru-RU" altLang="ru-RU" dirty="0">
                <a:solidFill>
                  <a:schemeClr val="accent3"/>
                </a:solidFill>
                <a:latin typeface="+mn-lt"/>
              </a:rPr>
              <a:t>файл </a:t>
            </a:r>
            <a:r>
              <a:rPr lang="en-US" altLang="ru-RU" dirty="0">
                <a:solidFill>
                  <a:schemeClr val="accent3"/>
                </a:solidFill>
                <a:latin typeface="+mn-lt"/>
              </a:rPr>
              <a:t>htmlcov/index.html):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__________________________________________________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$ coverage html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FDA107-906E-44F0-A015-5A0E5D145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687" y="3624038"/>
            <a:ext cx="4622198" cy="120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0339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167759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nose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988513"/>
            <a:ext cx="3644594" cy="17173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nose является дополнением unittest, еще больше упрощая тестирование. Он автоматически находит тесты, имеет множество плагинов для запуска отдельных тестов, использования coverage и т.д.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5021249" y="391968"/>
            <a:ext cx="3351474" cy="44935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100" kern="1200" dirty="0">
                <a:latin typeface="+mn-lt"/>
              </a:rPr>
              <a:t> nose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kern="1200" dirty="0">
                <a:latin typeface="+mn-lt"/>
              </a:rPr>
              <a:t>tools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100" kern="1200" dirty="0">
                <a:latin typeface="+mn-lt"/>
              </a:rPr>
              <a:t> assert_equals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kern="1200" dirty="0">
                <a:latin typeface="+mn-lt"/>
              </a:rPr>
              <a:t> raises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b="1" kern="1200" dirty="0">
                <a:latin typeface="+mn-lt"/>
              </a:rPr>
              <a:t>TestWithNose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setup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'Before test case'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teardown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'After test case'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</a:t>
            </a:r>
            <a:r>
              <a:rPr lang="en-US" sz="1100" kern="1200" dirty="0">
                <a:latin typeface="+mn-lt"/>
              </a:rPr>
              <a:t>@classmethod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setup_class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cls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'Before test suite'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</a:t>
            </a:r>
            <a:r>
              <a:rPr lang="en-US" sz="1100" kern="1200" dirty="0">
                <a:latin typeface="+mn-lt"/>
              </a:rPr>
              <a:t>@classmethod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teardown_class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cls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'After test suite'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test_numbers_5_6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    </a:t>
            </a:r>
            <a:r>
              <a:rPr lang="en-US" sz="1100" kern="1200" dirty="0">
                <a:latin typeface="+mn-lt"/>
              </a:rPr>
              <a:t>assert_equals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6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30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test_strings_b_2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    </a:t>
            </a:r>
            <a:r>
              <a:rPr lang="en-US" sz="1100" kern="1200" dirty="0">
                <a:latin typeface="+mn-lt"/>
              </a:rPr>
              <a:t>assert_equals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'b'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'bb'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</a:t>
            </a:r>
            <a:r>
              <a:rPr lang="en-US" sz="1100" kern="1200" dirty="0">
                <a:latin typeface="+mn-lt"/>
              </a:rPr>
              <a:t>@raises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ZeroDivisionError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test_zero_division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    </a:t>
            </a:r>
            <a:r>
              <a:rPr lang="en-US" sz="1100" kern="1200" dirty="0">
                <a:latin typeface="+mn-lt"/>
              </a:rPr>
              <a:t>a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/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100" kern="1200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3872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398347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nose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2219101"/>
            <a:ext cx="2531411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С помощью nose можно управлять запуском тестов, написанных с использованием как nose, так и unittest.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776870" y="391968"/>
            <a:ext cx="4890052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kern="1200" dirty="0">
                <a:latin typeface="+mn-lt"/>
              </a:rPr>
              <a:t>____________________________________________</a:t>
            </a:r>
            <a:r>
              <a:rPr lang="en-US" kern="1200" dirty="0">
                <a:latin typeface="+mn-lt"/>
                <a:cs typeface="Courier New" panose="02070309020205020404" pitchFamily="49" charset="0"/>
              </a:rPr>
              <a:t>$ </a:t>
            </a:r>
            <a:r>
              <a:rPr lang="ru-RU" kern="1200" dirty="0">
                <a:latin typeface="+mn-lt"/>
                <a:cs typeface="Courier New" panose="02070309020205020404" pitchFamily="49" charset="0"/>
              </a:rPr>
              <a:t>python</a:t>
            </a:r>
            <a:r>
              <a:rPr lang="en-US" kern="1200" dirty="0">
                <a:latin typeface="+mn-lt"/>
                <a:cs typeface="Courier New" panose="02070309020205020404" pitchFamily="49" charset="0"/>
              </a:rPr>
              <a:t>3</a:t>
            </a:r>
            <a:r>
              <a:rPr lang="ru-RU" kern="1200" dirty="0">
                <a:latin typeface="+mn-lt"/>
                <a:cs typeface="Courier New" panose="02070309020205020404" pitchFamily="49" charset="0"/>
              </a:rPr>
              <a:t> -m nose -v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test_format (test_skip.MyTestCase) ... SKIP: not supported in this python version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test_nothing (test_skip.MyTestCase) ... SKIP: demonstrating skipping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test_windows_support (test_skip.MyTestCase)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test_isupper (test_string_methods.TestStringMethods)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test_split (test_string_methods.TestStringMethods)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test_upper (test_string_methods.TestStringMethods)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test_mylen (test_tasks.TestTasks)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test_myrange (test_tasks.TestTasks)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test_reversed (test_tasks.TestTasks)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test_with_nose.TestWithNose.test_numbers_5_6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test_with_nose.TestWithNose.test_strings_b_2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test_with_nose.TestWithNose.test_zero_division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----------------------------------------------------Ran 12 tests in 0.031s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OK (SKIP=2)</a:t>
            </a:r>
          </a:p>
        </p:txBody>
      </p:sp>
    </p:spTree>
    <p:extLst>
      <p:ext uri="{BB962C8B-B14F-4D97-AF65-F5344CB8AC3E}">
        <p14:creationId xmlns:p14="http://schemas.microsoft.com/office/powerpoint/2010/main" val="19724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151857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972611"/>
            <a:ext cx="3636642" cy="19882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pytest является наиболее популярной библиотекой для автоматизированного тестирования. Она также имеет множество дополнений и расширений, упрощающих создание и использование тестов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5096786" y="391968"/>
            <a:ext cx="3586038" cy="46628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import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pytest </a:t>
            </a:r>
          </a:p>
          <a:p>
            <a:endParaRPr lang="en-US" sz="1100" b="1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class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latin typeface="+mn-lt"/>
                <a:cs typeface="Courier New" panose="02070309020205020404" pitchFamily="49" charset="0"/>
              </a:rPr>
              <a:t>TestWithPytestSuite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setup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'Before test case'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</a:p>
          <a:p>
            <a:endParaRPr lang="en-US" sz="1100" b="1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teardown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'After test case'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endParaRPr lang="en-US" sz="1100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i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i="1" dirty="0">
                <a:solidFill>
                  <a:srgbClr val="FF8000"/>
                </a:solidFill>
                <a:latin typeface="+mn-lt"/>
                <a:cs typeface="Courier New" panose="02070309020205020404" pitchFamily="49" charset="0"/>
              </a:rPr>
              <a:t>@classmethod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setup_class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cls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'Before test suite'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endParaRPr lang="en-US" sz="1100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i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i="1" dirty="0">
                <a:solidFill>
                  <a:srgbClr val="FF8000"/>
                </a:solidFill>
                <a:latin typeface="+mn-lt"/>
                <a:cs typeface="Courier New" panose="02070309020205020404" pitchFamily="49" charset="0"/>
              </a:rPr>
              <a:t>@classmethod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teardown_class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cls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'After test suite'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endParaRPr lang="en-US" sz="1100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    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test_numbers_5_6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assert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5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*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6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==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30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endParaRPr lang="en-US" sz="1100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    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test_strings_b_2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assert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'b'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*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==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'bb'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test_zero_division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with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pytest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.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raises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ZeroDivisionError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            a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10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/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0</a:t>
            </a:r>
            <a:endParaRPr lang="en-US" sz="1100" dirty="0"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67333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151857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972611"/>
            <a:ext cx="2499606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pytest также может запускать тесты, написанные </a:t>
            </a:r>
            <a:br>
              <a:rPr lang="en-US" altLang="ru-RU" sz="1600" dirty="0">
                <a:solidFill>
                  <a:schemeClr val="tx1"/>
                </a:solidFill>
                <a:latin typeface="+mn-lt"/>
              </a:rPr>
            </a:b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с использованием как pytest, так и unittest.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307742" y="511236"/>
            <a:ext cx="5637476" cy="39857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C:\PythonCourse\tests&gt;pytest -v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=================================================== test session starts 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platform win32 -- Python 3.7.5, pytest-6.1.1, py-1.9.0, pluggy-0.13.1 -- c:\users\ilya.orlov\appdata\local\programs\python\python37\python.exe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cachedir: .pytest_cache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rootdir: C:\PythonCourse\tests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plugins: cov-2.12.1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collected 11 items                                                                                                              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test_skip.py::MyTestCase::test_format SKIPPED                                                  [ 9%]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test_skip.py::MyTestCase::test_nothing SKIPPED                                                [ 18%]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test_skip.py::MyTestCase::test_windows_support PASSED                                [ 27%]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test_string_methods.py::TestStringMethods::test_isupper PASSED                   [ 36%]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test_string_methods.py::TestStringMethods::test_split PASSED                         [ 45%]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test_string_methods.py::TestStringMethods::test_upper PASSED                      [ 54%]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test_tasks.py::TestTasks::test_mylen PASSED                                                      [ 63%]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test_tasks.py::TestTasks::test_myrange PASSED                                                  [ 72%]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test_with_nose.py::TestWithNose::test_numbers_5_6 PASSED                          [ 81%]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test_with_nose.py::TestWithNose::test_strings_b_2 PASSED                             [ 90%]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test_with_nose.py::TestWithNose::test_zero_division PASSED                           [100%]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======================================== 9 passed, 2 skipped, 3 warnings in 0.36s</a:t>
            </a:r>
          </a:p>
        </p:txBody>
      </p:sp>
    </p:spTree>
    <p:extLst>
      <p:ext uri="{BB962C8B-B14F-4D97-AF65-F5344CB8AC3E}">
        <p14:creationId xmlns:p14="http://schemas.microsoft.com/office/powerpoint/2010/main" val="809184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4845" y="606038"/>
            <a:ext cx="4459155" cy="39314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200" kern="1200" dirty="0">
                <a:solidFill>
                  <a:srgbClr val="008000"/>
                </a:solidFill>
                <a:latin typeface="+mn-lt"/>
              </a:rPr>
              <a:t>tasks.py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4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pytest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tasks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mylen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myrange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TestTasksSuite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test_mylen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l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45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32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9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mylen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l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    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test_myrange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-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-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kern="1200" dirty="0">
                <a:solidFill>
                  <a:srgbClr val="008000"/>
                </a:solidFill>
                <a:latin typeface="+mn-lt"/>
              </a:rPr>
              <a:t># assert(myrange(20, 10, 0) == list(range(20, 10, 0)))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pytest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95112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pytest: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585139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350639"/>
            <a:ext cx="226901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pytest-cov: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пример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307742" y="511236"/>
            <a:ext cx="5637476" cy="4124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Оценим покрытие исходного кода тестами, запустив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pytest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 с построением coverage report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 (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нужно доустановить библиотеку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pytest-cov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через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pip)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100" kern="1200" dirty="0">
                <a:latin typeface="+mn-lt"/>
              </a:rPr>
              <a:t>__________________________________________________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C:\PythonCourse\tests&gt;pytest -v test_tasks.py --cov-report html:cov_html --cov tasks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</a:t>
            </a:r>
            <a:r>
              <a:rPr lang="en-US" sz="1100" kern="1200" dirty="0">
                <a:cs typeface="Courier New" panose="02070309020205020404" pitchFamily="49" charset="0"/>
              </a:rPr>
              <a:t>==============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 test session starts ===</a:t>
            </a:r>
            <a:r>
              <a:rPr lang="en-US" sz="1100" kern="1200" dirty="0">
                <a:cs typeface="Courier New" panose="02070309020205020404" pitchFamily="49" charset="0"/>
              </a:rPr>
              <a:t>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platform win32 -- Python 3.7.5, pytest-6.1.1, py-1.9.0, pluggy-0.13.1 -- c:\users\ilya.orlov\appdata\local\programs\python\python37\pyt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hon.exe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cachedir: .pytest_cache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rootdir: C:\PythonCourse\tests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plugins: cov-2.12.1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collected 2 items                                                                                                               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test_tasks.py::TestTasksSuite::test_mylen PASSED </a:t>
            </a:r>
            <a:r>
              <a:rPr lang="ru-RU" sz="1100" kern="1200" dirty="0">
                <a:latin typeface="+mn-lt"/>
                <a:cs typeface="Courier New" panose="02070309020205020404" pitchFamily="49" charset="0"/>
              </a:rPr>
              <a:t>                                       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[ 50%]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test_tasks.py::TestTasksSuite::test_myrange PASSED </a:t>
            </a:r>
            <a:r>
              <a:rPr lang="ru-RU" sz="1100" kern="1200" dirty="0">
                <a:latin typeface="+mn-lt"/>
                <a:cs typeface="Courier New" panose="02070309020205020404" pitchFamily="49" charset="0"/>
              </a:rPr>
              <a:t>                                  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[100%]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-------- coverage: platform win32, python 3.7.5-final-0 --------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Coverage HTML written to dir cov_html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=========================================== 2 passed in 0.09s</a:t>
            </a:r>
          </a:p>
        </p:txBody>
      </p:sp>
    </p:spTree>
    <p:extLst>
      <p:ext uri="{BB962C8B-B14F-4D97-AF65-F5344CB8AC3E}">
        <p14:creationId xmlns:p14="http://schemas.microsoft.com/office/powerpoint/2010/main" val="21129997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466230" y="1350639"/>
            <a:ext cx="226901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pytest-cov: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пример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993349" y="511236"/>
            <a:ext cx="49695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С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overage report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в формате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html (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файл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cov_html/index.html)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и покрытие кода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tasks.py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тестами:</a:t>
            </a:r>
          </a:p>
        </p:txBody>
      </p:sp>
      <p:grpSp>
        <p:nvGrpSpPr>
          <p:cNvPr id="2" name="Группа 1"/>
          <p:cNvGrpSpPr/>
          <p:nvPr/>
        </p:nvGrpSpPr>
        <p:grpSpPr>
          <a:xfrm>
            <a:off x="2993349" y="1136205"/>
            <a:ext cx="5785655" cy="3674334"/>
            <a:chOff x="3594319" y="1136205"/>
            <a:chExt cx="4646315" cy="2950766"/>
          </a:xfrm>
        </p:grpSpPr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9B80D286-D690-4E5B-AD46-D7969AB0F2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94319" y="1136205"/>
              <a:ext cx="2292612" cy="827767"/>
            </a:xfrm>
            <a:prstGeom prst="rect">
              <a:avLst/>
            </a:prstGeom>
          </p:spPr>
        </p:pic>
        <p:pic>
          <p:nvPicPr>
            <p:cNvPr id="5" name="Рисунок 4" descr="Изображение выглядит как текст&#10;&#10;Автоматически созданное описание">
              <a:extLst>
                <a:ext uri="{FF2B5EF4-FFF2-40B4-BE49-F238E27FC236}">
                  <a16:creationId xmlns:a16="http://schemas.microsoft.com/office/drawing/2014/main" id="{E7108373-669D-4489-B5F2-8E1D9B26D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92633" y="1136205"/>
              <a:ext cx="2248001" cy="29507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8151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4845" y="1367624"/>
            <a:ext cx="4188811" cy="258144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Для получения аналогичного отчета с использованием unittest потребовалось бы выполнить следующий набор команд: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800" kern="1200" dirty="0">
                <a:solidFill>
                  <a:srgbClr val="000000"/>
                </a:solidFill>
                <a:latin typeface="+mn-lt"/>
              </a:rPr>
              <a:t>_______________________________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8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coverage erase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coverage run --source tasks test_tasks.py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coverage report -m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coverage html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sz="18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86919"/>
            <a:ext cx="37753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pytest-cov </a:t>
            </a:r>
            <a:br>
              <a:rPr lang="ru-RU" sz="3200" kern="1200" dirty="0">
                <a:solidFill>
                  <a:schemeClr val="bg1"/>
                </a:solidFill>
                <a:latin typeface="+mj-lt"/>
              </a:rPr>
            </a:br>
            <a:r>
              <a:rPr lang="en-US" sz="3200" kern="1200" dirty="0">
                <a:solidFill>
                  <a:schemeClr val="bg1"/>
                </a:solidFill>
                <a:latin typeface="+mj-lt"/>
              </a:rPr>
              <a:t>vs </a:t>
            </a:r>
            <a:br>
              <a:rPr lang="ru-RU" sz="3200" kern="1200" dirty="0">
                <a:solidFill>
                  <a:schemeClr val="bg1"/>
                </a:solidFill>
                <a:latin typeface="+mj-lt"/>
              </a:rPr>
            </a:br>
            <a:r>
              <a:rPr lang="en-US" sz="3200" kern="1200" dirty="0">
                <a:solidFill>
                  <a:schemeClr val="bg1"/>
                </a:solidFill>
                <a:latin typeface="+mj-lt"/>
              </a:rPr>
              <a:t>coverage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33863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614603"/>
            <a:ext cx="22690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pytest: </a:t>
            </a:r>
            <a:r>
              <a:rPr lang="ru-RU" sz="2000" kern="1200" dirty="0">
                <a:solidFill>
                  <a:schemeClr val="accent3"/>
                </a:solidFill>
                <a:latin typeface="+mj-lt"/>
              </a:rPr>
              <a:t>параметризация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829488"/>
            <a:ext cx="2197456" cy="2522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Написание теста для функции myrange можно упростить, используя параметризацию. Для этого pytest предоставляет декоратор @pytest.fixture.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498574" y="535090"/>
            <a:ext cx="5446644" cy="4185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import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pytest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from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tasks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import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myrange </a:t>
            </a:r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class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+mn-lt"/>
                <a:cs typeface="Courier New" panose="02070309020205020404" pitchFamily="49" charset="0"/>
              </a:rPr>
              <a:t>TestMyrangeSuite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i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i="1" dirty="0">
                <a:solidFill>
                  <a:srgbClr val="FF8000"/>
                </a:solidFill>
                <a:latin typeface="+mn-lt"/>
                <a:cs typeface="Courier New" panose="02070309020205020404" pitchFamily="49" charset="0"/>
              </a:rPr>
              <a:t>@pytest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.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fixture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endParaRPr lang="ru-RU" b="1" dirty="0">
              <a:solidFill>
                <a:srgbClr val="000080"/>
              </a:solidFill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scope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</a:t>
            </a:r>
            <a:r>
              <a:rPr lang="en-US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'function'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params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=[(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5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)],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ids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lambda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args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f"Test with args: '{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args</a:t>
            </a:r>
            <a:r>
              <a:rPr lang="en-US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}'"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parametrize_myrange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request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return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request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.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param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test_myrange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parametrize_myrange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range_args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parametrize_myrange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assert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myrange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(*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range_args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==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list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(*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range_args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))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if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__name__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==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'__main__'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pytest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.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main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()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74876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490085" y="1807299"/>
            <a:ext cx="22690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pytest: </a:t>
            </a:r>
            <a:r>
              <a:rPr lang="ru-RU" sz="2000" kern="1200" dirty="0">
                <a:solidFill>
                  <a:schemeClr val="accent3"/>
                </a:solidFill>
                <a:latin typeface="+mj-lt"/>
              </a:rPr>
              <a:t>параметризация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981739" y="932655"/>
            <a:ext cx="5963479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600" kern="1200" dirty="0">
                <a:latin typeface="+mn-lt"/>
              </a:rPr>
              <a:t>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C:\PythonCourse\tests&gt;pytest -v test_myrange.py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 test session starts 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platform win32 -- Python 3.7.5, pytest-6.1.1, py-1.9.0, pluggy-0.13.1 -- c:\users\ilya.orlov\appdata\local\programs\python\python37\pyt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hon.exe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cachedir: .pytest_cache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rootdir: C:\PythonCourse\tests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plugins: cov-2.12.1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collected 4 items                                                                                                               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test_myrange.py::TestMyrangeSuite::test_myrange[Test with args: (0, 5)] PASSED            [ 25%]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test_myrange.py::TestMyrangeSuite::test_myrange[Test with args: (10, 20)] PASSED        [ 50%]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test_myrange.py::TestMyrangeSuite::test_myrange[Test with args: (10, 20, 3)] PASSED    [ 75%]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test_myrange.py::TestMyrangeSuite::test_myrange[Test with args: (20, 10, -2)] PASSED </a:t>
            </a:r>
            <a:r>
              <a:rPr lang="ru-RU" sz="1100" kern="1200" dirty="0">
                <a:latin typeface="+mn-lt"/>
                <a:cs typeface="Courier New" panose="02070309020205020404" pitchFamily="49" charset="0"/>
              </a:rPr>
              <a:t>  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[100%]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 4 passed in 0.04s</a:t>
            </a:r>
            <a:r>
              <a:rPr lang="ru-RU" sz="1100" kern="12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750195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3440020" y="465364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mock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88396" y="1290464"/>
            <a:ext cx="7991062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Тестируемые компоненты в большинстве случаев имеют зависимости от других компонентов, библиотек, драйверов. Чтобы протестировать такой компонент изолированно надо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заменить все его зависимости на mock-объекты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"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заглушки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"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работающие в соответствии с тестовыми сценариями.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Для создания и использования mock-объектов в Python существует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библиотека mock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. Она позволяет подменять компоненты тестируемой системы mock-объектами и проверять обращения к этим объектам. Например, мы тестируем клиентский модуль, получающий какие-то данные от HTTP сервера. Использовать реальный сервер в данном случае неправильно, т.к. мы тестируем именно код клиента и проверять заодно внешние зависимости было бы излишней работой (это уже относится к системному тестированию). Все, что нам нужно, это получить правильный ответ от сервера, т.е. ответ, предусмотренный тестовым сценарием. В этом случае достаточно использовать mock-объект, чтобы эмулировать ответ, который нам нужен. Таким способом проверить все возможные ответы от сервера, не проверяя и не используя сам сервер.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787471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3440020" y="131409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mock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pic>
        <p:nvPicPr>
          <p:cNvPr id="4" name="Shape 116">
            <a:extLst>
              <a:ext uri="{FF2B5EF4-FFF2-40B4-BE49-F238E27FC236}">
                <a16:creationId xmlns:a16="http://schemas.microsoft.com/office/drawing/2014/main" id="{168601CC-4A2F-444B-B5F8-856270F57B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0922" y="900850"/>
            <a:ext cx="5710910" cy="38149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4152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4845" y="301652"/>
            <a:ext cx="4188811" cy="455609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3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300" kern="1200" dirty="0">
                <a:solidFill>
                  <a:srgbClr val="008000"/>
                </a:solidFill>
                <a:latin typeface="+mn-lt"/>
              </a:rPr>
              <a:t>cmd_manager.py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3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AuditManager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add_call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**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kwargs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pass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add_result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**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kwargs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pass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audit_service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AuditManager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CmdManager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set_service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service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run_command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cmd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audit_service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add_call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name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cmd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result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cmd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       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audit_service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add_result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name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result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en-US" sz="13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1873205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4845" y="627407"/>
            <a:ext cx="4188811" cy="38886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kern="1200" dirty="0">
                <a:solidFill>
                  <a:schemeClr val="tx1"/>
                </a:solidFill>
                <a:latin typeface="+mn-lt"/>
              </a:rPr>
              <a:t>Мы будем тестировать класс CmdManager, объект audit_service нас интересует постольку, поскольку к нему идут обращения от методов CmdManager. Эти обращения можно рассматривать как выходные данные тестируемого класса CmdManager. Поэтому сам объект audit_service мы заменяем mock-объектом.</a:t>
            </a: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kern="1200" dirty="0">
                <a:solidFill>
                  <a:schemeClr val="tx1"/>
                </a:solidFill>
                <a:latin typeface="+mn-lt"/>
              </a:rPr>
              <a:t>Метод set_service объекта класса CmdManager принимает параметр service, о котором мы знаем только то, что у него есть атрибут name и метод run, который должен что-то возвращать. В качестве фактического параметра service мы тоже можем использовать mock-объект, предварительно добавив в него требуемые в рамках теста атрибуты и заглушки для методов.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903563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1478" y="222637"/>
            <a:ext cx="4514814" cy="47548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test_cmd_manager.py</a:t>
            </a: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cmd_manager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unittest </a:t>
            </a:r>
            <a:endParaRPr lang="ru-RU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TestCmdManager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FF"/>
                </a:solidFill>
                <a:latin typeface="+mn-lt"/>
              </a:rPr>
              <a:t>test_cmd_manager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cmd_manager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       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Подменяем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audit_service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объектом</a:t>
            </a:r>
            <a:r>
              <a:rPr lang="ru-RU" sz="1000" b="1" kern="1200" dirty="0">
                <a:solidFill>
                  <a:srgbClr val="0000FF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FF"/>
                </a:solidFill>
                <a:latin typeface="+mn-lt"/>
              </a:rPr>
              <a:t>    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patch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'cmd_manager.audit_service'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      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Вместо параметра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service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тоже используем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</a:t>
            </a:r>
            <a:endParaRPr lang="ru-RU" sz="10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name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return_value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set_service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assertTrue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called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run_command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Используем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assert-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методы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объекта, которым мы подменили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audit_service</a:t>
            </a: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      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add_call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  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add_result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653778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1478" y="222637"/>
            <a:ext cx="4514814" cy="47548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ru-RU" sz="1200" dirty="0">
                <a:solidFill>
                  <a:schemeClr val="accent3"/>
                </a:solidFill>
                <a:latin typeface="+mn-lt"/>
              </a:rPr>
              <a:t>Аналогичным, но несколько более изящным решением является использование декоратора @mock.patch</a:t>
            </a:r>
          </a:p>
          <a:p>
            <a:pPr algn="just" eaLnBrk="1" hangingPunct="1">
              <a:spcBef>
                <a:spcPct val="0"/>
              </a:spcBef>
              <a:buNone/>
            </a:pPr>
            <a:endParaRPr lang="ru-RU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cmd_manager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unittest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TestCmdManager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@mock.patch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'cmd_manager.audit_service'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FF"/>
                </a:solidFill>
                <a:latin typeface="+mn-lt"/>
              </a:rPr>
              <a:t>test_cmd_manager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    cmd_mgr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cmd_manager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       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Вместо параметра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service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тоже используем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</a:t>
            </a:r>
            <a:endParaRPr lang="ru-RU" sz="10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name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return_value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set_service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assertTrue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called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run_command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Используем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assert-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методы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объекта, которым мы подменили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audit_service</a:t>
            </a: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add_call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ru-RU" sz="1000" b="1" kern="1200" dirty="0">
              <a:solidFill>
                <a:srgbClr val="00008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add_result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  <a:p>
            <a:pPr algn="just" eaLnBrk="1" hangingPunct="1">
              <a:spcBef>
                <a:spcPct val="0"/>
              </a:spcBef>
              <a:buNone/>
            </a:pPr>
            <a:endParaRPr lang="ru-RU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346561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450244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mock: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принцип работы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88396" y="1399340"/>
            <a:ext cx="799106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Для того, чтоб правильно использовать mock, надо понимать, как он работает. Патчинг некоторого объекта заключается в том, что мы мОчим (заменяем) какой-то подобъект внутри этого объекта. Патчить можно все, что импортируется, а вот мОчить (подменять) - все импортируемое, кроме модулей. Иначе говоря, при патчинге мы заменяем связь между объектом и его подобъектом на связь объекта с фейковым mock-объектом.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88396" y="2950599"/>
            <a:ext cx="7344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chemeClr val="accent3"/>
                </a:solidFill>
                <a:latin typeface="+mn-lt"/>
              </a:rPr>
              <a:t>Было: </a:t>
            </a: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A916D50B-447D-4CCE-ADB7-84D61AB2C484}"/>
              </a:ext>
            </a:extLst>
          </p:cNvPr>
          <p:cNvGrpSpPr/>
          <p:nvPr/>
        </p:nvGrpSpPr>
        <p:grpSpPr>
          <a:xfrm>
            <a:off x="588396" y="3617685"/>
            <a:ext cx="3167486" cy="307777"/>
            <a:chOff x="4060556" y="4572000"/>
            <a:chExt cx="3167486" cy="30777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06272D-5287-4B6C-B20E-A62CEE046459}"/>
                </a:ext>
              </a:extLst>
            </p:cNvPr>
            <p:cNvSpPr txBox="1"/>
            <p:nvPr/>
          </p:nvSpPr>
          <p:spPr>
            <a:xfrm>
              <a:off x="4060556" y="4572000"/>
              <a:ext cx="7665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+mn-lt"/>
                </a:rPr>
                <a:t>объект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9D611C4-E466-44CC-AB5E-B2312B94CA3A}"/>
                </a:ext>
              </a:extLst>
            </p:cNvPr>
            <p:cNvSpPr txBox="1"/>
            <p:nvPr/>
          </p:nvSpPr>
          <p:spPr>
            <a:xfrm>
              <a:off x="6158518" y="4572000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+mn-lt"/>
                </a:rPr>
                <a:t>подобъект</a:t>
              </a:r>
            </a:p>
          </p:txBody>
        </p:sp>
        <p:cxnSp>
          <p:nvCxnSpPr>
            <p:cNvPr id="9" name="Прямая со стрелкой 8">
              <a:extLst>
                <a:ext uri="{FF2B5EF4-FFF2-40B4-BE49-F238E27FC236}">
                  <a16:creationId xmlns:a16="http://schemas.microsoft.com/office/drawing/2014/main" id="{0B26855B-314C-416E-BA93-F60E056C06ED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4827113" y="4725889"/>
              <a:ext cx="1331405" cy="0"/>
            </a:xfrm>
            <a:prstGeom prst="straightConnector1">
              <a:avLst/>
            </a:prstGeom>
            <a:ln w="762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8031274D-2294-44C6-B008-CFCBFAD5D8DC}"/>
              </a:ext>
            </a:extLst>
          </p:cNvPr>
          <p:cNvGrpSpPr/>
          <p:nvPr/>
        </p:nvGrpSpPr>
        <p:grpSpPr>
          <a:xfrm>
            <a:off x="4526342" y="3585881"/>
            <a:ext cx="3344964" cy="873578"/>
            <a:chOff x="4060556" y="4541796"/>
            <a:chExt cx="3344964" cy="873578"/>
          </a:xfrm>
        </p:grpSpPr>
        <p:grpSp>
          <p:nvGrpSpPr>
            <p:cNvPr id="11" name="Группа 10">
              <a:extLst>
                <a:ext uri="{FF2B5EF4-FFF2-40B4-BE49-F238E27FC236}">
                  <a16:creationId xmlns:a16="http://schemas.microsoft.com/office/drawing/2014/main" id="{C445B3E1-29D4-45D5-AF85-9C39E286EAD5}"/>
                </a:ext>
              </a:extLst>
            </p:cNvPr>
            <p:cNvGrpSpPr/>
            <p:nvPr/>
          </p:nvGrpSpPr>
          <p:grpSpPr>
            <a:xfrm>
              <a:off x="4060556" y="4572000"/>
              <a:ext cx="3167486" cy="307777"/>
              <a:chOff x="4060556" y="4572000"/>
              <a:chExt cx="3167486" cy="307777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D60F8E9-0D14-4685-B2C5-BC4D68ECAB87}"/>
                  </a:ext>
                </a:extLst>
              </p:cNvPr>
              <p:cNvSpPr txBox="1"/>
              <p:nvPr/>
            </p:nvSpPr>
            <p:spPr>
              <a:xfrm>
                <a:off x="4060556" y="4572000"/>
                <a:ext cx="7665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dirty="0">
                    <a:solidFill>
                      <a:schemeClr val="tx1"/>
                    </a:solidFill>
                    <a:latin typeface="+mn-lt"/>
                  </a:rPr>
                  <a:t>объект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605A51A-2F07-4B1B-96A6-2DECDDF023B3}"/>
                  </a:ext>
                </a:extLst>
              </p:cNvPr>
              <p:cNvSpPr txBox="1"/>
              <p:nvPr/>
            </p:nvSpPr>
            <p:spPr>
              <a:xfrm>
                <a:off x="6158518" y="4572000"/>
                <a:ext cx="106952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dirty="0">
                    <a:solidFill>
                      <a:schemeClr val="tx1"/>
                    </a:solidFill>
                    <a:latin typeface="+mn-lt"/>
                  </a:rPr>
                  <a:t>подобъект</a:t>
                </a:r>
              </a:p>
            </p:txBody>
          </p:sp>
          <p:cxnSp>
            <p:nvCxnSpPr>
              <p:cNvPr id="20" name="Прямая со стрелкой 19">
                <a:extLst>
                  <a:ext uri="{FF2B5EF4-FFF2-40B4-BE49-F238E27FC236}">
                    <a16:creationId xmlns:a16="http://schemas.microsoft.com/office/drawing/2014/main" id="{C9BF87E1-CB6C-4B6B-95A3-B869A7BB26CC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>
                <a:off x="4827113" y="4725889"/>
                <a:ext cx="1331405" cy="0"/>
              </a:xfrm>
              <a:prstGeom prst="straightConnector1">
                <a:avLst/>
              </a:prstGeom>
              <a:ln w="76200">
                <a:solidFill>
                  <a:srgbClr val="00206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0B1920-56E8-4D27-A720-88477B5CAF3E}"/>
                </a:ext>
              </a:extLst>
            </p:cNvPr>
            <p:cNvSpPr txBox="1"/>
            <p:nvPr/>
          </p:nvSpPr>
          <p:spPr>
            <a:xfrm>
              <a:off x="6156460" y="5107597"/>
              <a:ext cx="12490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+mn-lt"/>
                </a:rPr>
                <a:t>mock-объект</a:t>
              </a:r>
            </a:p>
          </p:txBody>
        </p:sp>
        <p:cxnSp>
          <p:nvCxnSpPr>
            <p:cNvPr id="13" name="Соединитель: уступ 10">
              <a:extLst>
                <a:ext uri="{FF2B5EF4-FFF2-40B4-BE49-F238E27FC236}">
                  <a16:creationId xmlns:a16="http://schemas.microsoft.com/office/drawing/2014/main" id="{295AE681-A16B-4956-999E-0F6E115D3E0C}"/>
                </a:ext>
              </a:extLst>
            </p:cNvPr>
            <p:cNvCxnSpPr>
              <a:stCxn id="17" idx="2"/>
              <a:endCxn id="12" idx="1"/>
            </p:cNvCxnSpPr>
            <p:nvPr/>
          </p:nvCxnSpPr>
          <p:spPr>
            <a:xfrm rot="16200000" flipH="1">
              <a:off x="5109293" y="4214318"/>
              <a:ext cx="381709" cy="1712625"/>
            </a:xfrm>
            <a:prstGeom prst="bentConnector2">
              <a:avLst/>
            </a:prstGeom>
            <a:ln w="762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Группа 13">
              <a:extLst>
                <a:ext uri="{FF2B5EF4-FFF2-40B4-BE49-F238E27FC236}">
                  <a16:creationId xmlns:a16="http://schemas.microsoft.com/office/drawing/2014/main" id="{7FE842EE-C410-435A-AB6C-CFB428E03958}"/>
                </a:ext>
              </a:extLst>
            </p:cNvPr>
            <p:cNvGrpSpPr/>
            <p:nvPr/>
          </p:nvGrpSpPr>
          <p:grpSpPr>
            <a:xfrm>
              <a:off x="5134051" y="4541796"/>
              <a:ext cx="780390" cy="460515"/>
              <a:chOff x="6714102" y="4311026"/>
              <a:chExt cx="780390" cy="460515"/>
            </a:xfrm>
          </p:grpSpPr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47E89E97-C11A-4A80-B25F-F9D18E9D5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14102" y="4311026"/>
                <a:ext cx="780390" cy="460515"/>
              </a:xfrm>
              <a:prstGeom prst="line">
                <a:avLst/>
              </a:prstGeom>
              <a:ln w="28575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5D482871-694D-4AF9-B7BF-2BD9024A77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14931" y="4311026"/>
                <a:ext cx="779561" cy="460515"/>
              </a:xfrm>
              <a:prstGeom prst="line">
                <a:avLst/>
              </a:prstGeom>
              <a:ln w="28575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Прямоугольник 20"/>
          <p:cNvSpPr/>
          <p:nvPr/>
        </p:nvSpPr>
        <p:spPr>
          <a:xfrm>
            <a:off x="4558403" y="2950599"/>
            <a:ext cx="7344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chemeClr val="accent3"/>
                </a:solidFill>
                <a:latin typeface="+mn-lt"/>
              </a:rPr>
              <a:t>Стало:</a:t>
            </a:r>
          </a:p>
        </p:txBody>
      </p:sp>
    </p:spTree>
    <p:extLst>
      <p:ext uri="{BB962C8B-B14F-4D97-AF65-F5344CB8AC3E}">
        <p14:creationId xmlns:p14="http://schemas.microsoft.com/office/powerpoint/2010/main" val="2118585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450244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mock: @mock.patch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88397" y="1590171"/>
            <a:ext cx="224226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2000" b="1" dirty="0">
                <a:solidFill>
                  <a:schemeClr val="accent3"/>
                </a:solidFill>
                <a:latin typeface="+mn-lt"/>
              </a:rPr>
              <a:t>@mock.patch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принимает в качестве первого аргумента любой импортируемый объект, который мы хотим заменить. То, на что мы хотим заменить, можно передать вторым аргументом, а можно указать дальше внутри декорируемой функции.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3156667" y="1590171"/>
            <a:ext cx="2659712" cy="2769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en-US" sz="2000" b="1" dirty="0">
                <a:solidFill>
                  <a:schemeClr val="accent3"/>
                </a:solidFill>
                <a:latin typeface="+mn-lt"/>
              </a:rPr>
              <a:t>@mock.patch.dict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принимает в качестве первого аргумента словарь, который мы хотим заменить. То, на что мы хотим заменить можно передать вторым аргументом, а можно указать дальше внутри декорируемой функции. Если не выставлен флаг clear=True, то исходный словарь не заменяется, а дополняется.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6142382" y="1590171"/>
            <a:ext cx="265971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en-US" sz="2000" b="1" dirty="0">
                <a:solidFill>
                  <a:schemeClr val="accent3"/>
                </a:solidFill>
                <a:latin typeface="+mn-lt"/>
              </a:rPr>
              <a:t>@mock.patch.object</a:t>
            </a:r>
            <a:r>
              <a:rPr lang="ru-RU" sz="2000" b="1" dirty="0">
                <a:solidFill>
                  <a:schemeClr val="accent3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принимает в качестве первого аргумента реальный объект, который мы хотим пропатчить, в качестве второго аргумента - имя атрибута, который хотим заменить. То, на что мы хотим заменить можно передать третьим аргументом, а можно указать дальше внутри декорируемой функции.</a:t>
            </a:r>
          </a:p>
        </p:txBody>
      </p:sp>
    </p:spTree>
    <p:extLst>
      <p:ext uri="{BB962C8B-B14F-4D97-AF65-F5344CB8AC3E}">
        <p14:creationId xmlns:p14="http://schemas.microsoft.com/office/powerpoint/2010/main" val="9539442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8699" y="655485"/>
            <a:ext cx="4268324" cy="383252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mock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600" kern="1200" dirty="0">
                <a:solidFill>
                  <a:srgbClr val="008000"/>
                </a:solidFill>
                <a:latin typeface="+mn-lt"/>
              </a:rPr>
              <a:t>Тестируемый класс</a:t>
            </a: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00"/>
                </a:solidFill>
                <a:latin typeface="+mn-lt"/>
              </a:rPr>
              <a:t>Listener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FF00FF"/>
                </a:solidFill>
                <a:latin typeface="+mn-lt"/>
              </a:rPr>
              <a:t>__init__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running 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True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FF00FF"/>
                </a:solidFill>
                <a:latin typeface="+mn-lt"/>
              </a:rPr>
              <a:t>listen_forever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running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try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msg 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msg_broker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wait_message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client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process_message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msg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except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Exception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running 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False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side_effect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548112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8699" y="214685"/>
            <a:ext cx="4268324" cy="472307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Подготовка к тестированию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Создаем объект тестируемого класса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listener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Listener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Заменяем зависимости на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объекты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msg_broker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client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Настраиваем поведение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объектов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При инициализации атрибута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side_effect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итерируемым объектом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при каждом обращении к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wait_message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будет возвращаться очередной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элемент итерируемого объекта (сначала '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message',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затем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Exception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).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msg_broker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wait_message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side_effect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'message'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Exception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FF"/>
                </a:solidFill>
                <a:latin typeface="+mn-lt"/>
              </a:rPr>
              <a:t>check_msg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msg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assert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msg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'message'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При инициализации атрибута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side_effect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функциональным (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callable)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объектом при каждом обращении к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process_message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будет вызываться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этот функциональный объект.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client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process_message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side_effect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check_msg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Тестируем и выполняем проверки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listener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listen_forever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assert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listener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running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False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client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process_message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'message'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assert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msg_broker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wait_message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call_count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2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</a:t>
            </a:r>
            <a:r>
              <a:rPr lang="en-US" sz="3200" kern="1200" dirty="0" err="1">
                <a:solidFill>
                  <a:schemeClr val="bg1"/>
                </a:solidFill>
                <a:latin typeface="+mj-lt"/>
              </a:rPr>
              <a:t>side_effect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096116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720588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Системное тестирование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765313" y="1693537"/>
            <a:ext cx="7613373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Тестирование программы может быть </a:t>
            </a:r>
            <a:r>
              <a:rPr lang="ru-RU" b="1" dirty="0">
                <a:solidFill>
                  <a:schemeClr val="accent3"/>
                </a:solidFill>
                <a:latin typeface="+mn-lt"/>
              </a:rPr>
              <a:t>ручным, автоматизированным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и </a:t>
            </a:r>
            <a:r>
              <a:rPr lang="ru-RU" b="1" dirty="0">
                <a:solidFill>
                  <a:schemeClr val="accent3"/>
                </a:solidFill>
                <a:latin typeface="+mn-lt"/>
              </a:rPr>
              <a:t>полуавтоматизированным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. Естественно, самым эффективным является автоматизированное тестирование: в этом случае тестовые программы/скрипты, однажды написанные для проверки соответствия программы новым требованиям, могут применяться многократно и быстро,  становясь частью набора регрессионных тестов. Это позволяет создавать CI/CD решения, практически полностью автоматизирующие часть цикла разработки программного обеспечения от деливери до релиза и деплоймента.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Python, сам по себе являясь эффективным средством создания тестовых скриптов за счет своей простоты и скорости разработки на языке, поддерживает также различные библиотеки, еще больше упрощающие создание тестов. Примерами таких библиотек являются selenium и robotframework.</a:t>
            </a:r>
          </a:p>
        </p:txBody>
      </p:sp>
    </p:spTree>
    <p:extLst>
      <p:ext uri="{BB962C8B-B14F-4D97-AF65-F5344CB8AC3E}">
        <p14:creationId xmlns:p14="http://schemas.microsoft.com/office/powerpoint/2010/main" val="22589115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765314" y="959128"/>
            <a:ext cx="27173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selenium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765314" y="1955579"/>
            <a:ext cx="3059264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accent3"/>
                </a:solidFill>
                <a:latin typeface="+mn-lt"/>
              </a:rPr>
              <a:t>Selenium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- это портируемый фреймворк для тестирования программного обеспечения для веб-приложений. Тесты, написанные с его помощью, могут быть запущены в большинстве современных браузеров. Selenium поддерживает Windows, Linux, и Macintosh платформы.</a:t>
            </a:r>
          </a:p>
        </p:txBody>
      </p:sp>
      <p:pic>
        <p:nvPicPr>
          <p:cNvPr id="4" name="Shape 155">
            <a:extLst>
              <a:ext uri="{FF2B5EF4-FFF2-40B4-BE49-F238E27FC236}">
                <a16:creationId xmlns:a16="http://schemas.microsoft.com/office/drawing/2014/main" id="{07F183BB-548E-4430-928F-6C1093A1DB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9464" y="685100"/>
            <a:ext cx="3983603" cy="35870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42118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283266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selenium: WebDriver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и </a:t>
            </a:r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API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00932" y="1168751"/>
            <a:ext cx="8142135" cy="3354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Привязка Selenium к Python предоставляет собой простой API для написания функциональных тестов с использованием веб-драйвера Selenium WebDriver.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Для тестирования необходимо скачать WebDriver для соответствующего браузера. WebDriver – специальное программное обеспечение для автоматического управления браузером. WebDriver можно скачать здесь: https://sites.google.com/a/chromium.org/chromedriver/downloads - для Chrome, https://github.com/mozilla/geckodriver/releases - для Firefox (установка не требуется, в Ubuntu надо прокинуть драйвер в /usr/local/bin). Также необходимо скачать и установить библиотеку selenium с помощью pip.</a:t>
            </a:r>
            <a:br>
              <a:rPr lang="ru-RU" dirty="0">
                <a:solidFill>
                  <a:schemeClr val="tx1"/>
                </a:solidFill>
                <a:latin typeface="+mn-lt"/>
              </a:rPr>
            </a:br>
            <a:endParaRPr lang="ru-RU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accent3"/>
                </a:solidFill>
                <a:latin typeface="+mn-lt"/>
              </a:rPr>
              <a:t>Selenium API предоставляет множество возможностей. В том числе: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поиск одного или нескольких элементов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поиск по имени/id/ссылке/тегу/классу/css селектору/xpath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ожидать изменения/появления/отображения заголовка/элемента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выполнять код JavaScript в текущем окне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взаимодействовать с элементами UI (клик/ввод текста/прокрутка)</a:t>
            </a:r>
          </a:p>
        </p:txBody>
      </p:sp>
    </p:spTree>
    <p:extLst>
      <p:ext uri="{BB962C8B-B14F-4D97-AF65-F5344CB8AC3E}">
        <p14:creationId xmlns:p14="http://schemas.microsoft.com/office/powerpoint/2010/main" val="5651639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7136" y="320257"/>
            <a:ext cx="4435301" cy="472307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selenium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webdriver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selenium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common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exceptions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TimeoutException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selenium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webdriver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support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ui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WebDriverWait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selenium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webdriver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support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expected_conditions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EC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Создаем объект для работы с веб-драйвером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Chrome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webdriver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Chrome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'F:\Python\Soft\chromedriver_win32\chromedriver.exe'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Идем на домашнюю страницу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google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get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</a:t>
            </a:r>
            <a:r>
              <a:rPr lang="en-US" sz="1000" u="sng" kern="1200" dirty="0">
                <a:solidFill>
                  <a:srgbClr val="808080"/>
                </a:solidFill>
                <a:latin typeface="+mn-lt"/>
              </a:rPr>
              <a:t>http://www.google.com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Выводим в консоль заголовок страницы - "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Google"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title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Ищем элемент, чей атрибут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name == 'q' ('q' -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имя окна поиска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qooqle) </a:t>
            </a: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inputElement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find_element_by_name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'q'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Вводим текст в окно поиска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inputElement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send_keys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'cheese!'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Выполняем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submit (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нажатие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Enter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или кнопки Поиск) для поиска # (хотя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google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сейчас выполняет поиск и без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submit)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inputElement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submit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try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ждем обновления страницы (заголовок обычно обновляется последним)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WebDriverWait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until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EC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title_contains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'cheese!'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Выводим в консоль текущий заголовок - "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cheese! -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Поиск в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Google"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title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except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TimeoutException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'Timeout exception!'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finally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quit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9702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selenium: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608481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1367537"/>
            <a:ext cx="9144000" cy="171757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434341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Robot Framework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00932" y="1518607"/>
            <a:ext cx="8142135" cy="29238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accent3"/>
                </a:solidFill>
                <a:latin typeface="+mn-lt"/>
              </a:rPr>
              <a:t>Robot Framework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- это фреймворк для разработки приемочных автотестов. Тестовые сценарии пишутся с использованием keyword testing методики тестирования и оформляются в виде таблицы. Эти таблицы можно записать в виде простого текста, HTML, разделенных табуляцией значений (TSV) или reStructuredText (reST) в любом текстовом редакторе или с помощью интегрированной среды разработки Robot (Robot Integrated Development Environment, RIDE). PyCharm имеет соответствующий плагин для контроля синтаксиса в .robot файлах.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endParaRPr lang="ru-RU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Robot Framework написан на Python и может напрямую использовать функции из .py файлов в качестве keywords. Это позволяет легко дополнять функционал фреймворка, уже представленный множеством расширений, пользовательскими модулями на языке Python.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Robot Framework использует отступы и многоточия для отделения блоков кода, а также два или более пробелов для отделения keywords от передаваемых им параметров.</a:t>
            </a:r>
          </a:p>
        </p:txBody>
      </p:sp>
    </p:spTree>
    <p:extLst>
      <p:ext uri="{BB962C8B-B14F-4D97-AF65-F5344CB8AC3E}">
        <p14:creationId xmlns:p14="http://schemas.microsoft.com/office/powerpoint/2010/main" val="32028584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7136" y="954847"/>
            <a:ext cx="4363741" cy="323380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sz="1600" dirty="0">
                <a:solidFill>
                  <a:schemeClr val="accent3"/>
                </a:solidFill>
                <a:latin typeface="+mn-lt"/>
              </a:rPr>
              <a:t>Библиотека robotframework устанавливается при помощи pip: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pip3 install robotframework –user</a:t>
            </a:r>
            <a:endParaRPr lang="ru-RU" sz="12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fontAlgn="base">
              <a:spcBef>
                <a:spcPct val="0"/>
              </a:spcBef>
              <a:spcAft>
                <a:spcPts val="600"/>
              </a:spcAft>
              <a:buClrTx/>
              <a:buNone/>
              <a:defRPr/>
            </a:pPr>
            <a:r>
              <a:rPr lang="ru-RU" sz="1600" dirty="0">
                <a:solidFill>
                  <a:schemeClr val="accent3"/>
                </a:solidFill>
                <a:latin typeface="+mn-lt"/>
              </a:rPr>
              <a:t>Необходимые расширения устанавливаются апгрейдом библиотеки:</a:t>
            </a:r>
            <a:endParaRPr lang="en-US" sz="1600" dirty="0">
              <a:solidFill>
                <a:schemeClr val="accent3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pip3 install --upgrade robotframework-seleniumlibrary</a:t>
            </a:r>
            <a:endParaRPr lang="ru-RU" sz="12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dirty="0">
                <a:solidFill>
                  <a:schemeClr val="tx1"/>
                </a:solidFill>
                <a:latin typeface="+mn-lt"/>
              </a:rPr>
              <a:t>Тесты пишутся в файлах .robot. При открытии таких файлов в PyCharm, последний предлагает установить соответствующий плагин, после чего включает контроль синтаксиса и автодополнение.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9702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415062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795" y="365760"/>
            <a:ext cx="4363741" cy="441297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Тестовый файл для поиска в google с использованием selenium будет выглядеть следующим образом: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100" kern="1200" dirty="0">
                <a:solidFill>
                  <a:srgbClr val="00B050"/>
                </a:solidFill>
                <a:latin typeface="+mn-lt"/>
              </a:rPr>
              <a:t> Settings </a:t>
            </a:r>
            <a:r>
              <a:rPr lang="en-US" sz="11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100" kern="1200" dirty="0">
                <a:solidFill>
                  <a:srgbClr val="00B050"/>
                </a:solidFill>
                <a:latin typeface="+mn-lt"/>
              </a:rPr>
              <a:t> </a:t>
            </a:r>
            <a:endParaRPr lang="ru-RU" sz="1100" kern="1200" dirty="0">
              <a:solidFill>
                <a:srgbClr val="00B05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0000"/>
                </a:solidFill>
                <a:latin typeface="+mn-lt"/>
              </a:rPr>
              <a:t>Documentation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Test google search </a:t>
            </a:r>
            <a:endParaRPr lang="ru-RU" sz="11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0000"/>
                </a:solidFill>
                <a:latin typeface="+mn-lt"/>
              </a:rPr>
              <a:t>Library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SeleniumLibrary </a:t>
            </a:r>
            <a:endParaRPr lang="ru-RU" sz="11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1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1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100" kern="1200" dirty="0">
                <a:solidFill>
                  <a:srgbClr val="00B050"/>
                </a:solidFill>
                <a:latin typeface="+mn-lt"/>
              </a:rPr>
              <a:t> Test Cases </a:t>
            </a:r>
            <a:r>
              <a:rPr lang="en-US" sz="11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100" kern="1200" dirty="0">
                <a:solidFill>
                  <a:srgbClr val="00B050"/>
                </a:solidFill>
                <a:latin typeface="+mn-lt"/>
              </a:rPr>
              <a:t> </a:t>
            </a:r>
            <a:endParaRPr lang="ru-RU" sz="1100" kern="1200" dirty="0">
              <a:solidFill>
                <a:srgbClr val="00B05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0000"/>
                </a:solidFill>
                <a:latin typeface="+mn-lt"/>
              </a:rPr>
              <a:t>Test Google Search </a:t>
            </a:r>
            <a:endParaRPr lang="ru-RU" sz="11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Open Browser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http://www.google.com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chrome </a:t>
            </a:r>
            <a:endParaRPr lang="ru-RU" sz="1100" kern="1200" dirty="0">
              <a:solidFill>
                <a:srgbClr val="7030A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Input Text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name</a:t>
            </a:r>
            <a:r>
              <a:rPr lang="en-US" sz="1100" b="1" kern="1200" dirty="0">
                <a:solidFill>
                  <a:srgbClr val="7030A0"/>
                </a:solidFill>
                <a:latin typeface="+mn-lt"/>
              </a:rPr>
              <a:t>=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q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Cheese</a:t>
            </a:r>
            <a:r>
              <a:rPr lang="en-US" sz="1100" b="1" kern="1200" dirty="0">
                <a:solidFill>
                  <a:srgbClr val="7030A0"/>
                </a:solidFill>
                <a:latin typeface="+mn-lt"/>
              </a:rPr>
              <a:t>!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Submit Form </a:t>
            </a:r>
            <a:endParaRPr lang="ru-RU" sz="11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Wait Until Keyword Succeeds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10s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2s </a:t>
            </a:r>
            <a:endParaRPr lang="ru-RU" sz="1100" kern="1200" dirty="0">
              <a:solidFill>
                <a:srgbClr val="7030A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Title Should Be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Cheese</a:t>
            </a:r>
            <a:r>
              <a:rPr lang="en-US" sz="1100" b="1" kern="1200" dirty="0">
                <a:solidFill>
                  <a:srgbClr val="7030A0"/>
                </a:solidFill>
                <a:latin typeface="+mn-lt"/>
              </a:rPr>
              <a:t>!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b="1" kern="1200" dirty="0">
                <a:solidFill>
                  <a:srgbClr val="7030A0"/>
                </a:solidFill>
                <a:latin typeface="+mn-lt"/>
              </a:rPr>
              <a:t>-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Поиск в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Google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600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Для выполнения теста в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Windows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необходимо скачать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WebDriver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для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Chrome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и прописать в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PATH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полный путь к этому драйверу (например,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F:\Python\Soft\chromedriver_win32\).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В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Ubuntu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достаточно, чтоб драйвер находился в /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usr/local/bin.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600" dirty="0">
              <a:solidFill>
                <a:srgbClr val="002060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endParaRPr lang="ru-RU" sz="16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86919"/>
            <a:ext cx="37753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robotframework-seleniumlibrary: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297296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795" y="595850"/>
            <a:ext cx="4363741" cy="395179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Запуск теста выполняется из консоли: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F:\Python\PyPractice&gt;robot -L TRACE test_robot_sellib.robot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==========Test Robot Sellib :: Test google search==========</a:t>
            </a:r>
            <a:r>
              <a:rPr lang="ru-RU" sz="1100" kern="1200" dirty="0">
                <a:solidFill>
                  <a:srgbClr val="000000"/>
                </a:solidFill>
                <a:cs typeface="Courier New" panose="02070309020205020404" pitchFamily="49" charset="0"/>
              </a:rPr>
              <a:t>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1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 Google Search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DevTools listening on ws://127.0.0.1:53713/devtools/browser/61c3f426-7628-450e-aadc-ddcb470a3646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 Google Search                                                             | PASS |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 Robot Sellib :: Test google search                               | PASS |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1 critical test, 1 passed, 0 failed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1 test total, 1 passed, 0 failed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==========================================================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Output:  F:\Python\PyPractice\output.xml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Log:     F:\Python\PyPractice\log.html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Report:  F:\Python\PyPractice\report.html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Опция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"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–L TRACE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"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 позволяет пошагово вывести детали выполнения теста в html-отчет (log.html).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sz="12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86919"/>
            <a:ext cx="37753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robotframework-seleniumlibrary: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052470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306125" y="2031162"/>
            <a:ext cx="25165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kern="1200" dirty="0">
                <a:solidFill>
                  <a:schemeClr val="accent3"/>
                </a:solidFill>
                <a:latin typeface="+mj-lt"/>
              </a:rPr>
              <a:t>robotframework-seleniumlibrary: </a:t>
            </a:r>
            <a:r>
              <a:rPr lang="ru-RU" sz="2400" kern="1200" dirty="0">
                <a:solidFill>
                  <a:schemeClr val="accent3"/>
                </a:solidFill>
                <a:latin typeface="+mj-lt"/>
              </a:rPr>
              <a:t>пример отчета</a:t>
            </a:r>
            <a:endParaRPr lang="ru-RU" sz="1100" dirty="0">
              <a:solidFill>
                <a:schemeClr val="accent3"/>
              </a:solidFill>
              <a:latin typeface="+mj-lt"/>
            </a:endParaRP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E7CBFCFE-675A-41B3-8E98-B041EBDA0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1496" y="405401"/>
            <a:ext cx="6122504" cy="445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7398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0746" y="787179"/>
            <a:ext cx="4363741" cy="395552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sz="1600" dirty="0">
                <a:solidFill>
                  <a:schemeClr val="accent3"/>
                </a:solidFill>
                <a:latin typeface="+mn-lt"/>
              </a:rPr>
              <a:t>Рассмотрим пример использования robotframework для тестирования скрипта, копирующего файл source.txt в destination.txt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endParaRPr lang="ru-RU" sz="1600" dirty="0">
              <a:solidFill>
                <a:schemeClr val="accent3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600" kern="1200" dirty="0">
                <a:solidFill>
                  <a:srgbClr val="008000"/>
                </a:solidFill>
                <a:latin typeface="+mn-lt"/>
              </a:rPr>
              <a:t>copy_file_task.py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FF00FF"/>
                </a:solidFill>
                <a:latin typeface="+mn-lt"/>
              </a:rPr>
              <a:t>copyfile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source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destination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open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source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'r'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src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open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destination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'x'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dst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           dst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writelines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src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readlines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6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   copyfile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'source.txt'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'destination.txt'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algn="just" eaLnBrk="1" hangingPunct="1">
              <a:spcBef>
                <a:spcPct val="0"/>
              </a:spcBef>
              <a:spcAft>
                <a:spcPts val="600"/>
              </a:spcAft>
              <a:buNone/>
            </a:pPr>
            <a:endParaRPr lang="ru-RU" sz="18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33141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599450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8312" y="335569"/>
            <a:ext cx="3528854" cy="45200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3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300" kern="1200" dirty="0">
                <a:solidFill>
                  <a:srgbClr val="008000"/>
                </a:solidFill>
                <a:latin typeface="+mn-lt"/>
              </a:rPr>
              <a:t>test_copy_file.robot</a:t>
            </a: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B05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Settings </a:t>
            </a: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Documentation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Check file actions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Library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OperatingSystem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Test Setup   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On Test Setup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Test Teardown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On Test Teardown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8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Variables </a:t>
            </a: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copy_script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python 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./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copy_file_task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py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src_file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./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source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txt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./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destination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txt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exp_content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hello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8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Keywords </a:t>
            </a: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On Test Setup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Create File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src_file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exp_content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    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File Should Exist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src_file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On Test Teardown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Remove File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src_file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Remove File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33141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628128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1823" y="373711"/>
            <a:ext cx="3872286" cy="448192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000" kern="1200" dirty="0">
                <a:solidFill>
                  <a:srgbClr val="00B050"/>
                </a:solidFill>
                <a:latin typeface="+mn-lt"/>
              </a:rPr>
              <a:t> Test Cases </a:t>
            </a:r>
            <a:r>
              <a:rPr lang="en-US" sz="10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000" kern="1200" dirty="0">
                <a:solidFill>
                  <a:srgbClr val="00B05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Test File Copy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Documentation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Test file copy script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Tags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DEBUG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File Should Not Exist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Run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copy_script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File Should Exist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content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Get File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Should Be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True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'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${content}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' </a:t>
            </a:r>
            <a:r>
              <a:rPr lang="en-US" sz="1000" b="1" kern="1200" dirty="0">
                <a:solidFill>
                  <a:srgbClr val="7030A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 '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${exp_content}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'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800" dirty="0">
              <a:solidFill>
                <a:srgbClr val="000000"/>
              </a:solidFill>
              <a:latin typeface="+mn-lt"/>
            </a:endParaRPr>
          </a:p>
          <a:p>
            <a:pPr lvl="0" fontAlgn="base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b="1" dirty="0">
                <a:solidFill>
                  <a:schemeClr val="accent1"/>
                </a:solidFill>
                <a:latin typeface="+mn-lt"/>
              </a:rPr>
              <a:t>Основные аспекты синтаксиса </a:t>
            </a:r>
            <a:br>
              <a:rPr lang="ru-RU" b="1" dirty="0">
                <a:solidFill>
                  <a:schemeClr val="accent1"/>
                </a:solidFill>
                <a:latin typeface="+mn-lt"/>
              </a:rPr>
            </a:br>
            <a:r>
              <a:rPr lang="en-US" b="1" dirty="0">
                <a:solidFill>
                  <a:schemeClr val="accent1"/>
                </a:solidFill>
                <a:latin typeface="+mn-lt"/>
              </a:rPr>
              <a:t>Robot </a:t>
            </a:r>
            <a:r>
              <a:rPr lang="ru-RU" b="1" dirty="0">
                <a:solidFill>
                  <a:schemeClr val="accent1"/>
                </a:solidFill>
                <a:latin typeface="+mn-lt"/>
              </a:rPr>
              <a:t>следующие:</a:t>
            </a:r>
            <a:br>
              <a:rPr lang="ru-RU" b="1" dirty="0">
                <a:solidFill>
                  <a:schemeClr val="accent1"/>
                </a:solidFill>
                <a:latin typeface="+mn-lt"/>
              </a:rPr>
            </a:br>
            <a:endParaRPr lang="ru-RU" sz="600" b="1" kern="1200" dirty="0">
              <a:solidFill>
                <a:schemeClr val="accent1"/>
              </a:solidFill>
              <a:latin typeface="+mn-lt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Тестовый файл делится на секции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Settings, Variables, Keywords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Test Cases.</a:t>
            </a:r>
            <a:endParaRPr lang="ru-RU" sz="1100" kern="1200" dirty="0">
              <a:solidFill>
                <a:schemeClr val="tx1"/>
              </a:solidFill>
              <a:latin typeface="+mn-lt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Тест кейсы нельзя вызывать друг из друга и из кейвордов, кейворды можно вызывать отовсюду.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Переменные обозначаются следующим образом: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${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имя_переменной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}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.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Ключевые слова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Test Setup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Test Teardown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позволяют задать кейворды, которые буду выполняться до и после каждого тест кейса.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Ключевые слова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Suite Setup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Suite Teardown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позволяют задать кейворды, которые буду выполняться до и после всего набора тестов из файла.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76065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940890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505903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robotframework: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пример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435210" y="1454996"/>
            <a:ext cx="6273579" cy="3016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Результат запуска теста:</a:t>
            </a:r>
          </a:p>
          <a:p>
            <a:pPr algn="just" fontAlgn="base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800" kern="1200" dirty="0">
                <a:latin typeface="+mn-lt"/>
              </a:rPr>
              <a:t>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F:\Python\PyPractice&gt;robot -L TRACE test_copy_file.robot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==============================================================================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Test Copy File :: Check file actions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==============================================================================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Test File Copy :: Test file copy script                               | PASS |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------------------------------------------------------------------------------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Test Copy File :: Check file actions                                  | PASS |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1 critical test, 1 passed, 0 failed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1 test total, 1 passed, 0 failed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==============================================================================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Output:  F:\Python\PyPractice\output.xml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Log:     F:\Python\PyPractice\log.html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Report:  F:\Python\PyPractice\report.html</a:t>
            </a:r>
          </a:p>
        </p:txBody>
      </p:sp>
    </p:spTree>
    <p:extLst>
      <p:ext uri="{BB962C8B-B14F-4D97-AF65-F5344CB8AC3E}">
        <p14:creationId xmlns:p14="http://schemas.microsoft.com/office/powerpoint/2010/main" val="15548735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306125" y="2031162"/>
            <a:ext cx="25165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kern="1200" dirty="0">
                <a:solidFill>
                  <a:schemeClr val="accent3"/>
                </a:solidFill>
                <a:latin typeface="+mj-lt"/>
              </a:rPr>
              <a:t>robotframework: </a:t>
            </a:r>
            <a:r>
              <a:rPr lang="ru-RU" sz="2400" kern="1200" dirty="0">
                <a:solidFill>
                  <a:schemeClr val="accent3"/>
                </a:solidFill>
                <a:latin typeface="+mj-lt"/>
              </a:rPr>
              <a:t>пример отчета</a:t>
            </a:r>
            <a:endParaRPr lang="ru-RU" sz="1100" dirty="0">
              <a:solidFill>
                <a:schemeClr val="accent3"/>
              </a:solidFill>
              <a:latin typeface="+mj-lt"/>
            </a:endParaRP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7602034F-DDB3-4853-995D-82301A108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9305" y="256801"/>
            <a:ext cx="5454595" cy="4660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3205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70362" y="620490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5906" y="1352366"/>
            <a:ext cx="8085214" cy="3262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Написать функцию to_roman, которая принимает целое число, а возвращает строку, отображающую это число римскими цифрами. Например, на вход подается 6, возвращается - "VI"; на вход подается 23, возвращается "XXIII". Входные данные должны быть в диапазоне от 1 до 5000, если подается число не из этого диапазона, или не число, то должны выбрасываться ошибка типа NonValidInput. Этот тип ошибки надо создать отдельно. Также необходимо в папке с файлом, содержащим вашу функцию, создать файл tests.py, внутри которой необходимо определить тесты для вашей функции. Тесты должны покрывать все возможное поведение функции, включая порождения ошибки при некорректных входных данных.</a:t>
            </a:r>
          </a:p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Написать юнит тесты для класса Money из задания 10 к лекции 8, получить code coverage репорт в html формате.</a:t>
            </a:r>
          </a:p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latin typeface="+mn-lt"/>
              </a:rPr>
              <a:t>* Написать юнит тесты для TCP-сервера (код см. далее), использовать mock чтобы эмулировать действия клиента и создание потоков, получить code coverage репорт в html формате.</a:t>
            </a:r>
          </a:p>
        </p:txBody>
      </p:sp>
    </p:spTree>
    <p:extLst>
      <p:ext uri="{BB962C8B-B14F-4D97-AF65-F5344CB8AC3E}">
        <p14:creationId xmlns:p14="http://schemas.microsoft.com/office/powerpoint/2010/main" val="31732983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/>
          <p:cNvSpPr txBox="1">
            <a:spLocks/>
          </p:cNvSpPr>
          <p:nvPr/>
        </p:nvSpPr>
        <p:spPr>
          <a:xfrm>
            <a:off x="717423" y="2099433"/>
            <a:ext cx="2296121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3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accent3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000869" y="215330"/>
            <a:ext cx="5294205" cy="47782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latin typeface="+mn-lt"/>
              </a:rPr>
              <a:t>TcpServer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__init__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host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port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host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host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port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port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None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_runnning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False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05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run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AF_INET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SOCK_STREAM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setsockopt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SOL_SOCKET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SO_REUSEADDR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bind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((</a:t>
            </a:r>
            <a:r>
              <a:rPr lang="en-US" sz="1050" kern="1200" dirty="0"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host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port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listen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_runnning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True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'Server is up'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050" kern="1200" dirty="0"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_runnning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    conn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addr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accept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    ClientThread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conn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addr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).</a:t>
            </a:r>
            <a:r>
              <a:rPr lang="en-US" sz="1050" kern="1200" dirty="0">
                <a:latin typeface="+mn-lt"/>
              </a:rPr>
              <a:t>start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05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stop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_runnning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False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close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'Server is down'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05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50" kern="1200" dirty="0">
                <a:latin typeface="+mn-lt"/>
              </a:rPr>
              <a:t> __name__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srv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TcpServer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host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'127.0.0.1'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port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5555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try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srv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run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except</a:t>
            </a:r>
            <a:r>
              <a:rPr lang="en-US" sz="1050" kern="1200" dirty="0">
                <a:latin typeface="+mn-lt"/>
              </a:rPr>
              <a:t> KeyboardInterrupt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srv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stop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8739386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2055</TotalTime>
  <Words>6443</Words>
  <Application>Microsoft Office PowerPoint</Application>
  <PresentationFormat>Экран (16:9)</PresentationFormat>
  <Paragraphs>758</Paragraphs>
  <Slides>51</Slides>
  <Notes>49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51</vt:i4>
      </vt:variant>
    </vt:vector>
  </HeadingPairs>
  <TitlesOfParts>
    <vt:vector size="57" baseType="lpstr">
      <vt:lpstr>DM Sans</vt:lpstr>
      <vt:lpstr>Arial</vt:lpstr>
      <vt:lpstr>proxima nova rg</vt:lpstr>
      <vt:lpstr>Viga</vt:lpstr>
      <vt:lpstr>proxima nova bold</vt:lpstr>
      <vt:lpstr>Cyber Security Business Plan</vt:lpstr>
      <vt:lpstr>Лекция №13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Ilya Orlov</cp:lastModifiedBy>
  <cp:revision>133</cp:revision>
  <dcterms:modified xsi:type="dcterms:W3CDTF">2021-10-07T14:54:47Z</dcterms:modified>
</cp:coreProperties>
</file>