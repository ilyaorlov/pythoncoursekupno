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heme/themeOverride1.xml" ContentType="application/vnd.openxmlformats-officedocument.themeOverr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39"/>
  </p:notesMasterIdLst>
  <p:sldIdLst>
    <p:sldId id="256" r:id="rId2"/>
    <p:sldId id="257" r:id="rId3"/>
    <p:sldId id="276" r:id="rId4"/>
    <p:sldId id="356" r:id="rId5"/>
    <p:sldId id="360" r:id="rId6"/>
    <p:sldId id="361" r:id="rId7"/>
    <p:sldId id="369" r:id="rId8"/>
    <p:sldId id="370" r:id="rId9"/>
    <p:sldId id="371" r:id="rId10"/>
    <p:sldId id="372" r:id="rId11"/>
    <p:sldId id="373" r:id="rId12"/>
    <p:sldId id="374" r:id="rId13"/>
    <p:sldId id="260" r:id="rId14"/>
    <p:sldId id="375" r:id="rId15"/>
    <p:sldId id="376" r:id="rId16"/>
    <p:sldId id="384" r:id="rId17"/>
    <p:sldId id="377" r:id="rId18"/>
    <p:sldId id="385" r:id="rId19"/>
    <p:sldId id="386" r:id="rId20"/>
    <p:sldId id="387" r:id="rId21"/>
    <p:sldId id="388" r:id="rId22"/>
    <p:sldId id="389" r:id="rId23"/>
    <p:sldId id="390" r:id="rId24"/>
    <p:sldId id="357" r:id="rId25"/>
    <p:sldId id="362" r:id="rId26"/>
    <p:sldId id="363" r:id="rId27"/>
    <p:sldId id="365" r:id="rId28"/>
    <p:sldId id="367" r:id="rId29"/>
    <p:sldId id="358" r:id="rId30"/>
    <p:sldId id="368" r:id="rId31"/>
    <p:sldId id="378" r:id="rId32"/>
    <p:sldId id="379" r:id="rId33"/>
    <p:sldId id="380" r:id="rId34"/>
    <p:sldId id="381" r:id="rId35"/>
    <p:sldId id="382" r:id="rId36"/>
    <p:sldId id="296" r:id="rId37"/>
    <p:sldId id="383" r:id="rId38"/>
  </p:sldIdLst>
  <p:sldSz cx="9144000" cy="5143500" type="screen16x9"/>
  <p:notesSz cx="6858000" cy="9144000"/>
  <p:embeddedFontLst>
    <p:embeddedFont>
      <p:font typeface="Calibri" panose="020F0502020204030204" pitchFamily="34" charset="0"/>
      <p:regular r:id="rId40"/>
      <p:bold r:id="rId41"/>
      <p:italic r:id="rId42"/>
      <p:boldItalic r:id="rId43"/>
    </p:embeddedFont>
    <p:embeddedFont>
      <p:font typeface="DM Sans" panose="020B0604020202020204" charset="0"/>
      <p:regular r:id="rId44"/>
      <p:bold r:id="rId45"/>
      <p:italic r:id="rId46"/>
      <p:boldItalic r:id="rId47"/>
    </p:embeddedFont>
    <p:embeddedFont>
      <p:font typeface="proxima nova bold" panose="02000506030000020004" charset="0"/>
      <p:bold r:id="rId48"/>
    </p:embeddedFont>
    <p:embeddedFont>
      <p:font typeface="proxima nova rg" panose="02000506030000020004" charset="0"/>
      <p:regular r:id="rId49"/>
      <p:bold r:id="rId50"/>
      <p:italic r:id="rId51"/>
      <p:boldItalic r:id="rId52"/>
    </p:embeddedFont>
    <p:embeddedFont>
      <p:font typeface="Verdana" panose="020B0604030504040204" pitchFamily="34" charset="0"/>
      <p:regular r:id="rId53"/>
      <p:bold r:id="rId54"/>
      <p:italic r:id="rId55"/>
      <p:boldItalic r:id="rId56"/>
    </p:embeddedFont>
    <p:embeddedFont>
      <p:font typeface="Viga" panose="020B0604020202020204" charset="0"/>
      <p:regular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61">
          <p15:clr>
            <a:srgbClr val="9AA0A6"/>
          </p15:clr>
        </p15:guide>
        <p15:guide id="2" pos="2880">
          <p15:clr>
            <a:srgbClr val="9AA0A6"/>
          </p15:clr>
        </p15:guide>
        <p15:guide id="3" pos="456">
          <p15:clr>
            <a:srgbClr val="9AA0A6"/>
          </p15:clr>
        </p15:guide>
        <p15:guide id="4" orient="horz" pos="1732">
          <p15:clr>
            <a:srgbClr val="9AA0A6"/>
          </p15:clr>
        </p15:guide>
        <p15:guide id="5" orient="horz" pos="2664">
          <p15:clr>
            <a:srgbClr val="9AA0A6"/>
          </p15:clr>
        </p15:guide>
        <p15:guide id="6" orient="horz" pos="439">
          <p15:clr>
            <a:srgbClr val="A4A3A4"/>
          </p15:clr>
        </p15:guide>
        <p15:guide id="7" orient="horz" pos="1726">
          <p15:clr>
            <a:srgbClr val="A4A3A4"/>
          </p15:clr>
        </p15:guide>
        <p15:guide id="8" pos="5352">
          <p15:clr>
            <a:srgbClr val="A4A3A4"/>
          </p15:clr>
        </p15:guide>
        <p15:guide id="9" pos="35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3" d="100"/>
          <a:sy n="123" d="100"/>
        </p:scale>
        <p:origin x="298" y="96"/>
      </p:cViewPr>
      <p:guideLst>
        <p:guide orient="horz" pos="461"/>
        <p:guide pos="2880"/>
        <p:guide pos="456"/>
        <p:guide orient="horz" pos="1732"/>
        <p:guide orient="horz" pos="2664"/>
        <p:guide orient="horz" pos="439"/>
        <p:guide orient="horz" pos="1726"/>
        <p:guide pos="5352"/>
        <p:guide pos="35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2.fntdata"/><Relationship Id="rId54"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30669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234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0199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85579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286662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43044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806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5152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6232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9918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3040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789064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980502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83513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31615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68047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650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08537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5438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87723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0257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89191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24517163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3" r:id="rId3"/>
    <p:sldLayoutId id="2147483654"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habr.com/post/349860/"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hemeOverride" Target="../theme/themeOverride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pic>
        <p:nvPicPr>
          <p:cNvPr id="3" name="Рисунок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 y="0"/>
            <a:ext cx="9142096" cy="5143500"/>
          </a:xfrm>
          <a:prstGeom prst="rect">
            <a:avLst/>
          </a:prstGeom>
        </p:spPr>
      </p:pic>
      <p:sp>
        <p:nvSpPr>
          <p:cNvPr id="159" name="Google Shape;159;p29"/>
          <p:cNvSpPr txBox="1">
            <a:spLocks noGrp="1"/>
          </p:cNvSpPr>
          <p:nvPr>
            <p:ph type="ctrTitle"/>
          </p:nvPr>
        </p:nvSpPr>
        <p:spPr>
          <a:xfrm>
            <a:off x="481264" y="1202058"/>
            <a:ext cx="5498622" cy="2890969"/>
          </a:xfrm>
          <a:prstGeom prst="rect">
            <a:avLst/>
          </a:prstGeom>
        </p:spPr>
        <p:txBody>
          <a:bodyPr spcFirstLastPara="1" wrap="square" lIns="91425" tIns="91425" rIns="91425" bIns="91425" anchor="b" anchorCtr="0">
            <a:noAutofit/>
          </a:bodyPr>
          <a:lstStyle/>
          <a:p>
            <a:pPr lvl="0"/>
            <a:r>
              <a:rPr lang="ru-RU" sz="4400" dirty="0">
                <a:solidFill>
                  <a:schemeClr val="bg1"/>
                </a:solidFill>
                <a:latin typeface="+mj-lt"/>
              </a:rPr>
              <a:t>Программирование на языке</a:t>
            </a:r>
            <a:br>
              <a:rPr lang="ru-RU" sz="4400" dirty="0">
                <a:solidFill>
                  <a:schemeClr val="bg1"/>
                </a:solidFill>
                <a:latin typeface="+mj-lt"/>
              </a:rPr>
            </a:br>
            <a:r>
              <a:rPr lang="en-US" sz="9600" dirty="0">
                <a:solidFill>
                  <a:schemeClr val="accent2"/>
                </a:solidFill>
                <a:latin typeface="+mj-lt"/>
              </a:rPr>
              <a:t>Python</a:t>
            </a:r>
            <a:endParaRPr sz="9600" dirty="0">
              <a:solidFill>
                <a:schemeClr val="accent2"/>
              </a:solidFill>
              <a:latin typeface="+mj-lt"/>
            </a:endParaRPr>
          </a:p>
        </p:txBody>
      </p:sp>
      <p:pic>
        <p:nvPicPr>
          <p:cNvPr id="4" name="Рисунок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113" y="356490"/>
            <a:ext cx="1741715" cy="5902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626625" y="207546"/>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a:t>
            </a:r>
            <a:r>
              <a:rPr lang="en-US" sz="4800" dirty="0">
                <a:latin typeface="+mj-lt"/>
              </a:rPr>
              <a:t>7</a:t>
            </a:r>
            <a:endParaRPr sz="4800" dirty="0">
              <a:latin typeface="+mj-lt"/>
            </a:endParaRPr>
          </a:p>
        </p:txBody>
      </p:sp>
      <p:sp>
        <p:nvSpPr>
          <p:cNvPr id="3" name="Прямоугольник 2"/>
          <p:cNvSpPr/>
          <p:nvPr/>
        </p:nvSpPr>
        <p:spPr>
          <a:xfrm>
            <a:off x="626625" y="1244680"/>
            <a:ext cx="7869676" cy="1100429"/>
          </a:xfrm>
          <a:prstGeom prst="rect">
            <a:avLst/>
          </a:prstGeom>
        </p:spPr>
        <p:txBody>
          <a:bodyPr wrap="square">
            <a:spAutoFit/>
          </a:bodyPr>
          <a:lstStyle/>
          <a:p>
            <a:pPr>
              <a:lnSpc>
                <a:spcPct val="90000"/>
              </a:lnSpc>
            </a:pPr>
            <a:r>
              <a:rPr lang="ru-RU" sz="3600" dirty="0">
                <a:solidFill>
                  <a:schemeClr val="accent3"/>
                </a:solidFill>
                <a:latin typeface="+mj-lt"/>
              </a:rPr>
              <a:t>Возможности стандартной библиотеки</a:t>
            </a:r>
          </a:p>
        </p:txBody>
      </p:sp>
      <p:sp>
        <p:nvSpPr>
          <p:cNvPr id="7" name="TextBox 6">
            <a:extLst>
              <a:ext uri="{FF2B5EF4-FFF2-40B4-BE49-F238E27FC236}">
                <a16:creationId xmlns:a16="http://schemas.microsoft.com/office/drawing/2014/main" id="{6E5A8952-1B4C-44D5-A3FE-7BC727EAF7F2}"/>
              </a:ext>
            </a:extLst>
          </p:cNvPr>
          <p:cNvSpPr txBox="1"/>
          <p:nvPr/>
        </p:nvSpPr>
        <p:spPr>
          <a:xfrm>
            <a:off x="626625" y="2399729"/>
            <a:ext cx="3945375" cy="2570447"/>
          </a:xfrm>
          <a:prstGeom prst="rect">
            <a:avLst/>
          </a:prstGeom>
          <a:noFill/>
        </p:spPr>
        <p:txBody>
          <a:bodyPr wrap="square">
            <a:spAutoFit/>
          </a:bodyPr>
          <a:lstStyle/>
          <a:p>
            <a:pPr marL="285750" indent="-285750" eaLnBrk="1" hangingPunct="1">
              <a:lnSpc>
                <a:spcPct val="170000"/>
              </a:lnSpc>
              <a:spcBef>
                <a:spcPct val="0"/>
              </a:spcBef>
              <a:buClr>
                <a:schemeClr val="accent1"/>
              </a:buClr>
              <a:buFont typeface="Arial" panose="020B0604020202020204" pitchFamily="34" charset="0"/>
              <a:buChar char="•"/>
            </a:pPr>
            <a:r>
              <a:rPr lang="ru-RU" altLang="ru-RU" sz="1200" dirty="0">
                <a:solidFill>
                  <a:schemeClr val="tx1"/>
                </a:solidFill>
                <a:latin typeface="+mn-lt"/>
              </a:rPr>
              <a:t>Стандартная библиотека</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random – </a:t>
            </a:r>
            <a:r>
              <a:rPr lang="ru-RU" altLang="ru-RU" sz="1200" dirty="0">
                <a:solidFill>
                  <a:schemeClr val="tx1"/>
                </a:solidFill>
                <a:latin typeface="+mn-lt"/>
              </a:rPr>
              <a:t>неслучайные случайности</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re – </a:t>
            </a:r>
            <a:r>
              <a:rPr lang="ru-RU" altLang="ru-RU" sz="1200" dirty="0">
                <a:solidFill>
                  <a:schemeClr val="tx1"/>
                </a:solidFill>
                <a:latin typeface="+mn-lt"/>
              </a:rPr>
              <a:t>регулярные выражения</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functools – </a:t>
            </a:r>
            <a:r>
              <a:rPr lang="ru-RU" altLang="ru-RU" sz="1200" dirty="0">
                <a:solidFill>
                  <a:schemeClr val="tx1"/>
                </a:solidFill>
                <a:latin typeface="+mn-lt"/>
              </a:rPr>
              <a:t>функции высшего порядка</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time –</a:t>
            </a:r>
            <a:r>
              <a:rPr lang="ru-RU" altLang="ru-RU" sz="1200" dirty="0">
                <a:solidFill>
                  <a:schemeClr val="tx1"/>
                </a:solidFill>
                <a:latin typeface="+mn-lt"/>
              </a:rPr>
              <a:t> примитивная работа со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sys – </a:t>
            </a:r>
            <a:r>
              <a:rPr lang="ru-RU" altLang="ru-RU" sz="1200" dirty="0">
                <a:solidFill>
                  <a:schemeClr val="tx1"/>
                </a:solidFill>
                <a:latin typeface="+mn-lt"/>
              </a:rPr>
              <a:t>взаимодействие с интерпретатором </a:t>
            </a:r>
            <a:r>
              <a:rPr lang="en-US" altLang="ru-RU" sz="1200" dirty="0">
                <a:solidFill>
                  <a:schemeClr val="tx1"/>
                </a:solidFill>
                <a:latin typeface="+mn-lt"/>
              </a:rPr>
              <a:t>Python</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os – </a:t>
            </a:r>
            <a:r>
              <a:rPr lang="ru-RU" altLang="ru-RU" sz="1200" dirty="0">
                <a:solidFill>
                  <a:schemeClr val="tx1"/>
                </a:solidFill>
                <a:latin typeface="+mn-lt"/>
              </a:rPr>
              <a:t>работа с сервисами операционной системы</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subprocess – </a:t>
            </a:r>
            <a:r>
              <a:rPr lang="ru-RU" altLang="ru-RU" sz="1200" dirty="0">
                <a:solidFill>
                  <a:schemeClr val="tx1"/>
                </a:solidFill>
                <a:latin typeface="+mn-lt"/>
              </a:rPr>
              <a:t>управление процессами</a:t>
            </a:r>
          </a:p>
        </p:txBody>
      </p:sp>
      <p:sp>
        <p:nvSpPr>
          <p:cNvPr id="9" name="TextBox 8">
            <a:extLst>
              <a:ext uri="{FF2B5EF4-FFF2-40B4-BE49-F238E27FC236}">
                <a16:creationId xmlns:a16="http://schemas.microsoft.com/office/drawing/2014/main" id="{678757A7-5F83-421E-8457-D14775E0807D}"/>
              </a:ext>
            </a:extLst>
          </p:cNvPr>
          <p:cNvSpPr txBox="1"/>
          <p:nvPr/>
        </p:nvSpPr>
        <p:spPr>
          <a:xfrm>
            <a:off x="4880517" y="2399728"/>
            <a:ext cx="3765850" cy="1314719"/>
          </a:xfrm>
          <a:prstGeom prst="rect">
            <a:avLst/>
          </a:prstGeom>
          <a:noFill/>
        </p:spPr>
        <p:txBody>
          <a:bodyPr wrap="square">
            <a:spAutoFit/>
          </a:bodyPr>
          <a:lstStyle/>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datetime – </a:t>
            </a:r>
            <a:r>
              <a:rPr lang="ru-RU" altLang="ru-RU" sz="1200" dirty="0">
                <a:solidFill>
                  <a:schemeClr val="tx1"/>
                </a:solidFill>
                <a:latin typeface="+mn-lt"/>
              </a:rPr>
              <a:t>работа с датой и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ZipFile – </a:t>
            </a:r>
            <a:r>
              <a:rPr lang="ru-RU" altLang="ru-RU" sz="1200" dirty="0">
                <a:solidFill>
                  <a:schemeClr val="tx1"/>
                </a:solidFill>
                <a:latin typeface="+mn-lt"/>
              </a:rPr>
              <a:t>работа с архивами</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pickle – </a:t>
            </a:r>
            <a:r>
              <a:rPr lang="ru-RU" altLang="ru-RU" sz="1200" dirty="0">
                <a:solidFill>
                  <a:schemeClr val="tx1"/>
                </a:solidFill>
                <a:latin typeface="+mn-lt"/>
              </a:rPr>
              <a:t>сериализация в набор байтов</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json – </a:t>
            </a:r>
            <a:r>
              <a:rPr lang="ru-RU" altLang="ru-RU" sz="1200" dirty="0">
                <a:solidFill>
                  <a:schemeClr val="tx1"/>
                </a:solidFill>
                <a:latin typeface="+mn-lt"/>
              </a:rPr>
              <a:t>сериализация в </a:t>
            </a:r>
            <a:r>
              <a:rPr lang="en-US" altLang="ru-RU" sz="1200" dirty="0">
                <a:solidFill>
                  <a:schemeClr val="tx1"/>
                </a:solidFill>
                <a:latin typeface="+mn-lt"/>
              </a:rPr>
              <a:t>JSON </a:t>
            </a:r>
            <a:r>
              <a:rPr lang="ru-RU" altLang="ru-RU" sz="1200" dirty="0">
                <a:solidFill>
                  <a:schemeClr val="tx1"/>
                </a:solidFill>
                <a:latin typeface="+mn-lt"/>
              </a:rPr>
              <a:t>формат</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1560042"/>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accent1"/>
                </a:solidFill>
                <a:latin typeface="+mn-lt"/>
              </a:rPr>
              <a:t>Разминка</a:t>
            </a:r>
            <a:endParaRPr lang="ru-RU" sz="3200" b="1" kern="1200" dirty="0">
              <a:solidFill>
                <a:schemeClr val="accent1"/>
              </a:solidFill>
              <a:latin typeface="+mn-lt"/>
              <a:ea typeface="+mn-ea"/>
              <a:cs typeface="+mn-cs"/>
            </a:endParaRPr>
          </a:p>
        </p:txBody>
      </p:sp>
      <p:sp>
        <p:nvSpPr>
          <p:cNvPr id="10" name="Text Box 10">
            <a:extLst>
              <a:ext uri="{FF2B5EF4-FFF2-40B4-BE49-F238E27FC236}">
                <a16:creationId xmlns:a16="http://schemas.microsoft.com/office/drawing/2014/main" id="{C3448B39-94D7-4B57-8A12-583A1142177B}"/>
              </a:ext>
            </a:extLst>
          </p:cNvPr>
          <p:cNvSpPr txBox="1">
            <a:spLocks noChangeArrowheads="1"/>
          </p:cNvSpPr>
          <p:nvPr/>
        </p:nvSpPr>
        <p:spPr bwMode="auto">
          <a:xfrm>
            <a:off x="1063083" y="2378731"/>
            <a:ext cx="8300124"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1"/>
              </a:buClr>
              <a:buFont typeface="+mj-lt"/>
              <a:buAutoNum type="arabicPeriod"/>
            </a:pPr>
            <a:r>
              <a:rPr lang="ru-RU" sz="1800" dirty="0">
                <a:solidFill>
                  <a:schemeClr val="tx1"/>
                </a:solidFill>
                <a:latin typeface="+mn-lt"/>
              </a:rPr>
              <a:t>Реализовать итератор, который бы «читал» заданный текст </a:t>
            </a:r>
            <a:endParaRPr lang="en-US" sz="1800" dirty="0">
              <a:solidFill>
                <a:schemeClr val="tx1"/>
              </a:solidFill>
              <a:latin typeface="+mn-lt"/>
            </a:endParaRPr>
          </a:p>
          <a:p>
            <a:pPr marL="342900" eaLnBrk="1" hangingPunct="1">
              <a:spcBef>
                <a:spcPct val="0"/>
              </a:spcBef>
              <a:buNone/>
            </a:pPr>
            <a:r>
              <a:rPr lang="en-US" sz="1800" dirty="0">
                <a:solidFill>
                  <a:schemeClr val="tx1"/>
                </a:solidFill>
                <a:latin typeface="+mn-lt"/>
              </a:rPr>
              <a:t>  </a:t>
            </a:r>
            <a:r>
              <a:rPr lang="ru-RU" sz="1800" dirty="0">
                <a:solidFill>
                  <a:schemeClr val="tx1"/>
                </a:solidFill>
                <a:latin typeface="+mn-lt"/>
              </a:rPr>
              <a:t>по параграфам. Символ параграфа задается отдельно</a:t>
            </a:r>
          </a:p>
          <a:p>
            <a:pPr marL="342900" eaLnBrk="1" hangingPunct="1">
              <a:spcBef>
                <a:spcPct val="0"/>
              </a:spcBef>
              <a:buNone/>
            </a:pPr>
            <a:endParaRPr lang="en-US" sz="1800" dirty="0">
              <a:solidFill>
                <a:schemeClr val="tx1"/>
              </a:solidFill>
              <a:latin typeface="+mn-lt"/>
            </a:endParaRPr>
          </a:p>
          <a:p>
            <a:pPr marL="457200" indent="-457200" eaLnBrk="1" hangingPunct="1">
              <a:spcBef>
                <a:spcPct val="0"/>
              </a:spcBef>
              <a:buClr>
                <a:schemeClr val="accent1"/>
              </a:buClr>
              <a:buFont typeface="+mj-lt"/>
              <a:buAutoNum type="arabicPeriod" startAt="2"/>
            </a:pPr>
            <a:r>
              <a:rPr lang="ru-RU" sz="1800" dirty="0">
                <a:solidFill>
                  <a:schemeClr val="tx1"/>
                </a:solidFill>
                <a:latin typeface="+mn-lt"/>
              </a:rPr>
              <a:t>Написать генератор для построчного чтения файла</a:t>
            </a:r>
          </a:p>
        </p:txBody>
      </p:sp>
    </p:spTree>
    <p:extLst>
      <p:ext uri="{BB962C8B-B14F-4D97-AF65-F5344CB8AC3E}">
        <p14:creationId xmlns:p14="http://schemas.microsoft.com/office/powerpoint/2010/main" val="4182871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ru-RU" sz="3600" b="1" dirty="0">
                <a:solidFill>
                  <a:schemeClr val="accent1"/>
                </a:solidFill>
                <a:latin typeface="+mn-lt"/>
              </a:rPr>
              <a:t>Стандартная библиотека </a:t>
            </a:r>
            <a:r>
              <a:rPr lang="en-US" sz="3600" b="1" dirty="0">
                <a:solidFill>
                  <a:schemeClr val="accent1"/>
                </a:solidFill>
                <a:latin typeface="+mn-lt"/>
              </a:rPr>
              <a:t>Python</a:t>
            </a:r>
            <a:endParaRPr lang="ru-RU" sz="36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3957685"/>
            <a:ext cx="9144000" cy="1181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47252"/>
            <a:ext cx="8260191" cy="2800767"/>
          </a:xfrm>
          <a:prstGeom prst="rect">
            <a:avLst/>
          </a:prstGeom>
          <a:noFill/>
        </p:spPr>
        <p:txBody>
          <a:bodyPr wrap="square">
            <a:spAutoFit/>
          </a:bodyPr>
          <a:lstStyle/>
          <a:p>
            <a:pPr algn="just" eaLnBrk="1" hangingPunct="1">
              <a:spcBef>
                <a:spcPct val="0"/>
              </a:spcBef>
              <a:buNone/>
            </a:pPr>
            <a:r>
              <a:rPr lang="ru-RU" sz="1600" dirty="0">
                <a:solidFill>
                  <a:schemeClr val="tx1"/>
                </a:solidFill>
                <a:latin typeface="+mn-lt"/>
              </a:rPr>
              <a:t>Как известно, в Python огромное количество встроенных «батареек». Умение вовремя и уместно их применить - один из главных навыков хорошего программиста Python.</a:t>
            </a:r>
          </a:p>
          <a:p>
            <a:pPr algn="just" eaLnBrk="1" hangingPunct="1">
              <a:spcBef>
                <a:spcPct val="0"/>
              </a:spcBef>
              <a:buNone/>
            </a:pPr>
            <a:r>
              <a:rPr lang="ru-RU" sz="1600" dirty="0">
                <a:solidFill>
                  <a:schemeClr val="tx1"/>
                </a:solidFill>
                <a:latin typeface="+mn-lt"/>
              </a:rPr>
              <a:t>Мы рассмотрим несколько полезных библиотек различных направлений, связанных с темами, рассматриваемыми в основной и прикладной частях курса. Это математические  модули (random), текстовые (re), модули функционального программирования (functools), модули доступа к сервисам ОС (time, os) и самого интерпретатора Python (sys), модули для работы со специальными типами данных (datetime), с архивами (</a:t>
            </a:r>
            <a:r>
              <a:rPr lang="en-US" sz="1600" dirty="0">
                <a:solidFill>
                  <a:schemeClr val="tx1"/>
                </a:solidFill>
                <a:latin typeface="+mn-lt"/>
              </a:rPr>
              <a:t>ZipFile</a:t>
            </a:r>
            <a:r>
              <a:rPr lang="ru-RU" sz="1600" dirty="0">
                <a:solidFill>
                  <a:schemeClr val="tx1"/>
                </a:solidFill>
                <a:latin typeface="+mn-lt"/>
              </a:rPr>
              <a:t>), модули для конкурентного программирования (subprocess), сериализации (pickle) и работы с сетевыми данными (json). Библиотеки рассматриваются в формате обзора с практическими примерами.</a:t>
            </a:r>
          </a:p>
        </p:txBody>
      </p:sp>
      <p:sp>
        <p:nvSpPr>
          <p:cNvPr id="13" name="TextBox 12">
            <a:extLst>
              <a:ext uri="{FF2B5EF4-FFF2-40B4-BE49-F238E27FC236}">
                <a16:creationId xmlns:a16="http://schemas.microsoft.com/office/drawing/2014/main" id="{BB764301-5C71-48E1-A2CF-5724306C34EF}"/>
              </a:ext>
            </a:extLst>
          </p:cNvPr>
          <p:cNvSpPr txBox="1"/>
          <p:nvPr/>
        </p:nvSpPr>
        <p:spPr>
          <a:xfrm>
            <a:off x="1663883" y="4239968"/>
            <a:ext cx="7041502" cy="584775"/>
          </a:xfrm>
          <a:prstGeom prst="rect">
            <a:avLst/>
          </a:prstGeom>
          <a:noFill/>
        </p:spPr>
        <p:txBody>
          <a:bodyPr wrap="square">
            <a:spAutoFit/>
          </a:bodyPr>
          <a:lstStyle/>
          <a:p>
            <a:pPr eaLnBrk="1" hangingPunct="1">
              <a:spcBef>
                <a:spcPct val="0"/>
              </a:spcBef>
              <a:buNone/>
            </a:pPr>
            <a:r>
              <a:rPr lang="ru-RU" sz="1600" dirty="0">
                <a:solidFill>
                  <a:schemeClr val="tx1"/>
                </a:solidFill>
                <a:latin typeface="+mn-lt"/>
              </a:rPr>
              <a:t>Более подробную информацию по всем «батарейкам» можно получить из официальной документации: https://docs.python.org/3/library/index.html</a:t>
            </a:r>
            <a:endParaRPr lang="ru-RU" sz="1600" b="1" dirty="0">
              <a:solidFill>
                <a:schemeClr val="bg1"/>
              </a:solidFill>
              <a:latin typeface="+mn-lt"/>
            </a:endParaRPr>
          </a:p>
        </p:txBody>
      </p:sp>
      <p:grpSp>
        <p:nvGrpSpPr>
          <p:cNvPr id="14" name="Группа 13">
            <a:extLst>
              <a:ext uri="{FF2B5EF4-FFF2-40B4-BE49-F238E27FC236}">
                <a16:creationId xmlns:a16="http://schemas.microsoft.com/office/drawing/2014/main" id="{86954695-D6F0-4AFC-B4AC-05E5C05CA648}"/>
              </a:ext>
            </a:extLst>
          </p:cNvPr>
          <p:cNvGrpSpPr/>
          <p:nvPr/>
        </p:nvGrpSpPr>
        <p:grpSpPr>
          <a:xfrm>
            <a:off x="573646" y="4129850"/>
            <a:ext cx="836767" cy="836767"/>
            <a:chOff x="560687" y="3457246"/>
            <a:chExt cx="836767" cy="836767"/>
          </a:xfrm>
        </p:grpSpPr>
        <p:sp>
          <p:nvSpPr>
            <p:cNvPr id="15" name="Овал 14">
              <a:extLst>
                <a:ext uri="{FF2B5EF4-FFF2-40B4-BE49-F238E27FC236}">
                  <a16:creationId xmlns:a16="http://schemas.microsoft.com/office/drawing/2014/main" id="{DC48643C-6A25-4FCA-8451-8C392BAD7A9E}"/>
                </a:ext>
              </a:extLst>
            </p:cNvPr>
            <p:cNvSpPr/>
            <p:nvPr/>
          </p:nvSpPr>
          <p:spPr>
            <a:xfrm>
              <a:off x="560687" y="3457246"/>
              <a:ext cx="836767" cy="83676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16" name="Picture 2" descr="C:\Users\user\Downloads\- (16).png">
              <a:extLst>
                <a:ext uri="{FF2B5EF4-FFF2-40B4-BE49-F238E27FC236}">
                  <a16:creationId xmlns:a16="http://schemas.microsoft.com/office/drawing/2014/main" id="{A4AB1943-E34F-4553-8A23-B875EBF5F1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559" y="3599118"/>
              <a:ext cx="553021" cy="55302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8143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24118"/>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79C9869D-AAAE-4118-AF0E-2214C12E9A8C}"/>
              </a:ext>
            </a:extLst>
          </p:cNvPr>
          <p:cNvSpPr txBox="1"/>
          <p:nvPr/>
        </p:nvSpPr>
        <p:spPr>
          <a:xfrm>
            <a:off x="445195" y="1317303"/>
            <a:ext cx="8097643" cy="307777"/>
          </a:xfrm>
          <a:prstGeom prst="rect">
            <a:avLst/>
          </a:prstGeom>
          <a:noFill/>
        </p:spPr>
        <p:txBody>
          <a:bodyPr wrap="square">
            <a:spAutoFit/>
          </a:bodyPr>
          <a:lstStyle/>
          <a:p>
            <a:r>
              <a:rPr lang="ru-RU" sz="1400" dirty="0">
                <a:solidFill>
                  <a:schemeClr val="tx1"/>
                </a:solidFill>
                <a:latin typeface="+mn-lt"/>
              </a:rPr>
              <a:t>Этот модуль генерирует псевдослучайные числа для нескольких различных распределений</a:t>
            </a:r>
            <a:endParaRPr lang="ru-RU" dirty="0">
              <a:solidFill>
                <a:schemeClr val="tx1"/>
              </a:solidFill>
              <a:latin typeface="+mn-lt"/>
            </a:endParaRPr>
          </a:p>
        </p:txBody>
      </p:sp>
      <p:sp>
        <p:nvSpPr>
          <p:cNvPr id="14" name="TextBox 13">
            <a:extLst>
              <a:ext uri="{FF2B5EF4-FFF2-40B4-BE49-F238E27FC236}">
                <a16:creationId xmlns:a16="http://schemas.microsoft.com/office/drawing/2014/main" id="{A64383B4-5B8E-474E-91D2-7D9D904B6A2B}"/>
              </a:ext>
            </a:extLst>
          </p:cNvPr>
          <p:cNvSpPr txBox="1"/>
          <p:nvPr/>
        </p:nvSpPr>
        <p:spPr>
          <a:xfrm>
            <a:off x="445195" y="1934147"/>
            <a:ext cx="4679794" cy="307777"/>
          </a:xfrm>
          <a:prstGeom prst="rect">
            <a:avLst/>
          </a:prstGeom>
          <a:noFill/>
        </p:spPr>
        <p:txBody>
          <a:bodyPr wrap="square">
            <a:spAutoFit/>
          </a:bodyPr>
          <a:lstStyle/>
          <a:p>
            <a:pPr eaLnBrk="1" hangingPunct="1">
              <a:spcBef>
                <a:spcPct val="0"/>
              </a:spcBef>
              <a:buNone/>
            </a:pPr>
            <a:r>
              <a:rPr lang="ru-RU" b="1" dirty="0">
                <a:solidFill>
                  <a:schemeClr val="accent1"/>
                </a:solidFill>
                <a:latin typeface="+mn-lt"/>
              </a:rPr>
              <a:t>Наиболее используемые функции:</a:t>
            </a:r>
          </a:p>
        </p:txBody>
      </p:sp>
      <p:sp>
        <p:nvSpPr>
          <p:cNvPr id="16" name="TextBox 15">
            <a:extLst>
              <a:ext uri="{FF2B5EF4-FFF2-40B4-BE49-F238E27FC236}">
                <a16:creationId xmlns:a16="http://schemas.microsoft.com/office/drawing/2014/main" id="{483C9487-C2EA-49B3-AD30-1589CDAC98EE}"/>
              </a:ext>
            </a:extLst>
          </p:cNvPr>
          <p:cNvSpPr txBox="1"/>
          <p:nvPr/>
        </p:nvSpPr>
        <p:spPr>
          <a:xfrm>
            <a:off x="445194" y="2241924"/>
            <a:ext cx="8170981" cy="2692660"/>
          </a:xfrm>
          <a:prstGeom prst="rect">
            <a:avLst/>
          </a:prstGeom>
          <a:noFill/>
        </p:spPr>
        <p:txBody>
          <a:bodyPr wrap="square">
            <a:spAutoFit/>
          </a:bodyPr>
          <a:lstStyle/>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random()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[0.0, 1.0)</a:t>
            </a:r>
            <a:endParaRPr lang="en-US" dirty="0">
              <a:solidFill>
                <a:schemeClr val="tx1"/>
              </a:solidFill>
              <a:latin typeface="+mn-lt"/>
            </a:endParaRPr>
          </a:p>
          <a:p>
            <a:pPr marL="285750" indent="-285750" eaLnBrk="1" hangingPunct="1">
              <a:lnSpc>
                <a:spcPct val="110000"/>
              </a:lnSpc>
              <a:spcBef>
                <a:spcPct val="0"/>
              </a:spcBef>
              <a:buClr>
                <a:schemeClr val="accent1"/>
              </a:buClr>
              <a:buFont typeface="Arial" panose="020B0604020202020204" pitchFamily="34" charset="0"/>
              <a:buChar char="•"/>
            </a:pPr>
            <a:r>
              <a:rPr lang="en-US" dirty="0">
                <a:solidFill>
                  <a:schemeClr val="tx1"/>
                </a:solidFill>
                <a:latin typeface="+mn-lt"/>
              </a:rPr>
              <a:t>randint(</a:t>
            </a:r>
            <a:r>
              <a:rPr lang="ru-RU" dirty="0">
                <a:solidFill>
                  <a:schemeClr val="tx1"/>
                </a:solidFill>
                <a:latin typeface="+mn-lt"/>
              </a:rPr>
              <a:t>start, stop</a:t>
            </a:r>
            <a:r>
              <a:rPr lang="en-US" dirty="0">
                <a:solidFill>
                  <a:schemeClr val="tx1"/>
                </a:solidFill>
                <a:latin typeface="+mn-lt"/>
              </a:rPr>
              <a:t>)</a:t>
            </a:r>
            <a:r>
              <a:rPr lang="ru-RU" dirty="0">
                <a:solidFill>
                  <a:schemeClr val="tx1"/>
                </a:solidFill>
                <a:latin typeface="+mn-lt"/>
              </a:rPr>
              <a:t>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a:t>
            </a:r>
            <a:r>
              <a:rPr lang="en-US" dirty="0">
                <a:solidFill>
                  <a:schemeClr val="tx1"/>
                </a:solidFill>
                <a:latin typeface="+mn-lt"/>
              </a:rPr>
              <a:t>start</a:t>
            </a:r>
            <a:r>
              <a:rPr lang="ru-RU" dirty="0">
                <a:solidFill>
                  <a:schemeClr val="tx1"/>
                </a:solidFill>
                <a:latin typeface="+mn-lt"/>
              </a:rPr>
              <a:t>, </a:t>
            </a:r>
            <a:r>
              <a:rPr lang="en-US" dirty="0">
                <a:solidFill>
                  <a:schemeClr val="tx1"/>
                </a:solidFill>
                <a:latin typeface="+mn-lt"/>
              </a:rPr>
              <a:t>stop</a:t>
            </a:r>
            <a:r>
              <a:rPr lang="ru-RU" dirty="0">
                <a:solidFill>
                  <a:schemeClr val="tx1"/>
                </a:solidFill>
                <a:latin typeface="+mn-lt"/>
              </a:rPr>
              <a:t>)</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choice(s) - выбирает случайный элемент из последовательности s</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shuffle(s) - перемешивает элементы изменяемой последовательности s на месте</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randrange([start,] stop[, step]) - выдает случайное целое число из диапазона range(start, stop, step)</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choice(range(start, stop, step))</a:t>
            </a:r>
            <a:r>
              <a:rPr lang="en-US" dirty="0">
                <a:solidFill>
                  <a:schemeClr val="tx1"/>
                </a:solidFill>
                <a:latin typeface="+mn-lt"/>
              </a:rPr>
              <a:t> – </a:t>
            </a:r>
            <a:r>
              <a:rPr lang="ru-RU" dirty="0">
                <a:solidFill>
                  <a:schemeClr val="tx1"/>
                </a:solidFill>
                <a:latin typeface="+mn-lt"/>
              </a:rPr>
              <a:t>то же, что и </a:t>
            </a:r>
            <a:r>
              <a:rPr lang="en-US" dirty="0">
                <a:solidFill>
                  <a:schemeClr val="tx1"/>
                </a:solidFill>
                <a:latin typeface="+mn-lt"/>
              </a:rPr>
              <a:t>randrange, </a:t>
            </a:r>
            <a:r>
              <a:rPr lang="ru-RU" dirty="0">
                <a:solidFill>
                  <a:schemeClr val="tx1"/>
                </a:solidFill>
                <a:latin typeface="+mn-lt"/>
              </a:rPr>
              <a:t>но с созданием объекта</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normalvariate(mu, sigma) - выдает число из последовательности нормально распределенных псевдослучайных чисел. Здесь mu - среднее, sigma - среднеквадратическое отклонение (sigma &gt; 0)</a:t>
            </a:r>
          </a:p>
        </p:txBody>
      </p:sp>
    </p:spTree>
    <p:extLst>
      <p:ext uri="{BB962C8B-B14F-4D97-AF65-F5344CB8AC3E}">
        <p14:creationId xmlns:p14="http://schemas.microsoft.com/office/powerpoint/2010/main" val="2608207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7" name="Rectangle 1">
            <a:extLst>
              <a:ext uri="{FF2B5EF4-FFF2-40B4-BE49-F238E27FC236}">
                <a16:creationId xmlns:a16="http://schemas.microsoft.com/office/drawing/2014/main" id="{5B0BEF46-0A40-4A32-B1D2-48FFF4179835}"/>
              </a:ext>
            </a:extLst>
          </p:cNvPr>
          <p:cNvSpPr/>
          <p:nvPr/>
        </p:nvSpPr>
        <p:spPr>
          <a:xfrm>
            <a:off x="445195" y="1165059"/>
            <a:ext cx="3145498" cy="3970318"/>
          </a:xfrm>
          <a:prstGeom prst="rect">
            <a:avLst/>
          </a:prstGeom>
        </p:spPr>
        <p:txBody>
          <a:bodyPr wrap="square">
            <a:spAutoFit/>
          </a:bodyPr>
          <a:lstStyle/>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random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randint</a:t>
            </a:r>
            <a:r>
              <a:rPr lang="en-US" b="1" dirty="0">
                <a:solidFill>
                  <a:srgbClr val="000080"/>
                </a:solidFill>
                <a:latin typeface="+mn-lt"/>
              </a:rPr>
              <a:t>(</a:t>
            </a:r>
            <a:r>
              <a:rPr lang="en-US" dirty="0">
                <a:solidFill>
                  <a:srgbClr val="FF0000"/>
                </a:solidFill>
                <a:latin typeface="+mn-lt"/>
              </a:rPr>
              <a:t>0</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100</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76</a:t>
            </a:r>
          </a:p>
          <a:p>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 </a:t>
            </a:r>
            <a:r>
              <a:rPr lang="en-US" b="1" dirty="0">
                <a:solidFill>
                  <a:srgbClr val="000080"/>
                </a:solidFill>
                <a:latin typeface="+mn-lt"/>
              </a:rPr>
              <a:t>=</a:t>
            </a:r>
            <a:r>
              <a:rPr lang="en-US" dirty="0">
                <a:solidFill>
                  <a:srgbClr val="000000"/>
                </a:solidFill>
                <a:latin typeface="+mn-lt"/>
              </a:rPr>
              <a:t> </a:t>
            </a:r>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choice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dirty="0">
                <a:solidFill>
                  <a:srgbClr val="808080"/>
                </a:solidFill>
                <a:latin typeface="+mn-lt"/>
              </a:rPr>
              <a:t>'Petr'</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randrange</a:t>
            </a:r>
            <a:r>
              <a:rPr lang="en-US" b="1" dirty="0">
                <a:solidFill>
                  <a:srgbClr val="000080"/>
                </a:solidFill>
                <a:latin typeface="+mn-lt"/>
              </a:rPr>
              <a:t>(</a:t>
            </a:r>
            <a:r>
              <a:rPr lang="en-US" dirty="0">
                <a:solidFill>
                  <a:srgbClr val="FF0000"/>
                </a:solidFill>
                <a:latin typeface="+mn-lt"/>
              </a:rPr>
              <a:t>1</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24</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23</a:t>
            </a:r>
            <a:endParaRPr lang="en-US" dirty="0">
              <a:effectLst/>
              <a:latin typeface="+mn-lt"/>
            </a:endParaRPr>
          </a:p>
        </p:txBody>
      </p:sp>
      <p:grpSp>
        <p:nvGrpSpPr>
          <p:cNvPr id="9" name="Группа 8">
            <a:extLst>
              <a:ext uri="{FF2B5EF4-FFF2-40B4-BE49-F238E27FC236}">
                <a16:creationId xmlns:a16="http://schemas.microsoft.com/office/drawing/2014/main" id="{540D84EC-19BA-423A-A3B2-F1266E8411BB}"/>
              </a:ext>
            </a:extLst>
          </p:cNvPr>
          <p:cNvGrpSpPr/>
          <p:nvPr/>
        </p:nvGrpSpPr>
        <p:grpSpPr>
          <a:xfrm flipH="1">
            <a:off x="5165158" y="2571750"/>
            <a:ext cx="4553212" cy="2759191"/>
            <a:chOff x="-903210" y="2512248"/>
            <a:chExt cx="4553212" cy="2759191"/>
          </a:xfrm>
        </p:grpSpPr>
        <p:sp>
          <p:nvSpPr>
            <p:cNvPr id="10" name="Google Shape;1738;p44">
              <a:extLst>
                <a:ext uri="{FF2B5EF4-FFF2-40B4-BE49-F238E27FC236}">
                  <a16:creationId xmlns:a16="http://schemas.microsoft.com/office/drawing/2014/main" id="{67F7DAAC-BE7E-44DC-93A8-AC45CFA874E1}"/>
                </a:ext>
              </a:extLst>
            </p:cNvPr>
            <p:cNvSpPr/>
            <p:nvPr/>
          </p:nvSpPr>
          <p:spPr>
            <a:xfrm>
              <a:off x="-903210" y="2621786"/>
              <a:ext cx="4553212" cy="2649653"/>
            </a:xfrm>
            <a:custGeom>
              <a:avLst/>
              <a:gdLst/>
              <a:ahLst/>
              <a:cxnLst/>
              <a:rect l="l" t="t" r="r" b="b"/>
              <a:pathLst>
                <a:path w="79073" h="46015" extrusionOk="0">
                  <a:moveTo>
                    <a:pt x="29262" y="1"/>
                  </a:moveTo>
                  <a:cubicBezTo>
                    <a:pt x="18282" y="1"/>
                    <a:pt x="9382" y="8902"/>
                    <a:pt x="9382" y="19881"/>
                  </a:cubicBezTo>
                  <a:cubicBezTo>
                    <a:pt x="9382" y="20126"/>
                    <a:pt x="9392" y="20367"/>
                    <a:pt x="9401" y="20611"/>
                  </a:cubicBezTo>
                  <a:cubicBezTo>
                    <a:pt x="3976" y="22156"/>
                    <a:pt x="0" y="27139"/>
                    <a:pt x="0" y="33059"/>
                  </a:cubicBezTo>
                  <a:cubicBezTo>
                    <a:pt x="0" y="39606"/>
                    <a:pt x="4862" y="45004"/>
                    <a:pt x="11168" y="45877"/>
                  </a:cubicBezTo>
                  <a:lnTo>
                    <a:pt x="11168" y="46015"/>
                  </a:lnTo>
                  <a:lnTo>
                    <a:pt x="69691" y="46015"/>
                  </a:lnTo>
                  <a:cubicBezTo>
                    <a:pt x="74872" y="46015"/>
                    <a:pt x="79072" y="41814"/>
                    <a:pt x="79072" y="36633"/>
                  </a:cubicBezTo>
                  <a:cubicBezTo>
                    <a:pt x="79072" y="31666"/>
                    <a:pt x="75209" y="27611"/>
                    <a:pt x="70325" y="27283"/>
                  </a:cubicBezTo>
                  <a:cubicBezTo>
                    <a:pt x="70488" y="26404"/>
                    <a:pt x="70585" y="25499"/>
                    <a:pt x="70585" y="24571"/>
                  </a:cubicBezTo>
                  <a:cubicBezTo>
                    <a:pt x="70585" y="16429"/>
                    <a:pt x="63985" y="9829"/>
                    <a:pt x="55842" y="9829"/>
                  </a:cubicBezTo>
                  <a:cubicBezTo>
                    <a:pt x="55835" y="9829"/>
                    <a:pt x="55828" y="9829"/>
                    <a:pt x="55820" y="9829"/>
                  </a:cubicBezTo>
                  <a:cubicBezTo>
                    <a:pt x="52910" y="9829"/>
                    <a:pt x="50065" y="10696"/>
                    <a:pt x="47648" y="12318"/>
                  </a:cubicBezTo>
                  <a:cubicBezTo>
                    <a:pt x="44672" y="5091"/>
                    <a:pt x="37563" y="1"/>
                    <a:pt x="29262" y="1"/>
                  </a:cubicBezTo>
                  <a:close/>
                </a:path>
              </a:pathLst>
            </a:custGeom>
            <a:gradFill>
              <a:gsLst>
                <a:gs pos="0">
                  <a:schemeClr val="accent3"/>
                </a:gs>
                <a:gs pos="100000">
                  <a:schemeClr val="accent5"/>
                </a:gs>
              </a:gsLst>
              <a:lin ang="27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54;p44">
              <a:extLst>
                <a:ext uri="{FF2B5EF4-FFF2-40B4-BE49-F238E27FC236}">
                  <a16:creationId xmlns:a16="http://schemas.microsoft.com/office/drawing/2014/main" id="{DDF78FF7-9134-4F25-94FF-94264353B556}"/>
                </a:ext>
              </a:extLst>
            </p:cNvPr>
            <p:cNvSpPr/>
            <p:nvPr/>
          </p:nvSpPr>
          <p:spPr>
            <a:xfrm>
              <a:off x="773574" y="4698724"/>
              <a:ext cx="300810" cy="117942"/>
            </a:xfrm>
            <a:custGeom>
              <a:avLst/>
              <a:gdLst/>
              <a:ahLst/>
              <a:cxnLst/>
              <a:rect l="l" t="t" r="r" b="b"/>
              <a:pathLst>
                <a:path w="20404" h="8000" extrusionOk="0">
                  <a:moveTo>
                    <a:pt x="8645" y="1"/>
                  </a:moveTo>
                  <a:lnTo>
                    <a:pt x="948" y="823"/>
                  </a:lnTo>
                  <a:cubicBezTo>
                    <a:pt x="948" y="823"/>
                    <a:pt x="1" y="4548"/>
                    <a:pt x="592" y="5967"/>
                  </a:cubicBezTo>
                  <a:cubicBezTo>
                    <a:pt x="1052" y="7074"/>
                    <a:pt x="1846" y="7222"/>
                    <a:pt x="2985" y="7222"/>
                  </a:cubicBezTo>
                  <a:cubicBezTo>
                    <a:pt x="3307" y="7222"/>
                    <a:pt x="3657" y="7210"/>
                    <a:pt x="4035" y="7204"/>
                  </a:cubicBezTo>
                  <a:cubicBezTo>
                    <a:pt x="4052" y="7204"/>
                    <a:pt x="4071" y="7204"/>
                    <a:pt x="4089" y="7204"/>
                  </a:cubicBezTo>
                  <a:cubicBezTo>
                    <a:pt x="5612" y="7204"/>
                    <a:pt x="11444" y="7999"/>
                    <a:pt x="14477" y="7999"/>
                  </a:cubicBezTo>
                  <a:cubicBezTo>
                    <a:pt x="15077" y="7999"/>
                    <a:pt x="15568" y="7968"/>
                    <a:pt x="15894" y="7894"/>
                  </a:cubicBezTo>
                  <a:cubicBezTo>
                    <a:pt x="17886" y="7437"/>
                    <a:pt x="19873" y="6552"/>
                    <a:pt x="20138" y="5121"/>
                  </a:cubicBezTo>
                  <a:cubicBezTo>
                    <a:pt x="20403" y="3690"/>
                    <a:pt x="16698" y="4170"/>
                    <a:pt x="14837" y="3768"/>
                  </a:cubicBezTo>
                  <a:cubicBezTo>
                    <a:pt x="12975" y="3367"/>
                    <a:pt x="8645" y="1"/>
                    <a:pt x="8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55;p44">
              <a:extLst>
                <a:ext uri="{FF2B5EF4-FFF2-40B4-BE49-F238E27FC236}">
                  <a16:creationId xmlns:a16="http://schemas.microsoft.com/office/drawing/2014/main" id="{A7EDB1CB-BE81-4429-AE61-0FA2CFF9CA5E}"/>
                </a:ext>
              </a:extLst>
            </p:cNvPr>
            <p:cNvSpPr/>
            <p:nvPr/>
          </p:nvSpPr>
          <p:spPr>
            <a:xfrm>
              <a:off x="769255" y="4694523"/>
              <a:ext cx="306103" cy="126330"/>
            </a:xfrm>
            <a:custGeom>
              <a:avLst/>
              <a:gdLst/>
              <a:ahLst/>
              <a:cxnLst/>
              <a:rect l="l" t="t" r="r" b="b"/>
              <a:pathLst>
                <a:path w="20763" h="8569" extrusionOk="0">
                  <a:moveTo>
                    <a:pt x="8854" y="582"/>
                  </a:moveTo>
                  <a:cubicBezTo>
                    <a:pt x="9508" y="1084"/>
                    <a:pt x="13296" y="3950"/>
                    <a:pt x="15069" y="4332"/>
                  </a:cubicBezTo>
                  <a:cubicBezTo>
                    <a:pt x="15679" y="4464"/>
                    <a:pt x="16477" y="4504"/>
                    <a:pt x="17248" y="4543"/>
                  </a:cubicBezTo>
                  <a:cubicBezTo>
                    <a:pt x="18430" y="4603"/>
                    <a:pt x="19771" y="4670"/>
                    <a:pt x="20096" y="5080"/>
                  </a:cubicBezTo>
                  <a:cubicBezTo>
                    <a:pt x="20135" y="5131"/>
                    <a:pt x="20178" y="5207"/>
                    <a:pt x="20150" y="5354"/>
                  </a:cubicBezTo>
                  <a:cubicBezTo>
                    <a:pt x="19950" y="6433"/>
                    <a:pt x="18483" y="7360"/>
                    <a:pt x="16122" y="7900"/>
                  </a:cubicBezTo>
                  <a:cubicBezTo>
                    <a:pt x="15819" y="7970"/>
                    <a:pt x="15355" y="7999"/>
                    <a:pt x="14783" y="7999"/>
                  </a:cubicBezTo>
                  <a:cubicBezTo>
                    <a:pt x="13010" y="7999"/>
                    <a:pt x="10210" y="7719"/>
                    <a:pt x="8021" y="7501"/>
                  </a:cubicBezTo>
                  <a:cubicBezTo>
                    <a:pt x="6419" y="7342"/>
                    <a:pt x="5028" y="7203"/>
                    <a:pt x="4380" y="7203"/>
                  </a:cubicBezTo>
                  <a:lnTo>
                    <a:pt x="4324" y="7203"/>
                  </a:lnTo>
                  <a:lnTo>
                    <a:pt x="3895" y="7212"/>
                  </a:lnTo>
                  <a:cubicBezTo>
                    <a:pt x="3690" y="7216"/>
                    <a:pt x="3499" y="7220"/>
                    <a:pt x="3322" y="7220"/>
                  </a:cubicBezTo>
                  <a:cubicBezTo>
                    <a:pt x="2132" y="7220"/>
                    <a:pt x="1537" y="7076"/>
                    <a:pt x="1148" y="6142"/>
                  </a:cubicBezTo>
                  <a:cubicBezTo>
                    <a:pt x="720" y="5115"/>
                    <a:pt x="1198" y="2512"/>
                    <a:pt x="1470" y="1371"/>
                  </a:cubicBezTo>
                  <a:lnTo>
                    <a:pt x="8854" y="582"/>
                  </a:lnTo>
                  <a:close/>
                  <a:moveTo>
                    <a:pt x="8940" y="0"/>
                  </a:moveTo>
                  <a:cubicBezTo>
                    <a:pt x="8929" y="0"/>
                    <a:pt x="8918" y="1"/>
                    <a:pt x="8907" y="2"/>
                  </a:cubicBezTo>
                  <a:lnTo>
                    <a:pt x="1210" y="824"/>
                  </a:lnTo>
                  <a:cubicBezTo>
                    <a:pt x="1092" y="837"/>
                    <a:pt x="993" y="922"/>
                    <a:pt x="963" y="1038"/>
                  </a:cubicBezTo>
                  <a:cubicBezTo>
                    <a:pt x="924" y="1194"/>
                    <a:pt x="0" y="4873"/>
                    <a:pt x="621" y="6363"/>
                  </a:cubicBezTo>
                  <a:cubicBezTo>
                    <a:pt x="1145" y="7622"/>
                    <a:pt x="2079" y="7792"/>
                    <a:pt x="3268" y="7792"/>
                  </a:cubicBezTo>
                  <a:cubicBezTo>
                    <a:pt x="3474" y="7792"/>
                    <a:pt x="3688" y="7787"/>
                    <a:pt x="3908" y="7782"/>
                  </a:cubicBezTo>
                  <a:lnTo>
                    <a:pt x="4332" y="7774"/>
                  </a:lnTo>
                  <a:cubicBezTo>
                    <a:pt x="4931" y="7779"/>
                    <a:pt x="6332" y="7907"/>
                    <a:pt x="7965" y="8070"/>
                  </a:cubicBezTo>
                  <a:cubicBezTo>
                    <a:pt x="10260" y="8298"/>
                    <a:pt x="12971" y="8569"/>
                    <a:pt x="14765" y="8569"/>
                  </a:cubicBezTo>
                  <a:cubicBezTo>
                    <a:pt x="15391" y="8569"/>
                    <a:pt x="15905" y="8535"/>
                    <a:pt x="16251" y="8457"/>
                  </a:cubicBezTo>
                  <a:cubicBezTo>
                    <a:pt x="17774" y="8108"/>
                    <a:pt x="20379" y="7255"/>
                    <a:pt x="20711" y="5459"/>
                  </a:cubicBezTo>
                  <a:cubicBezTo>
                    <a:pt x="20762" y="5184"/>
                    <a:pt x="20705" y="4930"/>
                    <a:pt x="20544" y="4727"/>
                  </a:cubicBezTo>
                  <a:cubicBezTo>
                    <a:pt x="20059" y="4114"/>
                    <a:pt x="18708" y="4045"/>
                    <a:pt x="17276" y="3972"/>
                  </a:cubicBezTo>
                  <a:cubicBezTo>
                    <a:pt x="16528" y="3936"/>
                    <a:pt x="15755" y="3896"/>
                    <a:pt x="15190" y="3775"/>
                  </a:cubicBezTo>
                  <a:cubicBezTo>
                    <a:pt x="13413" y="3390"/>
                    <a:pt x="9156" y="94"/>
                    <a:pt x="9113" y="61"/>
                  </a:cubicBezTo>
                  <a:cubicBezTo>
                    <a:pt x="9064" y="21"/>
                    <a:pt x="9003" y="0"/>
                    <a:pt x="89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656;p44">
              <a:extLst>
                <a:ext uri="{FF2B5EF4-FFF2-40B4-BE49-F238E27FC236}">
                  <a16:creationId xmlns:a16="http://schemas.microsoft.com/office/drawing/2014/main" id="{0F6910AC-210C-42C7-9A64-A74753593581}"/>
                </a:ext>
              </a:extLst>
            </p:cNvPr>
            <p:cNvSpPr/>
            <p:nvPr/>
          </p:nvSpPr>
          <p:spPr>
            <a:xfrm>
              <a:off x="883702" y="4698724"/>
              <a:ext cx="76367" cy="50744"/>
            </a:xfrm>
            <a:custGeom>
              <a:avLst/>
              <a:gdLst/>
              <a:ahLst/>
              <a:cxnLst/>
              <a:rect l="l" t="t" r="r" b="b"/>
              <a:pathLst>
                <a:path w="5180" h="3442" extrusionOk="0">
                  <a:moveTo>
                    <a:pt x="1175" y="1"/>
                  </a:moveTo>
                  <a:lnTo>
                    <a:pt x="248" y="100"/>
                  </a:lnTo>
                  <a:lnTo>
                    <a:pt x="0" y="1112"/>
                  </a:lnTo>
                  <a:cubicBezTo>
                    <a:pt x="0" y="1112"/>
                    <a:pt x="1738" y="2800"/>
                    <a:pt x="3268" y="3350"/>
                  </a:cubicBezTo>
                  <a:cubicBezTo>
                    <a:pt x="3445" y="3414"/>
                    <a:pt x="3615" y="3442"/>
                    <a:pt x="3779" y="3442"/>
                  </a:cubicBezTo>
                  <a:cubicBezTo>
                    <a:pt x="4336" y="3442"/>
                    <a:pt x="4816" y="3119"/>
                    <a:pt x="5180" y="2759"/>
                  </a:cubicBezTo>
                  <a:cubicBezTo>
                    <a:pt x="3275" y="1633"/>
                    <a:pt x="1175" y="1"/>
                    <a:pt x="11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657;p44">
              <a:extLst>
                <a:ext uri="{FF2B5EF4-FFF2-40B4-BE49-F238E27FC236}">
                  <a16:creationId xmlns:a16="http://schemas.microsoft.com/office/drawing/2014/main" id="{8C759356-3E15-47A7-8DC1-C902134B7FF0}"/>
                </a:ext>
              </a:extLst>
            </p:cNvPr>
            <p:cNvSpPr/>
            <p:nvPr/>
          </p:nvSpPr>
          <p:spPr>
            <a:xfrm>
              <a:off x="879265" y="4694508"/>
              <a:ext cx="85729" cy="59177"/>
            </a:xfrm>
            <a:custGeom>
              <a:avLst/>
              <a:gdLst/>
              <a:ahLst/>
              <a:cxnLst/>
              <a:rect l="l" t="t" r="r" b="b"/>
              <a:pathLst>
                <a:path w="5815" h="4014" extrusionOk="0">
                  <a:moveTo>
                    <a:pt x="1393" y="583"/>
                  </a:moveTo>
                  <a:cubicBezTo>
                    <a:pt x="1792" y="888"/>
                    <a:pt x="3423" y="2120"/>
                    <a:pt x="4999" y="3089"/>
                  </a:cubicBezTo>
                  <a:cubicBezTo>
                    <a:pt x="4691" y="3324"/>
                    <a:pt x="4383" y="3441"/>
                    <a:pt x="4079" y="3441"/>
                  </a:cubicBezTo>
                  <a:cubicBezTo>
                    <a:pt x="3940" y="3441"/>
                    <a:pt x="3802" y="3417"/>
                    <a:pt x="3665" y="3368"/>
                  </a:cubicBezTo>
                  <a:cubicBezTo>
                    <a:pt x="2433" y="2925"/>
                    <a:pt x="1029" y="1683"/>
                    <a:pt x="619" y="1305"/>
                  </a:cubicBezTo>
                  <a:lnTo>
                    <a:pt x="780" y="649"/>
                  </a:lnTo>
                  <a:lnTo>
                    <a:pt x="1393" y="583"/>
                  </a:lnTo>
                  <a:close/>
                  <a:moveTo>
                    <a:pt x="1472" y="1"/>
                  </a:moveTo>
                  <a:cubicBezTo>
                    <a:pt x="1463" y="1"/>
                    <a:pt x="1454" y="1"/>
                    <a:pt x="1445" y="2"/>
                  </a:cubicBezTo>
                  <a:lnTo>
                    <a:pt x="519" y="102"/>
                  </a:lnTo>
                  <a:cubicBezTo>
                    <a:pt x="399" y="114"/>
                    <a:pt x="300" y="201"/>
                    <a:pt x="272" y="317"/>
                  </a:cubicBezTo>
                  <a:lnTo>
                    <a:pt x="24" y="1330"/>
                  </a:lnTo>
                  <a:cubicBezTo>
                    <a:pt x="0" y="1428"/>
                    <a:pt x="30" y="1532"/>
                    <a:pt x="103" y="1602"/>
                  </a:cubicBezTo>
                  <a:cubicBezTo>
                    <a:pt x="175" y="1673"/>
                    <a:pt x="1902" y="3341"/>
                    <a:pt x="3473" y="3905"/>
                  </a:cubicBezTo>
                  <a:cubicBezTo>
                    <a:pt x="3667" y="3976"/>
                    <a:pt x="3873" y="4013"/>
                    <a:pt x="4080" y="4014"/>
                  </a:cubicBezTo>
                  <a:cubicBezTo>
                    <a:pt x="4626" y="4014"/>
                    <a:pt x="5170" y="3755"/>
                    <a:pt x="5682" y="3247"/>
                  </a:cubicBezTo>
                  <a:cubicBezTo>
                    <a:pt x="5814" y="3116"/>
                    <a:pt x="5787" y="2894"/>
                    <a:pt x="5625" y="2799"/>
                  </a:cubicBezTo>
                  <a:cubicBezTo>
                    <a:pt x="3760" y="1695"/>
                    <a:pt x="1671" y="77"/>
                    <a:pt x="1651" y="61"/>
                  </a:cubicBezTo>
                  <a:cubicBezTo>
                    <a:pt x="1599" y="22"/>
                    <a:pt x="1536" y="1"/>
                    <a:pt x="14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658;p44">
              <a:extLst>
                <a:ext uri="{FF2B5EF4-FFF2-40B4-BE49-F238E27FC236}">
                  <a16:creationId xmlns:a16="http://schemas.microsoft.com/office/drawing/2014/main" id="{C2169B74-6EDA-413D-8058-E8CA5CB0892B}"/>
                </a:ext>
              </a:extLst>
            </p:cNvPr>
            <p:cNvSpPr/>
            <p:nvPr/>
          </p:nvSpPr>
          <p:spPr>
            <a:xfrm>
              <a:off x="780754" y="4770757"/>
              <a:ext cx="289945" cy="45909"/>
            </a:xfrm>
            <a:custGeom>
              <a:avLst/>
              <a:gdLst/>
              <a:ahLst/>
              <a:cxnLst/>
              <a:rect l="l" t="t" r="r" b="b"/>
              <a:pathLst>
                <a:path w="19667" h="3114" extrusionOk="0">
                  <a:moveTo>
                    <a:pt x="19655" y="1"/>
                  </a:moveTo>
                  <a:lnTo>
                    <a:pt x="19655" y="1"/>
                  </a:lnTo>
                  <a:cubicBezTo>
                    <a:pt x="19010" y="364"/>
                    <a:pt x="17816" y="950"/>
                    <a:pt x="16098" y="1427"/>
                  </a:cubicBezTo>
                  <a:cubicBezTo>
                    <a:pt x="15225" y="1670"/>
                    <a:pt x="14275" y="1765"/>
                    <a:pt x="13244" y="1765"/>
                  </a:cubicBezTo>
                  <a:cubicBezTo>
                    <a:pt x="11086" y="1765"/>
                    <a:pt x="8574" y="1349"/>
                    <a:pt x="5671" y="1003"/>
                  </a:cubicBezTo>
                  <a:cubicBezTo>
                    <a:pt x="3774" y="778"/>
                    <a:pt x="2218" y="715"/>
                    <a:pt x="1070" y="715"/>
                  </a:cubicBezTo>
                  <a:cubicBezTo>
                    <a:pt x="661" y="715"/>
                    <a:pt x="303" y="723"/>
                    <a:pt x="1" y="734"/>
                  </a:cubicBezTo>
                  <a:cubicBezTo>
                    <a:pt x="25" y="853"/>
                    <a:pt x="59" y="969"/>
                    <a:pt x="104" y="1082"/>
                  </a:cubicBezTo>
                  <a:cubicBezTo>
                    <a:pt x="565" y="2188"/>
                    <a:pt x="1358" y="2336"/>
                    <a:pt x="2497" y="2336"/>
                  </a:cubicBezTo>
                  <a:cubicBezTo>
                    <a:pt x="2820" y="2336"/>
                    <a:pt x="3170" y="2324"/>
                    <a:pt x="3548" y="2318"/>
                  </a:cubicBezTo>
                  <a:cubicBezTo>
                    <a:pt x="3565" y="2318"/>
                    <a:pt x="3583" y="2318"/>
                    <a:pt x="3602" y="2318"/>
                  </a:cubicBezTo>
                  <a:cubicBezTo>
                    <a:pt x="5124" y="2318"/>
                    <a:pt x="10957" y="3113"/>
                    <a:pt x="13990" y="3113"/>
                  </a:cubicBezTo>
                  <a:cubicBezTo>
                    <a:pt x="14590" y="3113"/>
                    <a:pt x="15081" y="3082"/>
                    <a:pt x="15407" y="3008"/>
                  </a:cubicBezTo>
                  <a:cubicBezTo>
                    <a:pt x="17398" y="2551"/>
                    <a:pt x="19384" y="1666"/>
                    <a:pt x="19650" y="235"/>
                  </a:cubicBezTo>
                  <a:cubicBezTo>
                    <a:pt x="19665" y="158"/>
                    <a:pt x="19666" y="79"/>
                    <a:pt x="196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659;p44">
              <a:extLst>
                <a:ext uri="{FF2B5EF4-FFF2-40B4-BE49-F238E27FC236}">
                  <a16:creationId xmlns:a16="http://schemas.microsoft.com/office/drawing/2014/main" id="{0FAB2518-5419-4104-A9C9-F85617F055C3}"/>
                </a:ext>
              </a:extLst>
            </p:cNvPr>
            <p:cNvSpPr/>
            <p:nvPr/>
          </p:nvSpPr>
          <p:spPr>
            <a:xfrm>
              <a:off x="776081" y="4766541"/>
              <a:ext cx="298864" cy="54312"/>
            </a:xfrm>
            <a:custGeom>
              <a:avLst/>
              <a:gdLst/>
              <a:ahLst/>
              <a:cxnLst/>
              <a:rect l="l" t="t" r="r" b="b"/>
              <a:pathLst>
                <a:path w="20272" h="3684" extrusionOk="0">
                  <a:moveTo>
                    <a:pt x="19574" y="820"/>
                  </a:moveTo>
                  <a:lnTo>
                    <a:pt x="19574" y="820"/>
                  </a:lnTo>
                  <a:cubicBezTo>
                    <a:pt x="19151" y="1748"/>
                    <a:pt x="17759" y="2535"/>
                    <a:pt x="15659" y="3015"/>
                  </a:cubicBezTo>
                  <a:cubicBezTo>
                    <a:pt x="15356" y="3085"/>
                    <a:pt x="14892" y="3114"/>
                    <a:pt x="14321" y="3114"/>
                  </a:cubicBezTo>
                  <a:cubicBezTo>
                    <a:pt x="12548" y="3114"/>
                    <a:pt x="9748" y="2834"/>
                    <a:pt x="7558" y="2616"/>
                  </a:cubicBezTo>
                  <a:cubicBezTo>
                    <a:pt x="5956" y="2457"/>
                    <a:pt x="4565" y="2318"/>
                    <a:pt x="3917" y="2318"/>
                  </a:cubicBezTo>
                  <a:lnTo>
                    <a:pt x="3861" y="2318"/>
                  </a:lnTo>
                  <a:lnTo>
                    <a:pt x="3432" y="2327"/>
                  </a:lnTo>
                  <a:cubicBezTo>
                    <a:pt x="3221" y="2332"/>
                    <a:pt x="3026" y="2335"/>
                    <a:pt x="2844" y="2335"/>
                  </a:cubicBezTo>
                  <a:cubicBezTo>
                    <a:pt x="1680" y="2335"/>
                    <a:pt x="1089" y="2191"/>
                    <a:pt x="700" y="1294"/>
                  </a:cubicBezTo>
                  <a:cubicBezTo>
                    <a:pt x="914" y="1289"/>
                    <a:pt x="1148" y="1286"/>
                    <a:pt x="1400" y="1286"/>
                  </a:cubicBezTo>
                  <a:cubicBezTo>
                    <a:pt x="2548" y="1286"/>
                    <a:pt x="4088" y="1351"/>
                    <a:pt x="5955" y="1573"/>
                  </a:cubicBezTo>
                  <a:cubicBezTo>
                    <a:pt x="6670" y="1657"/>
                    <a:pt x="7361" y="1748"/>
                    <a:pt x="8030" y="1834"/>
                  </a:cubicBezTo>
                  <a:cubicBezTo>
                    <a:pt x="10050" y="2094"/>
                    <a:pt x="11901" y="2334"/>
                    <a:pt x="13563" y="2334"/>
                  </a:cubicBezTo>
                  <a:cubicBezTo>
                    <a:pt x="14618" y="2334"/>
                    <a:pt x="15596" y="2237"/>
                    <a:pt x="16492" y="1988"/>
                  </a:cubicBezTo>
                  <a:cubicBezTo>
                    <a:pt x="17825" y="1617"/>
                    <a:pt x="18851" y="1183"/>
                    <a:pt x="19574" y="820"/>
                  </a:cubicBezTo>
                  <a:close/>
                  <a:moveTo>
                    <a:pt x="19972" y="1"/>
                  </a:moveTo>
                  <a:cubicBezTo>
                    <a:pt x="19925" y="1"/>
                    <a:pt x="19877" y="12"/>
                    <a:pt x="19832" y="38"/>
                  </a:cubicBezTo>
                  <a:cubicBezTo>
                    <a:pt x="19149" y="424"/>
                    <a:pt x="17990" y="979"/>
                    <a:pt x="16339" y="1439"/>
                  </a:cubicBezTo>
                  <a:cubicBezTo>
                    <a:pt x="15489" y="1675"/>
                    <a:pt x="14569" y="1768"/>
                    <a:pt x="13564" y="1768"/>
                  </a:cubicBezTo>
                  <a:cubicBezTo>
                    <a:pt x="11973" y="1768"/>
                    <a:pt x="10171" y="1535"/>
                    <a:pt x="8103" y="1267"/>
                  </a:cubicBezTo>
                  <a:cubicBezTo>
                    <a:pt x="7433" y="1181"/>
                    <a:pt x="6739" y="1091"/>
                    <a:pt x="6022" y="1006"/>
                  </a:cubicBezTo>
                  <a:cubicBezTo>
                    <a:pt x="4119" y="780"/>
                    <a:pt x="2551" y="715"/>
                    <a:pt x="1381" y="715"/>
                  </a:cubicBezTo>
                  <a:cubicBezTo>
                    <a:pt x="974" y="715"/>
                    <a:pt x="615" y="723"/>
                    <a:pt x="307" y="735"/>
                  </a:cubicBezTo>
                  <a:cubicBezTo>
                    <a:pt x="130" y="741"/>
                    <a:pt x="0" y="907"/>
                    <a:pt x="39" y="1081"/>
                  </a:cubicBezTo>
                  <a:cubicBezTo>
                    <a:pt x="68" y="1217"/>
                    <a:pt x="107" y="1350"/>
                    <a:pt x="158" y="1478"/>
                  </a:cubicBezTo>
                  <a:cubicBezTo>
                    <a:pt x="682" y="2737"/>
                    <a:pt x="1616" y="2907"/>
                    <a:pt x="2805" y="2907"/>
                  </a:cubicBezTo>
                  <a:cubicBezTo>
                    <a:pt x="3011" y="2907"/>
                    <a:pt x="3225" y="2902"/>
                    <a:pt x="3445" y="2897"/>
                  </a:cubicBezTo>
                  <a:lnTo>
                    <a:pt x="3869" y="2889"/>
                  </a:lnTo>
                  <a:cubicBezTo>
                    <a:pt x="4468" y="2894"/>
                    <a:pt x="5869" y="3022"/>
                    <a:pt x="7502" y="3185"/>
                  </a:cubicBezTo>
                  <a:cubicBezTo>
                    <a:pt x="9797" y="3413"/>
                    <a:pt x="12508" y="3684"/>
                    <a:pt x="14302" y="3684"/>
                  </a:cubicBezTo>
                  <a:cubicBezTo>
                    <a:pt x="14928" y="3684"/>
                    <a:pt x="15442" y="3650"/>
                    <a:pt x="15788" y="3572"/>
                  </a:cubicBezTo>
                  <a:cubicBezTo>
                    <a:pt x="17311" y="3223"/>
                    <a:pt x="19916" y="2370"/>
                    <a:pt x="20248" y="573"/>
                  </a:cubicBezTo>
                  <a:cubicBezTo>
                    <a:pt x="20269" y="464"/>
                    <a:pt x="20271" y="353"/>
                    <a:pt x="20254" y="243"/>
                  </a:cubicBezTo>
                  <a:cubicBezTo>
                    <a:pt x="20232" y="96"/>
                    <a:pt x="20106" y="1"/>
                    <a:pt x="199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660;p44">
              <a:extLst>
                <a:ext uri="{FF2B5EF4-FFF2-40B4-BE49-F238E27FC236}">
                  <a16:creationId xmlns:a16="http://schemas.microsoft.com/office/drawing/2014/main" id="{089266D9-83CE-4FCA-A8DD-EEEBFF90F27C}"/>
                </a:ext>
              </a:extLst>
            </p:cNvPr>
            <p:cNvSpPr/>
            <p:nvPr/>
          </p:nvSpPr>
          <p:spPr>
            <a:xfrm>
              <a:off x="543101" y="3520738"/>
              <a:ext cx="432006" cy="1190798"/>
            </a:xfrm>
            <a:custGeom>
              <a:avLst/>
              <a:gdLst/>
              <a:ahLst/>
              <a:cxnLst/>
              <a:rect l="l" t="t" r="r" b="b"/>
              <a:pathLst>
                <a:path w="29303" h="80772" extrusionOk="0">
                  <a:moveTo>
                    <a:pt x="1166" y="0"/>
                  </a:moveTo>
                  <a:cubicBezTo>
                    <a:pt x="1166" y="0"/>
                    <a:pt x="1076" y="13849"/>
                    <a:pt x="1007" y="19132"/>
                  </a:cubicBezTo>
                  <a:cubicBezTo>
                    <a:pt x="940" y="24415"/>
                    <a:pt x="2288" y="43816"/>
                    <a:pt x="2012" y="44535"/>
                  </a:cubicBezTo>
                  <a:cubicBezTo>
                    <a:pt x="1737" y="45252"/>
                    <a:pt x="1" y="57928"/>
                    <a:pt x="902" y="61056"/>
                  </a:cubicBezTo>
                  <a:cubicBezTo>
                    <a:pt x="1802" y="64184"/>
                    <a:pt x="3304" y="80772"/>
                    <a:pt x="3304" y="80772"/>
                  </a:cubicBezTo>
                  <a:lnTo>
                    <a:pt x="10439" y="80528"/>
                  </a:lnTo>
                  <a:cubicBezTo>
                    <a:pt x="10439" y="80528"/>
                    <a:pt x="11241" y="56390"/>
                    <a:pt x="12072" y="54665"/>
                  </a:cubicBezTo>
                  <a:cubicBezTo>
                    <a:pt x="12905" y="52941"/>
                    <a:pt x="13214" y="44513"/>
                    <a:pt x="13608" y="42081"/>
                  </a:cubicBezTo>
                  <a:cubicBezTo>
                    <a:pt x="14002" y="39648"/>
                    <a:pt x="15785" y="24348"/>
                    <a:pt x="15785" y="24348"/>
                  </a:cubicBezTo>
                  <a:cubicBezTo>
                    <a:pt x="15785" y="24348"/>
                    <a:pt x="18043" y="42732"/>
                    <a:pt x="17681" y="47448"/>
                  </a:cubicBezTo>
                  <a:cubicBezTo>
                    <a:pt x="17320" y="52163"/>
                    <a:pt x="15241" y="56618"/>
                    <a:pt x="15871" y="60750"/>
                  </a:cubicBezTo>
                  <a:cubicBezTo>
                    <a:pt x="16500" y="64881"/>
                    <a:pt x="16581" y="80726"/>
                    <a:pt x="16581" y="80726"/>
                  </a:cubicBezTo>
                  <a:lnTo>
                    <a:pt x="23688" y="78628"/>
                  </a:lnTo>
                  <a:cubicBezTo>
                    <a:pt x="23688" y="78628"/>
                    <a:pt x="25156" y="71326"/>
                    <a:pt x="25134" y="69756"/>
                  </a:cubicBezTo>
                  <a:cubicBezTo>
                    <a:pt x="25111" y="68186"/>
                    <a:pt x="24921" y="64762"/>
                    <a:pt x="25178" y="62760"/>
                  </a:cubicBezTo>
                  <a:cubicBezTo>
                    <a:pt x="25435" y="60758"/>
                    <a:pt x="29072" y="45288"/>
                    <a:pt x="29150" y="40719"/>
                  </a:cubicBezTo>
                  <a:cubicBezTo>
                    <a:pt x="29228" y="36150"/>
                    <a:pt x="29302" y="888"/>
                    <a:pt x="29302" y="887"/>
                  </a:cubicBezTo>
                  <a:lnTo>
                    <a:pt x="29302" y="887"/>
                  </a:lnTo>
                  <a:cubicBezTo>
                    <a:pt x="29302" y="887"/>
                    <a:pt x="23480" y="2458"/>
                    <a:pt x="15937" y="2458"/>
                  </a:cubicBezTo>
                  <a:cubicBezTo>
                    <a:pt x="11343" y="2458"/>
                    <a:pt x="6110" y="1876"/>
                    <a:pt x="11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661;p44">
              <a:extLst>
                <a:ext uri="{FF2B5EF4-FFF2-40B4-BE49-F238E27FC236}">
                  <a16:creationId xmlns:a16="http://schemas.microsoft.com/office/drawing/2014/main" id="{EEBF5B1C-BF90-45FD-A524-8CCAA2AA2F5C}"/>
                </a:ext>
              </a:extLst>
            </p:cNvPr>
            <p:cNvSpPr/>
            <p:nvPr/>
          </p:nvSpPr>
          <p:spPr>
            <a:xfrm>
              <a:off x="538708" y="3516506"/>
              <a:ext cx="440601" cy="1199246"/>
            </a:xfrm>
            <a:custGeom>
              <a:avLst/>
              <a:gdLst/>
              <a:ahLst/>
              <a:cxnLst/>
              <a:rect l="l" t="t" r="r" b="b"/>
              <a:pathLst>
                <a:path w="29886" h="81345" extrusionOk="0">
                  <a:moveTo>
                    <a:pt x="1747" y="697"/>
                  </a:moveTo>
                  <a:cubicBezTo>
                    <a:pt x="6586" y="2462"/>
                    <a:pt x="11700" y="3016"/>
                    <a:pt x="16210" y="3016"/>
                  </a:cubicBezTo>
                  <a:cubicBezTo>
                    <a:pt x="22690" y="3016"/>
                    <a:pt x="27925" y="1873"/>
                    <a:pt x="29313" y="1539"/>
                  </a:cubicBezTo>
                  <a:lnTo>
                    <a:pt x="29313" y="1539"/>
                  </a:lnTo>
                  <a:cubicBezTo>
                    <a:pt x="29305" y="5306"/>
                    <a:pt x="29235" y="36737"/>
                    <a:pt x="29161" y="41001"/>
                  </a:cubicBezTo>
                  <a:cubicBezTo>
                    <a:pt x="29108" y="44166"/>
                    <a:pt x="27334" y="52597"/>
                    <a:pt x="26160" y="58176"/>
                  </a:cubicBezTo>
                  <a:cubicBezTo>
                    <a:pt x="25643" y="60626"/>
                    <a:pt x="25271" y="62396"/>
                    <a:pt x="25192" y="63011"/>
                  </a:cubicBezTo>
                  <a:cubicBezTo>
                    <a:pt x="24988" y="64598"/>
                    <a:pt x="25060" y="67022"/>
                    <a:pt x="25114" y="68793"/>
                  </a:cubicBezTo>
                  <a:cubicBezTo>
                    <a:pt x="25128" y="69276"/>
                    <a:pt x="25141" y="69705"/>
                    <a:pt x="25146" y="70047"/>
                  </a:cubicBezTo>
                  <a:cubicBezTo>
                    <a:pt x="25166" y="71437"/>
                    <a:pt x="23958" y="77587"/>
                    <a:pt x="23740" y="78690"/>
                  </a:cubicBezTo>
                  <a:lnTo>
                    <a:pt x="17161" y="80631"/>
                  </a:lnTo>
                  <a:cubicBezTo>
                    <a:pt x="17144" y="78143"/>
                    <a:pt x="17029" y="64792"/>
                    <a:pt x="16450" y="60994"/>
                  </a:cubicBezTo>
                  <a:cubicBezTo>
                    <a:pt x="16082" y="58580"/>
                    <a:pt x="16661" y="56048"/>
                    <a:pt x="17273" y="53366"/>
                  </a:cubicBezTo>
                  <a:cubicBezTo>
                    <a:pt x="17687" y="51552"/>
                    <a:pt x="18116" y="49677"/>
                    <a:pt x="18264" y="47756"/>
                  </a:cubicBezTo>
                  <a:cubicBezTo>
                    <a:pt x="18623" y="43066"/>
                    <a:pt x="16458" y="25351"/>
                    <a:pt x="16365" y="24600"/>
                  </a:cubicBezTo>
                  <a:cubicBezTo>
                    <a:pt x="16348" y="24456"/>
                    <a:pt x="16226" y="24349"/>
                    <a:pt x="16083" y="24349"/>
                  </a:cubicBezTo>
                  <a:lnTo>
                    <a:pt x="16082" y="24349"/>
                  </a:lnTo>
                  <a:cubicBezTo>
                    <a:pt x="15937" y="24349"/>
                    <a:pt x="15815" y="24458"/>
                    <a:pt x="15799" y="24601"/>
                  </a:cubicBezTo>
                  <a:cubicBezTo>
                    <a:pt x="15782" y="24754"/>
                    <a:pt x="14013" y="39924"/>
                    <a:pt x="13625" y="42321"/>
                  </a:cubicBezTo>
                  <a:cubicBezTo>
                    <a:pt x="13486" y="43180"/>
                    <a:pt x="13361" y="44734"/>
                    <a:pt x="13215" y="46532"/>
                  </a:cubicBezTo>
                  <a:cubicBezTo>
                    <a:pt x="12956" y="49749"/>
                    <a:pt x="12633" y="53752"/>
                    <a:pt x="12114" y="54828"/>
                  </a:cubicBezTo>
                  <a:cubicBezTo>
                    <a:pt x="11303" y="56508"/>
                    <a:pt x="10556" y="77760"/>
                    <a:pt x="10460" y="80539"/>
                  </a:cubicBezTo>
                  <a:lnTo>
                    <a:pt x="3862" y="80764"/>
                  </a:lnTo>
                  <a:cubicBezTo>
                    <a:pt x="3658" y="78536"/>
                    <a:pt x="2320" y="64201"/>
                    <a:pt x="1474" y="61264"/>
                  </a:cubicBezTo>
                  <a:cubicBezTo>
                    <a:pt x="606" y="58248"/>
                    <a:pt x="2276" y="45709"/>
                    <a:pt x="2576" y="44923"/>
                  </a:cubicBezTo>
                  <a:cubicBezTo>
                    <a:pt x="2719" y="44553"/>
                    <a:pt x="2576" y="41541"/>
                    <a:pt x="2192" y="34234"/>
                  </a:cubicBezTo>
                  <a:cubicBezTo>
                    <a:pt x="1895" y="28556"/>
                    <a:pt x="1556" y="22120"/>
                    <a:pt x="1591" y="19423"/>
                  </a:cubicBezTo>
                  <a:cubicBezTo>
                    <a:pt x="1652" y="14708"/>
                    <a:pt x="1731" y="3030"/>
                    <a:pt x="1747" y="697"/>
                  </a:cubicBezTo>
                  <a:close/>
                  <a:moveTo>
                    <a:pt x="1464" y="1"/>
                  </a:moveTo>
                  <a:cubicBezTo>
                    <a:pt x="1313" y="1"/>
                    <a:pt x="1179" y="122"/>
                    <a:pt x="1178" y="286"/>
                  </a:cubicBezTo>
                  <a:cubicBezTo>
                    <a:pt x="1178" y="424"/>
                    <a:pt x="1088" y="14193"/>
                    <a:pt x="1021" y="19415"/>
                  </a:cubicBezTo>
                  <a:cubicBezTo>
                    <a:pt x="985" y="22131"/>
                    <a:pt x="1324" y="28577"/>
                    <a:pt x="1623" y="34264"/>
                  </a:cubicBezTo>
                  <a:cubicBezTo>
                    <a:pt x="1880" y="39188"/>
                    <a:pt x="2149" y="44279"/>
                    <a:pt x="2044" y="44719"/>
                  </a:cubicBezTo>
                  <a:cubicBezTo>
                    <a:pt x="1734" y="45529"/>
                    <a:pt x="1" y="58213"/>
                    <a:pt x="925" y="61423"/>
                  </a:cubicBezTo>
                  <a:cubicBezTo>
                    <a:pt x="1809" y="64488"/>
                    <a:pt x="3303" y="80918"/>
                    <a:pt x="3318" y="81084"/>
                  </a:cubicBezTo>
                  <a:cubicBezTo>
                    <a:pt x="3332" y="81230"/>
                    <a:pt x="3455" y="81343"/>
                    <a:pt x="3602" y="81343"/>
                  </a:cubicBezTo>
                  <a:lnTo>
                    <a:pt x="3611" y="81344"/>
                  </a:lnTo>
                  <a:lnTo>
                    <a:pt x="10746" y="81101"/>
                  </a:lnTo>
                  <a:cubicBezTo>
                    <a:pt x="10896" y="81095"/>
                    <a:pt x="11017" y="80975"/>
                    <a:pt x="11021" y="80825"/>
                  </a:cubicBezTo>
                  <a:cubicBezTo>
                    <a:pt x="11244" y="74128"/>
                    <a:pt x="11966" y="56448"/>
                    <a:pt x="12627" y="55077"/>
                  </a:cubicBezTo>
                  <a:cubicBezTo>
                    <a:pt x="13193" y="53905"/>
                    <a:pt x="13507" y="50013"/>
                    <a:pt x="13784" y="46579"/>
                  </a:cubicBezTo>
                  <a:cubicBezTo>
                    <a:pt x="13928" y="44793"/>
                    <a:pt x="14052" y="43250"/>
                    <a:pt x="14188" y="42414"/>
                  </a:cubicBezTo>
                  <a:cubicBezTo>
                    <a:pt x="14483" y="40594"/>
                    <a:pt x="15564" y="31492"/>
                    <a:pt x="16084" y="27078"/>
                  </a:cubicBezTo>
                  <a:cubicBezTo>
                    <a:pt x="16677" y="32220"/>
                    <a:pt x="17971" y="44100"/>
                    <a:pt x="17694" y="47714"/>
                  </a:cubicBezTo>
                  <a:cubicBezTo>
                    <a:pt x="17549" y="49592"/>
                    <a:pt x="17126" y="51446"/>
                    <a:pt x="16717" y="53240"/>
                  </a:cubicBezTo>
                  <a:cubicBezTo>
                    <a:pt x="16092" y="55975"/>
                    <a:pt x="15501" y="58560"/>
                    <a:pt x="15886" y="61080"/>
                  </a:cubicBezTo>
                  <a:cubicBezTo>
                    <a:pt x="16505" y="65144"/>
                    <a:pt x="16592" y="80856"/>
                    <a:pt x="16593" y="81015"/>
                  </a:cubicBezTo>
                  <a:cubicBezTo>
                    <a:pt x="16594" y="81177"/>
                    <a:pt x="16725" y="81299"/>
                    <a:pt x="16877" y="81299"/>
                  </a:cubicBezTo>
                  <a:cubicBezTo>
                    <a:pt x="16904" y="81299"/>
                    <a:pt x="16931" y="81295"/>
                    <a:pt x="16959" y="81287"/>
                  </a:cubicBezTo>
                  <a:lnTo>
                    <a:pt x="24068" y="79188"/>
                  </a:lnTo>
                  <a:cubicBezTo>
                    <a:pt x="24169" y="79158"/>
                    <a:pt x="24246" y="79074"/>
                    <a:pt x="24267" y="78970"/>
                  </a:cubicBezTo>
                  <a:cubicBezTo>
                    <a:pt x="24327" y="78671"/>
                    <a:pt x="25740" y="71621"/>
                    <a:pt x="25717" y="70039"/>
                  </a:cubicBezTo>
                  <a:cubicBezTo>
                    <a:pt x="25713" y="69695"/>
                    <a:pt x="25700" y="69263"/>
                    <a:pt x="25686" y="68776"/>
                  </a:cubicBezTo>
                  <a:cubicBezTo>
                    <a:pt x="25632" y="67025"/>
                    <a:pt x="25561" y="64626"/>
                    <a:pt x="25759" y="63084"/>
                  </a:cubicBezTo>
                  <a:cubicBezTo>
                    <a:pt x="25836" y="62491"/>
                    <a:pt x="26225" y="60639"/>
                    <a:pt x="26718" y="58294"/>
                  </a:cubicBezTo>
                  <a:cubicBezTo>
                    <a:pt x="27898" y="52695"/>
                    <a:pt x="29678" y="44232"/>
                    <a:pt x="29733" y="41011"/>
                  </a:cubicBezTo>
                  <a:cubicBezTo>
                    <a:pt x="29811" y="36492"/>
                    <a:pt x="29885" y="1529"/>
                    <a:pt x="29885" y="1175"/>
                  </a:cubicBezTo>
                  <a:cubicBezTo>
                    <a:pt x="29885" y="1086"/>
                    <a:pt x="29844" y="1002"/>
                    <a:pt x="29774" y="948"/>
                  </a:cubicBezTo>
                  <a:cubicBezTo>
                    <a:pt x="29724" y="909"/>
                    <a:pt x="29663" y="889"/>
                    <a:pt x="29601" y="889"/>
                  </a:cubicBezTo>
                  <a:cubicBezTo>
                    <a:pt x="29575" y="889"/>
                    <a:pt x="29550" y="892"/>
                    <a:pt x="29525" y="899"/>
                  </a:cubicBezTo>
                  <a:cubicBezTo>
                    <a:pt x="29433" y="925"/>
                    <a:pt x="23650" y="2448"/>
                    <a:pt x="16214" y="2448"/>
                  </a:cubicBezTo>
                  <a:cubicBezTo>
                    <a:pt x="11643" y="2448"/>
                    <a:pt x="6448" y="1872"/>
                    <a:pt x="1565" y="20"/>
                  </a:cubicBezTo>
                  <a:cubicBezTo>
                    <a:pt x="1531" y="7"/>
                    <a:pt x="1497" y="1"/>
                    <a:pt x="146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662;p44">
              <a:extLst>
                <a:ext uri="{FF2B5EF4-FFF2-40B4-BE49-F238E27FC236}">
                  <a16:creationId xmlns:a16="http://schemas.microsoft.com/office/drawing/2014/main" id="{B238D7EF-A209-4091-B619-B5F9AC76923A}"/>
                </a:ext>
              </a:extLst>
            </p:cNvPr>
            <p:cNvSpPr/>
            <p:nvPr/>
          </p:nvSpPr>
          <p:spPr>
            <a:xfrm>
              <a:off x="559805" y="3520738"/>
              <a:ext cx="416438" cy="128158"/>
            </a:xfrm>
            <a:custGeom>
              <a:avLst/>
              <a:gdLst/>
              <a:ahLst/>
              <a:cxnLst/>
              <a:rect l="l" t="t" r="r" b="b"/>
              <a:pathLst>
                <a:path w="28247" h="8693" extrusionOk="0">
                  <a:moveTo>
                    <a:pt x="33" y="0"/>
                  </a:moveTo>
                  <a:cubicBezTo>
                    <a:pt x="33" y="0"/>
                    <a:pt x="20" y="1942"/>
                    <a:pt x="0" y="4649"/>
                  </a:cubicBezTo>
                  <a:cubicBezTo>
                    <a:pt x="1419" y="5975"/>
                    <a:pt x="4490" y="7633"/>
                    <a:pt x="11144" y="8409"/>
                  </a:cubicBezTo>
                  <a:cubicBezTo>
                    <a:pt x="12845" y="8608"/>
                    <a:pt x="14454" y="8693"/>
                    <a:pt x="15961" y="8693"/>
                  </a:cubicBezTo>
                  <a:cubicBezTo>
                    <a:pt x="21613" y="8693"/>
                    <a:pt x="25842" y="7495"/>
                    <a:pt x="28247" y="6583"/>
                  </a:cubicBezTo>
                  <a:cubicBezTo>
                    <a:pt x="28211" y="3887"/>
                    <a:pt x="28183" y="1924"/>
                    <a:pt x="28174" y="1199"/>
                  </a:cubicBezTo>
                  <a:cubicBezTo>
                    <a:pt x="27840" y="1184"/>
                    <a:pt x="27472" y="1167"/>
                    <a:pt x="27072" y="1148"/>
                  </a:cubicBezTo>
                  <a:cubicBezTo>
                    <a:pt x="25046" y="1595"/>
                    <a:pt x="20400" y="2459"/>
                    <a:pt x="14805" y="2459"/>
                  </a:cubicBezTo>
                  <a:cubicBezTo>
                    <a:pt x="10211" y="2459"/>
                    <a:pt x="4978" y="1876"/>
                    <a:pt x="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663;p44">
              <a:extLst>
                <a:ext uri="{FF2B5EF4-FFF2-40B4-BE49-F238E27FC236}">
                  <a16:creationId xmlns:a16="http://schemas.microsoft.com/office/drawing/2014/main" id="{D7CA81A0-477F-4E5F-97B4-7378221FD272}"/>
                </a:ext>
              </a:extLst>
            </p:cNvPr>
            <p:cNvSpPr/>
            <p:nvPr/>
          </p:nvSpPr>
          <p:spPr>
            <a:xfrm>
              <a:off x="555588" y="3516521"/>
              <a:ext cx="424885" cy="136547"/>
            </a:xfrm>
            <a:custGeom>
              <a:avLst/>
              <a:gdLst/>
              <a:ahLst/>
              <a:cxnLst/>
              <a:rect l="l" t="t" r="r" b="b"/>
              <a:pathLst>
                <a:path w="28820" h="9262" extrusionOk="0">
                  <a:moveTo>
                    <a:pt x="602" y="696"/>
                  </a:moveTo>
                  <a:cubicBezTo>
                    <a:pt x="5463" y="2470"/>
                    <a:pt x="10586" y="3024"/>
                    <a:pt x="15094" y="3024"/>
                  </a:cubicBezTo>
                  <a:cubicBezTo>
                    <a:pt x="20722" y="3024"/>
                    <a:pt x="25389" y="2159"/>
                    <a:pt x="27383" y="1722"/>
                  </a:cubicBezTo>
                  <a:lnTo>
                    <a:pt x="28177" y="1758"/>
                  </a:lnTo>
                  <a:lnTo>
                    <a:pt x="28244" y="6672"/>
                  </a:lnTo>
                  <a:cubicBezTo>
                    <a:pt x="25941" y="7525"/>
                    <a:pt x="21776" y="8691"/>
                    <a:pt x="16220" y="8691"/>
                  </a:cubicBezTo>
                  <a:cubicBezTo>
                    <a:pt x="14732" y="8691"/>
                    <a:pt x="13143" y="8607"/>
                    <a:pt x="11463" y="8411"/>
                  </a:cubicBezTo>
                  <a:cubicBezTo>
                    <a:pt x="4962" y="7654"/>
                    <a:pt x="1956" y="6052"/>
                    <a:pt x="573" y="4810"/>
                  </a:cubicBezTo>
                  <a:lnTo>
                    <a:pt x="602" y="696"/>
                  </a:lnTo>
                  <a:close/>
                  <a:moveTo>
                    <a:pt x="319" y="1"/>
                  </a:moveTo>
                  <a:cubicBezTo>
                    <a:pt x="168" y="1"/>
                    <a:pt x="34" y="122"/>
                    <a:pt x="33" y="285"/>
                  </a:cubicBezTo>
                  <a:lnTo>
                    <a:pt x="2" y="4933"/>
                  </a:lnTo>
                  <a:cubicBezTo>
                    <a:pt x="1" y="5012"/>
                    <a:pt x="33" y="5089"/>
                    <a:pt x="92" y="5143"/>
                  </a:cubicBezTo>
                  <a:cubicBezTo>
                    <a:pt x="1495" y="6455"/>
                    <a:pt x="4595" y="8185"/>
                    <a:pt x="11397" y="8979"/>
                  </a:cubicBezTo>
                  <a:cubicBezTo>
                    <a:pt x="12997" y="9166"/>
                    <a:pt x="14607" y="9260"/>
                    <a:pt x="16220" y="9262"/>
                  </a:cubicBezTo>
                  <a:cubicBezTo>
                    <a:pt x="22021" y="9262"/>
                    <a:pt x="26333" y="8009"/>
                    <a:pt x="28634" y="7135"/>
                  </a:cubicBezTo>
                  <a:cubicBezTo>
                    <a:pt x="28746" y="7093"/>
                    <a:pt x="28820" y="6984"/>
                    <a:pt x="28818" y="6864"/>
                  </a:cubicBezTo>
                  <a:lnTo>
                    <a:pt x="28745" y="1482"/>
                  </a:lnTo>
                  <a:cubicBezTo>
                    <a:pt x="28742" y="1331"/>
                    <a:pt x="28623" y="1207"/>
                    <a:pt x="28472" y="1200"/>
                  </a:cubicBezTo>
                  <a:lnTo>
                    <a:pt x="27371" y="1150"/>
                  </a:lnTo>
                  <a:cubicBezTo>
                    <a:pt x="27365" y="1150"/>
                    <a:pt x="27359" y="1150"/>
                    <a:pt x="27352" y="1150"/>
                  </a:cubicBezTo>
                  <a:cubicBezTo>
                    <a:pt x="27334" y="1150"/>
                    <a:pt x="27315" y="1152"/>
                    <a:pt x="27298" y="1156"/>
                  </a:cubicBezTo>
                  <a:cubicBezTo>
                    <a:pt x="25343" y="1586"/>
                    <a:pt x="20695" y="2455"/>
                    <a:pt x="15088" y="2455"/>
                  </a:cubicBezTo>
                  <a:cubicBezTo>
                    <a:pt x="10522" y="2455"/>
                    <a:pt x="5320" y="1878"/>
                    <a:pt x="420" y="20"/>
                  </a:cubicBezTo>
                  <a:cubicBezTo>
                    <a:pt x="386" y="7"/>
                    <a:pt x="352" y="1"/>
                    <a:pt x="31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664;p44">
              <a:extLst>
                <a:ext uri="{FF2B5EF4-FFF2-40B4-BE49-F238E27FC236}">
                  <a16:creationId xmlns:a16="http://schemas.microsoft.com/office/drawing/2014/main" id="{1C244A7F-88D1-4348-BD53-367D1E7B1619}"/>
                </a:ext>
              </a:extLst>
            </p:cNvPr>
            <p:cNvSpPr/>
            <p:nvPr/>
          </p:nvSpPr>
          <p:spPr>
            <a:xfrm>
              <a:off x="955735" y="3024424"/>
              <a:ext cx="120256" cy="482101"/>
            </a:xfrm>
            <a:custGeom>
              <a:avLst/>
              <a:gdLst/>
              <a:ahLst/>
              <a:cxnLst/>
              <a:rect l="l" t="t" r="r" b="b"/>
              <a:pathLst>
                <a:path w="8157" h="32701" extrusionOk="0">
                  <a:moveTo>
                    <a:pt x="1682" y="1"/>
                  </a:moveTo>
                  <a:lnTo>
                    <a:pt x="1682" y="1"/>
                  </a:lnTo>
                  <a:cubicBezTo>
                    <a:pt x="1256" y="150"/>
                    <a:pt x="1751" y="4854"/>
                    <a:pt x="1783" y="7137"/>
                  </a:cubicBezTo>
                  <a:cubicBezTo>
                    <a:pt x="1816" y="9421"/>
                    <a:pt x="607" y="14862"/>
                    <a:pt x="376" y="18720"/>
                  </a:cubicBezTo>
                  <a:cubicBezTo>
                    <a:pt x="145" y="22577"/>
                    <a:pt x="0" y="32573"/>
                    <a:pt x="1572" y="32693"/>
                  </a:cubicBezTo>
                  <a:cubicBezTo>
                    <a:pt x="1633" y="32698"/>
                    <a:pt x="1696" y="32700"/>
                    <a:pt x="1762" y="32700"/>
                  </a:cubicBezTo>
                  <a:cubicBezTo>
                    <a:pt x="3413" y="32700"/>
                    <a:pt x="6719" y="31281"/>
                    <a:pt x="7386" y="29899"/>
                  </a:cubicBezTo>
                  <a:cubicBezTo>
                    <a:pt x="8080" y="28462"/>
                    <a:pt x="6656" y="18631"/>
                    <a:pt x="6644" y="17775"/>
                  </a:cubicBezTo>
                  <a:cubicBezTo>
                    <a:pt x="6632" y="16919"/>
                    <a:pt x="8157" y="3621"/>
                    <a:pt x="7287" y="2634"/>
                  </a:cubicBezTo>
                  <a:cubicBezTo>
                    <a:pt x="6416" y="1647"/>
                    <a:pt x="1682" y="1"/>
                    <a:pt x="168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665;p44">
              <a:extLst>
                <a:ext uri="{FF2B5EF4-FFF2-40B4-BE49-F238E27FC236}">
                  <a16:creationId xmlns:a16="http://schemas.microsoft.com/office/drawing/2014/main" id="{FD2EC9B9-70E7-4147-9548-50C96EC9BE65}"/>
                </a:ext>
              </a:extLst>
            </p:cNvPr>
            <p:cNvSpPr/>
            <p:nvPr/>
          </p:nvSpPr>
          <p:spPr>
            <a:xfrm>
              <a:off x="945003" y="3020223"/>
              <a:ext cx="131063" cy="490490"/>
            </a:xfrm>
            <a:custGeom>
              <a:avLst/>
              <a:gdLst/>
              <a:ahLst/>
              <a:cxnLst/>
              <a:rect l="l" t="t" r="r" b="b"/>
              <a:pathLst>
                <a:path w="8890" h="33270" extrusionOk="0">
                  <a:moveTo>
                    <a:pt x="2559" y="640"/>
                  </a:moveTo>
                  <a:cubicBezTo>
                    <a:pt x="4004" y="1156"/>
                    <a:pt x="7166" y="2387"/>
                    <a:pt x="7800" y="3107"/>
                  </a:cubicBezTo>
                  <a:cubicBezTo>
                    <a:pt x="8380" y="3813"/>
                    <a:pt x="7584" y="12433"/>
                    <a:pt x="7284" y="15680"/>
                  </a:cubicBezTo>
                  <a:cubicBezTo>
                    <a:pt x="7152" y="17104"/>
                    <a:pt x="7083" y="17857"/>
                    <a:pt x="7087" y="18064"/>
                  </a:cubicBezTo>
                  <a:cubicBezTo>
                    <a:pt x="7090" y="18285"/>
                    <a:pt x="7172" y="18987"/>
                    <a:pt x="7295" y="20048"/>
                  </a:cubicBezTo>
                  <a:cubicBezTo>
                    <a:pt x="7637" y="22968"/>
                    <a:pt x="8346" y="29045"/>
                    <a:pt x="7856" y="30059"/>
                  </a:cubicBezTo>
                  <a:cubicBezTo>
                    <a:pt x="7266" y="31282"/>
                    <a:pt x="4112" y="32699"/>
                    <a:pt x="2510" y="32699"/>
                  </a:cubicBezTo>
                  <a:cubicBezTo>
                    <a:pt x="2444" y="32699"/>
                    <a:pt x="2382" y="32697"/>
                    <a:pt x="2322" y="32692"/>
                  </a:cubicBezTo>
                  <a:cubicBezTo>
                    <a:pt x="1339" y="32618"/>
                    <a:pt x="1014" y="25282"/>
                    <a:pt x="1389" y="19021"/>
                  </a:cubicBezTo>
                  <a:cubicBezTo>
                    <a:pt x="1502" y="17134"/>
                    <a:pt x="1859" y="14809"/>
                    <a:pt x="2174" y="12758"/>
                  </a:cubicBezTo>
                  <a:cubicBezTo>
                    <a:pt x="2516" y="10527"/>
                    <a:pt x="2813" y="8600"/>
                    <a:pt x="2796" y="7417"/>
                  </a:cubicBezTo>
                  <a:cubicBezTo>
                    <a:pt x="2786" y="6661"/>
                    <a:pt x="2726" y="5667"/>
                    <a:pt x="2663" y="4616"/>
                  </a:cubicBezTo>
                  <a:cubicBezTo>
                    <a:pt x="2577" y="3174"/>
                    <a:pt x="2462" y="1253"/>
                    <a:pt x="2559" y="640"/>
                  </a:cubicBezTo>
                  <a:close/>
                  <a:moveTo>
                    <a:pt x="2410" y="1"/>
                  </a:moveTo>
                  <a:cubicBezTo>
                    <a:pt x="2378" y="1"/>
                    <a:pt x="2347" y="6"/>
                    <a:pt x="2316" y="16"/>
                  </a:cubicBezTo>
                  <a:cubicBezTo>
                    <a:pt x="1899" y="162"/>
                    <a:pt x="1866" y="854"/>
                    <a:pt x="2094" y="4651"/>
                  </a:cubicBezTo>
                  <a:cubicBezTo>
                    <a:pt x="2155" y="5695"/>
                    <a:pt x="2214" y="6682"/>
                    <a:pt x="2225" y="7426"/>
                  </a:cubicBezTo>
                  <a:cubicBezTo>
                    <a:pt x="2241" y="8560"/>
                    <a:pt x="1935" y="10557"/>
                    <a:pt x="1610" y="12671"/>
                  </a:cubicBezTo>
                  <a:cubicBezTo>
                    <a:pt x="1292" y="14735"/>
                    <a:pt x="934" y="17073"/>
                    <a:pt x="818" y="18988"/>
                  </a:cubicBezTo>
                  <a:cubicBezTo>
                    <a:pt x="811" y="19129"/>
                    <a:pt x="1" y="33089"/>
                    <a:pt x="2278" y="33263"/>
                  </a:cubicBezTo>
                  <a:cubicBezTo>
                    <a:pt x="2339" y="33267"/>
                    <a:pt x="2403" y="33270"/>
                    <a:pt x="2471" y="33270"/>
                  </a:cubicBezTo>
                  <a:cubicBezTo>
                    <a:pt x="4137" y="33270"/>
                    <a:pt x="7627" y="31851"/>
                    <a:pt x="8371" y="30309"/>
                  </a:cubicBezTo>
                  <a:cubicBezTo>
                    <a:pt x="8889" y="29235"/>
                    <a:pt x="8380" y="24416"/>
                    <a:pt x="7863" y="19982"/>
                  </a:cubicBezTo>
                  <a:cubicBezTo>
                    <a:pt x="7749" y="19014"/>
                    <a:pt x="7660" y="18250"/>
                    <a:pt x="7657" y="18056"/>
                  </a:cubicBezTo>
                  <a:cubicBezTo>
                    <a:pt x="7654" y="17870"/>
                    <a:pt x="7742" y="16927"/>
                    <a:pt x="7852" y="15733"/>
                  </a:cubicBezTo>
                  <a:cubicBezTo>
                    <a:pt x="8546" y="8228"/>
                    <a:pt x="8850" y="3436"/>
                    <a:pt x="8229" y="2731"/>
                  </a:cubicBezTo>
                  <a:cubicBezTo>
                    <a:pt x="7335" y="1716"/>
                    <a:pt x="2996" y="188"/>
                    <a:pt x="2503" y="16"/>
                  </a:cubicBezTo>
                  <a:cubicBezTo>
                    <a:pt x="2473" y="6"/>
                    <a:pt x="2441" y="1"/>
                    <a:pt x="241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666;p44">
              <a:extLst>
                <a:ext uri="{FF2B5EF4-FFF2-40B4-BE49-F238E27FC236}">
                  <a16:creationId xmlns:a16="http://schemas.microsoft.com/office/drawing/2014/main" id="{7AC1252D-92F2-460D-BDB2-F2837DE5BD5E}"/>
                </a:ext>
              </a:extLst>
            </p:cNvPr>
            <p:cNvSpPr/>
            <p:nvPr/>
          </p:nvSpPr>
          <p:spPr>
            <a:xfrm>
              <a:off x="944251" y="3419956"/>
              <a:ext cx="190771" cy="156228"/>
            </a:xfrm>
            <a:custGeom>
              <a:avLst/>
              <a:gdLst/>
              <a:ahLst/>
              <a:cxnLst/>
              <a:rect l="l" t="t" r="r" b="b"/>
              <a:pathLst>
                <a:path w="12940" h="10597" extrusionOk="0">
                  <a:moveTo>
                    <a:pt x="6539" y="0"/>
                  </a:moveTo>
                  <a:cubicBezTo>
                    <a:pt x="6505" y="0"/>
                    <a:pt x="6470" y="1"/>
                    <a:pt x="6435" y="1"/>
                  </a:cubicBezTo>
                  <a:cubicBezTo>
                    <a:pt x="3241" y="46"/>
                    <a:pt x="268" y="2305"/>
                    <a:pt x="133" y="6060"/>
                  </a:cubicBezTo>
                  <a:cubicBezTo>
                    <a:pt x="0" y="9741"/>
                    <a:pt x="2539" y="10596"/>
                    <a:pt x="4940" y="10596"/>
                  </a:cubicBezTo>
                  <a:cubicBezTo>
                    <a:pt x="4987" y="10596"/>
                    <a:pt x="5035" y="10596"/>
                    <a:pt x="5082" y="10595"/>
                  </a:cubicBezTo>
                  <a:cubicBezTo>
                    <a:pt x="7524" y="10561"/>
                    <a:pt x="12940" y="8267"/>
                    <a:pt x="11160" y="1981"/>
                  </a:cubicBezTo>
                  <a:cubicBezTo>
                    <a:pt x="11160" y="1981"/>
                    <a:pt x="9662" y="0"/>
                    <a:pt x="653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667;p44">
              <a:extLst>
                <a:ext uri="{FF2B5EF4-FFF2-40B4-BE49-F238E27FC236}">
                  <a16:creationId xmlns:a16="http://schemas.microsoft.com/office/drawing/2014/main" id="{0CFCABAC-18DE-4551-A3B9-B1A0B4B33282}"/>
                </a:ext>
              </a:extLst>
            </p:cNvPr>
            <p:cNvSpPr/>
            <p:nvPr/>
          </p:nvSpPr>
          <p:spPr>
            <a:xfrm>
              <a:off x="941199" y="3415740"/>
              <a:ext cx="181748" cy="164647"/>
            </a:xfrm>
            <a:custGeom>
              <a:avLst/>
              <a:gdLst/>
              <a:ahLst/>
              <a:cxnLst/>
              <a:rect l="l" t="t" r="r" b="b"/>
              <a:pathLst>
                <a:path w="12328" h="11168" extrusionOk="0">
                  <a:moveTo>
                    <a:pt x="6712" y="572"/>
                  </a:moveTo>
                  <a:cubicBezTo>
                    <a:pt x="6723" y="572"/>
                    <a:pt x="6734" y="572"/>
                    <a:pt x="6745" y="572"/>
                  </a:cubicBezTo>
                  <a:cubicBezTo>
                    <a:pt x="9441" y="572"/>
                    <a:pt x="10882" y="2134"/>
                    <a:pt x="11108" y="2402"/>
                  </a:cubicBezTo>
                  <a:cubicBezTo>
                    <a:pt x="11723" y="4617"/>
                    <a:pt x="11473" y="6494"/>
                    <a:pt x="10366" y="7980"/>
                  </a:cubicBezTo>
                  <a:cubicBezTo>
                    <a:pt x="8960" y="9866"/>
                    <a:pt x="6557" y="10578"/>
                    <a:pt x="5285" y="10596"/>
                  </a:cubicBezTo>
                  <a:cubicBezTo>
                    <a:pt x="5255" y="10596"/>
                    <a:pt x="5225" y="10596"/>
                    <a:pt x="5195" y="10596"/>
                  </a:cubicBezTo>
                  <a:cubicBezTo>
                    <a:pt x="3566" y="10596"/>
                    <a:pt x="2345" y="10215"/>
                    <a:pt x="1585" y="9438"/>
                  </a:cubicBezTo>
                  <a:cubicBezTo>
                    <a:pt x="900" y="8738"/>
                    <a:pt x="576" y="7700"/>
                    <a:pt x="625" y="6356"/>
                  </a:cubicBezTo>
                  <a:cubicBezTo>
                    <a:pt x="760" y="2613"/>
                    <a:pt x="3756" y="613"/>
                    <a:pt x="6646" y="572"/>
                  </a:cubicBezTo>
                  <a:cubicBezTo>
                    <a:pt x="6668" y="572"/>
                    <a:pt x="6690" y="572"/>
                    <a:pt x="6712" y="572"/>
                  </a:cubicBezTo>
                  <a:close/>
                  <a:moveTo>
                    <a:pt x="6748" y="0"/>
                  </a:moveTo>
                  <a:cubicBezTo>
                    <a:pt x="6712" y="0"/>
                    <a:pt x="6675" y="0"/>
                    <a:pt x="6638" y="1"/>
                  </a:cubicBezTo>
                  <a:cubicBezTo>
                    <a:pt x="3478" y="46"/>
                    <a:pt x="202" y="2235"/>
                    <a:pt x="54" y="6335"/>
                  </a:cubicBezTo>
                  <a:cubicBezTo>
                    <a:pt x="0" y="7843"/>
                    <a:pt x="378" y="9021"/>
                    <a:pt x="1177" y="9837"/>
                  </a:cubicBezTo>
                  <a:cubicBezTo>
                    <a:pt x="2042" y="10721"/>
                    <a:pt x="3375" y="11167"/>
                    <a:pt x="5141" y="11167"/>
                  </a:cubicBezTo>
                  <a:lnTo>
                    <a:pt x="5292" y="11167"/>
                  </a:lnTo>
                  <a:cubicBezTo>
                    <a:pt x="6678" y="11148"/>
                    <a:pt x="9295" y="10374"/>
                    <a:pt x="10824" y="8321"/>
                  </a:cubicBezTo>
                  <a:cubicBezTo>
                    <a:pt x="12052" y="6673"/>
                    <a:pt x="12327" y="4611"/>
                    <a:pt x="11642" y="2190"/>
                  </a:cubicBezTo>
                  <a:cubicBezTo>
                    <a:pt x="11632" y="2155"/>
                    <a:pt x="11616" y="2123"/>
                    <a:pt x="11595" y="2095"/>
                  </a:cubicBezTo>
                  <a:cubicBezTo>
                    <a:pt x="11529" y="2008"/>
                    <a:pt x="9973" y="0"/>
                    <a:pt x="674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668;p44">
              <a:extLst>
                <a:ext uri="{FF2B5EF4-FFF2-40B4-BE49-F238E27FC236}">
                  <a16:creationId xmlns:a16="http://schemas.microsoft.com/office/drawing/2014/main" id="{E6DC1236-2239-4DBF-8410-84277D7D4714}"/>
                </a:ext>
              </a:extLst>
            </p:cNvPr>
            <p:cNvSpPr/>
            <p:nvPr/>
          </p:nvSpPr>
          <p:spPr>
            <a:xfrm>
              <a:off x="972793" y="3464568"/>
              <a:ext cx="220492" cy="98172"/>
            </a:xfrm>
            <a:custGeom>
              <a:avLst/>
              <a:gdLst/>
              <a:ahLst/>
              <a:cxnLst/>
              <a:rect l="l" t="t" r="r" b="b"/>
              <a:pathLst>
                <a:path w="14956" h="6659" extrusionOk="0">
                  <a:moveTo>
                    <a:pt x="7088" y="0"/>
                  </a:moveTo>
                  <a:cubicBezTo>
                    <a:pt x="6208" y="0"/>
                    <a:pt x="5308" y="93"/>
                    <a:pt x="4520" y="354"/>
                  </a:cubicBezTo>
                  <a:cubicBezTo>
                    <a:pt x="1821" y="1250"/>
                    <a:pt x="405" y="2125"/>
                    <a:pt x="156" y="4698"/>
                  </a:cubicBezTo>
                  <a:cubicBezTo>
                    <a:pt x="1" y="6300"/>
                    <a:pt x="1708" y="6659"/>
                    <a:pt x="3604" y="6659"/>
                  </a:cubicBezTo>
                  <a:cubicBezTo>
                    <a:pt x="4754" y="6659"/>
                    <a:pt x="5974" y="6526"/>
                    <a:pt x="6890" y="6459"/>
                  </a:cubicBezTo>
                  <a:cubicBezTo>
                    <a:pt x="9314" y="6282"/>
                    <a:pt x="14956" y="1349"/>
                    <a:pt x="14956" y="1349"/>
                  </a:cubicBezTo>
                  <a:lnTo>
                    <a:pt x="11232" y="544"/>
                  </a:lnTo>
                  <a:cubicBezTo>
                    <a:pt x="11232" y="544"/>
                    <a:pt x="9220" y="0"/>
                    <a:pt x="70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669;p44">
              <a:extLst>
                <a:ext uri="{FF2B5EF4-FFF2-40B4-BE49-F238E27FC236}">
                  <a16:creationId xmlns:a16="http://schemas.microsoft.com/office/drawing/2014/main" id="{138471CD-BF7A-4B4A-8BF3-9F484A9A4994}"/>
                </a:ext>
              </a:extLst>
            </p:cNvPr>
            <p:cNvSpPr/>
            <p:nvPr/>
          </p:nvSpPr>
          <p:spPr>
            <a:xfrm>
              <a:off x="970095" y="3460337"/>
              <a:ext cx="228556" cy="106605"/>
            </a:xfrm>
            <a:custGeom>
              <a:avLst/>
              <a:gdLst/>
              <a:ahLst/>
              <a:cxnLst/>
              <a:rect l="l" t="t" r="r" b="b"/>
              <a:pathLst>
                <a:path w="15503" h="7231" extrusionOk="0">
                  <a:moveTo>
                    <a:pt x="7261" y="574"/>
                  </a:moveTo>
                  <a:cubicBezTo>
                    <a:pt x="9333" y="574"/>
                    <a:pt x="11313" y="1100"/>
                    <a:pt x="11342" y="1107"/>
                  </a:cubicBezTo>
                  <a:cubicBezTo>
                    <a:pt x="11347" y="1109"/>
                    <a:pt x="11351" y="1110"/>
                    <a:pt x="11356" y="1111"/>
                  </a:cubicBezTo>
                  <a:lnTo>
                    <a:pt x="14515" y="1793"/>
                  </a:lnTo>
                  <a:cubicBezTo>
                    <a:pt x="13155" y="2936"/>
                    <a:pt x="8976" y="6321"/>
                    <a:pt x="7054" y="6462"/>
                  </a:cubicBezTo>
                  <a:cubicBezTo>
                    <a:pt x="6833" y="6478"/>
                    <a:pt x="6595" y="6497"/>
                    <a:pt x="6345" y="6518"/>
                  </a:cubicBezTo>
                  <a:cubicBezTo>
                    <a:pt x="5589" y="6582"/>
                    <a:pt x="4671" y="6659"/>
                    <a:pt x="3793" y="6659"/>
                  </a:cubicBezTo>
                  <a:cubicBezTo>
                    <a:pt x="2581" y="6659"/>
                    <a:pt x="1446" y="6512"/>
                    <a:pt x="923" y="5981"/>
                  </a:cubicBezTo>
                  <a:cubicBezTo>
                    <a:pt x="682" y="5738"/>
                    <a:pt x="584" y="5420"/>
                    <a:pt x="624" y="5012"/>
                  </a:cubicBezTo>
                  <a:cubicBezTo>
                    <a:pt x="856" y="2610"/>
                    <a:pt x="2098" y="1806"/>
                    <a:pt x="4793" y="912"/>
                  </a:cubicBezTo>
                  <a:cubicBezTo>
                    <a:pt x="5546" y="663"/>
                    <a:pt x="6411" y="575"/>
                    <a:pt x="7262" y="575"/>
                  </a:cubicBezTo>
                  <a:lnTo>
                    <a:pt x="7261" y="574"/>
                  </a:lnTo>
                  <a:close/>
                  <a:moveTo>
                    <a:pt x="7283" y="0"/>
                  </a:moveTo>
                  <a:cubicBezTo>
                    <a:pt x="6375" y="0"/>
                    <a:pt x="5440" y="97"/>
                    <a:pt x="4614" y="370"/>
                  </a:cubicBezTo>
                  <a:cubicBezTo>
                    <a:pt x="1795" y="1304"/>
                    <a:pt x="315" y="2271"/>
                    <a:pt x="56" y="4958"/>
                  </a:cubicBezTo>
                  <a:cubicBezTo>
                    <a:pt x="0" y="5536"/>
                    <a:pt x="155" y="6015"/>
                    <a:pt x="517" y="6382"/>
                  </a:cubicBezTo>
                  <a:cubicBezTo>
                    <a:pt x="1176" y="7051"/>
                    <a:pt x="2449" y="7230"/>
                    <a:pt x="3801" y="7230"/>
                  </a:cubicBezTo>
                  <a:cubicBezTo>
                    <a:pt x="4680" y="7230"/>
                    <a:pt x="5595" y="7153"/>
                    <a:pt x="6391" y="7088"/>
                  </a:cubicBezTo>
                  <a:cubicBezTo>
                    <a:pt x="6640" y="7067"/>
                    <a:pt x="6876" y="7047"/>
                    <a:pt x="7095" y="7031"/>
                  </a:cubicBezTo>
                  <a:cubicBezTo>
                    <a:pt x="9585" y="6850"/>
                    <a:pt x="15094" y="2054"/>
                    <a:pt x="15327" y="1851"/>
                  </a:cubicBezTo>
                  <a:cubicBezTo>
                    <a:pt x="15503" y="1696"/>
                    <a:pt x="15428" y="1406"/>
                    <a:pt x="15199" y="1357"/>
                  </a:cubicBezTo>
                  <a:lnTo>
                    <a:pt x="11484" y="554"/>
                  </a:lnTo>
                  <a:cubicBezTo>
                    <a:pt x="11308" y="507"/>
                    <a:pt x="9365" y="0"/>
                    <a:pt x="72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670;p44">
              <a:extLst>
                <a:ext uri="{FF2B5EF4-FFF2-40B4-BE49-F238E27FC236}">
                  <a16:creationId xmlns:a16="http://schemas.microsoft.com/office/drawing/2014/main" id="{F9B6124A-C73F-41B1-A315-E98B6F6FF606}"/>
                </a:ext>
              </a:extLst>
            </p:cNvPr>
            <p:cNvSpPr/>
            <p:nvPr/>
          </p:nvSpPr>
          <p:spPr>
            <a:xfrm>
              <a:off x="1090130" y="3416669"/>
              <a:ext cx="245584" cy="111027"/>
            </a:xfrm>
            <a:custGeom>
              <a:avLst/>
              <a:gdLst/>
              <a:ahLst/>
              <a:cxnLst/>
              <a:rect l="l" t="t" r="r" b="b"/>
              <a:pathLst>
                <a:path w="16658" h="7531" extrusionOk="0">
                  <a:moveTo>
                    <a:pt x="15850" y="0"/>
                  </a:moveTo>
                  <a:cubicBezTo>
                    <a:pt x="15474" y="0"/>
                    <a:pt x="14892" y="339"/>
                    <a:pt x="13938" y="788"/>
                  </a:cubicBezTo>
                  <a:cubicBezTo>
                    <a:pt x="12672" y="1385"/>
                    <a:pt x="10195" y="2751"/>
                    <a:pt x="9306" y="3246"/>
                  </a:cubicBezTo>
                  <a:lnTo>
                    <a:pt x="9306" y="3246"/>
                  </a:lnTo>
                  <a:cubicBezTo>
                    <a:pt x="9499" y="3116"/>
                    <a:pt x="9772" y="2901"/>
                    <a:pt x="10108" y="2555"/>
                  </a:cubicBezTo>
                  <a:cubicBezTo>
                    <a:pt x="10812" y="1831"/>
                    <a:pt x="11369" y="824"/>
                    <a:pt x="10792" y="404"/>
                  </a:cubicBezTo>
                  <a:cubicBezTo>
                    <a:pt x="10756" y="378"/>
                    <a:pt x="10714" y="365"/>
                    <a:pt x="10667" y="365"/>
                  </a:cubicBezTo>
                  <a:cubicBezTo>
                    <a:pt x="9975" y="365"/>
                    <a:pt x="8146" y="3028"/>
                    <a:pt x="7313" y="3028"/>
                  </a:cubicBezTo>
                  <a:cubicBezTo>
                    <a:pt x="7295" y="3028"/>
                    <a:pt x="7277" y="3026"/>
                    <a:pt x="7260" y="3024"/>
                  </a:cubicBezTo>
                  <a:cubicBezTo>
                    <a:pt x="6402" y="2893"/>
                    <a:pt x="6098" y="1612"/>
                    <a:pt x="5372" y="766"/>
                  </a:cubicBezTo>
                  <a:cubicBezTo>
                    <a:pt x="5134" y="488"/>
                    <a:pt x="4913" y="394"/>
                    <a:pt x="4725" y="394"/>
                  </a:cubicBezTo>
                  <a:cubicBezTo>
                    <a:pt x="4339" y="394"/>
                    <a:pt x="4087" y="784"/>
                    <a:pt x="4087" y="784"/>
                  </a:cubicBezTo>
                  <a:cubicBezTo>
                    <a:pt x="4087" y="784"/>
                    <a:pt x="5115" y="2768"/>
                    <a:pt x="4549" y="3204"/>
                  </a:cubicBezTo>
                  <a:cubicBezTo>
                    <a:pt x="4457" y="3276"/>
                    <a:pt x="4360" y="3309"/>
                    <a:pt x="4259" y="3309"/>
                  </a:cubicBezTo>
                  <a:cubicBezTo>
                    <a:pt x="3742" y="3309"/>
                    <a:pt x="3113" y="2443"/>
                    <a:pt x="2383" y="1379"/>
                  </a:cubicBezTo>
                  <a:cubicBezTo>
                    <a:pt x="2045" y="888"/>
                    <a:pt x="1712" y="737"/>
                    <a:pt x="1431" y="737"/>
                  </a:cubicBezTo>
                  <a:cubicBezTo>
                    <a:pt x="984" y="737"/>
                    <a:pt x="666" y="1118"/>
                    <a:pt x="666" y="1118"/>
                  </a:cubicBezTo>
                  <a:lnTo>
                    <a:pt x="1838" y="3243"/>
                  </a:lnTo>
                  <a:cubicBezTo>
                    <a:pt x="1838" y="3243"/>
                    <a:pt x="1" y="4553"/>
                    <a:pt x="593" y="6115"/>
                  </a:cubicBezTo>
                  <a:lnTo>
                    <a:pt x="1470" y="7531"/>
                  </a:lnTo>
                  <a:cubicBezTo>
                    <a:pt x="1470" y="7531"/>
                    <a:pt x="2041" y="7523"/>
                    <a:pt x="3604" y="6930"/>
                  </a:cubicBezTo>
                  <a:cubicBezTo>
                    <a:pt x="5166" y="6336"/>
                    <a:pt x="8994" y="4426"/>
                    <a:pt x="10979" y="3542"/>
                  </a:cubicBezTo>
                  <a:cubicBezTo>
                    <a:pt x="12965" y="2657"/>
                    <a:pt x="16658" y="1321"/>
                    <a:pt x="16360" y="469"/>
                  </a:cubicBezTo>
                  <a:cubicBezTo>
                    <a:pt x="16245" y="137"/>
                    <a:pt x="16089" y="0"/>
                    <a:pt x="158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671;p44">
              <a:extLst>
                <a:ext uri="{FF2B5EF4-FFF2-40B4-BE49-F238E27FC236}">
                  <a16:creationId xmlns:a16="http://schemas.microsoft.com/office/drawing/2014/main" id="{130846B9-7EEB-4148-AE28-D37A32E146A4}"/>
                </a:ext>
              </a:extLst>
            </p:cNvPr>
            <p:cNvSpPr/>
            <p:nvPr/>
          </p:nvSpPr>
          <p:spPr>
            <a:xfrm>
              <a:off x="1086931" y="3412452"/>
              <a:ext cx="252926" cy="119460"/>
            </a:xfrm>
            <a:custGeom>
              <a:avLst/>
              <a:gdLst/>
              <a:ahLst/>
              <a:cxnLst/>
              <a:rect l="l" t="t" r="r" b="b"/>
              <a:pathLst>
                <a:path w="17156" h="8103" extrusionOk="0">
                  <a:moveTo>
                    <a:pt x="16067" y="1"/>
                  </a:moveTo>
                  <a:cubicBezTo>
                    <a:pt x="15708" y="1"/>
                    <a:pt x="15264" y="217"/>
                    <a:pt x="14621" y="531"/>
                  </a:cubicBezTo>
                  <a:cubicBezTo>
                    <a:pt x="14443" y="619"/>
                    <a:pt x="14247" y="715"/>
                    <a:pt x="14032" y="816"/>
                  </a:cubicBezTo>
                  <a:cubicBezTo>
                    <a:pt x="13286" y="1167"/>
                    <a:pt x="12118" y="1788"/>
                    <a:pt x="11098" y="2340"/>
                  </a:cubicBezTo>
                  <a:cubicBezTo>
                    <a:pt x="11347" y="1968"/>
                    <a:pt x="11565" y="1514"/>
                    <a:pt x="11530" y="1094"/>
                  </a:cubicBezTo>
                  <a:cubicBezTo>
                    <a:pt x="11507" y="831"/>
                    <a:pt x="11385" y="611"/>
                    <a:pt x="11176" y="459"/>
                  </a:cubicBezTo>
                  <a:cubicBezTo>
                    <a:pt x="11085" y="393"/>
                    <a:pt x="10988" y="362"/>
                    <a:pt x="10885" y="362"/>
                  </a:cubicBezTo>
                  <a:cubicBezTo>
                    <a:pt x="10437" y="362"/>
                    <a:pt x="9872" y="942"/>
                    <a:pt x="9143" y="1692"/>
                  </a:cubicBezTo>
                  <a:cubicBezTo>
                    <a:pt x="8651" y="2199"/>
                    <a:pt x="7826" y="3028"/>
                    <a:pt x="7534" y="3028"/>
                  </a:cubicBezTo>
                  <a:cubicBezTo>
                    <a:pt x="7529" y="3028"/>
                    <a:pt x="7524" y="3027"/>
                    <a:pt x="7519" y="3027"/>
                  </a:cubicBezTo>
                  <a:cubicBezTo>
                    <a:pt x="7102" y="2964"/>
                    <a:pt x="6820" y="2474"/>
                    <a:pt x="6494" y="1907"/>
                  </a:cubicBezTo>
                  <a:cubicBezTo>
                    <a:pt x="6291" y="1553"/>
                    <a:pt x="6081" y="1188"/>
                    <a:pt x="5805" y="866"/>
                  </a:cubicBezTo>
                  <a:cubicBezTo>
                    <a:pt x="5537" y="554"/>
                    <a:pt x="5251" y="395"/>
                    <a:pt x="4945" y="395"/>
                  </a:cubicBezTo>
                  <a:cubicBezTo>
                    <a:pt x="4924" y="395"/>
                    <a:pt x="4903" y="396"/>
                    <a:pt x="4883" y="397"/>
                  </a:cubicBezTo>
                  <a:cubicBezTo>
                    <a:pt x="4391" y="430"/>
                    <a:pt x="4096" y="866"/>
                    <a:pt x="4064" y="915"/>
                  </a:cubicBezTo>
                  <a:cubicBezTo>
                    <a:pt x="4009" y="1001"/>
                    <a:pt x="4003" y="1110"/>
                    <a:pt x="4050" y="1201"/>
                  </a:cubicBezTo>
                  <a:cubicBezTo>
                    <a:pt x="4522" y="2113"/>
                    <a:pt x="4785" y="3116"/>
                    <a:pt x="4591" y="3264"/>
                  </a:cubicBezTo>
                  <a:cubicBezTo>
                    <a:pt x="4551" y="3295"/>
                    <a:pt x="4517" y="3310"/>
                    <a:pt x="4475" y="3310"/>
                  </a:cubicBezTo>
                  <a:cubicBezTo>
                    <a:pt x="4465" y="3310"/>
                    <a:pt x="4455" y="3309"/>
                    <a:pt x="4444" y="3307"/>
                  </a:cubicBezTo>
                  <a:cubicBezTo>
                    <a:pt x="4029" y="3242"/>
                    <a:pt x="3310" y="2195"/>
                    <a:pt x="2835" y="1504"/>
                  </a:cubicBezTo>
                  <a:cubicBezTo>
                    <a:pt x="2499" y="1016"/>
                    <a:pt x="2116" y="758"/>
                    <a:pt x="1696" y="739"/>
                  </a:cubicBezTo>
                  <a:cubicBezTo>
                    <a:pt x="1679" y="738"/>
                    <a:pt x="1662" y="737"/>
                    <a:pt x="1645" y="737"/>
                  </a:cubicBezTo>
                  <a:cubicBezTo>
                    <a:pt x="1076" y="737"/>
                    <a:pt x="680" y="1201"/>
                    <a:pt x="664" y="1221"/>
                  </a:cubicBezTo>
                  <a:cubicBezTo>
                    <a:pt x="589" y="1311"/>
                    <a:pt x="577" y="1439"/>
                    <a:pt x="633" y="1542"/>
                  </a:cubicBezTo>
                  <a:lnTo>
                    <a:pt x="1689" y="3455"/>
                  </a:lnTo>
                  <a:cubicBezTo>
                    <a:pt x="1192" y="3876"/>
                    <a:pt x="0" y="5073"/>
                    <a:pt x="544" y="6504"/>
                  </a:cubicBezTo>
                  <a:cubicBezTo>
                    <a:pt x="588" y="6618"/>
                    <a:pt x="695" y="6688"/>
                    <a:pt x="810" y="6688"/>
                  </a:cubicBezTo>
                  <a:cubicBezTo>
                    <a:pt x="844" y="6688"/>
                    <a:pt x="879" y="6682"/>
                    <a:pt x="913" y="6669"/>
                  </a:cubicBezTo>
                  <a:cubicBezTo>
                    <a:pt x="1059" y="6613"/>
                    <a:pt x="1133" y="6448"/>
                    <a:pt x="1078" y="6301"/>
                  </a:cubicBezTo>
                  <a:cubicBezTo>
                    <a:pt x="571" y="4965"/>
                    <a:pt x="2204" y="3774"/>
                    <a:pt x="2221" y="3762"/>
                  </a:cubicBezTo>
                  <a:cubicBezTo>
                    <a:pt x="2339" y="3677"/>
                    <a:pt x="2375" y="3518"/>
                    <a:pt x="2305" y="3391"/>
                  </a:cubicBezTo>
                  <a:lnTo>
                    <a:pt x="1241" y="1463"/>
                  </a:lnTo>
                  <a:cubicBezTo>
                    <a:pt x="1339" y="1389"/>
                    <a:pt x="1483" y="1309"/>
                    <a:pt x="1641" y="1309"/>
                  </a:cubicBezTo>
                  <a:cubicBezTo>
                    <a:pt x="1652" y="1309"/>
                    <a:pt x="1663" y="1310"/>
                    <a:pt x="1674" y="1310"/>
                  </a:cubicBezTo>
                  <a:cubicBezTo>
                    <a:pt x="1904" y="1322"/>
                    <a:pt x="2137" y="1496"/>
                    <a:pt x="2365" y="1828"/>
                  </a:cubicBezTo>
                  <a:cubicBezTo>
                    <a:pt x="3145" y="2964"/>
                    <a:pt x="3746" y="3776"/>
                    <a:pt x="4355" y="3872"/>
                  </a:cubicBezTo>
                  <a:cubicBezTo>
                    <a:pt x="4396" y="3878"/>
                    <a:pt x="4437" y="3882"/>
                    <a:pt x="4477" y="3882"/>
                  </a:cubicBezTo>
                  <a:cubicBezTo>
                    <a:pt x="4643" y="3882"/>
                    <a:pt x="4801" y="3825"/>
                    <a:pt x="4941" y="3717"/>
                  </a:cubicBezTo>
                  <a:cubicBezTo>
                    <a:pt x="5576" y="3227"/>
                    <a:pt x="4962" y="1763"/>
                    <a:pt x="4645" y="1111"/>
                  </a:cubicBezTo>
                  <a:cubicBezTo>
                    <a:pt x="4715" y="1044"/>
                    <a:pt x="4815" y="974"/>
                    <a:pt x="4922" y="967"/>
                  </a:cubicBezTo>
                  <a:cubicBezTo>
                    <a:pt x="4923" y="967"/>
                    <a:pt x="4925" y="967"/>
                    <a:pt x="4926" y="967"/>
                  </a:cubicBezTo>
                  <a:cubicBezTo>
                    <a:pt x="5105" y="967"/>
                    <a:pt x="5262" y="1110"/>
                    <a:pt x="5372" y="1239"/>
                  </a:cubicBezTo>
                  <a:cubicBezTo>
                    <a:pt x="5613" y="1520"/>
                    <a:pt x="5810" y="1862"/>
                    <a:pt x="6000" y="2193"/>
                  </a:cubicBezTo>
                  <a:cubicBezTo>
                    <a:pt x="6367" y="2829"/>
                    <a:pt x="6745" y="3488"/>
                    <a:pt x="7434" y="3592"/>
                  </a:cubicBezTo>
                  <a:cubicBezTo>
                    <a:pt x="7467" y="3597"/>
                    <a:pt x="7500" y="3600"/>
                    <a:pt x="7534" y="3600"/>
                  </a:cubicBezTo>
                  <a:cubicBezTo>
                    <a:pt x="8045" y="3600"/>
                    <a:pt x="8651" y="3018"/>
                    <a:pt x="9553" y="2091"/>
                  </a:cubicBezTo>
                  <a:cubicBezTo>
                    <a:pt x="9969" y="1663"/>
                    <a:pt x="10667" y="945"/>
                    <a:pt x="10840" y="921"/>
                  </a:cubicBezTo>
                  <a:cubicBezTo>
                    <a:pt x="10915" y="977"/>
                    <a:pt x="10953" y="1044"/>
                    <a:pt x="10961" y="1143"/>
                  </a:cubicBezTo>
                  <a:cubicBezTo>
                    <a:pt x="10991" y="1492"/>
                    <a:pt x="10653" y="2095"/>
                    <a:pt x="10121" y="2643"/>
                  </a:cubicBezTo>
                  <a:cubicBezTo>
                    <a:pt x="9802" y="2970"/>
                    <a:pt x="9547" y="3172"/>
                    <a:pt x="9370" y="3290"/>
                  </a:cubicBezTo>
                  <a:cubicBezTo>
                    <a:pt x="9177" y="3398"/>
                    <a:pt x="9062" y="3462"/>
                    <a:pt x="9056" y="3465"/>
                  </a:cubicBezTo>
                  <a:cubicBezTo>
                    <a:pt x="8927" y="3538"/>
                    <a:pt x="8875" y="3697"/>
                    <a:pt x="8936" y="3831"/>
                  </a:cubicBezTo>
                  <a:cubicBezTo>
                    <a:pt x="8983" y="3936"/>
                    <a:pt x="9087" y="3999"/>
                    <a:pt x="9196" y="3999"/>
                  </a:cubicBezTo>
                  <a:cubicBezTo>
                    <a:pt x="9227" y="3999"/>
                    <a:pt x="9259" y="3994"/>
                    <a:pt x="9290" y="3984"/>
                  </a:cubicBezTo>
                  <a:cubicBezTo>
                    <a:pt x="9315" y="3975"/>
                    <a:pt x="9450" y="3924"/>
                    <a:pt x="9674" y="3774"/>
                  </a:cubicBezTo>
                  <a:cubicBezTo>
                    <a:pt x="10573" y="3276"/>
                    <a:pt x="13032" y="1920"/>
                    <a:pt x="14277" y="1332"/>
                  </a:cubicBezTo>
                  <a:cubicBezTo>
                    <a:pt x="14494" y="1230"/>
                    <a:pt x="14692" y="1133"/>
                    <a:pt x="14874" y="1045"/>
                  </a:cubicBezTo>
                  <a:cubicBezTo>
                    <a:pt x="15389" y="794"/>
                    <a:pt x="15842" y="571"/>
                    <a:pt x="16062" y="571"/>
                  </a:cubicBezTo>
                  <a:cubicBezTo>
                    <a:pt x="16092" y="571"/>
                    <a:pt x="16118" y="575"/>
                    <a:pt x="16139" y="584"/>
                  </a:cubicBezTo>
                  <a:cubicBezTo>
                    <a:pt x="16213" y="615"/>
                    <a:pt x="16272" y="745"/>
                    <a:pt x="16307" y="849"/>
                  </a:cubicBezTo>
                  <a:cubicBezTo>
                    <a:pt x="16463" y="1293"/>
                    <a:pt x="13333" y="2611"/>
                    <a:pt x="12305" y="3043"/>
                  </a:cubicBezTo>
                  <a:cubicBezTo>
                    <a:pt x="11862" y="3229"/>
                    <a:pt x="11443" y="3406"/>
                    <a:pt x="11079" y="3567"/>
                  </a:cubicBezTo>
                  <a:cubicBezTo>
                    <a:pt x="10312" y="3909"/>
                    <a:pt x="9285" y="4397"/>
                    <a:pt x="8196" y="4913"/>
                  </a:cubicBezTo>
                  <a:cubicBezTo>
                    <a:pt x="6462" y="5737"/>
                    <a:pt x="4669" y="6588"/>
                    <a:pt x="3718" y="6949"/>
                  </a:cubicBezTo>
                  <a:cubicBezTo>
                    <a:pt x="2251" y="7506"/>
                    <a:pt x="1685" y="7532"/>
                    <a:pt x="1683" y="7532"/>
                  </a:cubicBezTo>
                  <a:cubicBezTo>
                    <a:pt x="1526" y="7533"/>
                    <a:pt x="1398" y="7661"/>
                    <a:pt x="1400" y="7819"/>
                  </a:cubicBezTo>
                  <a:cubicBezTo>
                    <a:pt x="1401" y="7976"/>
                    <a:pt x="1529" y="8103"/>
                    <a:pt x="1686" y="8103"/>
                  </a:cubicBezTo>
                  <a:cubicBezTo>
                    <a:pt x="1686" y="8103"/>
                    <a:pt x="1687" y="8103"/>
                    <a:pt x="1688" y="8103"/>
                  </a:cubicBezTo>
                  <a:lnTo>
                    <a:pt x="1690" y="8103"/>
                  </a:lnTo>
                  <a:cubicBezTo>
                    <a:pt x="1754" y="8102"/>
                    <a:pt x="2356" y="8077"/>
                    <a:pt x="3920" y="7483"/>
                  </a:cubicBezTo>
                  <a:cubicBezTo>
                    <a:pt x="4891" y="7115"/>
                    <a:pt x="6695" y="6257"/>
                    <a:pt x="8440" y="5430"/>
                  </a:cubicBezTo>
                  <a:cubicBezTo>
                    <a:pt x="9525" y="4914"/>
                    <a:pt x="10549" y="4427"/>
                    <a:pt x="11310" y="4089"/>
                  </a:cubicBezTo>
                  <a:cubicBezTo>
                    <a:pt x="11670" y="3928"/>
                    <a:pt x="12086" y="3753"/>
                    <a:pt x="12524" y="3568"/>
                  </a:cubicBezTo>
                  <a:cubicBezTo>
                    <a:pt x="15419" y="2351"/>
                    <a:pt x="17155" y="1547"/>
                    <a:pt x="16846" y="660"/>
                  </a:cubicBezTo>
                  <a:cubicBezTo>
                    <a:pt x="16775" y="458"/>
                    <a:pt x="16648" y="175"/>
                    <a:pt x="16355" y="56"/>
                  </a:cubicBezTo>
                  <a:cubicBezTo>
                    <a:pt x="16264" y="18"/>
                    <a:pt x="16169" y="1"/>
                    <a:pt x="16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672;p44">
              <a:extLst>
                <a:ext uri="{FF2B5EF4-FFF2-40B4-BE49-F238E27FC236}">
                  <a16:creationId xmlns:a16="http://schemas.microsoft.com/office/drawing/2014/main" id="{04D06AD1-B29B-498B-8322-B176F5D56754}"/>
                </a:ext>
              </a:extLst>
            </p:cNvPr>
            <p:cNvSpPr/>
            <p:nvPr/>
          </p:nvSpPr>
          <p:spPr>
            <a:xfrm>
              <a:off x="812215" y="3668047"/>
              <a:ext cx="55565" cy="131092"/>
            </a:xfrm>
            <a:custGeom>
              <a:avLst/>
              <a:gdLst/>
              <a:ahLst/>
              <a:cxnLst/>
              <a:rect l="l" t="t" r="r" b="b"/>
              <a:pathLst>
                <a:path w="3769" h="8892" extrusionOk="0">
                  <a:moveTo>
                    <a:pt x="3185" y="0"/>
                  </a:moveTo>
                  <a:cubicBezTo>
                    <a:pt x="3151" y="0"/>
                    <a:pt x="3117" y="7"/>
                    <a:pt x="3083" y="20"/>
                  </a:cubicBezTo>
                  <a:cubicBezTo>
                    <a:pt x="2998" y="53"/>
                    <a:pt x="993" y="841"/>
                    <a:pt x="830" y="2129"/>
                  </a:cubicBezTo>
                  <a:cubicBezTo>
                    <a:pt x="750" y="2766"/>
                    <a:pt x="1118" y="3382"/>
                    <a:pt x="1926" y="3959"/>
                  </a:cubicBezTo>
                  <a:cubicBezTo>
                    <a:pt x="2782" y="4573"/>
                    <a:pt x="3172" y="5209"/>
                    <a:pt x="3086" y="5850"/>
                  </a:cubicBezTo>
                  <a:cubicBezTo>
                    <a:pt x="2963" y="6763"/>
                    <a:pt x="1833" y="7739"/>
                    <a:pt x="206" y="8339"/>
                  </a:cubicBezTo>
                  <a:cubicBezTo>
                    <a:pt x="77" y="8387"/>
                    <a:pt x="1" y="8521"/>
                    <a:pt x="25" y="8657"/>
                  </a:cubicBezTo>
                  <a:cubicBezTo>
                    <a:pt x="49" y="8793"/>
                    <a:pt x="167" y="8892"/>
                    <a:pt x="305" y="8892"/>
                  </a:cubicBezTo>
                  <a:cubicBezTo>
                    <a:pt x="308" y="8892"/>
                    <a:pt x="310" y="8892"/>
                    <a:pt x="313" y="8892"/>
                  </a:cubicBezTo>
                  <a:cubicBezTo>
                    <a:pt x="344" y="8892"/>
                    <a:pt x="375" y="8885"/>
                    <a:pt x="404" y="8874"/>
                  </a:cubicBezTo>
                  <a:cubicBezTo>
                    <a:pt x="1854" y="8339"/>
                    <a:pt x="3469" y="7284"/>
                    <a:pt x="3651" y="5926"/>
                  </a:cubicBezTo>
                  <a:cubicBezTo>
                    <a:pt x="3769" y="5058"/>
                    <a:pt x="3299" y="4241"/>
                    <a:pt x="2259" y="3495"/>
                  </a:cubicBezTo>
                  <a:cubicBezTo>
                    <a:pt x="1635" y="3049"/>
                    <a:pt x="1345" y="2614"/>
                    <a:pt x="1397" y="2201"/>
                  </a:cubicBezTo>
                  <a:cubicBezTo>
                    <a:pt x="1497" y="1412"/>
                    <a:pt x="2797" y="744"/>
                    <a:pt x="3289" y="552"/>
                  </a:cubicBezTo>
                  <a:cubicBezTo>
                    <a:pt x="3436" y="496"/>
                    <a:pt x="3509" y="331"/>
                    <a:pt x="3452" y="183"/>
                  </a:cubicBezTo>
                  <a:cubicBezTo>
                    <a:pt x="3408" y="70"/>
                    <a:pt x="3300" y="0"/>
                    <a:pt x="31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673;p44">
              <a:extLst>
                <a:ext uri="{FF2B5EF4-FFF2-40B4-BE49-F238E27FC236}">
                  <a16:creationId xmlns:a16="http://schemas.microsoft.com/office/drawing/2014/main" id="{9BA50B8C-F798-41FB-8752-39BF6054045B}"/>
                </a:ext>
              </a:extLst>
            </p:cNvPr>
            <p:cNvSpPr/>
            <p:nvPr/>
          </p:nvSpPr>
          <p:spPr>
            <a:xfrm>
              <a:off x="567972" y="3649043"/>
              <a:ext cx="150331" cy="143432"/>
            </a:xfrm>
            <a:custGeom>
              <a:avLst/>
              <a:gdLst/>
              <a:ahLst/>
              <a:cxnLst/>
              <a:rect l="l" t="t" r="r" b="b"/>
              <a:pathLst>
                <a:path w="10197" h="9729" extrusionOk="0">
                  <a:moveTo>
                    <a:pt x="9880" y="0"/>
                  </a:moveTo>
                  <a:cubicBezTo>
                    <a:pt x="9749" y="0"/>
                    <a:pt x="9632" y="95"/>
                    <a:pt x="9605" y="229"/>
                  </a:cubicBezTo>
                  <a:cubicBezTo>
                    <a:pt x="9586" y="321"/>
                    <a:pt x="7686" y="9157"/>
                    <a:pt x="962" y="9157"/>
                  </a:cubicBezTo>
                  <a:cubicBezTo>
                    <a:pt x="755" y="9157"/>
                    <a:pt x="544" y="9149"/>
                    <a:pt x="328" y="9132"/>
                  </a:cubicBezTo>
                  <a:cubicBezTo>
                    <a:pt x="318" y="9131"/>
                    <a:pt x="307" y="9130"/>
                    <a:pt x="297" y="9130"/>
                  </a:cubicBezTo>
                  <a:cubicBezTo>
                    <a:pt x="150" y="9130"/>
                    <a:pt x="25" y="9242"/>
                    <a:pt x="13" y="9393"/>
                  </a:cubicBezTo>
                  <a:cubicBezTo>
                    <a:pt x="1" y="9552"/>
                    <a:pt x="123" y="9692"/>
                    <a:pt x="282" y="9700"/>
                  </a:cubicBezTo>
                  <a:cubicBezTo>
                    <a:pt x="518" y="9719"/>
                    <a:pt x="748" y="9729"/>
                    <a:pt x="973" y="9729"/>
                  </a:cubicBezTo>
                  <a:cubicBezTo>
                    <a:pt x="8146" y="9729"/>
                    <a:pt x="10144" y="441"/>
                    <a:pt x="10165" y="344"/>
                  </a:cubicBezTo>
                  <a:cubicBezTo>
                    <a:pt x="10196" y="190"/>
                    <a:pt x="10096" y="39"/>
                    <a:pt x="9942" y="7"/>
                  </a:cubicBezTo>
                  <a:cubicBezTo>
                    <a:pt x="9921" y="2"/>
                    <a:pt x="9900" y="0"/>
                    <a:pt x="98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674;p44">
              <a:extLst>
                <a:ext uri="{FF2B5EF4-FFF2-40B4-BE49-F238E27FC236}">
                  <a16:creationId xmlns:a16="http://schemas.microsoft.com/office/drawing/2014/main" id="{8FF270D3-D01E-4187-A285-824187155396}"/>
                </a:ext>
              </a:extLst>
            </p:cNvPr>
            <p:cNvSpPr/>
            <p:nvPr/>
          </p:nvSpPr>
          <p:spPr>
            <a:xfrm>
              <a:off x="778027" y="3840979"/>
              <a:ext cx="56184" cy="47118"/>
            </a:xfrm>
            <a:custGeom>
              <a:avLst/>
              <a:gdLst/>
              <a:ahLst/>
              <a:cxnLst/>
              <a:rect l="l" t="t" r="r" b="b"/>
              <a:pathLst>
                <a:path w="3811" h="3196" extrusionOk="0">
                  <a:moveTo>
                    <a:pt x="1" y="3195"/>
                  </a:moveTo>
                  <a:lnTo>
                    <a:pt x="381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675;p44">
              <a:extLst>
                <a:ext uri="{FF2B5EF4-FFF2-40B4-BE49-F238E27FC236}">
                  <a16:creationId xmlns:a16="http://schemas.microsoft.com/office/drawing/2014/main" id="{2037A95B-1CDD-410F-B046-3360DDF9F3E6}"/>
                </a:ext>
              </a:extLst>
            </p:cNvPr>
            <p:cNvSpPr/>
            <p:nvPr/>
          </p:nvSpPr>
          <p:spPr>
            <a:xfrm>
              <a:off x="772306" y="3836748"/>
              <a:ext cx="66652" cy="55551"/>
            </a:xfrm>
            <a:custGeom>
              <a:avLst/>
              <a:gdLst/>
              <a:ahLst/>
              <a:cxnLst/>
              <a:rect l="l" t="t" r="r" b="b"/>
              <a:pathLst>
                <a:path w="4521" h="3768" extrusionOk="0">
                  <a:moveTo>
                    <a:pt x="4200" y="1"/>
                  </a:moveTo>
                  <a:cubicBezTo>
                    <a:pt x="4135" y="1"/>
                    <a:pt x="4068" y="23"/>
                    <a:pt x="4015" y="69"/>
                  </a:cubicBezTo>
                  <a:lnTo>
                    <a:pt x="205" y="3263"/>
                  </a:lnTo>
                  <a:cubicBezTo>
                    <a:pt x="1" y="3435"/>
                    <a:pt x="123" y="3767"/>
                    <a:pt x="389" y="3767"/>
                  </a:cubicBezTo>
                  <a:cubicBezTo>
                    <a:pt x="456" y="3767"/>
                    <a:pt x="522" y="3743"/>
                    <a:pt x="573" y="3701"/>
                  </a:cubicBezTo>
                  <a:lnTo>
                    <a:pt x="4382" y="506"/>
                  </a:lnTo>
                  <a:cubicBezTo>
                    <a:pt x="4504" y="405"/>
                    <a:pt x="4520" y="224"/>
                    <a:pt x="4419" y="102"/>
                  </a:cubicBezTo>
                  <a:cubicBezTo>
                    <a:pt x="4362" y="35"/>
                    <a:pt x="4282" y="1"/>
                    <a:pt x="4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676;p44">
              <a:extLst>
                <a:ext uri="{FF2B5EF4-FFF2-40B4-BE49-F238E27FC236}">
                  <a16:creationId xmlns:a16="http://schemas.microsoft.com/office/drawing/2014/main" id="{5C539D58-D157-4268-A3E5-42AB8287E9E1}"/>
                </a:ext>
              </a:extLst>
            </p:cNvPr>
            <p:cNvSpPr/>
            <p:nvPr/>
          </p:nvSpPr>
          <p:spPr>
            <a:xfrm>
              <a:off x="590278" y="3558184"/>
              <a:ext cx="22188" cy="88102"/>
            </a:xfrm>
            <a:custGeom>
              <a:avLst/>
              <a:gdLst/>
              <a:ahLst/>
              <a:cxnLst/>
              <a:rect l="l" t="t" r="r" b="b"/>
              <a:pathLst>
                <a:path w="1505" h="5976" extrusionOk="0">
                  <a:moveTo>
                    <a:pt x="0" y="1"/>
                  </a:moveTo>
                  <a:lnTo>
                    <a:pt x="71" y="4996"/>
                  </a:lnTo>
                  <a:lnTo>
                    <a:pt x="1505" y="5976"/>
                  </a:lnTo>
                  <a:lnTo>
                    <a:pt x="1285" y="554"/>
                  </a:lnTo>
                  <a:lnTo>
                    <a:pt x="0"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677;p44">
              <a:extLst>
                <a:ext uri="{FF2B5EF4-FFF2-40B4-BE49-F238E27FC236}">
                  <a16:creationId xmlns:a16="http://schemas.microsoft.com/office/drawing/2014/main" id="{238C3EEB-791D-454A-8185-D309A628B7CD}"/>
                </a:ext>
              </a:extLst>
            </p:cNvPr>
            <p:cNvSpPr/>
            <p:nvPr/>
          </p:nvSpPr>
          <p:spPr>
            <a:xfrm>
              <a:off x="586032" y="3553968"/>
              <a:ext cx="30739" cy="96535"/>
            </a:xfrm>
            <a:custGeom>
              <a:avLst/>
              <a:gdLst/>
              <a:ahLst/>
              <a:cxnLst/>
              <a:rect l="l" t="t" r="r" b="b"/>
              <a:pathLst>
                <a:path w="2085" h="6548" extrusionOk="0">
                  <a:moveTo>
                    <a:pt x="287" y="1"/>
                  </a:moveTo>
                  <a:cubicBezTo>
                    <a:pt x="136" y="1"/>
                    <a:pt x="0" y="124"/>
                    <a:pt x="2" y="290"/>
                  </a:cubicBezTo>
                  <a:lnTo>
                    <a:pt x="73" y="5287"/>
                  </a:lnTo>
                  <a:cubicBezTo>
                    <a:pt x="75" y="5442"/>
                    <a:pt x="222" y="5568"/>
                    <a:pt x="356" y="5568"/>
                  </a:cubicBezTo>
                  <a:cubicBezTo>
                    <a:pt x="359" y="5568"/>
                    <a:pt x="361" y="5568"/>
                    <a:pt x="363" y="5568"/>
                  </a:cubicBezTo>
                  <a:cubicBezTo>
                    <a:pt x="520" y="5566"/>
                    <a:pt x="647" y="5437"/>
                    <a:pt x="645" y="5279"/>
                  </a:cubicBezTo>
                  <a:lnTo>
                    <a:pt x="581" y="723"/>
                  </a:lnTo>
                  <a:lnTo>
                    <a:pt x="1295" y="1031"/>
                  </a:lnTo>
                  <a:lnTo>
                    <a:pt x="1507" y="6274"/>
                  </a:lnTo>
                  <a:cubicBezTo>
                    <a:pt x="1513" y="6427"/>
                    <a:pt x="1638" y="6548"/>
                    <a:pt x="1792" y="6548"/>
                  </a:cubicBezTo>
                  <a:lnTo>
                    <a:pt x="1804" y="6547"/>
                  </a:lnTo>
                  <a:cubicBezTo>
                    <a:pt x="1961" y="6541"/>
                    <a:pt x="2084" y="6407"/>
                    <a:pt x="2078" y="6250"/>
                  </a:cubicBezTo>
                  <a:lnTo>
                    <a:pt x="1858" y="827"/>
                  </a:lnTo>
                  <a:cubicBezTo>
                    <a:pt x="1854" y="717"/>
                    <a:pt x="1786" y="620"/>
                    <a:pt x="1685" y="577"/>
                  </a:cubicBezTo>
                  <a:lnTo>
                    <a:pt x="401" y="25"/>
                  </a:lnTo>
                  <a:cubicBezTo>
                    <a:pt x="363" y="8"/>
                    <a:pt x="325" y="1"/>
                    <a:pt x="2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678;p44">
              <a:extLst>
                <a:ext uri="{FF2B5EF4-FFF2-40B4-BE49-F238E27FC236}">
                  <a16:creationId xmlns:a16="http://schemas.microsoft.com/office/drawing/2014/main" id="{041BD50A-795E-4C1B-8074-405D9ACFE837}"/>
                </a:ext>
              </a:extLst>
            </p:cNvPr>
            <p:cNvSpPr/>
            <p:nvPr/>
          </p:nvSpPr>
          <p:spPr>
            <a:xfrm>
              <a:off x="941199" y="3566204"/>
              <a:ext cx="24075" cy="78092"/>
            </a:xfrm>
            <a:custGeom>
              <a:avLst/>
              <a:gdLst/>
              <a:ahLst/>
              <a:cxnLst/>
              <a:rect l="l" t="t" r="r" b="b"/>
              <a:pathLst>
                <a:path w="1633" h="5297" extrusionOk="0">
                  <a:moveTo>
                    <a:pt x="1138" y="0"/>
                  </a:moveTo>
                  <a:lnTo>
                    <a:pt x="0" y="301"/>
                  </a:lnTo>
                  <a:lnTo>
                    <a:pt x="71" y="5297"/>
                  </a:lnTo>
                  <a:lnTo>
                    <a:pt x="1633" y="4867"/>
                  </a:lnTo>
                  <a:lnTo>
                    <a:pt x="1138"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679;p44">
              <a:extLst>
                <a:ext uri="{FF2B5EF4-FFF2-40B4-BE49-F238E27FC236}">
                  <a16:creationId xmlns:a16="http://schemas.microsoft.com/office/drawing/2014/main" id="{6AF2F5C9-5472-4A19-9E9A-C95C641D1B09}"/>
                </a:ext>
              </a:extLst>
            </p:cNvPr>
            <p:cNvSpPr/>
            <p:nvPr/>
          </p:nvSpPr>
          <p:spPr>
            <a:xfrm>
              <a:off x="936968" y="3561988"/>
              <a:ext cx="32729" cy="86525"/>
            </a:xfrm>
            <a:custGeom>
              <a:avLst/>
              <a:gdLst/>
              <a:ahLst/>
              <a:cxnLst/>
              <a:rect l="l" t="t" r="r" b="b"/>
              <a:pathLst>
                <a:path w="2220" h="5869" extrusionOk="0">
                  <a:moveTo>
                    <a:pt x="1425" y="1"/>
                  </a:moveTo>
                  <a:cubicBezTo>
                    <a:pt x="1401" y="1"/>
                    <a:pt x="1376" y="4"/>
                    <a:pt x="1352" y="10"/>
                  </a:cubicBezTo>
                  <a:lnTo>
                    <a:pt x="214" y="312"/>
                  </a:lnTo>
                  <a:cubicBezTo>
                    <a:pt x="88" y="345"/>
                    <a:pt x="0" y="460"/>
                    <a:pt x="2" y="592"/>
                  </a:cubicBezTo>
                  <a:lnTo>
                    <a:pt x="73" y="5587"/>
                  </a:lnTo>
                  <a:cubicBezTo>
                    <a:pt x="75" y="5744"/>
                    <a:pt x="202" y="5869"/>
                    <a:pt x="358" y="5869"/>
                  </a:cubicBezTo>
                  <a:lnTo>
                    <a:pt x="362" y="5869"/>
                  </a:lnTo>
                  <a:cubicBezTo>
                    <a:pt x="520" y="5867"/>
                    <a:pt x="646" y="5737"/>
                    <a:pt x="644" y="5580"/>
                  </a:cubicBezTo>
                  <a:lnTo>
                    <a:pt x="576" y="806"/>
                  </a:lnTo>
                  <a:lnTo>
                    <a:pt x="1175" y="648"/>
                  </a:lnTo>
                  <a:lnTo>
                    <a:pt x="1636" y="5181"/>
                  </a:lnTo>
                  <a:cubicBezTo>
                    <a:pt x="1650" y="5326"/>
                    <a:pt x="1767" y="5438"/>
                    <a:pt x="1912" y="5438"/>
                  </a:cubicBezTo>
                  <a:cubicBezTo>
                    <a:pt x="1924" y="5438"/>
                    <a:pt x="1936" y="5438"/>
                    <a:pt x="1948" y="5436"/>
                  </a:cubicBezTo>
                  <a:cubicBezTo>
                    <a:pt x="2106" y="5420"/>
                    <a:pt x="2220" y="5280"/>
                    <a:pt x="2204" y="5123"/>
                  </a:cubicBezTo>
                  <a:lnTo>
                    <a:pt x="1709" y="257"/>
                  </a:lnTo>
                  <a:cubicBezTo>
                    <a:pt x="1700" y="173"/>
                    <a:pt x="1657" y="98"/>
                    <a:pt x="1587" y="51"/>
                  </a:cubicBezTo>
                  <a:cubicBezTo>
                    <a:pt x="1539" y="18"/>
                    <a:pt x="1483" y="1"/>
                    <a:pt x="14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680;p44">
              <a:extLst>
                <a:ext uri="{FF2B5EF4-FFF2-40B4-BE49-F238E27FC236}">
                  <a16:creationId xmlns:a16="http://schemas.microsoft.com/office/drawing/2014/main" id="{EDC19CF8-29DE-48E4-A958-8D4027615CC3}"/>
                </a:ext>
              </a:extLst>
            </p:cNvPr>
            <p:cNvSpPr/>
            <p:nvPr/>
          </p:nvSpPr>
          <p:spPr>
            <a:xfrm>
              <a:off x="724864" y="3592918"/>
              <a:ext cx="24090" cy="71768"/>
            </a:xfrm>
            <a:custGeom>
              <a:avLst/>
              <a:gdLst/>
              <a:ahLst/>
              <a:cxnLst/>
              <a:rect l="l" t="t" r="r" b="b"/>
              <a:pathLst>
                <a:path w="1634" h="4868" extrusionOk="0">
                  <a:moveTo>
                    <a:pt x="1139" y="1"/>
                  </a:moveTo>
                  <a:lnTo>
                    <a:pt x="1" y="303"/>
                  </a:lnTo>
                  <a:lnTo>
                    <a:pt x="150" y="4766"/>
                  </a:lnTo>
                  <a:lnTo>
                    <a:pt x="1634" y="4868"/>
                  </a:lnTo>
                  <a:lnTo>
                    <a:pt x="113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681;p44">
              <a:extLst>
                <a:ext uri="{FF2B5EF4-FFF2-40B4-BE49-F238E27FC236}">
                  <a16:creationId xmlns:a16="http://schemas.microsoft.com/office/drawing/2014/main" id="{E03930D1-32AD-444B-BAEF-1AAD99EC6A85}"/>
                </a:ext>
              </a:extLst>
            </p:cNvPr>
            <p:cNvSpPr/>
            <p:nvPr/>
          </p:nvSpPr>
          <p:spPr>
            <a:xfrm>
              <a:off x="720618" y="3588716"/>
              <a:ext cx="32758" cy="80186"/>
            </a:xfrm>
            <a:custGeom>
              <a:avLst/>
              <a:gdLst/>
              <a:ahLst/>
              <a:cxnLst/>
              <a:rect l="l" t="t" r="r" b="b"/>
              <a:pathLst>
                <a:path w="2222" h="5439" extrusionOk="0">
                  <a:moveTo>
                    <a:pt x="1429" y="1"/>
                  </a:moveTo>
                  <a:cubicBezTo>
                    <a:pt x="1404" y="1"/>
                    <a:pt x="1379" y="4"/>
                    <a:pt x="1354" y="11"/>
                  </a:cubicBezTo>
                  <a:lnTo>
                    <a:pt x="217" y="312"/>
                  </a:lnTo>
                  <a:cubicBezTo>
                    <a:pt x="88" y="345"/>
                    <a:pt x="1" y="464"/>
                    <a:pt x="5" y="598"/>
                  </a:cubicBezTo>
                  <a:lnTo>
                    <a:pt x="154" y="5059"/>
                  </a:lnTo>
                  <a:cubicBezTo>
                    <a:pt x="158" y="5214"/>
                    <a:pt x="298" y="5335"/>
                    <a:pt x="441" y="5335"/>
                  </a:cubicBezTo>
                  <a:cubicBezTo>
                    <a:pt x="444" y="5335"/>
                    <a:pt x="446" y="5335"/>
                    <a:pt x="449" y="5335"/>
                  </a:cubicBezTo>
                  <a:cubicBezTo>
                    <a:pt x="606" y="5330"/>
                    <a:pt x="729" y="5198"/>
                    <a:pt x="724" y="5041"/>
                  </a:cubicBezTo>
                  <a:lnTo>
                    <a:pt x="584" y="805"/>
                  </a:lnTo>
                  <a:lnTo>
                    <a:pt x="1177" y="648"/>
                  </a:lnTo>
                  <a:lnTo>
                    <a:pt x="1638" y="5182"/>
                  </a:lnTo>
                  <a:cubicBezTo>
                    <a:pt x="1652" y="5328"/>
                    <a:pt x="1775" y="5438"/>
                    <a:pt x="1922" y="5439"/>
                  </a:cubicBezTo>
                  <a:cubicBezTo>
                    <a:pt x="1932" y="5439"/>
                    <a:pt x="1941" y="5438"/>
                    <a:pt x="1951" y="5436"/>
                  </a:cubicBezTo>
                  <a:cubicBezTo>
                    <a:pt x="2108" y="5420"/>
                    <a:pt x="2222" y="5281"/>
                    <a:pt x="2207" y="5123"/>
                  </a:cubicBezTo>
                  <a:lnTo>
                    <a:pt x="1712" y="257"/>
                  </a:lnTo>
                  <a:cubicBezTo>
                    <a:pt x="1697" y="108"/>
                    <a:pt x="1571" y="1"/>
                    <a:pt x="14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682;p44">
              <a:extLst>
                <a:ext uri="{FF2B5EF4-FFF2-40B4-BE49-F238E27FC236}">
                  <a16:creationId xmlns:a16="http://schemas.microsoft.com/office/drawing/2014/main" id="{AA252948-DA8D-41BC-ACF2-66299EA3D791}"/>
                </a:ext>
              </a:extLst>
            </p:cNvPr>
            <p:cNvSpPr/>
            <p:nvPr/>
          </p:nvSpPr>
          <p:spPr>
            <a:xfrm>
              <a:off x="547716" y="2942396"/>
              <a:ext cx="487792" cy="660400"/>
            </a:xfrm>
            <a:custGeom>
              <a:avLst/>
              <a:gdLst/>
              <a:ahLst/>
              <a:cxnLst/>
              <a:rect l="l" t="t" r="r" b="b"/>
              <a:pathLst>
                <a:path w="33087" h="44795" extrusionOk="0">
                  <a:moveTo>
                    <a:pt x="16422" y="1"/>
                  </a:moveTo>
                  <a:cubicBezTo>
                    <a:pt x="14570" y="1"/>
                    <a:pt x="13104" y="274"/>
                    <a:pt x="13104" y="274"/>
                  </a:cubicBezTo>
                  <a:cubicBezTo>
                    <a:pt x="13104" y="274"/>
                    <a:pt x="116" y="3883"/>
                    <a:pt x="132" y="5024"/>
                  </a:cubicBezTo>
                  <a:cubicBezTo>
                    <a:pt x="149" y="6167"/>
                    <a:pt x="1" y="36148"/>
                    <a:pt x="36" y="38621"/>
                  </a:cubicBezTo>
                  <a:cubicBezTo>
                    <a:pt x="70" y="41096"/>
                    <a:pt x="3426" y="42857"/>
                    <a:pt x="7916" y="44030"/>
                  </a:cubicBezTo>
                  <a:cubicBezTo>
                    <a:pt x="9998" y="44574"/>
                    <a:pt x="13345" y="44794"/>
                    <a:pt x="16553" y="44794"/>
                  </a:cubicBezTo>
                  <a:cubicBezTo>
                    <a:pt x="20261" y="44794"/>
                    <a:pt x="23784" y="44501"/>
                    <a:pt x="24952" y="44076"/>
                  </a:cubicBezTo>
                  <a:cubicBezTo>
                    <a:pt x="27130" y="43283"/>
                    <a:pt x="30069" y="42481"/>
                    <a:pt x="30430" y="41048"/>
                  </a:cubicBezTo>
                  <a:cubicBezTo>
                    <a:pt x="30790" y="39615"/>
                    <a:pt x="30592" y="25532"/>
                    <a:pt x="30653" y="23152"/>
                  </a:cubicBezTo>
                  <a:cubicBezTo>
                    <a:pt x="30715" y="20773"/>
                    <a:pt x="33087" y="13505"/>
                    <a:pt x="32288" y="10852"/>
                  </a:cubicBezTo>
                  <a:cubicBezTo>
                    <a:pt x="31489" y="8199"/>
                    <a:pt x="29936" y="6032"/>
                    <a:pt x="28303" y="5008"/>
                  </a:cubicBezTo>
                  <a:cubicBezTo>
                    <a:pt x="26670" y="3984"/>
                    <a:pt x="22345" y="904"/>
                    <a:pt x="19386" y="280"/>
                  </a:cubicBezTo>
                  <a:cubicBezTo>
                    <a:pt x="18392" y="71"/>
                    <a:pt x="17358" y="1"/>
                    <a:pt x="1642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683;p44">
              <a:extLst>
                <a:ext uri="{FF2B5EF4-FFF2-40B4-BE49-F238E27FC236}">
                  <a16:creationId xmlns:a16="http://schemas.microsoft.com/office/drawing/2014/main" id="{4516E6FF-E676-4163-BFD6-E762F9EAF251}"/>
                </a:ext>
              </a:extLst>
            </p:cNvPr>
            <p:cNvSpPr/>
            <p:nvPr/>
          </p:nvSpPr>
          <p:spPr>
            <a:xfrm>
              <a:off x="543706" y="2938165"/>
              <a:ext cx="491861" cy="668773"/>
            </a:xfrm>
            <a:custGeom>
              <a:avLst/>
              <a:gdLst/>
              <a:ahLst/>
              <a:cxnLst/>
              <a:rect l="l" t="t" r="r" b="b"/>
              <a:pathLst>
                <a:path w="33363" h="45363" extrusionOk="0">
                  <a:moveTo>
                    <a:pt x="16701" y="574"/>
                  </a:moveTo>
                  <a:cubicBezTo>
                    <a:pt x="17620" y="574"/>
                    <a:pt x="18632" y="642"/>
                    <a:pt x="19599" y="846"/>
                  </a:cubicBezTo>
                  <a:cubicBezTo>
                    <a:pt x="22041" y="1362"/>
                    <a:pt x="25438" y="3587"/>
                    <a:pt x="27466" y="4917"/>
                  </a:cubicBezTo>
                  <a:cubicBezTo>
                    <a:pt x="27842" y="5162"/>
                    <a:pt x="28167" y="5375"/>
                    <a:pt x="28423" y="5537"/>
                  </a:cubicBezTo>
                  <a:cubicBezTo>
                    <a:pt x="30059" y="6563"/>
                    <a:pt x="31540" y="8741"/>
                    <a:pt x="32286" y="11222"/>
                  </a:cubicBezTo>
                  <a:cubicBezTo>
                    <a:pt x="32772" y="12835"/>
                    <a:pt x="31995" y="16408"/>
                    <a:pt x="31371" y="19278"/>
                  </a:cubicBezTo>
                  <a:cubicBezTo>
                    <a:pt x="30991" y="21026"/>
                    <a:pt x="30663" y="22536"/>
                    <a:pt x="30640" y="23433"/>
                  </a:cubicBezTo>
                  <a:cubicBezTo>
                    <a:pt x="30621" y="24156"/>
                    <a:pt x="30626" y="25912"/>
                    <a:pt x="30632" y="28135"/>
                  </a:cubicBezTo>
                  <a:cubicBezTo>
                    <a:pt x="30646" y="32979"/>
                    <a:pt x="30668" y="40301"/>
                    <a:pt x="30425" y="41265"/>
                  </a:cubicBezTo>
                  <a:cubicBezTo>
                    <a:pt x="30153" y="42345"/>
                    <a:pt x="27999" y="43093"/>
                    <a:pt x="26098" y="43753"/>
                  </a:cubicBezTo>
                  <a:cubicBezTo>
                    <a:pt x="25765" y="43868"/>
                    <a:pt x="25438" y="43982"/>
                    <a:pt x="25127" y="44095"/>
                  </a:cubicBezTo>
                  <a:cubicBezTo>
                    <a:pt x="24024" y="44497"/>
                    <a:pt x="20479" y="44803"/>
                    <a:pt x="16736" y="44803"/>
                  </a:cubicBezTo>
                  <a:cubicBezTo>
                    <a:pt x="13616" y="44803"/>
                    <a:pt x="10358" y="44590"/>
                    <a:pt x="8260" y="44042"/>
                  </a:cubicBezTo>
                  <a:cubicBezTo>
                    <a:pt x="4782" y="43132"/>
                    <a:pt x="629" y="41503"/>
                    <a:pt x="592" y="38905"/>
                  </a:cubicBezTo>
                  <a:cubicBezTo>
                    <a:pt x="572" y="37435"/>
                    <a:pt x="616" y="26188"/>
                    <a:pt x="652" y="17150"/>
                  </a:cubicBezTo>
                  <a:cubicBezTo>
                    <a:pt x="676" y="11045"/>
                    <a:pt x="698" y="5773"/>
                    <a:pt x="684" y="5347"/>
                  </a:cubicBezTo>
                  <a:cubicBezTo>
                    <a:pt x="1013" y="4654"/>
                    <a:pt x="7426" y="2511"/>
                    <a:pt x="13440" y="839"/>
                  </a:cubicBezTo>
                  <a:cubicBezTo>
                    <a:pt x="13581" y="814"/>
                    <a:pt x="14976" y="574"/>
                    <a:pt x="16701" y="574"/>
                  </a:cubicBezTo>
                  <a:close/>
                  <a:moveTo>
                    <a:pt x="16682" y="1"/>
                  </a:moveTo>
                  <a:cubicBezTo>
                    <a:pt x="14858" y="1"/>
                    <a:pt x="13415" y="264"/>
                    <a:pt x="13324" y="280"/>
                  </a:cubicBezTo>
                  <a:cubicBezTo>
                    <a:pt x="13316" y="282"/>
                    <a:pt x="13308" y="283"/>
                    <a:pt x="13300" y="285"/>
                  </a:cubicBezTo>
                  <a:cubicBezTo>
                    <a:pt x="8370" y="1656"/>
                    <a:pt x="102" y="4131"/>
                    <a:pt x="119" y="5316"/>
                  </a:cubicBezTo>
                  <a:cubicBezTo>
                    <a:pt x="126" y="5776"/>
                    <a:pt x="105" y="11046"/>
                    <a:pt x="81" y="17148"/>
                  </a:cubicBezTo>
                  <a:cubicBezTo>
                    <a:pt x="46" y="26189"/>
                    <a:pt x="1" y="37439"/>
                    <a:pt x="22" y="38914"/>
                  </a:cubicBezTo>
                  <a:cubicBezTo>
                    <a:pt x="55" y="41287"/>
                    <a:pt x="2779" y="43198"/>
                    <a:pt x="8115" y="44594"/>
                  </a:cubicBezTo>
                  <a:cubicBezTo>
                    <a:pt x="10195" y="45138"/>
                    <a:pt x="13607" y="45363"/>
                    <a:pt x="16880" y="45363"/>
                  </a:cubicBezTo>
                  <a:cubicBezTo>
                    <a:pt x="20579" y="45363"/>
                    <a:pt x="24103" y="45075"/>
                    <a:pt x="25322" y="44632"/>
                  </a:cubicBezTo>
                  <a:cubicBezTo>
                    <a:pt x="25630" y="44519"/>
                    <a:pt x="25954" y="44407"/>
                    <a:pt x="26285" y="44292"/>
                  </a:cubicBezTo>
                  <a:cubicBezTo>
                    <a:pt x="28422" y="43550"/>
                    <a:pt x="30631" y="42784"/>
                    <a:pt x="30978" y="41406"/>
                  </a:cubicBezTo>
                  <a:cubicBezTo>
                    <a:pt x="31239" y="40372"/>
                    <a:pt x="31218" y="33298"/>
                    <a:pt x="31203" y="28134"/>
                  </a:cubicBezTo>
                  <a:cubicBezTo>
                    <a:pt x="31198" y="25916"/>
                    <a:pt x="31192" y="24163"/>
                    <a:pt x="31211" y="23448"/>
                  </a:cubicBezTo>
                  <a:cubicBezTo>
                    <a:pt x="31232" y="22606"/>
                    <a:pt x="31570" y="21048"/>
                    <a:pt x="31929" y="19400"/>
                  </a:cubicBezTo>
                  <a:cubicBezTo>
                    <a:pt x="32601" y="16312"/>
                    <a:pt x="33362" y="12813"/>
                    <a:pt x="32834" y="11058"/>
                  </a:cubicBezTo>
                  <a:cubicBezTo>
                    <a:pt x="32049" y="8451"/>
                    <a:pt x="30475" y="6150"/>
                    <a:pt x="28728" y="5054"/>
                  </a:cubicBezTo>
                  <a:cubicBezTo>
                    <a:pt x="28473" y="4894"/>
                    <a:pt x="28151" y="4683"/>
                    <a:pt x="27780" y="4441"/>
                  </a:cubicBezTo>
                  <a:cubicBezTo>
                    <a:pt x="25716" y="3088"/>
                    <a:pt x="22263" y="826"/>
                    <a:pt x="19716" y="289"/>
                  </a:cubicBezTo>
                  <a:cubicBezTo>
                    <a:pt x="18693" y="73"/>
                    <a:pt x="17636" y="1"/>
                    <a:pt x="166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684;p44">
              <a:extLst>
                <a:ext uri="{FF2B5EF4-FFF2-40B4-BE49-F238E27FC236}">
                  <a16:creationId xmlns:a16="http://schemas.microsoft.com/office/drawing/2014/main" id="{4496C722-B0A0-4582-AD69-F7AEB5D8CC37}"/>
                </a:ext>
              </a:extLst>
            </p:cNvPr>
            <p:cNvSpPr/>
            <p:nvPr/>
          </p:nvSpPr>
          <p:spPr>
            <a:xfrm>
              <a:off x="873353" y="3060942"/>
              <a:ext cx="52292" cy="521169"/>
            </a:xfrm>
            <a:custGeom>
              <a:avLst/>
              <a:gdLst/>
              <a:ahLst/>
              <a:cxnLst/>
              <a:rect l="l" t="t" r="r" b="b"/>
              <a:pathLst>
                <a:path w="3547" h="35351" extrusionOk="0">
                  <a:moveTo>
                    <a:pt x="310" y="1"/>
                  </a:moveTo>
                  <a:cubicBezTo>
                    <a:pt x="293" y="1"/>
                    <a:pt x="276" y="2"/>
                    <a:pt x="259" y="6"/>
                  </a:cubicBezTo>
                  <a:cubicBezTo>
                    <a:pt x="103" y="33"/>
                    <a:pt x="0" y="182"/>
                    <a:pt x="28" y="337"/>
                  </a:cubicBezTo>
                  <a:cubicBezTo>
                    <a:pt x="45" y="427"/>
                    <a:pt x="1652" y="9427"/>
                    <a:pt x="892" y="13702"/>
                  </a:cubicBezTo>
                  <a:cubicBezTo>
                    <a:pt x="358" y="16705"/>
                    <a:pt x="897" y="26699"/>
                    <a:pt x="1443" y="28756"/>
                  </a:cubicBezTo>
                  <a:cubicBezTo>
                    <a:pt x="2137" y="31377"/>
                    <a:pt x="2306" y="34433"/>
                    <a:pt x="1369" y="34800"/>
                  </a:cubicBezTo>
                  <a:cubicBezTo>
                    <a:pt x="1241" y="34850"/>
                    <a:pt x="1166" y="34983"/>
                    <a:pt x="1192" y="35119"/>
                  </a:cubicBezTo>
                  <a:cubicBezTo>
                    <a:pt x="1217" y="35253"/>
                    <a:pt x="1334" y="35351"/>
                    <a:pt x="1471" y="35351"/>
                  </a:cubicBezTo>
                  <a:cubicBezTo>
                    <a:pt x="1472" y="35351"/>
                    <a:pt x="1472" y="35351"/>
                    <a:pt x="1473" y="35351"/>
                  </a:cubicBezTo>
                  <a:cubicBezTo>
                    <a:pt x="1508" y="35351"/>
                    <a:pt x="1544" y="35344"/>
                    <a:pt x="1577" y="35331"/>
                  </a:cubicBezTo>
                  <a:cubicBezTo>
                    <a:pt x="3546" y="34561"/>
                    <a:pt x="2010" y="28669"/>
                    <a:pt x="1995" y="28610"/>
                  </a:cubicBezTo>
                  <a:cubicBezTo>
                    <a:pt x="1458" y="26587"/>
                    <a:pt x="929" y="16757"/>
                    <a:pt x="1454" y="13802"/>
                  </a:cubicBezTo>
                  <a:cubicBezTo>
                    <a:pt x="2231" y="9427"/>
                    <a:pt x="658" y="609"/>
                    <a:pt x="590" y="236"/>
                  </a:cubicBezTo>
                  <a:cubicBezTo>
                    <a:pt x="565" y="98"/>
                    <a:pt x="445" y="1"/>
                    <a:pt x="3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685;p44">
              <a:extLst>
                <a:ext uri="{FF2B5EF4-FFF2-40B4-BE49-F238E27FC236}">
                  <a16:creationId xmlns:a16="http://schemas.microsoft.com/office/drawing/2014/main" id="{2E1D521E-797E-4A21-A38A-55C085660A26}"/>
                </a:ext>
              </a:extLst>
            </p:cNvPr>
            <p:cNvSpPr/>
            <p:nvPr/>
          </p:nvSpPr>
          <p:spPr>
            <a:xfrm>
              <a:off x="707586" y="2858598"/>
              <a:ext cx="230193" cy="223809"/>
            </a:xfrm>
            <a:custGeom>
              <a:avLst/>
              <a:gdLst/>
              <a:ahLst/>
              <a:cxnLst/>
              <a:rect l="l" t="t" r="r" b="b"/>
              <a:pathLst>
                <a:path w="15614" h="15181" extrusionOk="0">
                  <a:moveTo>
                    <a:pt x="7579" y="0"/>
                  </a:moveTo>
                  <a:cubicBezTo>
                    <a:pt x="7504" y="0"/>
                    <a:pt x="7437" y="7"/>
                    <a:pt x="7377" y="21"/>
                  </a:cubicBezTo>
                  <a:cubicBezTo>
                    <a:pt x="6243" y="280"/>
                    <a:pt x="5116" y="946"/>
                    <a:pt x="5116" y="946"/>
                  </a:cubicBezTo>
                  <a:cubicBezTo>
                    <a:pt x="5116" y="946"/>
                    <a:pt x="5091" y="945"/>
                    <a:pt x="5048" y="945"/>
                  </a:cubicBezTo>
                  <a:cubicBezTo>
                    <a:pt x="4754" y="945"/>
                    <a:pt x="3591" y="991"/>
                    <a:pt x="3178" y="1705"/>
                  </a:cubicBezTo>
                  <a:cubicBezTo>
                    <a:pt x="2701" y="2523"/>
                    <a:pt x="1" y="6784"/>
                    <a:pt x="1" y="6784"/>
                  </a:cubicBezTo>
                  <a:lnTo>
                    <a:pt x="3530" y="15181"/>
                  </a:lnTo>
                  <a:lnTo>
                    <a:pt x="7619" y="11387"/>
                  </a:lnTo>
                  <a:lnTo>
                    <a:pt x="11553" y="14011"/>
                  </a:lnTo>
                  <a:lnTo>
                    <a:pt x="13128" y="10497"/>
                  </a:lnTo>
                  <a:lnTo>
                    <a:pt x="15613" y="13955"/>
                  </a:lnTo>
                  <a:cubicBezTo>
                    <a:pt x="15613" y="13955"/>
                    <a:pt x="14365" y="6094"/>
                    <a:pt x="13525" y="4076"/>
                  </a:cubicBezTo>
                  <a:cubicBezTo>
                    <a:pt x="12729" y="2163"/>
                    <a:pt x="8938" y="0"/>
                    <a:pt x="757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686;p44">
              <a:extLst>
                <a:ext uri="{FF2B5EF4-FFF2-40B4-BE49-F238E27FC236}">
                  <a16:creationId xmlns:a16="http://schemas.microsoft.com/office/drawing/2014/main" id="{313A2802-8363-4635-AF93-A1D229BC1D41}"/>
                </a:ext>
              </a:extLst>
            </p:cNvPr>
            <p:cNvSpPr/>
            <p:nvPr/>
          </p:nvSpPr>
          <p:spPr>
            <a:xfrm>
              <a:off x="703163" y="2854411"/>
              <a:ext cx="239068" cy="232198"/>
            </a:xfrm>
            <a:custGeom>
              <a:avLst/>
              <a:gdLst/>
              <a:ahLst/>
              <a:cxnLst/>
              <a:rect l="l" t="t" r="r" b="b"/>
              <a:pathLst>
                <a:path w="16216" h="15750" extrusionOk="0">
                  <a:moveTo>
                    <a:pt x="7882" y="568"/>
                  </a:moveTo>
                  <a:cubicBezTo>
                    <a:pt x="9019" y="568"/>
                    <a:pt x="12793" y="2625"/>
                    <a:pt x="13561" y="4469"/>
                  </a:cubicBezTo>
                  <a:cubicBezTo>
                    <a:pt x="14183" y="5961"/>
                    <a:pt x="15047" y="10803"/>
                    <a:pt x="15433" y="13080"/>
                  </a:cubicBezTo>
                  <a:lnTo>
                    <a:pt x="13660" y="10614"/>
                  </a:lnTo>
                  <a:cubicBezTo>
                    <a:pt x="13605" y="10539"/>
                    <a:pt x="13519" y="10495"/>
                    <a:pt x="13427" y="10495"/>
                  </a:cubicBezTo>
                  <a:cubicBezTo>
                    <a:pt x="13417" y="10495"/>
                    <a:pt x="13408" y="10496"/>
                    <a:pt x="13399" y="10497"/>
                  </a:cubicBezTo>
                  <a:cubicBezTo>
                    <a:pt x="13298" y="10506"/>
                    <a:pt x="13210" y="10571"/>
                    <a:pt x="13168" y="10663"/>
                  </a:cubicBezTo>
                  <a:lnTo>
                    <a:pt x="11731" y="13870"/>
                  </a:lnTo>
                  <a:lnTo>
                    <a:pt x="8077" y="11434"/>
                  </a:lnTo>
                  <a:cubicBezTo>
                    <a:pt x="8029" y="11401"/>
                    <a:pt x="7973" y="11385"/>
                    <a:pt x="7918" y="11385"/>
                  </a:cubicBezTo>
                  <a:cubicBezTo>
                    <a:pt x="7848" y="11385"/>
                    <a:pt x="7778" y="11411"/>
                    <a:pt x="7724" y="11461"/>
                  </a:cubicBezTo>
                  <a:lnTo>
                    <a:pt x="3935" y="14978"/>
                  </a:lnTo>
                  <a:lnTo>
                    <a:pt x="622" y="7095"/>
                  </a:lnTo>
                  <a:cubicBezTo>
                    <a:pt x="1080" y="6370"/>
                    <a:pt x="3292" y="2876"/>
                    <a:pt x="3724" y="2131"/>
                  </a:cubicBezTo>
                  <a:cubicBezTo>
                    <a:pt x="4024" y="1616"/>
                    <a:pt x="4935" y="1514"/>
                    <a:pt x="5337" y="1514"/>
                  </a:cubicBezTo>
                  <a:cubicBezTo>
                    <a:pt x="5361" y="1514"/>
                    <a:pt x="5384" y="1514"/>
                    <a:pt x="5404" y="1515"/>
                  </a:cubicBezTo>
                  <a:cubicBezTo>
                    <a:pt x="5409" y="1515"/>
                    <a:pt x="5414" y="1515"/>
                    <a:pt x="5420" y="1515"/>
                  </a:cubicBezTo>
                  <a:cubicBezTo>
                    <a:pt x="5470" y="1515"/>
                    <a:pt x="5518" y="1501"/>
                    <a:pt x="5561" y="1475"/>
                  </a:cubicBezTo>
                  <a:cubicBezTo>
                    <a:pt x="5571" y="1469"/>
                    <a:pt x="6665" y="829"/>
                    <a:pt x="7740" y="582"/>
                  </a:cubicBezTo>
                  <a:cubicBezTo>
                    <a:pt x="7781" y="573"/>
                    <a:pt x="7829" y="568"/>
                    <a:pt x="7882" y="568"/>
                  </a:cubicBezTo>
                  <a:close/>
                  <a:moveTo>
                    <a:pt x="7861" y="1"/>
                  </a:moveTo>
                  <a:cubicBezTo>
                    <a:pt x="7770" y="1"/>
                    <a:pt x="7686" y="9"/>
                    <a:pt x="7613" y="26"/>
                  </a:cubicBezTo>
                  <a:cubicBezTo>
                    <a:pt x="6601" y="258"/>
                    <a:pt x="5613" y="789"/>
                    <a:pt x="5341" y="943"/>
                  </a:cubicBezTo>
                  <a:cubicBezTo>
                    <a:pt x="4994" y="943"/>
                    <a:pt x="3720" y="1004"/>
                    <a:pt x="3231" y="1844"/>
                  </a:cubicBezTo>
                  <a:cubicBezTo>
                    <a:pt x="2763" y="2648"/>
                    <a:pt x="87" y="6872"/>
                    <a:pt x="60" y="6916"/>
                  </a:cubicBezTo>
                  <a:cubicBezTo>
                    <a:pt x="10" y="6994"/>
                    <a:pt x="1" y="7093"/>
                    <a:pt x="37" y="7179"/>
                  </a:cubicBezTo>
                  <a:lnTo>
                    <a:pt x="3567" y="15575"/>
                  </a:lnTo>
                  <a:cubicBezTo>
                    <a:pt x="3603" y="15661"/>
                    <a:pt x="3679" y="15724"/>
                    <a:pt x="3770" y="15743"/>
                  </a:cubicBezTo>
                  <a:cubicBezTo>
                    <a:pt x="3790" y="15747"/>
                    <a:pt x="3809" y="15750"/>
                    <a:pt x="3830" y="15750"/>
                  </a:cubicBezTo>
                  <a:cubicBezTo>
                    <a:pt x="3902" y="15750"/>
                    <a:pt x="3971" y="15722"/>
                    <a:pt x="4024" y="15674"/>
                  </a:cubicBezTo>
                  <a:lnTo>
                    <a:pt x="7947" y="12034"/>
                  </a:lnTo>
                  <a:lnTo>
                    <a:pt x="11695" y="14533"/>
                  </a:lnTo>
                  <a:cubicBezTo>
                    <a:pt x="11744" y="14566"/>
                    <a:pt x="11799" y="14581"/>
                    <a:pt x="11853" y="14581"/>
                  </a:cubicBezTo>
                  <a:cubicBezTo>
                    <a:pt x="11961" y="14581"/>
                    <a:pt x="12066" y="14520"/>
                    <a:pt x="12114" y="14412"/>
                  </a:cubicBezTo>
                  <a:lnTo>
                    <a:pt x="13485" y="11350"/>
                  </a:lnTo>
                  <a:lnTo>
                    <a:pt x="15681" y="14405"/>
                  </a:lnTo>
                  <a:cubicBezTo>
                    <a:pt x="15736" y="14482"/>
                    <a:pt x="15823" y="14524"/>
                    <a:pt x="15913" y="14524"/>
                  </a:cubicBezTo>
                  <a:cubicBezTo>
                    <a:pt x="15949" y="14524"/>
                    <a:pt x="15986" y="14517"/>
                    <a:pt x="16021" y="14503"/>
                  </a:cubicBezTo>
                  <a:cubicBezTo>
                    <a:pt x="16144" y="14452"/>
                    <a:pt x="16216" y="14324"/>
                    <a:pt x="16195" y="14193"/>
                  </a:cubicBezTo>
                  <a:cubicBezTo>
                    <a:pt x="16144" y="13871"/>
                    <a:pt x="14932" y="6276"/>
                    <a:pt x="14088" y="4250"/>
                  </a:cubicBezTo>
                  <a:cubicBezTo>
                    <a:pt x="13253" y="2244"/>
                    <a:pt x="9374" y="1"/>
                    <a:pt x="78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687;p44">
              <a:extLst>
                <a:ext uri="{FF2B5EF4-FFF2-40B4-BE49-F238E27FC236}">
                  <a16:creationId xmlns:a16="http://schemas.microsoft.com/office/drawing/2014/main" id="{31AB8940-A112-4D1A-9025-965E0D549095}"/>
                </a:ext>
              </a:extLst>
            </p:cNvPr>
            <p:cNvSpPr/>
            <p:nvPr/>
          </p:nvSpPr>
          <p:spPr>
            <a:xfrm>
              <a:off x="775638" y="2785135"/>
              <a:ext cx="114580" cy="280038"/>
            </a:xfrm>
            <a:custGeom>
              <a:avLst/>
              <a:gdLst/>
              <a:ahLst/>
              <a:cxnLst/>
              <a:rect l="l" t="t" r="r" b="b"/>
              <a:pathLst>
                <a:path w="7772" h="18995" extrusionOk="0">
                  <a:moveTo>
                    <a:pt x="498" y="1"/>
                  </a:moveTo>
                  <a:cubicBezTo>
                    <a:pt x="498" y="1"/>
                    <a:pt x="1" y="5123"/>
                    <a:pt x="31" y="7234"/>
                  </a:cubicBezTo>
                  <a:cubicBezTo>
                    <a:pt x="61" y="9346"/>
                    <a:pt x="2407" y="14429"/>
                    <a:pt x="3068" y="15231"/>
                  </a:cubicBezTo>
                  <a:cubicBezTo>
                    <a:pt x="3729" y="16035"/>
                    <a:pt x="6937" y="18994"/>
                    <a:pt x="6937" y="18994"/>
                  </a:cubicBezTo>
                  <a:cubicBezTo>
                    <a:pt x="6937" y="18994"/>
                    <a:pt x="7362" y="14522"/>
                    <a:pt x="7501" y="12895"/>
                  </a:cubicBezTo>
                  <a:cubicBezTo>
                    <a:pt x="7640" y="11269"/>
                    <a:pt x="7772" y="9075"/>
                    <a:pt x="7772" y="9075"/>
                  </a:cubicBezTo>
                  <a:cubicBezTo>
                    <a:pt x="7772" y="9075"/>
                    <a:pt x="4320" y="6199"/>
                    <a:pt x="3237" y="4265"/>
                  </a:cubicBezTo>
                  <a:cubicBezTo>
                    <a:pt x="2155" y="2331"/>
                    <a:pt x="498" y="1"/>
                    <a:pt x="4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688;p44">
              <a:extLst>
                <a:ext uri="{FF2B5EF4-FFF2-40B4-BE49-F238E27FC236}">
                  <a16:creationId xmlns:a16="http://schemas.microsoft.com/office/drawing/2014/main" id="{3EA5A2B4-B80C-4D48-90E9-3B88841F88E8}"/>
                </a:ext>
              </a:extLst>
            </p:cNvPr>
            <p:cNvSpPr/>
            <p:nvPr/>
          </p:nvSpPr>
          <p:spPr>
            <a:xfrm>
              <a:off x="771451" y="2780919"/>
              <a:ext cx="123057" cy="288456"/>
            </a:xfrm>
            <a:custGeom>
              <a:avLst/>
              <a:gdLst/>
              <a:ahLst/>
              <a:cxnLst/>
              <a:rect l="l" t="t" r="r" b="b"/>
              <a:pathLst>
                <a:path w="8347" h="19566" extrusionOk="0">
                  <a:moveTo>
                    <a:pt x="994" y="1092"/>
                  </a:moveTo>
                  <a:cubicBezTo>
                    <a:pt x="1560" y="1918"/>
                    <a:pt x="2551" y="3402"/>
                    <a:pt x="3272" y="4691"/>
                  </a:cubicBezTo>
                  <a:cubicBezTo>
                    <a:pt x="4270" y="6474"/>
                    <a:pt x="7149" y="8966"/>
                    <a:pt x="7762" y="9486"/>
                  </a:cubicBezTo>
                  <a:cubicBezTo>
                    <a:pt x="7731" y="9999"/>
                    <a:pt x="7618" y="11790"/>
                    <a:pt x="7500" y="13156"/>
                  </a:cubicBezTo>
                  <a:cubicBezTo>
                    <a:pt x="7392" y="14423"/>
                    <a:pt x="7111" y="17417"/>
                    <a:pt x="6992" y="18678"/>
                  </a:cubicBezTo>
                  <a:cubicBezTo>
                    <a:pt x="6100" y="17847"/>
                    <a:pt x="4070" y="15943"/>
                    <a:pt x="3572" y="15336"/>
                  </a:cubicBezTo>
                  <a:cubicBezTo>
                    <a:pt x="2973" y="14610"/>
                    <a:pt x="630" y="9570"/>
                    <a:pt x="600" y="7516"/>
                  </a:cubicBezTo>
                  <a:cubicBezTo>
                    <a:pt x="578" y="5936"/>
                    <a:pt x="858" y="2605"/>
                    <a:pt x="994" y="1092"/>
                  </a:cubicBezTo>
                  <a:close/>
                  <a:moveTo>
                    <a:pt x="783" y="1"/>
                  </a:moveTo>
                  <a:cubicBezTo>
                    <a:pt x="647" y="1"/>
                    <a:pt x="513" y="97"/>
                    <a:pt x="497" y="258"/>
                  </a:cubicBezTo>
                  <a:cubicBezTo>
                    <a:pt x="476" y="468"/>
                    <a:pt x="0" y="5422"/>
                    <a:pt x="29" y="7525"/>
                  </a:cubicBezTo>
                  <a:cubicBezTo>
                    <a:pt x="61" y="9784"/>
                    <a:pt x="2470" y="14897"/>
                    <a:pt x="3131" y="15699"/>
                  </a:cubicBezTo>
                  <a:cubicBezTo>
                    <a:pt x="3798" y="16508"/>
                    <a:pt x="6896" y="19369"/>
                    <a:pt x="7028" y="19490"/>
                  </a:cubicBezTo>
                  <a:cubicBezTo>
                    <a:pt x="7081" y="19539"/>
                    <a:pt x="7149" y="19566"/>
                    <a:pt x="7221" y="19566"/>
                  </a:cubicBezTo>
                  <a:cubicBezTo>
                    <a:pt x="7368" y="19566"/>
                    <a:pt x="7491" y="19454"/>
                    <a:pt x="7505" y="19307"/>
                  </a:cubicBezTo>
                  <a:cubicBezTo>
                    <a:pt x="7505" y="19307"/>
                    <a:pt x="7929" y="14833"/>
                    <a:pt x="8069" y="13206"/>
                  </a:cubicBezTo>
                  <a:cubicBezTo>
                    <a:pt x="8207" y="11595"/>
                    <a:pt x="8340" y="9400"/>
                    <a:pt x="8341" y="9378"/>
                  </a:cubicBezTo>
                  <a:cubicBezTo>
                    <a:pt x="8346" y="9287"/>
                    <a:pt x="8308" y="9199"/>
                    <a:pt x="8238" y="9141"/>
                  </a:cubicBezTo>
                  <a:cubicBezTo>
                    <a:pt x="8204" y="9113"/>
                    <a:pt x="4815" y="6278"/>
                    <a:pt x="3770" y="4412"/>
                  </a:cubicBezTo>
                  <a:cubicBezTo>
                    <a:pt x="2692" y="2487"/>
                    <a:pt x="1030" y="144"/>
                    <a:pt x="1013" y="121"/>
                  </a:cubicBezTo>
                  <a:cubicBezTo>
                    <a:pt x="954" y="39"/>
                    <a:pt x="868" y="1"/>
                    <a:pt x="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689;p44">
              <a:extLst>
                <a:ext uri="{FF2B5EF4-FFF2-40B4-BE49-F238E27FC236}">
                  <a16:creationId xmlns:a16="http://schemas.microsoft.com/office/drawing/2014/main" id="{4A29BEA6-D0B7-47FB-89D4-A951FDBD6441}"/>
                </a:ext>
              </a:extLst>
            </p:cNvPr>
            <p:cNvSpPr/>
            <p:nvPr/>
          </p:nvSpPr>
          <p:spPr>
            <a:xfrm>
              <a:off x="672321" y="2516789"/>
              <a:ext cx="363836" cy="346690"/>
            </a:xfrm>
            <a:custGeom>
              <a:avLst/>
              <a:gdLst/>
              <a:ahLst/>
              <a:cxnLst/>
              <a:rect l="l" t="t" r="r" b="b"/>
              <a:pathLst>
                <a:path w="24679" h="23516" extrusionOk="0">
                  <a:moveTo>
                    <a:pt x="12855" y="1"/>
                  </a:moveTo>
                  <a:cubicBezTo>
                    <a:pt x="9343" y="1"/>
                    <a:pt x="4767" y="2121"/>
                    <a:pt x="2618" y="5683"/>
                  </a:cubicBezTo>
                  <a:cubicBezTo>
                    <a:pt x="0" y="10024"/>
                    <a:pt x="3578" y="16146"/>
                    <a:pt x="3675" y="17200"/>
                  </a:cubicBezTo>
                  <a:cubicBezTo>
                    <a:pt x="3770" y="18255"/>
                    <a:pt x="1585" y="18773"/>
                    <a:pt x="1597" y="19666"/>
                  </a:cubicBezTo>
                  <a:cubicBezTo>
                    <a:pt x="1610" y="20558"/>
                    <a:pt x="2214" y="23069"/>
                    <a:pt x="4980" y="23435"/>
                  </a:cubicBezTo>
                  <a:cubicBezTo>
                    <a:pt x="5399" y="23491"/>
                    <a:pt x="5773" y="23515"/>
                    <a:pt x="6107" y="23515"/>
                  </a:cubicBezTo>
                  <a:cubicBezTo>
                    <a:pt x="7976" y="23515"/>
                    <a:pt x="8581" y="22742"/>
                    <a:pt x="8782" y="22326"/>
                  </a:cubicBezTo>
                  <a:cubicBezTo>
                    <a:pt x="9018" y="21835"/>
                    <a:pt x="15484" y="13866"/>
                    <a:pt x="16449" y="13121"/>
                  </a:cubicBezTo>
                  <a:cubicBezTo>
                    <a:pt x="16805" y="12846"/>
                    <a:pt x="17318" y="12512"/>
                    <a:pt x="17823" y="12200"/>
                  </a:cubicBezTo>
                  <a:cubicBezTo>
                    <a:pt x="18213" y="13954"/>
                    <a:pt x="19644" y="15835"/>
                    <a:pt x="20173" y="15835"/>
                  </a:cubicBezTo>
                  <a:cubicBezTo>
                    <a:pt x="20191" y="15835"/>
                    <a:pt x="20207" y="15833"/>
                    <a:pt x="20222" y="15829"/>
                  </a:cubicBezTo>
                  <a:cubicBezTo>
                    <a:pt x="20870" y="15658"/>
                    <a:pt x="24180" y="14312"/>
                    <a:pt x="24460" y="11059"/>
                  </a:cubicBezTo>
                  <a:cubicBezTo>
                    <a:pt x="24678" y="8503"/>
                    <a:pt x="22356" y="6840"/>
                    <a:pt x="21351" y="6243"/>
                  </a:cubicBezTo>
                  <a:cubicBezTo>
                    <a:pt x="20747" y="3784"/>
                    <a:pt x="18073" y="1345"/>
                    <a:pt x="14968" y="311"/>
                  </a:cubicBezTo>
                  <a:cubicBezTo>
                    <a:pt x="14339" y="102"/>
                    <a:pt x="13622" y="1"/>
                    <a:pt x="1285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690;p44">
              <a:extLst>
                <a:ext uri="{FF2B5EF4-FFF2-40B4-BE49-F238E27FC236}">
                  <a16:creationId xmlns:a16="http://schemas.microsoft.com/office/drawing/2014/main" id="{5114EA97-2AA7-4DF6-AC9E-9209289B0C4D}"/>
                </a:ext>
              </a:extLst>
            </p:cNvPr>
            <p:cNvSpPr/>
            <p:nvPr/>
          </p:nvSpPr>
          <p:spPr>
            <a:xfrm>
              <a:off x="675874" y="2512248"/>
              <a:ext cx="364573" cy="355432"/>
            </a:xfrm>
            <a:custGeom>
              <a:avLst/>
              <a:gdLst/>
              <a:ahLst/>
              <a:cxnLst/>
              <a:rect l="l" t="t" r="r" b="b"/>
              <a:pathLst>
                <a:path w="24729" h="24109" extrusionOk="0">
                  <a:moveTo>
                    <a:pt x="12620" y="596"/>
                  </a:moveTo>
                  <a:cubicBezTo>
                    <a:pt x="13357" y="596"/>
                    <a:pt x="14041" y="691"/>
                    <a:pt x="14637" y="890"/>
                  </a:cubicBezTo>
                  <a:cubicBezTo>
                    <a:pt x="17708" y="1913"/>
                    <a:pt x="20256" y="4269"/>
                    <a:pt x="20832" y="6619"/>
                  </a:cubicBezTo>
                  <a:cubicBezTo>
                    <a:pt x="20851" y="6694"/>
                    <a:pt x="20898" y="6757"/>
                    <a:pt x="20964" y="6798"/>
                  </a:cubicBezTo>
                  <a:cubicBezTo>
                    <a:pt x="21925" y="7367"/>
                    <a:pt x="24139" y="8950"/>
                    <a:pt x="23934" y="11343"/>
                  </a:cubicBezTo>
                  <a:cubicBezTo>
                    <a:pt x="23644" y="14724"/>
                    <a:pt x="19945" y="15853"/>
                    <a:pt x="19938" y="15859"/>
                  </a:cubicBezTo>
                  <a:cubicBezTo>
                    <a:pt x="19615" y="15816"/>
                    <a:pt x="18248" y="14186"/>
                    <a:pt x="17860" y="12447"/>
                  </a:cubicBezTo>
                  <a:cubicBezTo>
                    <a:pt x="17829" y="12309"/>
                    <a:pt x="17708" y="12223"/>
                    <a:pt x="17580" y="12223"/>
                  </a:cubicBezTo>
                  <a:cubicBezTo>
                    <a:pt x="17530" y="12223"/>
                    <a:pt x="17478" y="12237"/>
                    <a:pt x="17431" y="12266"/>
                  </a:cubicBezTo>
                  <a:cubicBezTo>
                    <a:pt x="16821" y="12643"/>
                    <a:pt x="16351" y="12959"/>
                    <a:pt x="16033" y="13204"/>
                  </a:cubicBezTo>
                  <a:cubicBezTo>
                    <a:pt x="15094" y="13928"/>
                    <a:pt x="8577" y="21902"/>
                    <a:pt x="8283" y="22510"/>
                  </a:cubicBezTo>
                  <a:cubicBezTo>
                    <a:pt x="8084" y="22925"/>
                    <a:pt x="7511" y="23539"/>
                    <a:pt x="5877" y="23539"/>
                  </a:cubicBezTo>
                  <a:cubicBezTo>
                    <a:pt x="5554" y="23539"/>
                    <a:pt x="5189" y="23515"/>
                    <a:pt x="4777" y="23460"/>
                  </a:cubicBezTo>
                  <a:cubicBezTo>
                    <a:pt x="2241" y="23123"/>
                    <a:pt x="1654" y="20826"/>
                    <a:pt x="1642" y="19970"/>
                  </a:cubicBezTo>
                  <a:cubicBezTo>
                    <a:pt x="1639" y="19699"/>
                    <a:pt x="2098" y="19379"/>
                    <a:pt x="2503" y="19097"/>
                  </a:cubicBezTo>
                  <a:cubicBezTo>
                    <a:pt x="3103" y="18678"/>
                    <a:pt x="3784" y="18204"/>
                    <a:pt x="3719" y="17482"/>
                  </a:cubicBezTo>
                  <a:cubicBezTo>
                    <a:pt x="3694" y="17217"/>
                    <a:pt x="3520" y="16774"/>
                    <a:pt x="3256" y="16104"/>
                  </a:cubicBezTo>
                  <a:cubicBezTo>
                    <a:pt x="2340" y="13773"/>
                    <a:pt x="634" y="9433"/>
                    <a:pt x="2622" y="6139"/>
                  </a:cubicBezTo>
                  <a:cubicBezTo>
                    <a:pt x="4736" y="2634"/>
                    <a:pt x="9233" y="596"/>
                    <a:pt x="12620" y="596"/>
                  </a:cubicBezTo>
                  <a:close/>
                  <a:moveTo>
                    <a:pt x="12549" y="0"/>
                  </a:moveTo>
                  <a:cubicBezTo>
                    <a:pt x="8568" y="0"/>
                    <a:pt x="3979" y="2784"/>
                    <a:pt x="2132" y="5843"/>
                  </a:cubicBezTo>
                  <a:cubicBezTo>
                    <a:pt x="1" y="9380"/>
                    <a:pt x="1840" y="14062"/>
                    <a:pt x="2725" y="16312"/>
                  </a:cubicBezTo>
                  <a:cubicBezTo>
                    <a:pt x="2943" y="16869"/>
                    <a:pt x="3133" y="17351"/>
                    <a:pt x="3149" y="17534"/>
                  </a:cubicBezTo>
                  <a:cubicBezTo>
                    <a:pt x="3185" y="17925"/>
                    <a:pt x="2672" y="18282"/>
                    <a:pt x="2176" y="18628"/>
                  </a:cubicBezTo>
                  <a:cubicBezTo>
                    <a:pt x="1629" y="19010"/>
                    <a:pt x="1063" y="19404"/>
                    <a:pt x="1071" y="19978"/>
                  </a:cubicBezTo>
                  <a:cubicBezTo>
                    <a:pt x="1084" y="20972"/>
                    <a:pt x="1764" y="23636"/>
                    <a:pt x="4701" y="24026"/>
                  </a:cubicBezTo>
                  <a:cubicBezTo>
                    <a:pt x="5086" y="24079"/>
                    <a:pt x="5474" y="24106"/>
                    <a:pt x="5863" y="24108"/>
                  </a:cubicBezTo>
                  <a:cubicBezTo>
                    <a:pt x="7819" y="24108"/>
                    <a:pt x="8538" y="23298"/>
                    <a:pt x="8797" y="22759"/>
                  </a:cubicBezTo>
                  <a:cubicBezTo>
                    <a:pt x="9005" y="22361"/>
                    <a:pt x="15382" y="14428"/>
                    <a:pt x="16382" y="13655"/>
                  </a:cubicBezTo>
                  <a:cubicBezTo>
                    <a:pt x="16626" y="13467"/>
                    <a:pt x="16969" y="13233"/>
                    <a:pt x="17403" y="12956"/>
                  </a:cubicBezTo>
                  <a:cubicBezTo>
                    <a:pt x="17833" y="14391"/>
                    <a:pt x="18854" y="15882"/>
                    <a:pt x="19546" y="16303"/>
                  </a:cubicBezTo>
                  <a:cubicBezTo>
                    <a:pt x="19684" y="16387"/>
                    <a:pt x="19814" y="16430"/>
                    <a:pt x="19932" y="16430"/>
                  </a:cubicBezTo>
                  <a:cubicBezTo>
                    <a:pt x="19974" y="16430"/>
                    <a:pt x="20015" y="16424"/>
                    <a:pt x="20054" y="16413"/>
                  </a:cubicBezTo>
                  <a:cubicBezTo>
                    <a:pt x="21120" y="16132"/>
                    <a:pt x="24227" y="14602"/>
                    <a:pt x="24502" y="11392"/>
                  </a:cubicBezTo>
                  <a:cubicBezTo>
                    <a:pt x="24729" y="8761"/>
                    <a:pt x="22456" y="7040"/>
                    <a:pt x="21356" y="6367"/>
                  </a:cubicBezTo>
                  <a:cubicBezTo>
                    <a:pt x="20683" y="3875"/>
                    <a:pt x="18014" y="1413"/>
                    <a:pt x="14817" y="348"/>
                  </a:cubicBezTo>
                  <a:cubicBezTo>
                    <a:pt x="14102" y="110"/>
                    <a:pt x="13338" y="0"/>
                    <a:pt x="125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691;p44">
              <a:extLst>
                <a:ext uri="{FF2B5EF4-FFF2-40B4-BE49-F238E27FC236}">
                  <a16:creationId xmlns:a16="http://schemas.microsoft.com/office/drawing/2014/main" id="{304816B5-001C-4214-BDE2-5821D1849DFD}"/>
                </a:ext>
              </a:extLst>
            </p:cNvPr>
            <p:cNvSpPr/>
            <p:nvPr/>
          </p:nvSpPr>
          <p:spPr>
            <a:xfrm>
              <a:off x="899374" y="2580551"/>
              <a:ext cx="85729" cy="82471"/>
            </a:xfrm>
            <a:custGeom>
              <a:avLst/>
              <a:gdLst/>
              <a:ahLst/>
              <a:cxnLst/>
              <a:rect l="l" t="t" r="r" b="b"/>
              <a:pathLst>
                <a:path w="5815" h="5594" extrusionOk="0">
                  <a:moveTo>
                    <a:pt x="3183" y="0"/>
                  </a:moveTo>
                  <a:cubicBezTo>
                    <a:pt x="3136" y="0"/>
                    <a:pt x="3091" y="3"/>
                    <a:pt x="3049" y="9"/>
                  </a:cubicBezTo>
                  <a:cubicBezTo>
                    <a:pt x="1566" y="201"/>
                    <a:pt x="207" y="3693"/>
                    <a:pt x="56" y="4090"/>
                  </a:cubicBezTo>
                  <a:cubicBezTo>
                    <a:pt x="1" y="4238"/>
                    <a:pt x="75" y="4403"/>
                    <a:pt x="222" y="4459"/>
                  </a:cubicBezTo>
                  <a:cubicBezTo>
                    <a:pt x="256" y="4471"/>
                    <a:pt x="290" y="4477"/>
                    <a:pt x="323" y="4477"/>
                  </a:cubicBezTo>
                  <a:cubicBezTo>
                    <a:pt x="439" y="4477"/>
                    <a:pt x="547" y="4407"/>
                    <a:pt x="591" y="4292"/>
                  </a:cubicBezTo>
                  <a:cubicBezTo>
                    <a:pt x="1112" y="2915"/>
                    <a:pt x="2260" y="686"/>
                    <a:pt x="3123" y="574"/>
                  </a:cubicBezTo>
                  <a:cubicBezTo>
                    <a:pt x="3138" y="572"/>
                    <a:pt x="3160" y="570"/>
                    <a:pt x="3187" y="570"/>
                  </a:cubicBezTo>
                  <a:cubicBezTo>
                    <a:pt x="3298" y="570"/>
                    <a:pt x="3498" y="615"/>
                    <a:pt x="3736" y="949"/>
                  </a:cubicBezTo>
                  <a:cubicBezTo>
                    <a:pt x="5162" y="2949"/>
                    <a:pt x="4281" y="5177"/>
                    <a:pt x="4271" y="5199"/>
                  </a:cubicBezTo>
                  <a:cubicBezTo>
                    <a:pt x="4194" y="5387"/>
                    <a:pt x="4333" y="5594"/>
                    <a:pt x="4536" y="5594"/>
                  </a:cubicBezTo>
                  <a:cubicBezTo>
                    <a:pt x="4651" y="5594"/>
                    <a:pt x="4756" y="5523"/>
                    <a:pt x="4799" y="5416"/>
                  </a:cubicBezTo>
                  <a:cubicBezTo>
                    <a:pt x="4842" y="5313"/>
                    <a:pt x="5815" y="2880"/>
                    <a:pt x="4201" y="617"/>
                  </a:cubicBezTo>
                  <a:cubicBezTo>
                    <a:pt x="3849" y="124"/>
                    <a:pt x="3473" y="0"/>
                    <a:pt x="31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692;p44">
              <a:extLst>
                <a:ext uri="{FF2B5EF4-FFF2-40B4-BE49-F238E27FC236}">
                  <a16:creationId xmlns:a16="http://schemas.microsoft.com/office/drawing/2014/main" id="{349F7272-5E62-4F37-AD61-85DC1A9D0135}"/>
                </a:ext>
              </a:extLst>
            </p:cNvPr>
            <p:cNvSpPr/>
            <p:nvPr/>
          </p:nvSpPr>
          <p:spPr>
            <a:xfrm>
              <a:off x="724761" y="2714842"/>
              <a:ext cx="21834" cy="11765"/>
            </a:xfrm>
            <a:custGeom>
              <a:avLst/>
              <a:gdLst/>
              <a:ahLst/>
              <a:cxnLst/>
              <a:rect l="l" t="t" r="r" b="b"/>
              <a:pathLst>
                <a:path w="1481" h="798" extrusionOk="0">
                  <a:moveTo>
                    <a:pt x="323" y="1"/>
                  </a:moveTo>
                  <a:cubicBezTo>
                    <a:pt x="208" y="1"/>
                    <a:pt x="100" y="70"/>
                    <a:pt x="57" y="184"/>
                  </a:cubicBezTo>
                  <a:cubicBezTo>
                    <a:pt x="0" y="331"/>
                    <a:pt x="74" y="496"/>
                    <a:pt x="221" y="553"/>
                  </a:cubicBezTo>
                  <a:cubicBezTo>
                    <a:pt x="494" y="657"/>
                    <a:pt x="802" y="737"/>
                    <a:pt x="1136" y="793"/>
                  </a:cubicBezTo>
                  <a:cubicBezTo>
                    <a:pt x="1152" y="796"/>
                    <a:pt x="1168" y="797"/>
                    <a:pt x="1183" y="797"/>
                  </a:cubicBezTo>
                  <a:cubicBezTo>
                    <a:pt x="1332" y="797"/>
                    <a:pt x="1456" y="683"/>
                    <a:pt x="1468" y="534"/>
                  </a:cubicBezTo>
                  <a:cubicBezTo>
                    <a:pt x="1481" y="386"/>
                    <a:pt x="1377" y="254"/>
                    <a:pt x="1230" y="230"/>
                  </a:cubicBezTo>
                  <a:cubicBezTo>
                    <a:pt x="932" y="181"/>
                    <a:pt x="661" y="110"/>
                    <a:pt x="425" y="20"/>
                  </a:cubicBezTo>
                  <a:cubicBezTo>
                    <a:pt x="392" y="7"/>
                    <a:pt x="357" y="1"/>
                    <a:pt x="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693;p44">
              <a:extLst>
                <a:ext uri="{FF2B5EF4-FFF2-40B4-BE49-F238E27FC236}">
                  <a16:creationId xmlns:a16="http://schemas.microsoft.com/office/drawing/2014/main" id="{E7D1471D-016B-4704-A80A-CD77C459C878}"/>
                </a:ext>
              </a:extLst>
            </p:cNvPr>
            <p:cNvSpPr/>
            <p:nvPr/>
          </p:nvSpPr>
          <p:spPr>
            <a:xfrm>
              <a:off x="764508" y="2591284"/>
              <a:ext cx="133879" cy="135810"/>
            </a:xfrm>
            <a:custGeom>
              <a:avLst/>
              <a:gdLst/>
              <a:ahLst/>
              <a:cxnLst/>
              <a:rect l="l" t="t" r="r" b="b"/>
              <a:pathLst>
                <a:path w="9081" h="9212" extrusionOk="0">
                  <a:moveTo>
                    <a:pt x="8755" y="1"/>
                  </a:moveTo>
                  <a:cubicBezTo>
                    <a:pt x="8657" y="1"/>
                    <a:pt x="8562" y="51"/>
                    <a:pt x="8509" y="141"/>
                  </a:cubicBezTo>
                  <a:cubicBezTo>
                    <a:pt x="8489" y="175"/>
                    <a:pt x="6526" y="3545"/>
                    <a:pt x="4582" y="6215"/>
                  </a:cubicBezTo>
                  <a:cubicBezTo>
                    <a:pt x="3244" y="8052"/>
                    <a:pt x="1303" y="8525"/>
                    <a:pt x="263" y="8643"/>
                  </a:cubicBezTo>
                  <a:cubicBezTo>
                    <a:pt x="112" y="8659"/>
                    <a:pt x="0" y="8791"/>
                    <a:pt x="9" y="8942"/>
                  </a:cubicBezTo>
                  <a:cubicBezTo>
                    <a:pt x="18" y="9094"/>
                    <a:pt x="143" y="9212"/>
                    <a:pt x="294" y="9212"/>
                  </a:cubicBezTo>
                  <a:cubicBezTo>
                    <a:pt x="295" y="9212"/>
                    <a:pt x="295" y="9212"/>
                    <a:pt x="296" y="9212"/>
                  </a:cubicBezTo>
                  <a:cubicBezTo>
                    <a:pt x="307" y="9212"/>
                    <a:pt x="318" y="9211"/>
                    <a:pt x="329" y="9210"/>
                  </a:cubicBezTo>
                  <a:cubicBezTo>
                    <a:pt x="1460" y="9081"/>
                    <a:pt x="3578" y="8564"/>
                    <a:pt x="5044" y="6551"/>
                  </a:cubicBezTo>
                  <a:cubicBezTo>
                    <a:pt x="7006" y="3857"/>
                    <a:pt x="8983" y="462"/>
                    <a:pt x="9003" y="428"/>
                  </a:cubicBezTo>
                  <a:cubicBezTo>
                    <a:pt x="9080" y="292"/>
                    <a:pt x="9035" y="118"/>
                    <a:pt x="8899" y="40"/>
                  </a:cubicBezTo>
                  <a:cubicBezTo>
                    <a:pt x="8853" y="13"/>
                    <a:pt x="8804" y="1"/>
                    <a:pt x="8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694;p44">
              <a:extLst>
                <a:ext uri="{FF2B5EF4-FFF2-40B4-BE49-F238E27FC236}">
                  <a16:creationId xmlns:a16="http://schemas.microsoft.com/office/drawing/2014/main" id="{F6514722-BE7E-4575-8E82-0FBA241769CB}"/>
                </a:ext>
              </a:extLst>
            </p:cNvPr>
            <p:cNvSpPr/>
            <p:nvPr/>
          </p:nvSpPr>
          <p:spPr>
            <a:xfrm>
              <a:off x="883408" y="2548662"/>
              <a:ext cx="33776" cy="10615"/>
            </a:xfrm>
            <a:custGeom>
              <a:avLst/>
              <a:gdLst/>
              <a:ahLst/>
              <a:cxnLst/>
              <a:rect l="l" t="t" r="r" b="b"/>
              <a:pathLst>
                <a:path w="2291" h="720" extrusionOk="0">
                  <a:moveTo>
                    <a:pt x="1540" y="0"/>
                  </a:moveTo>
                  <a:cubicBezTo>
                    <a:pt x="1092" y="0"/>
                    <a:pt x="654" y="52"/>
                    <a:pt x="234" y="156"/>
                  </a:cubicBezTo>
                  <a:cubicBezTo>
                    <a:pt x="93" y="191"/>
                    <a:pt x="1" y="325"/>
                    <a:pt x="17" y="468"/>
                  </a:cubicBezTo>
                  <a:cubicBezTo>
                    <a:pt x="35" y="612"/>
                    <a:pt x="156" y="719"/>
                    <a:pt x="301" y="719"/>
                  </a:cubicBezTo>
                  <a:cubicBezTo>
                    <a:pt x="325" y="719"/>
                    <a:pt x="348" y="716"/>
                    <a:pt x="371" y="711"/>
                  </a:cubicBezTo>
                  <a:cubicBezTo>
                    <a:pt x="747" y="617"/>
                    <a:pt x="1128" y="570"/>
                    <a:pt x="1524" y="570"/>
                  </a:cubicBezTo>
                  <a:cubicBezTo>
                    <a:pt x="1670" y="570"/>
                    <a:pt x="1819" y="576"/>
                    <a:pt x="1970" y="589"/>
                  </a:cubicBezTo>
                  <a:cubicBezTo>
                    <a:pt x="1977" y="590"/>
                    <a:pt x="1985" y="590"/>
                    <a:pt x="1992" y="590"/>
                  </a:cubicBezTo>
                  <a:cubicBezTo>
                    <a:pt x="2140" y="590"/>
                    <a:pt x="2266" y="477"/>
                    <a:pt x="2277" y="327"/>
                  </a:cubicBezTo>
                  <a:cubicBezTo>
                    <a:pt x="2290" y="169"/>
                    <a:pt x="2173" y="32"/>
                    <a:pt x="2016" y="19"/>
                  </a:cubicBezTo>
                  <a:cubicBezTo>
                    <a:pt x="1856" y="7"/>
                    <a:pt x="1697" y="0"/>
                    <a:pt x="15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695;p44">
              <a:extLst>
                <a:ext uri="{FF2B5EF4-FFF2-40B4-BE49-F238E27FC236}">
                  <a16:creationId xmlns:a16="http://schemas.microsoft.com/office/drawing/2014/main" id="{12722620-A598-46EA-8431-6D254EABDE00}"/>
                </a:ext>
              </a:extLst>
            </p:cNvPr>
            <p:cNvSpPr/>
            <p:nvPr/>
          </p:nvSpPr>
          <p:spPr>
            <a:xfrm>
              <a:off x="704416" y="2562005"/>
              <a:ext cx="162878" cy="97435"/>
            </a:xfrm>
            <a:custGeom>
              <a:avLst/>
              <a:gdLst/>
              <a:ahLst/>
              <a:cxnLst/>
              <a:rect l="l" t="t" r="r" b="b"/>
              <a:pathLst>
                <a:path w="11048" h="6609" extrusionOk="0">
                  <a:moveTo>
                    <a:pt x="10721" y="1"/>
                  </a:moveTo>
                  <a:cubicBezTo>
                    <a:pt x="10667" y="1"/>
                    <a:pt x="10613" y="16"/>
                    <a:pt x="10566" y="47"/>
                  </a:cubicBezTo>
                  <a:cubicBezTo>
                    <a:pt x="9578" y="674"/>
                    <a:pt x="8720" y="1527"/>
                    <a:pt x="7810" y="2429"/>
                  </a:cubicBezTo>
                  <a:cubicBezTo>
                    <a:pt x="7223" y="3013"/>
                    <a:pt x="6617" y="3616"/>
                    <a:pt x="5965" y="4160"/>
                  </a:cubicBezTo>
                  <a:cubicBezTo>
                    <a:pt x="3921" y="5869"/>
                    <a:pt x="1514" y="6034"/>
                    <a:pt x="652" y="6034"/>
                  </a:cubicBezTo>
                  <a:cubicBezTo>
                    <a:pt x="448" y="6034"/>
                    <a:pt x="330" y="6024"/>
                    <a:pt x="325" y="6024"/>
                  </a:cubicBezTo>
                  <a:cubicBezTo>
                    <a:pt x="316" y="6023"/>
                    <a:pt x="307" y="6023"/>
                    <a:pt x="299" y="6023"/>
                  </a:cubicBezTo>
                  <a:cubicBezTo>
                    <a:pt x="153" y="6023"/>
                    <a:pt x="28" y="6134"/>
                    <a:pt x="15" y="6283"/>
                  </a:cubicBezTo>
                  <a:cubicBezTo>
                    <a:pt x="1" y="6440"/>
                    <a:pt x="116" y="6579"/>
                    <a:pt x="274" y="6593"/>
                  </a:cubicBezTo>
                  <a:cubicBezTo>
                    <a:pt x="301" y="6595"/>
                    <a:pt x="453" y="6608"/>
                    <a:pt x="702" y="6608"/>
                  </a:cubicBezTo>
                  <a:cubicBezTo>
                    <a:pt x="1684" y="6608"/>
                    <a:pt x="4164" y="6410"/>
                    <a:pt x="6330" y="4598"/>
                  </a:cubicBezTo>
                  <a:cubicBezTo>
                    <a:pt x="7001" y="4038"/>
                    <a:pt x="7616" y="3426"/>
                    <a:pt x="8212" y="2835"/>
                  </a:cubicBezTo>
                  <a:cubicBezTo>
                    <a:pt x="9099" y="1954"/>
                    <a:pt x="9936" y="1123"/>
                    <a:pt x="10871" y="529"/>
                  </a:cubicBezTo>
                  <a:cubicBezTo>
                    <a:pt x="11006" y="445"/>
                    <a:pt x="11047" y="267"/>
                    <a:pt x="10961" y="133"/>
                  </a:cubicBezTo>
                  <a:cubicBezTo>
                    <a:pt x="10907" y="48"/>
                    <a:pt x="10815" y="1"/>
                    <a:pt x="107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696;p44">
              <a:extLst>
                <a:ext uri="{FF2B5EF4-FFF2-40B4-BE49-F238E27FC236}">
                  <a16:creationId xmlns:a16="http://schemas.microsoft.com/office/drawing/2014/main" id="{1280598F-E413-4744-B42F-A06970937FAF}"/>
                </a:ext>
              </a:extLst>
            </p:cNvPr>
            <p:cNvSpPr/>
            <p:nvPr/>
          </p:nvSpPr>
          <p:spPr>
            <a:xfrm>
              <a:off x="966851" y="2670850"/>
              <a:ext cx="47472" cy="61094"/>
            </a:xfrm>
            <a:custGeom>
              <a:avLst/>
              <a:gdLst/>
              <a:ahLst/>
              <a:cxnLst/>
              <a:rect l="l" t="t" r="r" b="b"/>
              <a:pathLst>
                <a:path w="3220" h="4144" extrusionOk="0">
                  <a:moveTo>
                    <a:pt x="1089" y="1"/>
                  </a:moveTo>
                  <a:cubicBezTo>
                    <a:pt x="640" y="1"/>
                    <a:pt x="289" y="66"/>
                    <a:pt x="257" y="72"/>
                  </a:cubicBezTo>
                  <a:cubicBezTo>
                    <a:pt x="103" y="102"/>
                    <a:pt x="1" y="251"/>
                    <a:pt x="30" y="406"/>
                  </a:cubicBezTo>
                  <a:cubicBezTo>
                    <a:pt x="56" y="543"/>
                    <a:pt x="175" y="638"/>
                    <a:pt x="309" y="638"/>
                  </a:cubicBezTo>
                  <a:cubicBezTo>
                    <a:pt x="327" y="638"/>
                    <a:pt x="345" y="637"/>
                    <a:pt x="364" y="633"/>
                  </a:cubicBezTo>
                  <a:cubicBezTo>
                    <a:pt x="520" y="604"/>
                    <a:pt x="789" y="572"/>
                    <a:pt x="1088" y="572"/>
                  </a:cubicBezTo>
                  <a:cubicBezTo>
                    <a:pt x="1545" y="572"/>
                    <a:pt x="2070" y="647"/>
                    <a:pt x="2356" y="923"/>
                  </a:cubicBezTo>
                  <a:cubicBezTo>
                    <a:pt x="2557" y="1117"/>
                    <a:pt x="2626" y="1399"/>
                    <a:pt x="2567" y="1785"/>
                  </a:cubicBezTo>
                  <a:cubicBezTo>
                    <a:pt x="2310" y="3480"/>
                    <a:pt x="1692" y="3573"/>
                    <a:pt x="1700" y="3573"/>
                  </a:cubicBezTo>
                  <a:cubicBezTo>
                    <a:pt x="1542" y="3574"/>
                    <a:pt x="1415" y="3702"/>
                    <a:pt x="1416" y="3860"/>
                  </a:cubicBezTo>
                  <a:cubicBezTo>
                    <a:pt x="1417" y="4016"/>
                    <a:pt x="1544" y="4143"/>
                    <a:pt x="1701" y="4143"/>
                  </a:cubicBezTo>
                  <a:cubicBezTo>
                    <a:pt x="1702" y="4143"/>
                    <a:pt x="1702" y="4143"/>
                    <a:pt x="1703" y="4143"/>
                  </a:cubicBezTo>
                  <a:lnTo>
                    <a:pt x="1707" y="4143"/>
                  </a:lnTo>
                  <a:cubicBezTo>
                    <a:pt x="1818" y="4141"/>
                    <a:pt x="2798" y="4065"/>
                    <a:pt x="3133" y="1871"/>
                  </a:cubicBezTo>
                  <a:cubicBezTo>
                    <a:pt x="3220" y="1296"/>
                    <a:pt x="3091" y="838"/>
                    <a:pt x="2752" y="511"/>
                  </a:cubicBezTo>
                  <a:cubicBezTo>
                    <a:pt x="2322" y="97"/>
                    <a:pt x="1634" y="1"/>
                    <a:pt x="10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697;p44">
              <a:extLst>
                <a:ext uri="{FF2B5EF4-FFF2-40B4-BE49-F238E27FC236}">
                  <a16:creationId xmlns:a16="http://schemas.microsoft.com/office/drawing/2014/main" id="{2D582000-8001-4704-B7EA-A675C240D61F}"/>
                </a:ext>
              </a:extLst>
            </p:cNvPr>
            <p:cNvSpPr/>
            <p:nvPr/>
          </p:nvSpPr>
          <p:spPr>
            <a:xfrm>
              <a:off x="762208" y="2652333"/>
              <a:ext cx="223293" cy="296093"/>
            </a:xfrm>
            <a:custGeom>
              <a:avLst/>
              <a:gdLst/>
              <a:ahLst/>
              <a:cxnLst/>
              <a:rect l="l" t="t" r="r" b="b"/>
              <a:pathLst>
                <a:path w="15146" h="20084" extrusionOk="0">
                  <a:moveTo>
                    <a:pt x="10475" y="0"/>
                  </a:moveTo>
                  <a:cubicBezTo>
                    <a:pt x="9881" y="0"/>
                    <a:pt x="9352" y="179"/>
                    <a:pt x="9005" y="536"/>
                  </a:cubicBezTo>
                  <a:cubicBezTo>
                    <a:pt x="8044" y="1524"/>
                    <a:pt x="6963" y="5520"/>
                    <a:pt x="4138" y="6695"/>
                  </a:cubicBezTo>
                  <a:cubicBezTo>
                    <a:pt x="3332" y="7030"/>
                    <a:pt x="2648" y="7127"/>
                    <a:pt x="2083" y="7127"/>
                  </a:cubicBezTo>
                  <a:cubicBezTo>
                    <a:pt x="1322" y="7127"/>
                    <a:pt x="776" y="6952"/>
                    <a:pt x="435" y="6952"/>
                  </a:cubicBezTo>
                  <a:cubicBezTo>
                    <a:pt x="141" y="6952"/>
                    <a:pt x="1" y="7082"/>
                    <a:pt x="7" y="7566"/>
                  </a:cubicBezTo>
                  <a:cubicBezTo>
                    <a:pt x="28" y="9028"/>
                    <a:pt x="1065" y="13480"/>
                    <a:pt x="2716" y="15324"/>
                  </a:cubicBezTo>
                  <a:cubicBezTo>
                    <a:pt x="4366" y="17169"/>
                    <a:pt x="6513" y="19656"/>
                    <a:pt x="8060" y="19959"/>
                  </a:cubicBezTo>
                  <a:cubicBezTo>
                    <a:pt x="8493" y="20044"/>
                    <a:pt x="8996" y="20083"/>
                    <a:pt x="9499" y="20083"/>
                  </a:cubicBezTo>
                  <a:cubicBezTo>
                    <a:pt x="10791" y="20083"/>
                    <a:pt x="12083" y="19824"/>
                    <a:pt x="12194" y="19414"/>
                  </a:cubicBezTo>
                  <a:cubicBezTo>
                    <a:pt x="12349" y="18843"/>
                    <a:pt x="13746" y="14276"/>
                    <a:pt x="14446" y="12073"/>
                  </a:cubicBezTo>
                  <a:cubicBezTo>
                    <a:pt x="15146" y="9871"/>
                    <a:pt x="14759" y="5490"/>
                    <a:pt x="14759" y="5490"/>
                  </a:cubicBezTo>
                  <a:cubicBezTo>
                    <a:pt x="14759" y="5490"/>
                    <a:pt x="14762" y="5370"/>
                    <a:pt x="14749" y="5161"/>
                  </a:cubicBezTo>
                  <a:cubicBezTo>
                    <a:pt x="14708" y="4517"/>
                    <a:pt x="14509" y="3028"/>
                    <a:pt x="13568" y="1690"/>
                  </a:cubicBezTo>
                  <a:cubicBezTo>
                    <a:pt x="12774" y="560"/>
                    <a:pt x="11524" y="0"/>
                    <a:pt x="104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698;p44">
              <a:extLst>
                <a:ext uri="{FF2B5EF4-FFF2-40B4-BE49-F238E27FC236}">
                  <a16:creationId xmlns:a16="http://schemas.microsoft.com/office/drawing/2014/main" id="{272CED8A-5455-48EE-AABF-4D117DD27F6E}"/>
                </a:ext>
              </a:extLst>
            </p:cNvPr>
            <p:cNvSpPr/>
            <p:nvPr/>
          </p:nvSpPr>
          <p:spPr>
            <a:xfrm>
              <a:off x="758050" y="2648117"/>
              <a:ext cx="231402" cy="304466"/>
            </a:xfrm>
            <a:custGeom>
              <a:avLst/>
              <a:gdLst/>
              <a:ahLst/>
              <a:cxnLst/>
              <a:rect l="l" t="t" r="r" b="b"/>
              <a:pathLst>
                <a:path w="15696" h="20652" extrusionOk="0">
                  <a:moveTo>
                    <a:pt x="10760" y="571"/>
                  </a:moveTo>
                  <a:cubicBezTo>
                    <a:pt x="10831" y="571"/>
                    <a:pt x="10904" y="574"/>
                    <a:pt x="10978" y="580"/>
                  </a:cubicBezTo>
                  <a:cubicBezTo>
                    <a:pt x="11986" y="660"/>
                    <a:pt x="12997" y="1257"/>
                    <a:pt x="13617" y="2140"/>
                  </a:cubicBezTo>
                  <a:cubicBezTo>
                    <a:pt x="14528" y="3436"/>
                    <a:pt x="14709" y="4897"/>
                    <a:pt x="14745" y="5466"/>
                  </a:cubicBezTo>
                  <a:cubicBezTo>
                    <a:pt x="14757" y="5653"/>
                    <a:pt x="14755" y="5762"/>
                    <a:pt x="14755" y="5769"/>
                  </a:cubicBezTo>
                  <a:cubicBezTo>
                    <a:pt x="14755" y="5780"/>
                    <a:pt x="14756" y="5791"/>
                    <a:pt x="14756" y="5802"/>
                  </a:cubicBezTo>
                  <a:cubicBezTo>
                    <a:pt x="14760" y="5844"/>
                    <a:pt x="15130" y="10148"/>
                    <a:pt x="14456" y="12272"/>
                  </a:cubicBezTo>
                  <a:cubicBezTo>
                    <a:pt x="13754" y="14480"/>
                    <a:pt x="12357" y="19047"/>
                    <a:pt x="12202" y="19618"/>
                  </a:cubicBezTo>
                  <a:cubicBezTo>
                    <a:pt x="12085" y="19838"/>
                    <a:pt x="10975" y="20086"/>
                    <a:pt x="9764" y="20086"/>
                  </a:cubicBezTo>
                  <a:cubicBezTo>
                    <a:pt x="9307" y="20086"/>
                    <a:pt x="8834" y="20051"/>
                    <a:pt x="8396" y="19965"/>
                  </a:cubicBezTo>
                  <a:cubicBezTo>
                    <a:pt x="7028" y="19697"/>
                    <a:pt x="5063" y="17496"/>
                    <a:pt x="3485" y="15727"/>
                  </a:cubicBezTo>
                  <a:lnTo>
                    <a:pt x="3211" y="15420"/>
                  </a:lnTo>
                  <a:cubicBezTo>
                    <a:pt x="1611" y="13632"/>
                    <a:pt x="595" y="9284"/>
                    <a:pt x="574" y="7848"/>
                  </a:cubicBezTo>
                  <a:cubicBezTo>
                    <a:pt x="571" y="7589"/>
                    <a:pt x="617" y="7537"/>
                    <a:pt x="617" y="7537"/>
                  </a:cubicBezTo>
                  <a:cubicBezTo>
                    <a:pt x="632" y="7527"/>
                    <a:pt x="664" y="7523"/>
                    <a:pt x="705" y="7523"/>
                  </a:cubicBezTo>
                  <a:cubicBezTo>
                    <a:pt x="823" y="7523"/>
                    <a:pt x="1022" y="7556"/>
                    <a:pt x="1180" y="7581"/>
                  </a:cubicBezTo>
                  <a:cubicBezTo>
                    <a:pt x="1484" y="7632"/>
                    <a:pt x="1880" y="7697"/>
                    <a:pt x="2361" y="7697"/>
                  </a:cubicBezTo>
                  <a:cubicBezTo>
                    <a:pt x="2957" y="7697"/>
                    <a:pt x="3683" y="7597"/>
                    <a:pt x="4529" y="7245"/>
                  </a:cubicBezTo>
                  <a:cubicBezTo>
                    <a:pt x="6574" y="6393"/>
                    <a:pt x="7723" y="4181"/>
                    <a:pt x="8563" y="2566"/>
                  </a:cubicBezTo>
                  <a:cubicBezTo>
                    <a:pt x="8917" y="1885"/>
                    <a:pt x="9222" y="1298"/>
                    <a:pt x="9491" y="1021"/>
                  </a:cubicBezTo>
                  <a:cubicBezTo>
                    <a:pt x="9773" y="730"/>
                    <a:pt x="10228" y="571"/>
                    <a:pt x="10760" y="571"/>
                  </a:cubicBezTo>
                  <a:close/>
                  <a:moveTo>
                    <a:pt x="10755" y="0"/>
                  </a:moveTo>
                  <a:cubicBezTo>
                    <a:pt x="10069" y="0"/>
                    <a:pt x="9471" y="222"/>
                    <a:pt x="9081" y="622"/>
                  </a:cubicBezTo>
                  <a:cubicBezTo>
                    <a:pt x="8754" y="959"/>
                    <a:pt x="8446" y="1552"/>
                    <a:pt x="8056" y="2303"/>
                  </a:cubicBezTo>
                  <a:cubicBezTo>
                    <a:pt x="7258" y="3840"/>
                    <a:pt x="6163" y="5946"/>
                    <a:pt x="4309" y="6718"/>
                  </a:cubicBezTo>
                  <a:cubicBezTo>
                    <a:pt x="3547" y="7035"/>
                    <a:pt x="2901" y="7127"/>
                    <a:pt x="2365" y="7127"/>
                  </a:cubicBezTo>
                  <a:cubicBezTo>
                    <a:pt x="1930" y="7127"/>
                    <a:pt x="1567" y="7067"/>
                    <a:pt x="1272" y="7018"/>
                  </a:cubicBezTo>
                  <a:cubicBezTo>
                    <a:pt x="1066" y="6984"/>
                    <a:pt x="881" y="6953"/>
                    <a:pt x="716" y="6953"/>
                  </a:cubicBezTo>
                  <a:cubicBezTo>
                    <a:pt x="533" y="6953"/>
                    <a:pt x="376" y="6991"/>
                    <a:pt x="245" y="7104"/>
                  </a:cubicBezTo>
                  <a:cubicBezTo>
                    <a:pt x="24" y="7293"/>
                    <a:pt x="0" y="7605"/>
                    <a:pt x="4" y="7855"/>
                  </a:cubicBezTo>
                  <a:cubicBezTo>
                    <a:pt x="24" y="9282"/>
                    <a:pt x="1023" y="13831"/>
                    <a:pt x="2784" y="15800"/>
                  </a:cubicBezTo>
                  <a:lnTo>
                    <a:pt x="3058" y="16107"/>
                  </a:lnTo>
                  <a:cubicBezTo>
                    <a:pt x="4693" y="17940"/>
                    <a:pt x="6730" y="20220"/>
                    <a:pt x="8286" y="20526"/>
                  </a:cubicBezTo>
                  <a:cubicBezTo>
                    <a:pt x="8700" y="20606"/>
                    <a:pt x="9241" y="20652"/>
                    <a:pt x="9804" y="20652"/>
                  </a:cubicBezTo>
                  <a:cubicBezTo>
                    <a:pt x="11133" y="20652"/>
                    <a:pt x="12582" y="20401"/>
                    <a:pt x="12751" y="19775"/>
                  </a:cubicBezTo>
                  <a:cubicBezTo>
                    <a:pt x="12907" y="19201"/>
                    <a:pt x="14299" y="14650"/>
                    <a:pt x="15000" y="12445"/>
                  </a:cubicBezTo>
                  <a:cubicBezTo>
                    <a:pt x="15695" y="10257"/>
                    <a:pt x="15355" y="6096"/>
                    <a:pt x="15327" y="5766"/>
                  </a:cubicBezTo>
                  <a:cubicBezTo>
                    <a:pt x="15327" y="5723"/>
                    <a:pt x="15327" y="5607"/>
                    <a:pt x="15316" y="5430"/>
                  </a:cubicBezTo>
                  <a:cubicBezTo>
                    <a:pt x="15277" y="4813"/>
                    <a:pt x="15078" y="3227"/>
                    <a:pt x="14084" y="1812"/>
                  </a:cubicBezTo>
                  <a:cubicBezTo>
                    <a:pt x="13358" y="779"/>
                    <a:pt x="12214" y="106"/>
                    <a:pt x="11024" y="11"/>
                  </a:cubicBezTo>
                  <a:cubicBezTo>
                    <a:pt x="10933" y="4"/>
                    <a:pt x="10843" y="0"/>
                    <a:pt x="1075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699;p44">
              <a:extLst>
                <a:ext uri="{FF2B5EF4-FFF2-40B4-BE49-F238E27FC236}">
                  <a16:creationId xmlns:a16="http://schemas.microsoft.com/office/drawing/2014/main" id="{0537D49E-0E14-48BE-A771-43A92516E2A1}"/>
                </a:ext>
              </a:extLst>
            </p:cNvPr>
            <p:cNvSpPr/>
            <p:nvPr/>
          </p:nvSpPr>
          <p:spPr>
            <a:xfrm>
              <a:off x="732074" y="2740008"/>
              <a:ext cx="51246" cy="75792"/>
            </a:xfrm>
            <a:custGeom>
              <a:avLst/>
              <a:gdLst/>
              <a:ahLst/>
              <a:cxnLst/>
              <a:rect l="l" t="t" r="r" b="b"/>
              <a:pathLst>
                <a:path w="3476" h="5141" extrusionOk="0">
                  <a:moveTo>
                    <a:pt x="1481" y="1"/>
                  </a:moveTo>
                  <a:cubicBezTo>
                    <a:pt x="1448" y="1"/>
                    <a:pt x="1413" y="2"/>
                    <a:pt x="1379" y="5"/>
                  </a:cubicBezTo>
                  <a:cubicBezTo>
                    <a:pt x="0" y="105"/>
                    <a:pt x="117" y="2702"/>
                    <a:pt x="1034" y="4313"/>
                  </a:cubicBezTo>
                  <a:cubicBezTo>
                    <a:pt x="1394" y="4948"/>
                    <a:pt x="1850" y="5140"/>
                    <a:pt x="2269" y="5140"/>
                  </a:cubicBezTo>
                  <a:cubicBezTo>
                    <a:pt x="2915" y="5140"/>
                    <a:pt x="3476" y="4685"/>
                    <a:pt x="3476" y="4685"/>
                  </a:cubicBezTo>
                  <a:lnTo>
                    <a:pt x="2948" y="1849"/>
                  </a:lnTo>
                  <a:cubicBezTo>
                    <a:pt x="2948" y="1849"/>
                    <a:pt x="2768" y="1"/>
                    <a:pt x="14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00;p44">
              <a:extLst>
                <a:ext uri="{FF2B5EF4-FFF2-40B4-BE49-F238E27FC236}">
                  <a16:creationId xmlns:a16="http://schemas.microsoft.com/office/drawing/2014/main" id="{D1283575-B233-45A5-8479-D9C2A4074AA2}"/>
                </a:ext>
              </a:extLst>
            </p:cNvPr>
            <p:cNvSpPr/>
            <p:nvPr/>
          </p:nvSpPr>
          <p:spPr>
            <a:xfrm>
              <a:off x="729700" y="2735806"/>
              <a:ext cx="58352" cy="84210"/>
            </a:xfrm>
            <a:custGeom>
              <a:avLst/>
              <a:gdLst/>
              <a:ahLst/>
              <a:cxnLst/>
              <a:rect l="l" t="t" r="r" b="b"/>
              <a:pathLst>
                <a:path w="3958" h="5712" extrusionOk="0">
                  <a:moveTo>
                    <a:pt x="1643" y="0"/>
                  </a:moveTo>
                  <a:cubicBezTo>
                    <a:pt x="1602" y="0"/>
                    <a:pt x="1561" y="2"/>
                    <a:pt x="1519" y="5"/>
                  </a:cubicBezTo>
                  <a:cubicBezTo>
                    <a:pt x="1072" y="37"/>
                    <a:pt x="718" y="278"/>
                    <a:pt x="492" y="700"/>
                  </a:cubicBezTo>
                  <a:cubicBezTo>
                    <a:pt x="0" y="1621"/>
                    <a:pt x="203" y="3434"/>
                    <a:pt x="947" y="4739"/>
                  </a:cubicBezTo>
                  <a:cubicBezTo>
                    <a:pt x="1250" y="5274"/>
                    <a:pt x="1653" y="5593"/>
                    <a:pt x="2140" y="5684"/>
                  </a:cubicBezTo>
                  <a:cubicBezTo>
                    <a:pt x="2235" y="5701"/>
                    <a:pt x="2332" y="5711"/>
                    <a:pt x="2429" y="5711"/>
                  </a:cubicBezTo>
                  <a:cubicBezTo>
                    <a:pt x="3168" y="5711"/>
                    <a:pt x="3788" y="5215"/>
                    <a:pt x="3816" y="5191"/>
                  </a:cubicBezTo>
                  <a:cubicBezTo>
                    <a:pt x="3939" y="5091"/>
                    <a:pt x="3957" y="4912"/>
                    <a:pt x="3857" y="4789"/>
                  </a:cubicBezTo>
                  <a:cubicBezTo>
                    <a:pt x="3801" y="4720"/>
                    <a:pt x="3719" y="4683"/>
                    <a:pt x="3636" y="4683"/>
                  </a:cubicBezTo>
                  <a:cubicBezTo>
                    <a:pt x="3573" y="4683"/>
                    <a:pt x="3509" y="4705"/>
                    <a:pt x="3456" y="4748"/>
                  </a:cubicBezTo>
                  <a:cubicBezTo>
                    <a:pt x="3450" y="4752"/>
                    <a:pt x="2959" y="5140"/>
                    <a:pt x="2431" y="5140"/>
                  </a:cubicBezTo>
                  <a:cubicBezTo>
                    <a:pt x="2369" y="5140"/>
                    <a:pt x="2307" y="5135"/>
                    <a:pt x="2245" y="5123"/>
                  </a:cubicBezTo>
                  <a:cubicBezTo>
                    <a:pt x="1930" y="5063"/>
                    <a:pt x="1660" y="4839"/>
                    <a:pt x="1443" y="4457"/>
                  </a:cubicBezTo>
                  <a:cubicBezTo>
                    <a:pt x="797" y="3320"/>
                    <a:pt x="592" y="1723"/>
                    <a:pt x="995" y="968"/>
                  </a:cubicBezTo>
                  <a:cubicBezTo>
                    <a:pt x="1127" y="721"/>
                    <a:pt x="1312" y="592"/>
                    <a:pt x="1560" y="573"/>
                  </a:cubicBezTo>
                  <a:cubicBezTo>
                    <a:pt x="1585" y="572"/>
                    <a:pt x="1610" y="571"/>
                    <a:pt x="1634" y="571"/>
                  </a:cubicBezTo>
                  <a:cubicBezTo>
                    <a:pt x="2648" y="571"/>
                    <a:pt x="2818" y="2097"/>
                    <a:pt x="2825" y="2163"/>
                  </a:cubicBezTo>
                  <a:cubicBezTo>
                    <a:pt x="2840" y="2308"/>
                    <a:pt x="2964" y="2422"/>
                    <a:pt x="3102" y="2422"/>
                  </a:cubicBezTo>
                  <a:cubicBezTo>
                    <a:pt x="3114" y="2422"/>
                    <a:pt x="3125" y="2421"/>
                    <a:pt x="3137" y="2419"/>
                  </a:cubicBezTo>
                  <a:cubicBezTo>
                    <a:pt x="3293" y="2403"/>
                    <a:pt x="3408" y="2264"/>
                    <a:pt x="3393" y="2107"/>
                  </a:cubicBezTo>
                  <a:cubicBezTo>
                    <a:pt x="3320" y="1363"/>
                    <a:pt x="2861" y="0"/>
                    <a:pt x="16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01;p44">
              <a:extLst>
                <a:ext uri="{FF2B5EF4-FFF2-40B4-BE49-F238E27FC236}">
                  <a16:creationId xmlns:a16="http://schemas.microsoft.com/office/drawing/2014/main" id="{3F551B5E-7E9E-4B2F-823E-75F8501B913D}"/>
                </a:ext>
              </a:extLst>
            </p:cNvPr>
            <p:cNvSpPr/>
            <p:nvPr/>
          </p:nvSpPr>
          <p:spPr>
            <a:xfrm>
              <a:off x="841907" y="2747733"/>
              <a:ext cx="51865" cy="20360"/>
            </a:xfrm>
            <a:custGeom>
              <a:avLst/>
              <a:gdLst/>
              <a:ahLst/>
              <a:cxnLst/>
              <a:rect l="l" t="t" r="r" b="b"/>
              <a:pathLst>
                <a:path w="3518" h="1381" extrusionOk="0">
                  <a:moveTo>
                    <a:pt x="2224" y="0"/>
                  </a:moveTo>
                  <a:cubicBezTo>
                    <a:pt x="1537" y="0"/>
                    <a:pt x="672" y="175"/>
                    <a:pt x="135" y="930"/>
                  </a:cubicBezTo>
                  <a:cubicBezTo>
                    <a:pt x="0" y="1118"/>
                    <a:pt x="135" y="1380"/>
                    <a:pt x="368" y="1381"/>
                  </a:cubicBezTo>
                  <a:cubicBezTo>
                    <a:pt x="460" y="1381"/>
                    <a:pt x="546" y="1336"/>
                    <a:pt x="600" y="1260"/>
                  </a:cubicBezTo>
                  <a:cubicBezTo>
                    <a:pt x="996" y="705"/>
                    <a:pt x="1673" y="573"/>
                    <a:pt x="2227" y="573"/>
                  </a:cubicBezTo>
                  <a:cubicBezTo>
                    <a:pt x="2721" y="573"/>
                    <a:pt x="3116" y="678"/>
                    <a:pt x="3125" y="681"/>
                  </a:cubicBezTo>
                  <a:cubicBezTo>
                    <a:pt x="3150" y="688"/>
                    <a:pt x="3175" y="691"/>
                    <a:pt x="3200" y="691"/>
                  </a:cubicBezTo>
                  <a:cubicBezTo>
                    <a:pt x="3325" y="691"/>
                    <a:pt x="3440" y="608"/>
                    <a:pt x="3476" y="481"/>
                  </a:cubicBezTo>
                  <a:cubicBezTo>
                    <a:pt x="3517" y="329"/>
                    <a:pt x="3428" y="172"/>
                    <a:pt x="3277" y="130"/>
                  </a:cubicBezTo>
                  <a:cubicBezTo>
                    <a:pt x="3237" y="119"/>
                    <a:pt x="2791" y="0"/>
                    <a:pt x="22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02;p44">
              <a:extLst>
                <a:ext uri="{FF2B5EF4-FFF2-40B4-BE49-F238E27FC236}">
                  <a16:creationId xmlns:a16="http://schemas.microsoft.com/office/drawing/2014/main" id="{0FB2A01A-A9D7-439D-AD62-786EE23352EE}"/>
                </a:ext>
              </a:extLst>
            </p:cNvPr>
            <p:cNvSpPr/>
            <p:nvPr/>
          </p:nvSpPr>
          <p:spPr>
            <a:xfrm>
              <a:off x="933341" y="2744446"/>
              <a:ext cx="36046" cy="14124"/>
            </a:xfrm>
            <a:custGeom>
              <a:avLst/>
              <a:gdLst/>
              <a:ahLst/>
              <a:cxnLst/>
              <a:rect l="l" t="t" r="r" b="b"/>
              <a:pathLst>
                <a:path w="2445" h="958" extrusionOk="0">
                  <a:moveTo>
                    <a:pt x="1237" y="1"/>
                  </a:moveTo>
                  <a:cubicBezTo>
                    <a:pt x="602" y="1"/>
                    <a:pt x="0" y="423"/>
                    <a:pt x="0" y="423"/>
                  </a:cubicBezTo>
                  <a:lnTo>
                    <a:pt x="2444" y="957"/>
                  </a:lnTo>
                  <a:cubicBezTo>
                    <a:pt x="2163" y="217"/>
                    <a:pt x="1691" y="1"/>
                    <a:pt x="1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03;p44">
              <a:extLst>
                <a:ext uri="{FF2B5EF4-FFF2-40B4-BE49-F238E27FC236}">
                  <a16:creationId xmlns:a16="http://schemas.microsoft.com/office/drawing/2014/main" id="{8DE8C904-ADFA-46A7-9D61-CC645E603EC9}"/>
                </a:ext>
              </a:extLst>
            </p:cNvPr>
            <p:cNvSpPr/>
            <p:nvPr/>
          </p:nvSpPr>
          <p:spPr>
            <a:xfrm>
              <a:off x="928550" y="2740244"/>
              <a:ext cx="45820" cy="22527"/>
            </a:xfrm>
            <a:custGeom>
              <a:avLst/>
              <a:gdLst/>
              <a:ahLst/>
              <a:cxnLst/>
              <a:rect l="l" t="t" r="r" b="b"/>
              <a:pathLst>
                <a:path w="3108" h="1528" extrusionOk="0">
                  <a:moveTo>
                    <a:pt x="1565" y="0"/>
                  </a:moveTo>
                  <a:cubicBezTo>
                    <a:pt x="846" y="0"/>
                    <a:pt x="194" y="452"/>
                    <a:pt x="161" y="474"/>
                  </a:cubicBezTo>
                  <a:cubicBezTo>
                    <a:pt x="32" y="566"/>
                    <a:pt x="0" y="743"/>
                    <a:pt x="92" y="872"/>
                  </a:cubicBezTo>
                  <a:cubicBezTo>
                    <a:pt x="147" y="952"/>
                    <a:pt x="235" y="994"/>
                    <a:pt x="325" y="994"/>
                  </a:cubicBezTo>
                  <a:cubicBezTo>
                    <a:pt x="382" y="994"/>
                    <a:pt x="439" y="977"/>
                    <a:pt x="488" y="942"/>
                  </a:cubicBezTo>
                  <a:cubicBezTo>
                    <a:pt x="495" y="938"/>
                    <a:pt x="1030" y="570"/>
                    <a:pt x="1559" y="570"/>
                  </a:cubicBezTo>
                  <a:cubicBezTo>
                    <a:pt x="1655" y="570"/>
                    <a:pt x="1751" y="583"/>
                    <a:pt x="1844" y="611"/>
                  </a:cubicBezTo>
                  <a:cubicBezTo>
                    <a:pt x="2130" y="700"/>
                    <a:pt x="2352" y="946"/>
                    <a:pt x="2503" y="1344"/>
                  </a:cubicBezTo>
                  <a:cubicBezTo>
                    <a:pt x="2544" y="1455"/>
                    <a:pt x="2651" y="1528"/>
                    <a:pt x="2769" y="1528"/>
                  </a:cubicBezTo>
                  <a:cubicBezTo>
                    <a:pt x="2969" y="1528"/>
                    <a:pt x="3107" y="1328"/>
                    <a:pt x="3036" y="1141"/>
                  </a:cubicBezTo>
                  <a:cubicBezTo>
                    <a:pt x="2819" y="569"/>
                    <a:pt x="2474" y="207"/>
                    <a:pt x="2010" y="65"/>
                  </a:cubicBezTo>
                  <a:cubicBezTo>
                    <a:pt x="1862" y="19"/>
                    <a:pt x="1712" y="0"/>
                    <a:pt x="15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704;p44">
              <a:extLst>
                <a:ext uri="{FF2B5EF4-FFF2-40B4-BE49-F238E27FC236}">
                  <a16:creationId xmlns:a16="http://schemas.microsoft.com/office/drawing/2014/main" id="{45B78B43-7B1A-40E4-B149-B7391975D02B}"/>
                </a:ext>
              </a:extLst>
            </p:cNvPr>
            <p:cNvSpPr/>
            <p:nvPr/>
          </p:nvSpPr>
          <p:spPr>
            <a:xfrm>
              <a:off x="891472" y="2768108"/>
              <a:ext cx="45806" cy="78652"/>
            </a:xfrm>
            <a:custGeom>
              <a:avLst/>
              <a:gdLst/>
              <a:ahLst/>
              <a:cxnLst/>
              <a:rect l="l" t="t" r="r" b="b"/>
              <a:pathLst>
                <a:path w="3107" h="5335" extrusionOk="0">
                  <a:moveTo>
                    <a:pt x="2448" y="0"/>
                  </a:moveTo>
                  <a:cubicBezTo>
                    <a:pt x="2440" y="0"/>
                    <a:pt x="2433" y="1"/>
                    <a:pt x="2426" y="1"/>
                  </a:cubicBezTo>
                  <a:cubicBezTo>
                    <a:pt x="2270" y="17"/>
                    <a:pt x="2154" y="157"/>
                    <a:pt x="2171" y="314"/>
                  </a:cubicBezTo>
                  <a:cubicBezTo>
                    <a:pt x="2349" y="2111"/>
                    <a:pt x="2487" y="4134"/>
                    <a:pt x="2411" y="4402"/>
                  </a:cubicBezTo>
                  <a:cubicBezTo>
                    <a:pt x="2391" y="4444"/>
                    <a:pt x="2225" y="4589"/>
                    <a:pt x="1865" y="4687"/>
                  </a:cubicBezTo>
                  <a:cubicBezTo>
                    <a:pt x="1696" y="4733"/>
                    <a:pt x="1497" y="4763"/>
                    <a:pt x="1293" y="4763"/>
                  </a:cubicBezTo>
                  <a:cubicBezTo>
                    <a:pt x="1010" y="4763"/>
                    <a:pt x="718" y="4704"/>
                    <a:pt x="486" y="4546"/>
                  </a:cubicBezTo>
                  <a:cubicBezTo>
                    <a:pt x="437" y="4513"/>
                    <a:pt x="381" y="4497"/>
                    <a:pt x="326" y="4497"/>
                  </a:cubicBezTo>
                  <a:cubicBezTo>
                    <a:pt x="234" y="4497"/>
                    <a:pt x="145" y="4541"/>
                    <a:pt x="90" y="4622"/>
                  </a:cubicBezTo>
                  <a:cubicBezTo>
                    <a:pt x="1" y="4753"/>
                    <a:pt x="34" y="4930"/>
                    <a:pt x="165" y="5018"/>
                  </a:cubicBezTo>
                  <a:cubicBezTo>
                    <a:pt x="503" y="5249"/>
                    <a:pt x="906" y="5335"/>
                    <a:pt x="1293" y="5335"/>
                  </a:cubicBezTo>
                  <a:cubicBezTo>
                    <a:pt x="1572" y="5333"/>
                    <a:pt x="1847" y="5291"/>
                    <a:pt x="2112" y="5210"/>
                  </a:cubicBezTo>
                  <a:cubicBezTo>
                    <a:pt x="2317" y="5145"/>
                    <a:pt x="2810" y="4957"/>
                    <a:pt x="2944" y="4607"/>
                  </a:cubicBezTo>
                  <a:cubicBezTo>
                    <a:pt x="3107" y="4182"/>
                    <a:pt x="2854" y="1424"/>
                    <a:pt x="2739" y="258"/>
                  </a:cubicBezTo>
                  <a:cubicBezTo>
                    <a:pt x="2725" y="107"/>
                    <a:pt x="2596" y="0"/>
                    <a:pt x="24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705;p44">
              <a:extLst>
                <a:ext uri="{FF2B5EF4-FFF2-40B4-BE49-F238E27FC236}">
                  <a16:creationId xmlns:a16="http://schemas.microsoft.com/office/drawing/2014/main" id="{31B8D126-91D2-41BC-940E-E49062F9F143}"/>
                </a:ext>
              </a:extLst>
            </p:cNvPr>
            <p:cNvSpPr/>
            <p:nvPr/>
          </p:nvSpPr>
          <p:spPr>
            <a:xfrm>
              <a:off x="837720" y="2842337"/>
              <a:ext cx="54902" cy="32935"/>
            </a:xfrm>
            <a:custGeom>
              <a:avLst/>
              <a:gdLst/>
              <a:ahLst/>
              <a:cxnLst/>
              <a:rect l="l" t="t" r="r" b="b"/>
              <a:pathLst>
                <a:path w="3724" h="2234" extrusionOk="0">
                  <a:moveTo>
                    <a:pt x="324" y="0"/>
                  </a:moveTo>
                  <a:cubicBezTo>
                    <a:pt x="287" y="0"/>
                    <a:pt x="250" y="7"/>
                    <a:pt x="214" y="22"/>
                  </a:cubicBezTo>
                  <a:cubicBezTo>
                    <a:pt x="68" y="83"/>
                    <a:pt x="0" y="251"/>
                    <a:pt x="61" y="396"/>
                  </a:cubicBezTo>
                  <a:cubicBezTo>
                    <a:pt x="92" y="469"/>
                    <a:pt x="835" y="2184"/>
                    <a:pt x="3428" y="2234"/>
                  </a:cubicBezTo>
                  <a:lnTo>
                    <a:pt x="3434" y="2234"/>
                  </a:lnTo>
                  <a:lnTo>
                    <a:pt x="3434" y="2233"/>
                  </a:lnTo>
                  <a:cubicBezTo>
                    <a:pt x="3435" y="2233"/>
                    <a:pt x="3436" y="2233"/>
                    <a:pt x="3438" y="2233"/>
                  </a:cubicBezTo>
                  <a:cubicBezTo>
                    <a:pt x="3593" y="2233"/>
                    <a:pt x="3721" y="2107"/>
                    <a:pt x="3722" y="1951"/>
                  </a:cubicBezTo>
                  <a:cubicBezTo>
                    <a:pt x="3724" y="1793"/>
                    <a:pt x="3597" y="1664"/>
                    <a:pt x="3439" y="1662"/>
                  </a:cubicBezTo>
                  <a:cubicBezTo>
                    <a:pt x="1235" y="1619"/>
                    <a:pt x="614" y="235"/>
                    <a:pt x="588" y="175"/>
                  </a:cubicBezTo>
                  <a:cubicBezTo>
                    <a:pt x="542" y="66"/>
                    <a:pt x="436" y="0"/>
                    <a:pt x="3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706;p44">
              <a:extLst>
                <a:ext uri="{FF2B5EF4-FFF2-40B4-BE49-F238E27FC236}">
                  <a16:creationId xmlns:a16="http://schemas.microsoft.com/office/drawing/2014/main" id="{6783F625-A60B-4EEC-B2B5-E47EFBE36B3D}"/>
                </a:ext>
              </a:extLst>
            </p:cNvPr>
            <p:cNvSpPr/>
            <p:nvPr/>
          </p:nvSpPr>
          <p:spPr>
            <a:xfrm>
              <a:off x="867913" y="2775435"/>
              <a:ext cx="14581" cy="26375"/>
            </a:xfrm>
            <a:custGeom>
              <a:avLst/>
              <a:gdLst/>
              <a:ahLst/>
              <a:cxnLst/>
              <a:rect l="l" t="t" r="r" b="b"/>
              <a:pathLst>
                <a:path w="989" h="1789" extrusionOk="0">
                  <a:moveTo>
                    <a:pt x="486" y="1"/>
                  </a:moveTo>
                  <a:cubicBezTo>
                    <a:pt x="484" y="1"/>
                    <a:pt x="483" y="1"/>
                    <a:pt x="482" y="1"/>
                  </a:cubicBezTo>
                  <a:cubicBezTo>
                    <a:pt x="214" y="5"/>
                    <a:pt x="1" y="409"/>
                    <a:pt x="8" y="901"/>
                  </a:cubicBezTo>
                  <a:cubicBezTo>
                    <a:pt x="15" y="1393"/>
                    <a:pt x="237" y="1788"/>
                    <a:pt x="504" y="1788"/>
                  </a:cubicBezTo>
                  <a:cubicBezTo>
                    <a:pt x="505" y="1788"/>
                    <a:pt x="506" y="1788"/>
                    <a:pt x="507" y="1788"/>
                  </a:cubicBezTo>
                  <a:cubicBezTo>
                    <a:pt x="777" y="1784"/>
                    <a:pt x="989" y="1382"/>
                    <a:pt x="982" y="888"/>
                  </a:cubicBezTo>
                  <a:cubicBezTo>
                    <a:pt x="976" y="396"/>
                    <a:pt x="754" y="1"/>
                    <a:pt x="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707;p44">
              <a:extLst>
                <a:ext uri="{FF2B5EF4-FFF2-40B4-BE49-F238E27FC236}">
                  <a16:creationId xmlns:a16="http://schemas.microsoft.com/office/drawing/2014/main" id="{B7EAF248-12BB-4421-978B-48F366E2422A}"/>
                </a:ext>
              </a:extLst>
            </p:cNvPr>
            <p:cNvSpPr/>
            <p:nvPr/>
          </p:nvSpPr>
          <p:spPr>
            <a:xfrm>
              <a:off x="936083" y="2769700"/>
              <a:ext cx="14581" cy="26345"/>
            </a:xfrm>
            <a:custGeom>
              <a:avLst/>
              <a:gdLst/>
              <a:ahLst/>
              <a:cxnLst/>
              <a:rect l="l" t="t" r="r" b="b"/>
              <a:pathLst>
                <a:path w="989" h="1787" extrusionOk="0">
                  <a:moveTo>
                    <a:pt x="485" y="1"/>
                  </a:moveTo>
                  <a:cubicBezTo>
                    <a:pt x="484" y="1"/>
                    <a:pt x="483" y="1"/>
                    <a:pt x="482" y="1"/>
                  </a:cubicBezTo>
                  <a:cubicBezTo>
                    <a:pt x="213" y="4"/>
                    <a:pt x="0" y="407"/>
                    <a:pt x="8" y="901"/>
                  </a:cubicBezTo>
                  <a:cubicBezTo>
                    <a:pt x="14" y="1391"/>
                    <a:pt x="236" y="1787"/>
                    <a:pt x="504" y="1787"/>
                  </a:cubicBezTo>
                  <a:cubicBezTo>
                    <a:pt x="505" y="1787"/>
                    <a:pt x="506" y="1787"/>
                    <a:pt x="507" y="1787"/>
                  </a:cubicBezTo>
                  <a:cubicBezTo>
                    <a:pt x="776" y="1782"/>
                    <a:pt x="988" y="1380"/>
                    <a:pt x="982" y="887"/>
                  </a:cubicBezTo>
                  <a:cubicBezTo>
                    <a:pt x="975" y="395"/>
                    <a:pt x="753" y="1"/>
                    <a:pt x="4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708;p44">
              <a:extLst>
                <a:ext uri="{FF2B5EF4-FFF2-40B4-BE49-F238E27FC236}">
                  <a16:creationId xmlns:a16="http://schemas.microsoft.com/office/drawing/2014/main" id="{A05F832E-A6F6-4A30-B5B1-46F5D0EEC2A6}"/>
                </a:ext>
              </a:extLst>
            </p:cNvPr>
            <p:cNvSpPr/>
            <p:nvPr/>
          </p:nvSpPr>
          <p:spPr>
            <a:xfrm>
              <a:off x="477437" y="3010522"/>
              <a:ext cx="194412" cy="456670"/>
            </a:xfrm>
            <a:custGeom>
              <a:avLst/>
              <a:gdLst/>
              <a:ahLst/>
              <a:cxnLst/>
              <a:rect l="l" t="t" r="r" b="b"/>
              <a:pathLst>
                <a:path w="13187" h="30976" extrusionOk="0">
                  <a:moveTo>
                    <a:pt x="5390" y="1"/>
                  </a:moveTo>
                  <a:cubicBezTo>
                    <a:pt x="4830" y="1"/>
                    <a:pt x="4198" y="164"/>
                    <a:pt x="3571" y="661"/>
                  </a:cubicBezTo>
                  <a:cubicBezTo>
                    <a:pt x="1736" y="2114"/>
                    <a:pt x="753" y="23542"/>
                    <a:pt x="507" y="26400"/>
                  </a:cubicBezTo>
                  <a:cubicBezTo>
                    <a:pt x="263" y="29258"/>
                    <a:pt x="1" y="30976"/>
                    <a:pt x="1" y="30976"/>
                  </a:cubicBezTo>
                  <a:lnTo>
                    <a:pt x="10809" y="27968"/>
                  </a:lnTo>
                  <a:lnTo>
                    <a:pt x="11617" y="24530"/>
                  </a:lnTo>
                  <a:cubicBezTo>
                    <a:pt x="11617" y="24530"/>
                    <a:pt x="13187" y="24507"/>
                    <a:pt x="13028" y="23368"/>
                  </a:cubicBezTo>
                  <a:cubicBezTo>
                    <a:pt x="12869" y="22229"/>
                    <a:pt x="12769" y="15234"/>
                    <a:pt x="12736" y="12808"/>
                  </a:cubicBezTo>
                  <a:cubicBezTo>
                    <a:pt x="12703" y="10381"/>
                    <a:pt x="9210" y="5721"/>
                    <a:pt x="9210" y="5721"/>
                  </a:cubicBezTo>
                  <a:lnTo>
                    <a:pt x="7282" y="608"/>
                  </a:lnTo>
                  <a:cubicBezTo>
                    <a:pt x="7282" y="608"/>
                    <a:pt x="6470" y="1"/>
                    <a:pt x="5390"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709;p44">
              <a:extLst>
                <a:ext uri="{FF2B5EF4-FFF2-40B4-BE49-F238E27FC236}">
                  <a16:creationId xmlns:a16="http://schemas.microsoft.com/office/drawing/2014/main" id="{6AB9A2CE-3188-4AC8-A688-9465B174DDFC}"/>
                </a:ext>
              </a:extLst>
            </p:cNvPr>
            <p:cNvSpPr/>
            <p:nvPr/>
          </p:nvSpPr>
          <p:spPr>
            <a:xfrm>
              <a:off x="472897" y="3006394"/>
              <a:ext cx="201518" cy="465000"/>
            </a:xfrm>
            <a:custGeom>
              <a:avLst/>
              <a:gdLst/>
              <a:ahLst/>
              <a:cxnLst/>
              <a:rect l="l" t="t" r="r" b="b"/>
              <a:pathLst>
                <a:path w="13669" h="31541" extrusionOk="0">
                  <a:moveTo>
                    <a:pt x="5685" y="1"/>
                  </a:moveTo>
                  <a:cubicBezTo>
                    <a:pt x="5073" y="1"/>
                    <a:pt x="4384" y="178"/>
                    <a:pt x="3703" y="717"/>
                  </a:cubicBezTo>
                  <a:cubicBezTo>
                    <a:pt x="2267" y="1853"/>
                    <a:pt x="1418" y="12534"/>
                    <a:pt x="713" y="23908"/>
                  </a:cubicBezTo>
                  <a:cubicBezTo>
                    <a:pt x="632" y="25213"/>
                    <a:pt x="572" y="26187"/>
                    <a:pt x="531" y="26656"/>
                  </a:cubicBezTo>
                  <a:cubicBezTo>
                    <a:pt x="290" y="29471"/>
                    <a:pt x="29" y="31196"/>
                    <a:pt x="27" y="31214"/>
                  </a:cubicBezTo>
                  <a:cubicBezTo>
                    <a:pt x="1" y="31385"/>
                    <a:pt x="135" y="31541"/>
                    <a:pt x="310" y="31541"/>
                  </a:cubicBezTo>
                  <a:cubicBezTo>
                    <a:pt x="335" y="31541"/>
                    <a:pt x="361" y="31538"/>
                    <a:pt x="386" y="31530"/>
                  </a:cubicBezTo>
                  <a:lnTo>
                    <a:pt x="11193" y="28523"/>
                  </a:lnTo>
                  <a:cubicBezTo>
                    <a:pt x="11293" y="28495"/>
                    <a:pt x="11370" y="28414"/>
                    <a:pt x="11394" y="28313"/>
                  </a:cubicBezTo>
                  <a:lnTo>
                    <a:pt x="12154" y="25079"/>
                  </a:lnTo>
                  <a:cubicBezTo>
                    <a:pt x="12472" y="25043"/>
                    <a:pt x="13035" y="24922"/>
                    <a:pt x="13371" y="24531"/>
                  </a:cubicBezTo>
                  <a:cubicBezTo>
                    <a:pt x="13583" y="24284"/>
                    <a:pt x="13668" y="23966"/>
                    <a:pt x="13618" y="23609"/>
                  </a:cubicBezTo>
                  <a:cubicBezTo>
                    <a:pt x="13462" y="22488"/>
                    <a:pt x="13362" y="15415"/>
                    <a:pt x="13329" y="13084"/>
                  </a:cubicBezTo>
                  <a:cubicBezTo>
                    <a:pt x="13295" y="10593"/>
                    <a:pt x="9892" y="6022"/>
                    <a:pt x="9746" y="5829"/>
                  </a:cubicBezTo>
                  <a:cubicBezTo>
                    <a:pt x="9690" y="5754"/>
                    <a:pt x="9604" y="5714"/>
                    <a:pt x="9517" y="5714"/>
                  </a:cubicBezTo>
                  <a:cubicBezTo>
                    <a:pt x="9458" y="5714"/>
                    <a:pt x="9398" y="5733"/>
                    <a:pt x="9347" y="5771"/>
                  </a:cubicBezTo>
                  <a:cubicBezTo>
                    <a:pt x="9220" y="5866"/>
                    <a:pt x="9195" y="6045"/>
                    <a:pt x="9289" y="6171"/>
                  </a:cubicBezTo>
                  <a:cubicBezTo>
                    <a:pt x="9324" y="6217"/>
                    <a:pt x="12726" y="10786"/>
                    <a:pt x="12759" y="13100"/>
                  </a:cubicBezTo>
                  <a:cubicBezTo>
                    <a:pt x="12816" y="17148"/>
                    <a:pt x="12909" y="22651"/>
                    <a:pt x="13053" y="23687"/>
                  </a:cubicBezTo>
                  <a:cubicBezTo>
                    <a:pt x="13080" y="23882"/>
                    <a:pt x="13042" y="24036"/>
                    <a:pt x="12938" y="24158"/>
                  </a:cubicBezTo>
                  <a:cubicBezTo>
                    <a:pt x="12691" y="24448"/>
                    <a:pt x="12119" y="24521"/>
                    <a:pt x="11920" y="24524"/>
                  </a:cubicBezTo>
                  <a:cubicBezTo>
                    <a:pt x="11789" y="24527"/>
                    <a:pt x="11677" y="24617"/>
                    <a:pt x="11646" y="24745"/>
                  </a:cubicBezTo>
                  <a:lnTo>
                    <a:pt x="10877" y="28018"/>
                  </a:lnTo>
                  <a:lnTo>
                    <a:pt x="653" y="30863"/>
                  </a:lnTo>
                  <a:cubicBezTo>
                    <a:pt x="746" y="30179"/>
                    <a:pt x="928" y="28717"/>
                    <a:pt x="1100" y="26704"/>
                  </a:cubicBezTo>
                  <a:cubicBezTo>
                    <a:pt x="1141" y="26232"/>
                    <a:pt x="1201" y="25254"/>
                    <a:pt x="1283" y="23943"/>
                  </a:cubicBezTo>
                  <a:cubicBezTo>
                    <a:pt x="1650" y="18023"/>
                    <a:pt x="2623" y="2299"/>
                    <a:pt x="4057" y="1165"/>
                  </a:cubicBezTo>
                  <a:cubicBezTo>
                    <a:pt x="4627" y="713"/>
                    <a:pt x="5200" y="564"/>
                    <a:pt x="5708" y="564"/>
                  </a:cubicBezTo>
                  <a:cubicBezTo>
                    <a:pt x="6655" y="564"/>
                    <a:pt x="7374" y="1083"/>
                    <a:pt x="7420" y="1118"/>
                  </a:cubicBezTo>
                  <a:cubicBezTo>
                    <a:pt x="7471" y="1156"/>
                    <a:pt x="7531" y="1174"/>
                    <a:pt x="7590" y="1174"/>
                  </a:cubicBezTo>
                  <a:cubicBezTo>
                    <a:pt x="7677" y="1174"/>
                    <a:pt x="7763" y="1135"/>
                    <a:pt x="7820" y="1059"/>
                  </a:cubicBezTo>
                  <a:cubicBezTo>
                    <a:pt x="7914" y="933"/>
                    <a:pt x="7888" y="754"/>
                    <a:pt x="7761" y="660"/>
                  </a:cubicBezTo>
                  <a:cubicBezTo>
                    <a:pt x="7747" y="650"/>
                    <a:pt x="6857" y="1"/>
                    <a:pt x="56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710;p44">
              <a:extLst>
                <a:ext uri="{FF2B5EF4-FFF2-40B4-BE49-F238E27FC236}">
                  <a16:creationId xmlns:a16="http://schemas.microsoft.com/office/drawing/2014/main" id="{8D4828B9-84A0-4BE2-96E9-DD9B06F35C13}"/>
                </a:ext>
              </a:extLst>
            </p:cNvPr>
            <p:cNvSpPr/>
            <p:nvPr/>
          </p:nvSpPr>
          <p:spPr>
            <a:xfrm>
              <a:off x="525720" y="3354233"/>
              <a:ext cx="106501" cy="9627"/>
            </a:xfrm>
            <a:custGeom>
              <a:avLst/>
              <a:gdLst/>
              <a:ahLst/>
              <a:cxnLst/>
              <a:rect l="l" t="t" r="r" b="b"/>
              <a:pathLst>
                <a:path w="7224" h="653" extrusionOk="0">
                  <a:moveTo>
                    <a:pt x="3119" y="1"/>
                  </a:moveTo>
                  <a:cubicBezTo>
                    <a:pt x="2227" y="1"/>
                    <a:pt x="1188" y="69"/>
                    <a:pt x="0" y="250"/>
                  </a:cubicBezTo>
                  <a:lnTo>
                    <a:pt x="7223" y="652"/>
                  </a:lnTo>
                  <a:cubicBezTo>
                    <a:pt x="7223" y="652"/>
                    <a:pt x="5873"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711;p44">
              <a:extLst>
                <a:ext uri="{FF2B5EF4-FFF2-40B4-BE49-F238E27FC236}">
                  <a16:creationId xmlns:a16="http://schemas.microsoft.com/office/drawing/2014/main" id="{82E82032-CB46-4336-9475-6BA36F929855}"/>
                </a:ext>
              </a:extLst>
            </p:cNvPr>
            <p:cNvSpPr/>
            <p:nvPr/>
          </p:nvSpPr>
          <p:spPr>
            <a:xfrm>
              <a:off x="521208" y="3350002"/>
              <a:ext cx="115553" cy="18045"/>
            </a:xfrm>
            <a:custGeom>
              <a:avLst/>
              <a:gdLst/>
              <a:ahLst/>
              <a:cxnLst/>
              <a:rect l="l" t="t" r="r" b="b"/>
              <a:pathLst>
                <a:path w="7838" h="1224" extrusionOk="0">
                  <a:moveTo>
                    <a:pt x="3442" y="1"/>
                  </a:moveTo>
                  <a:cubicBezTo>
                    <a:pt x="2533" y="1"/>
                    <a:pt x="1475" y="71"/>
                    <a:pt x="264" y="255"/>
                  </a:cubicBezTo>
                  <a:cubicBezTo>
                    <a:pt x="107" y="279"/>
                    <a:pt x="1" y="424"/>
                    <a:pt x="25" y="580"/>
                  </a:cubicBezTo>
                  <a:cubicBezTo>
                    <a:pt x="45" y="721"/>
                    <a:pt x="167" y="823"/>
                    <a:pt x="306" y="823"/>
                  </a:cubicBezTo>
                  <a:cubicBezTo>
                    <a:pt x="320" y="823"/>
                    <a:pt x="335" y="822"/>
                    <a:pt x="350" y="819"/>
                  </a:cubicBezTo>
                  <a:cubicBezTo>
                    <a:pt x="1515" y="642"/>
                    <a:pt x="2535" y="575"/>
                    <a:pt x="3411" y="575"/>
                  </a:cubicBezTo>
                  <a:cubicBezTo>
                    <a:pt x="6062" y="575"/>
                    <a:pt x="7389" y="1187"/>
                    <a:pt x="7406" y="1196"/>
                  </a:cubicBezTo>
                  <a:cubicBezTo>
                    <a:pt x="7444" y="1214"/>
                    <a:pt x="7487" y="1224"/>
                    <a:pt x="7529" y="1224"/>
                  </a:cubicBezTo>
                  <a:cubicBezTo>
                    <a:pt x="7663" y="1224"/>
                    <a:pt x="7778" y="1133"/>
                    <a:pt x="7808" y="1002"/>
                  </a:cubicBezTo>
                  <a:cubicBezTo>
                    <a:pt x="7838" y="873"/>
                    <a:pt x="7774" y="739"/>
                    <a:pt x="7654" y="681"/>
                  </a:cubicBezTo>
                  <a:cubicBezTo>
                    <a:pt x="7579" y="645"/>
                    <a:pt x="6201" y="1"/>
                    <a:pt x="34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712;p44">
              <a:extLst>
                <a:ext uri="{FF2B5EF4-FFF2-40B4-BE49-F238E27FC236}">
                  <a16:creationId xmlns:a16="http://schemas.microsoft.com/office/drawing/2014/main" id="{E5B9BC51-2E40-44E3-B447-0B5CA04EC07B}"/>
                </a:ext>
              </a:extLst>
            </p:cNvPr>
            <p:cNvSpPr/>
            <p:nvPr/>
          </p:nvSpPr>
          <p:spPr>
            <a:xfrm>
              <a:off x="574960" y="3334169"/>
              <a:ext cx="14816" cy="3066"/>
            </a:xfrm>
            <a:custGeom>
              <a:avLst/>
              <a:gdLst/>
              <a:ahLst/>
              <a:cxnLst/>
              <a:rect l="l" t="t" r="r" b="b"/>
              <a:pathLst>
                <a:path w="1005" h="208" extrusionOk="0">
                  <a:moveTo>
                    <a:pt x="1" y="1"/>
                  </a:moveTo>
                  <a:lnTo>
                    <a:pt x="1004" y="207"/>
                  </a:lnTo>
                  <a:cubicBezTo>
                    <a:pt x="676" y="109"/>
                    <a:pt x="341" y="40"/>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1713;p44">
              <a:extLst>
                <a:ext uri="{FF2B5EF4-FFF2-40B4-BE49-F238E27FC236}">
                  <a16:creationId xmlns:a16="http://schemas.microsoft.com/office/drawing/2014/main" id="{6390FC87-89C9-40EA-968F-4C3182FF2878}"/>
                </a:ext>
              </a:extLst>
            </p:cNvPr>
            <p:cNvSpPr/>
            <p:nvPr/>
          </p:nvSpPr>
          <p:spPr>
            <a:xfrm>
              <a:off x="570508" y="3329967"/>
              <a:ext cx="23736" cy="11470"/>
            </a:xfrm>
            <a:custGeom>
              <a:avLst/>
              <a:gdLst/>
              <a:ahLst/>
              <a:cxnLst/>
              <a:rect l="l" t="t" r="r" b="b"/>
              <a:pathLst>
                <a:path w="1610" h="778" extrusionOk="0">
                  <a:moveTo>
                    <a:pt x="304" y="0"/>
                  </a:moveTo>
                  <a:cubicBezTo>
                    <a:pt x="160" y="0"/>
                    <a:pt x="37" y="107"/>
                    <a:pt x="19" y="252"/>
                  </a:cubicBezTo>
                  <a:cubicBezTo>
                    <a:pt x="1" y="409"/>
                    <a:pt x="113" y="551"/>
                    <a:pt x="269" y="569"/>
                  </a:cubicBezTo>
                  <a:cubicBezTo>
                    <a:pt x="592" y="608"/>
                    <a:pt x="912" y="673"/>
                    <a:pt x="1224" y="765"/>
                  </a:cubicBezTo>
                  <a:cubicBezTo>
                    <a:pt x="1251" y="773"/>
                    <a:pt x="1278" y="777"/>
                    <a:pt x="1306" y="777"/>
                  </a:cubicBezTo>
                  <a:cubicBezTo>
                    <a:pt x="1449" y="777"/>
                    <a:pt x="1568" y="674"/>
                    <a:pt x="1589" y="534"/>
                  </a:cubicBezTo>
                  <a:cubicBezTo>
                    <a:pt x="1610" y="392"/>
                    <a:pt x="1524" y="259"/>
                    <a:pt x="1388" y="218"/>
                  </a:cubicBezTo>
                  <a:cubicBezTo>
                    <a:pt x="1044" y="116"/>
                    <a:pt x="693" y="44"/>
                    <a:pt x="338" y="2"/>
                  </a:cubicBezTo>
                  <a:cubicBezTo>
                    <a:pt x="326" y="1"/>
                    <a:pt x="315" y="0"/>
                    <a:pt x="3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1714;p44">
              <a:extLst>
                <a:ext uri="{FF2B5EF4-FFF2-40B4-BE49-F238E27FC236}">
                  <a16:creationId xmlns:a16="http://schemas.microsoft.com/office/drawing/2014/main" id="{D10F5C5C-2280-4360-B9E6-D00CB518B75E}"/>
                </a:ext>
              </a:extLst>
            </p:cNvPr>
            <p:cNvSpPr/>
            <p:nvPr/>
          </p:nvSpPr>
          <p:spPr>
            <a:xfrm>
              <a:off x="486047" y="3335009"/>
              <a:ext cx="56715" cy="18517"/>
            </a:xfrm>
            <a:custGeom>
              <a:avLst/>
              <a:gdLst/>
              <a:ahLst/>
              <a:cxnLst/>
              <a:rect l="l" t="t" r="r" b="b"/>
              <a:pathLst>
                <a:path w="3847" h="1256" extrusionOk="0">
                  <a:moveTo>
                    <a:pt x="3847" y="0"/>
                  </a:moveTo>
                  <a:lnTo>
                    <a:pt x="3847" y="0"/>
                  </a:lnTo>
                  <a:cubicBezTo>
                    <a:pt x="1736" y="320"/>
                    <a:pt x="0" y="1256"/>
                    <a:pt x="0" y="1256"/>
                  </a:cubicBezTo>
                  <a:lnTo>
                    <a:pt x="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715;p44">
              <a:extLst>
                <a:ext uri="{FF2B5EF4-FFF2-40B4-BE49-F238E27FC236}">
                  <a16:creationId xmlns:a16="http://schemas.microsoft.com/office/drawing/2014/main" id="{E415BDDB-B079-4B52-9008-91F262DCF18B}"/>
                </a:ext>
              </a:extLst>
            </p:cNvPr>
            <p:cNvSpPr/>
            <p:nvPr/>
          </p:nvSpPr>
          <p:spPr>
            <a:xfrm>
              <a:off x="481492" y="3330778"/>
              <a:ext cx="65856" cy="26964"/>
            </a:xfrm>
            <a:custGeom>
              <a:avLst/>
              <a:gdLst/>
              <a:ahLst/>
              <a:cxnLst/>
              <a:rect l="l" t="t" r="r" b="b"/>
              <a:pathLst>
                <a:path w="4467" h="1829" extrusionOk="0">
                  <a:moveTo>
                    <a:pt x="4159" y="1"/>
                  </a:moveTo>
                  <a:cubicBezTo>
                    <a:pt x="4144" y="1"/>
                    <a:pt x="4128" y="2"/>
                    <a:pt x="4112" y="5"/>
                  </a:cubicBezTo>
                  <a:cubicBezTo>
                    <a:pt x="1977" y="329"/>
                    <a:pt x="246" y="1253"/>
                    <a:pt x="175" y="1292"/>
                  </a:cubicBezTo>
                  <a:cubicBezTo>
                    <a:pt x="59" y="1354"/>
                    <a:pt x="1" y="1486"/>
                    <a:pt x="33" y="1614"/>
                  </a:cubicBezTo>
                  <a:cubicBezTo>
                    <a:pt x="65" y="1741"/>
                    <a:pt x="179" y="1829"/>
                    <a:pt x="311" y="1829"/>
                  </a:cubicBezTo>
                  <a:cubicBezTo>
                    <a:pt x="357" y="1829"/>
                    <a:pt x="404" y="1817"/>
                    <a:pt x="445" y="1795"/>
                  </a:cubicBezTo>
                  <a:cubicBezTo>
                    <a:pt x="463" y="1785"/>
                    <a:pt x="2160" y="879"/>
                    <a:pt x="4198" y="569"/>
                  </a:cubicBezTo>
                  <a:cubicBezTo>
                    <a:pt x="4356" y="548"/>
                    <a:pt x="4467" y="401"/>
                    <a:pt x="4443" y="244"/>
                  </a:cubicBezTo>
                  <a:cubicBezTo>
                    <a:pt x="4421" y="102"/>
                    <a:pt x="4299" y="1"/>
                    <a:pt x="41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716;p44">
              <a:extLst>
                <a:ext uri="{FF2B5EF4-FFF2-40B4-BE49-F238E27FC236}">
                  <a16:creationId xmlns:a16="http://schemas.microsoft.com/office/drawing/2014/main" id="{469885B8-9B4E-4C7C-8952-60F06389EFB3}"/>
                </a:ext>
              </a:extLst>
            </p:cNvPr>
            <p:cNvSpPr/>
            <p:nvPr/>
          </p:nvSpPr>
          <p:spPr>
            <a:xfrm>
              <a:off x="449529" y="3393316"/>
              <a:ext cx="220138" cy="137210"/>
            </a:xfrm>
            <a:custGeom>
              <a:avLst/>
              <a:gdLst/>
              <a:ahLst/>
              <a:cxnLst/>
              <a:rect l="l" t="t" r="r" b="b"/>
              <a:pathLst>
                <a:path w="14932" h="9307" extrusionOk="0">
                  <a:moveTo>
                    <a:pt x="12999" y="0"/>
                  </a:moveTo>
                  <a:cubicBezTo>
                    <a:pt x="12986" y="0"/>
                    <a:pt x="12972" y="0"/>
                    <a:pt x="12959" y="0"/>
                  </a:cubicBezTo>
                  <a:cubicBezTo>
                    <a:pt x="10961" y="29"/>
                    <a:pt x="1254" y="166"/>
                    <a:pt x="1" y="2325"/>
                  </a:cubicBezTo>
                  <a:cubicBezTo>
                    <a:pt x="1" y="2325"/>
                    <a:pt x="1521" y="8870"/>
                    <a:pt x="2811" y="9280"/>
                  </a:cubicBezTo>
                  <a:cubicBezTo>
                    <a:pt x="2866" y="9298"/>
                    <a:pt x="2936" y="9306"/>
                    <a:pt x="3018" y="9306"/>
                  </a:cubicBezTo>
                  <a:cubicBezTo>
                    <a:pt x="4861" y="9306"/>
                    <a:pt x="13173" y="5070"/>
                    <a:pt x="13152" y="3567"/>
                  </a:cubicBezTo>
                  <a:cubicBezTo>
                    <a:pt x="13130" y="2007"/>
                    <a:pt x="14932" y="0"/>
                    <a:pt x="1299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717;p44">
              <a:extLst>
                <a:ext uri="{FF2B5EF4-FFF2-40B4-BE49-F238E27FC236}">
                  <a16:creationId xmlns:a16="http://schemas.microsoft.com/office/drawing/2014/main" id="{866EE01A-5CB4-4DA7-ADC6-090AA23DFE34}"/>
                </a:ext>
              </a:extLst>
            </p:cNvPr>
            <p:cNvSpPr/>
            <p:nvPr/>
          </p:nvSpPr>
          <p:spPr>
            <a:xfrm>
              <a:off x="445195" y="3389115"/>
              <a:ext cx="215833" cy="145540"/>
            </a:xfrm>
            <a:custGeom>
              <a:avLst/>
              <a:gdLst/>
              <a:ahLst/>
              <a:cxnLst/>
              <a:rect l="l" t="t" r="r" b="b"/>
              <a:pathLst>
                <a:path w="14640" h="9872" extrusionOk="0">
                  <a:moveTo>
                    <a:pt x="13334" y="570"/>
                  </a:moveTo>
                  <a:cubicBezTo>
                    <a:pt x="13607" y="570"/>
                    <a:pt x="13791" y="629"/>
                    <a:pt x="13857" y="721"/>
                  </a:cubicBezTo>
                  <a:cubicBezTo>
                    <a:pt x="14000" y="923"/>
                    <a:pt x="13786" y="1511"/>
                    <a:pt x="13597" y="2028"/>
                  </a:cubicBezTo>
                  <a:cubicBezTo>
                    <a:pt x="13388" y="2600"/>
                    <a:pt x="13151" y="3248"/>
                    <a:pt x="13160" y="3855"/>
                  </a:cubicBezTo>
                  <a:cubicBezTo>
                    <a:pt x="13161" y="3923"/>
                    <a:pt x="13104" y="4306"/>
                    <a:pt x="11873" y="5219"/>
                  </a:cubicBezTo>
                  <a:cubicBezTo>
                    <a:pt x="9345" y="7094"/>
                    <a:pt x="4482" y="9311"/>
                    <a:pt x="3336" y="9311"/>
                  </a:cubicBezTo>
                  <a:cubicBezTo>
                    <a:pt x="3278" y="9311"/>
                    <a:pt x="3229" y="9305"/>
                    <a:pt x="3191" y="9293"/>
                  </a:cubicBezTo>
                  <a:cubicBezTo>
                    <a:pt x="2420" y="9048"/>
                    <a:pt x="1224" y="5311"/>
                    <a:pt x="600" y="2665"/>
                  </a:cubicBezTo>
                  <a:cubicBezTo>
                    <a:pt x="1090" y="2018"/>
                    <a:pt x="3317" y="711"/>
                    <a:pt x="13257" y="571"/>
                  </a:cubicBezTo>
                  <a:cubicBezTo>
                    <a:pt x="13283" y="570"/>
                    <a:pt x="13309" y="570"/>
                    <a:pt x="13334" y="570"/>
                  </a:cubicBezTo>
                  <a:close/>
                  <a:moveTo>
                    <a:pt x="13286" y="0"/>
                  </a:moveTo>
                  <a:cubicBezTo>
                    <a:pt x="13274" y="0"/>
                    <a:pt x="13261" y="0"/>
                    <a:pt x="13248" y="0"/>
                  </a:cubicBezTo>
                  <a:cubicBezTo>
                    <a:pt x="7836" y="77"/>
                    <a:pt x="1152" y="566"/>
                    <a:pt x="48" y="2466"/>
                  </a:cubicBezTo>
                  <a:cubicBezTo>
                    <a:pt x="11" y="2529"/>
                    <a:pt x="0" y="2604"/>
                    <a:pt x="17" y="2675"/>
                  </a:cubicBezTo>
                  <a:cubicBezTo>
                    <a:pt x="276" y="3794"/>
                    <a:pt x="1643" y="9400"/>
                    <a:pt x="3018" y="9838"/>
                  </a:cubicBezTo>
                  <a:cubicBezTo>
                    <a:pt x="3091" y="9861"/>
                    <a:pt x="3180" y="9872"/>
                    <a:pt x="3287" y="9872"/>
                  </a:cubicBezTo>
                  <a:cubicBezTo>
                    <a:pt x="4845" y="9872"/>
                    <a:pt x="9801" y="7469"/>
                    <a:pt x="12214" y="5676"/>
                  </a:cubicBezTo>
                  <a:cubicBezTo>
                    <a:pt x="13583" y="4661"/>
                    <a:pt x="13735" y="4147"/>
                    <a:pt x="13732" y="3848"/>
                  </a:cubicBezTo>
                  <a:cubicBezTo>
                    <a:pt x="13724" y="3345"/>
                    <a:pt x="13942" y="2750"/>
                    <a:pt x="14134" y="2225"/>
                  </a:cubicBezTo>
                  <a:cubicBezTo>
                    <a:pt x="14405" y="1480"/>
                    <a:pt x="14640" y="838"/>
                    <a:pt x="14322" y="391"/>
                  </a:cubicBezTo>
                  <a:cubicBezTo>
                    <a:pt x="14136" y="127"/>
                    <a:pt x="13789" y="0"/>
                    <a:pt x="132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718;p44">
              <a:extLst>
                <a:ext uri="{FF2B5EF4-FFF2-40B4-BE49-F238E27FC236}">
                  <a16:creationId xmlns:a16="http://schemas.microsoft.com/office/drawing/2014/main" id="{67B01DBC-D17B-4B47-897C-DC0BE570A29D}"/>
                </a:ext>
              </a:extLst>
            </p:cNvPr>
            <p:cNvSpPr/>
            <p:nvPr/>
          </p:nvSpPr>
          <p:spPr>
            <a:xfrm>
              <a:off x="473840" y="3341334"/>
              <a:ext cx="667698" cy="227967"/>
            </a:xfrm>
            <a:custGeom>
              <a:avLst/>
              <a:gdLst/>
              <a:ahLst/>
              <a:cxnLst/>
              <a:rect l="l" t="t" r="r" b="b"/>
              <a:pathLst>
                <a:path w="45290" h="15463" extrusionOk="0">
                  <a:moveTo>
                    <a:pt x="37787" y="0"/>
                  </a:moveTo>
                  <a:cubicBezTo>
                    <a:pt x="37770" y="0"/>
                    <a:pt x="37753" y="0"/>
                    <a:pt x="37736" y="1"/>
                  </a:cubicBezTo>
                  <a:cubicBezTo>
                    <a:pt x="36166" y="22"/>
                    <a:pt x="29160" y="3988"/>
                    <a:pt x="29160" y="3988"/>
                  </a:cubicBezTo>
                  <a:cubicBezTo>
                    <a:pt x="29160" y="3988"/>
                    <a:pt x="10485" y="5822"/>
                    <a:pt x="7076" y="7013"/>
                  </a:cubicBezTo>
                  <a:cubicBezTo>
                    <a:pt x="3666" y="8203"/>
                    <a:pt x="0" y="11395"/>
                    <a:pt x="445" y="12531"/>
                  </a:cubicBezTo>
                  <a:cubicBezTo>
                    <a:pt x="886" y="13661"/>
                    <a:pt x="3737" y="15462"/>
                    <a:pt x="5172" y="15462"/>
                  </a:cubicBezTo>
                  <a:cubicBezTo>
                    <a:pt x="5180" y="15462"/>
                    <a:pt x="5188" y="15462"/>
                    <a:pt x="5197" y="15462"/>
                  </a:cubicBezTo>
                  <a:cubicBezTo>
                    <a:pt x="6624" y="15442"/>
                    <a:pt x="8753" y="14555"/>
                    <a:pt x="9181" y="14550"/>
                  </a:cubicBezTo>
                  <a:cubicBezTo>
                    <a:pt x="9609" y="14543"/>
                    <a:pt x="28063" y="7145"/>
                    <a:pt x="28490" y="6996"/>
                  </a:cubicBezTo>
                  <a:cubicBezTo>
                    <a:pt x="28916" y="6848"/>
                    <a:pt x="31766" y="6521"/>
                    <a:pt x="33043" y="5933"/>
                  </a:cubicBezTo>
                  <a:cubicBezTo>
                    <a:pt x="34319" y="5344"/>
                    <a:pt x="36224" y="3457"/>
                    <a:pt x="36224" y="3457"/>
                  </a:cubicBezTo>
                  <a:cubicBezTo>
                    <a:pt x="36224" y="3457"/>
                    <a:pt x="43313" y="3434"/>
                    <a:pt x="44023" y="3138"/>
                  </a:cubicBezTo>
                  <a:cubicBezTo>
                    <a:pt x="44731" y="2842"/>
                    <a:pt x="45289" y="2027"/>
                    <a:pt x="42854" y="1490"/>
                  </a:cubicBezTo>
                  <a:cubicBezTo>
                    <a:pt x="40447" y="959"/>
                    <a:pt x="39330" y="0"/>
                    <a:pt x="377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1719;p44">
              <a:extLst>
                <a:ext uri="{FF2B5EF4-FFF2-40B4-BE49-F238E27FC236}">
                  <a16:creationId xmlns:a16="http://schemas.microsoft.com/office/drawing/2014/main" id="{43E870ED-ED27-4989-97C8-381869C52B11}"/>
                </a:ext>
              </a:extLst>
            </p:cNvPr>
            <p:cNvSpPr/>
            <p:nvPr/>
          </p:nvSpPr>
          <p:spPr>
            <a:xfrm>
              <a:off x="474990" y="3337117"/>
              <a:ext cx="661476" cy="236370"/>
            </a:xfrm>
            <a:custGeom>
              <a:avLst/>
              <a:gdLst/>
              <a:ahLst/>
              <a:cxnLst/>
              <a:rect l="l" t="t" r="r" b="b"/>
              <a:pathLst>
                <a:path w="44868" h="16033" extrusionOk="0">
                  <a:moveTo>
                    <a:pt x="37711" y="573"/>
                  </a:moveTo>
                  <a:cubicBezTo>
                    <a:pt x="38496" y="573"/>
                    <a:pt x="39173" y="842"/>
                    <a:pt x="40024" y="1181"/>
                  </a:cubicBezTo>
                  <a:cubicBezTo>
                    <a:pt x="40762" y="1475"/>
                    <a:pt x="41598" y="1808"/>
                    <a:pt x="42715" y="2054"/>
                  </a:cubicBezTo>
                  <a:cubicBezTo>
                    <a:pt x="44213" y="2384"/>
                    <a:pt x="44263" y="2759"/>
                    <a:pt x="44265" y="2774"/>
                  </a:cubicBezTo>
                  <a:cubicBezTo>
                    <a:pt x="44274" y="2872"/>
                    <a:pt x="44115" y="3043"/>
                    <a:pt x="43835" y="3160"/>
                  </a:cubicBezTo>
                  <a:cubicBezTo>
                    <a:pt x="43355" y="3359"/>
                    <a:pt x="38863" y="3447"/>
                    <a:pt x="36144" y="3456"/>
                  </a:cubicBezTo>
                  <a:cubicBezTo>
                    <a:pt x="36069" y="3456"/>
                    <a:pt x="35998" y="3486"/>
                    <a:pt x="35944" y="3538"/>
                  </a:cubicBezTo>
                  <a:cubicBezTo>
                    <a:pt x="35926" y="3557"/>
                    <a:pt x="34060" y="5397"/>
                    <a:pt x="32845" y="5958"/>
                  </a:cubicBezTo>
                  <a:cubicBezTo>
                    <a:pt x="32000" y="6349"/>
                    <a:pt x="30402" y="6625"/>
                    <a:pt x="29345" y="6807"/>
                  </a:cubicBezTo>
                  <a:cubicBezTo>
                    <a:pt x="28771" y="6906"/>
                    <a:pt x="28465" y="6961"/>
                    <a:pt x="28317" y="7012"/>
                  </a:cubicBezTo>
                  <a:cubicBezTo>
                    <a:pt x="28207" y="7052"/>
                    <a:pt x="27072" y="7502"/>
                    <a:pt x="24910" y="8362"/>
                  </a:cubicBezTo>
                  <a:cubicBezTo>
                    <a:pt x="19951" y="10334"/>
                    <a:pt x="9632" y="14438"/>
                    <a:pt x="9099" y="14549"/>
                  </a:cubicBezTo>
                  <a:cubicBezTo>
                    <a:pt x="8916" y="14551"/>
                    <a:pt x="8607" y="14645"/>
                    <a:pt x="8032" y="14822"/>
                  </a:cubicBezTo>
                  <a:cubicBezTo>
                    <a:pt x="7173" y="15086"/>
                    <a:pt x="5996" y="15449"/>
                    <a:pt x="5115" y="15462"/>
                  </a:cubicBezTo>
                  <a:lnTo>
                    <a:pt x="5094" y="15462"/>
                  </a:lnTo>
                  <a:cubicBezTo>
                    <a:pt x="3723" y="15462"/>
                    <a:pt x="1007" y="13671"/>
                    <a:pt x="632" y="12712"/>
                  </a:cubicBezTo>
                  <a:cubicBezTo>
                    <a:pt x="592" y="12611"/>
                    <a:pt x="622" y="12440"/>
                    <a:pt x="718" y="12232"/>
                  </a:cubicBezTo>
                  <a:cubicBezTo>
                    <a:pt x="1323" y="10916"/>
                    <a:pt x="4302" y="8541"/>
                    <a:pt x="7092" y="7567"/>
                  </a:cubicBezTo>
                  <a:cubicBezTo>
                    <a:pt x="10430" y="6402"/>
                    <a:pt x="28925" y="4577"/>
                    <a:pt x="29111" y="4558"/>
                  </a:cubicBezTo>
                  <a:cubicBezTo>
                    <a:pt x="29151" y="4554"/>
                    <a:pt x="29189" y="4542"/>
                    <a:pt x="29224" y="4522"/>
                  </a:cubicBezTo>
                  <a:cubicBezTo>
                    <a:pt x="31154" y="3430"/>
                    <a:pt x="36434" y="590"/>
                    <a:pt x="37662" y="573"/>
                  </a:cubicBezTo>
                  <a:close/>
                  <a:moveTo>
                    <a:pt x="37748" y="1"/>
                  </a:moveTo>
                  <a:cubicBezTo>
                    <a:pt x="37717" y="1"/>
                    <a:pt x="37685" y="1"/>
                    <a:pt x="37653" y="2"/>
                  </a:cubicBezTo>
                  <a:cubicBezTo>
                    <a:pt x="36090" y="24"/>
                    <a:pt x="29930" y="3468"/>
                    <a:pt x="28994" y="3996"/>
                  </a:cubicBezTo>
                  <a:cubicBezTo>
                    <a:pt x="27629" y="4131"/>
                    <a:pt x="10243" y="5863"/>
                    <a:pt x="6904" y="7029"/>
                  </a:cubicBezTo>
                  <a:cubicBezTo>
                    <a:pt x="3938" y="8064"/>
                    <a:pt x="863" y="10548"/>
                    <a:pt x="199" y="11995"/>
                  </a:cubicBezTo>
                  <a:cubicBezTo>
                    <a:pt x="34" y="12354"/>
                    <a:pt x="0" y="12666"/>
                    <a:pt x="100" y="12921"/>
                  </a:cubicBezTo>
                  <a:cubicBezTo>
                    <a:pt x="595" y="14186"/>
                    <a:pt x="3568" y="16033"/>
                    <a:pt x="5097" y="16033"/>
                  </a:cubicBezTo>
                  <a:lnTo>
                    <a:pt x="5123" y="16033"/>
                  </a:lnTo>
                  <a:cubicBezTo>
                    <a:pt x="6086" y="16020"/>
                    <a:pt x="7308" y="15643"/>
                    <a:pt x="8201" y="15368"/>
                  </a:cubicBezTo>
                  <a:cubicBezTo>
                    <a:pt x="8573" y="15252"/>
                    <a:pt x="8996" y="15122"/>
                    <a:pt x="9107" y="15121"/>
                  </a:cubicBezTo>
                  <a:cubicBezTo>
                    <a:pt x="9387" y="15116"/>
                    <a:pt x="13278" y="13603"/>
                    <a:pt x="25121" y="8893"/>
                  </a:cubicBezTo>
                  <a:cubicBezTo>
                    <a:pt x="26953" y="8164"/>
                    <a:pt x="28400" y="7588"/>
                    <a:pt x="28506" y="7551"/>
                  </a:cubicBezTo>
                  <a:cubicBezTo>
                    <a:pt x="28616" y="7513"/>
                    <a:pt x="29017" y="7443"/>
                    <a:pt x="29442" y="7371"/>
                  </a:cubicBezTo>
                  <a:cubicBezTo>
                    <a:pt x="30529" y="7182"/>
                    <a:pt x="32171" y="6899"/>
                    <a:pt x="33084" y="6478"/>
                  </a:cubicBezTo>
                  <a:cubicBezTo>
                    <a:pt x="34251" y="5939"/>
                    <a:pt x="35873" y="4405"/>
                    <a:pt x="36262" y="4026"/>
                  </a:cubicBezTo>
                  <a:cubicBezTo>
                    <a:pt x="37683" y="4021"/>
                    <a:pt x="43350" y="3981"/>
                    <a:pt x="44053" y="3687"/>
                  </a:cubicBezTo>
                  <a:cubicBezTo>
                    <a:pt x="44569" y="3473"/>
                    <a:pt x="44868" y="3103"/>
                    <a:pt x="44834" y="2724"/>
                  </a:cubicBezTo>
                  <a:cubicBezTo>
                    <a:pt x="44786" y="2184"/>
                    <a:pt x="44133" y="1782"/>
                    <a:pt x="42838" y="1497"/>
                  </a:cubicBezTo>
                  <a:cubicBezTo>
                    <a:pt x="41765" y="1261"/>
                    <a:pt x="40953" y="937"/>
                    <a:pt x="40235" y="651"/>
                  </a:cubicBezTo>
                  <a:cubicBezTo>
                    <a:pt x="39375" y="308"/>
                    <a:pt x="38633" y="1"/>
                    <a:pt x="3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1720;p44">
              <a:extLst>
                <a:ext uri="{FF2B5EF4-FFF2-40B4-BE49-F238E27FC236}">
                  <a16:creationId xmlns:a16="http://schemas.microsoft.com/office/drawing/2014/main" id="{0F14F777-7D6B-44D4-807D-CCF092333F2C}"/>
                </a:ext>
              </a:extLst>
            </p:cNvPr>
            <p:cNvSpPr/>
            <p:nvPr/>
          </p:nvSpPr>
          <p:spPr>
            <a:xfrm>
              <a:off x="990572" y="3367738"/>
              <a:ext cx="121421" cy="25829"/>
            </a:xfrm>
            <a:custGeom>
              <a:avLst/>
              <a:gdLst/>
              <a:ahLst/>
              <a:cxnLst/>
              <a:rect l="l" t="t" r="r" b="b"/>
              <a:pathLst>
                <a:path w="8236" h="1752" extrusionOk="0">
                  <a:moveTo>
                    <a:pt x="1954" y="1"/>
                  </a:moveTo>
                  <a:cubicBezTo>
                    <a:pt x="764" y="1"/>
                    <a:pt x="192" y="384"/>
                    <a:pt x="166" y="401"/>
                  </a:cubicBezTo>
                  <a:cubicBezTo>
                    <a:pt x="35" y="489"/>
                    <a:pt x="1" y="668"/>
                    <a:pt x="90" y="798"/>
                  </a:cubicBezTo>
                  <a:cubicBezTo>
                    <a:pt x="144" y="879"/>
                    <a:pt x="234" y="923"/>
                    <a:pt x="325" y="923"/>
                  </a:cubicBezTo>
                  <a:cubicBezTo>
                    <a:pt x="381" y="923"/>
                    <a:pt x="437" y="907"/>
                    <a:pt x="486" y="873"/>
                  </a:cubicBezTo>
                  <a:cubicBezTo>
                    <a:pt x="491" y="870"/>
                    <a:pt x="958" y="571"/>
                    <a:pt x="1950" y="571"/>
                  </a:cubicBezTo>
                  <a:cubicBezTo>
                    <a:pt x="2054" y="571"/>
                    <a:pt x="2165" y="574"/>
                    <a:pt x="2281" y="582"/>
                  </a:cubicBezTo>
                  <a:cubicBezTo>
                    <a:pt x="3594" y="664"/>
                    <a:pt x="7821" y="1732"/>
                    <a:pt x="7864" y="1743"/>
                  </a:cubicBezTo>
                  <a:cubicBezTo>
                    <a:pt x="7887" y="1748"/>
                    <a:pt x="7911" y="1751"/>
                    <a:pt x="7934" y="1752"/>
                  </a:cubicBezTo>
                  <a:cubicBezTo>
                    <a:pt x="8078" y="1752"/>
                    <a:pt x="8200" y="1644"/>
                    <a:pt x="8218" y="1500"/>
                  </a:cubicBezTo>
                  <a:cubicBezTo>
                    <a:pt x="8236" y="1358"/>
                    <a:pt x="8144" y="1223"/>
                    <a:pt x="8004" y="1188"/>
                  </a:cubicBezTo>
                  <a:cubicBezTo>
                    <a:pt x="7828" y="1144"/>
                    <a:pt x="3682" y="97"/>
                    <a:pt x="2317" y="12"/>
                  </a:cubicBezTo>
                  <a:cubicBezTo>
                    <a:pt x="2190" y="4"/>
                    <a:pt x="2069" y="1"/>
                    <a:pt x="19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721;p44">
              <a:extLst>
                <a:ext uri="{FF2B5EF4-FFF2-40B4-BE49-F238E27FC236}">
                  <a16:creationId xmlns:a16="http://schemas.microsoft.com/office/drawing/2014/main" id="{37903A46-61C9-43A4-863C-91E179AA610C}"/>
                </a:ext>
              </a:extLst>
            </p:cNvPr>
            <p:cNvSpPr/>
            <p:nvPr/>
          </p:nvSpPr>
          <p:spPr>
            <a:xfrm>
              <a:off x="1013306" y="3349177"/>
              <a:ext cx="120507" cy="34881"/>
            </a:xfrm>
            <a:custGeom>
              <a:avLst/>
              <a:gdLst/>
              <a:ahLst/>
              <a:cxnLst/>
              <a:rect l="l" t="t" r="r" b="b"/>
              <a:pathLst>
                <a:path w="8174" h="2366" extrusionOk="0">
                  <a:moveTo>
                    <a:pt x="1442" y="0"/>
                  </a:moveTo>
                  <a:cubicBezTo>
                    <a:pt x="784" y="0"/>
                    <a:pt x="238" y="248"/>
                    <a:pt x="207" y="262"/>
                  </a:cubicBezTo>
                  <a:cubicBezTo>
                    <a:pt x="63" y="328"/>
                    <a:pt x="0" y="497"/>
                    <a:pt x="66" y="641"/>
                  </a:cubicBezTo>
                  <a:cubicBezTo>
                    <a:pt x="115" y="745"/>
                    <a:pt x="218" y="807"/>
                    <a:pt x="326" y="807"/>
                  </a:cubicBezTo>
                  <a:cubicBezTo>
                    <a:pt x="366" y="807"/>
                    <a:pt x="406" y="798"/>
                    <a:pt x="445" y="781"/>
                  </a:cubicBezTo>
                  <a:cubicBezTo>
                    <a:pt x="451" y="778"/>
                    <a:pt x="912" y="571"/>
                    <a:pt x="1442" y="571"/>
                  </a:cubicBezTo>
                  <a:cubicBezTo>
                    <a:pt x="1624" y="571"/>
                    <a:pt x="1814" y="596"/>
                    <a:pt x="1996" y="661"/>
                  </a:cubicBezTo>
                  <a:cubicBezTo>
                    <a:pt x="2306" y="772"/>
                    <a:pt x="3103" y="977"/>
                    <a:pt x="4026" y="1214"/>
                  </a:cubicBezTo>
                  <a:cubicBezTo>
                    <a:pt x="5254" y="1529"/>
                    <a:pt x="7295" y="2053"/>
                    <a:pt x="7611" y="2253"/>
                  </a:cubicBezTo>
                  <a:cubicBezTo>
                    <a:pt x="7665" y="2323"/>
                    <a:pt x="7749" y="2366"/>
                    <a:pt x="7839" y="2366"/>
                  </a:cubicBezTo>
                  <a:lnTo>
                    <a:pt x="7839" y="2366"/>
                  </a:lnTo>
                  <a:cubicBezTo>
                    <a:pt x="8035" y="2366"/>
                    <a:pt x="8173" y="2171"/>
                    <a:pt x="8108" y="1987"/>
                  </a:cubicBezTo>
                  <a:cubicBezTo>
                    <a:pt x="8013" y="1711"/>
                    <a:pt x="7613" y="1545"/>
                    <a:pt x="4167" y="660"/>
                  </a:cubicBezTo>
                  <a:cubicBezTo>
                    <a:pt x="3296" y="437"/>
                    <a:pt x="2474" y="225"/>
                    <a:pt x="2190" y="123"/>
                  </a:cubicBezTo>
                  <a:cubicBezTo>
                    <a:pt x="1939" y="34"/>
                    <a:pt x="1683" y="0"/>
                    <a:pt x="1442" y="0"/>
                  </a:cubicBezTo>
                  <a:close/>
                  <a:moveTo>
                    <a:pt x="7839" y="2366"/>
                  </a:moveTo>
                  <a:cubicBezTo>
                    <a:pt x="7839" y="2366"/>
                    <a:pt x="7839" y="2366"/>
                    <a:pt x="7838" y="2366"/>
                  </a:cubicBezTo>
                  <a:lnTo>
                    <a:pt x="7839" y="2366"/>
                  </a:lnTo>
                  <a:cubicBezTo>
                    <a:pt x="7839" y="2366"/>
                    <a:pt x="7839" y="2366"/>
                    <a:pt x="7839" y="236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722;p44">
              <a:extLst>
                <a:ext uri="{FF2B5EF4-FFF2-40B4-BE49-F238E27FC236}">
                  <a16:creationId xmlns:a16="http://schemas.microsoft.com/office/drawing/2014/main" id="{E6717A54-F4EE-4659-A30D-EF0C3FA3321E}"/>
                </a:ext>
              </a:extLst>
            </p:cNvPr>
            <p:cNvSpPr/>
            <p:nvPr/>
          </p:nvSpPr>
          <p:spPr>
            <a:xfrm>
              <a:off x="913497" y="3407514"/>
              <a:ext cx="583178" cy="29294"/>
            </a:xfrm>
            <a:custGeom>
              <a:avLst/>
              <a:gdLst/>
              <a:ahLst/>
              <a:cxnLst/>
              <a:rect l="l" t="t" r="r" b="b"/>
              <a:pathLst>
                <a:path w="39557" h="1987" extrusionOk="0">
                  <a:moveTo>
                    <a:pt x="39536" y="1"/>
                  </a:moveTo>
                  <a:lnTo>
                    <a:pt x="0" y="560"/>
                  </a:lnTo>
                  <a:lnTo>
                    <a:pt x="20" y="1987"/>
                  </a:lnTo>
                  <a:lnTo>
                    <a:pt x="39556" y="1428"/>
                  </a:lnTo>
                  <a:lnTo>
                    <a:pt x="395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723;p44">
              <a:extLst>
                <a:ext uri="{FF2B5EF4-FFF2-40B4-BE49-F238E27FC236}">
                  <a16:creationId xmlns:a16="http://schemas.microsoft.com/office/drawing/2014/main" id="{2D02AC25-6418-4A0F-833A-CA41B441EB66}"/>
                </a:ext>
              </a:extLst>
            </p:cNvPr>
            <p:cNvSpPr/>
            <p:nvPr/>
          </p:nvSpPr>
          <p:spPr>
            <a:xfrm>
              <a:off x="909207" y="3403356"/>
              <a:ext cx="591655" cy="37682"/>
            </a:xfrm>
            <a:custGeom>
              <a:avLst/>
              <a:gdLst/>
              <a:ahLst/>
              <a:cxnLst/>
              <a:rect l="l" t="t" r="r" b="b"/>
              <a:pathLst>
                <a:path w="40132" h="2556" extrusionOk="0">
                  <a:moveTo>
                    <a:pt x="39542" y="574"/>
                  </a:moveTo>
                  <a:lnTo>
                    <a:pt x="39555" y="1431"/>
                  </a:lnTo>
                  <a:lnTo>
                    <a:pt x="589" y="1981"/>
                  </a:lnTo>
                  <a:lnTo>
                    <a:pt x="576" y="1124"/>
                  </a:lnTo>
                  <a:lnTo>
                    <a:pt x="39542" y="574"/>
                  </a:lnTo>
                  <a:close/>
                  <a:moveTo>
                    <a:pt x="39820" y="1"/>
                  </a:moveTo>
                  <a:lnTo>
                    <a:pt x="284" y="559"/>
                  </a:lnTo>
                  <a:cubicBezTo>
                    <a:pt x="126" y="560"/>
                    <a:pt x="0" y="690"/>
                    <a:pt x="2" y="848"/>
                  </a:cubicBezTo>
                  <a:lnTo>
                    <a:pt x="22" y="2274"/>
                  </a:lnTo>
                  <a:cubicBezTo>
                    <a:pt x="24" y="2431"/>
                    <a:pt x="151" y="2556"/>
                    <a:pt x="308" y="2556"/>
                  </a:cubicBezTo>
                  <a:lnTo>
                    <a:pt x="311" y="2556"/>
                  </a:lnTo>
                  <a:lnTo>
                    <a:pt x="39847" y="1999"/>
                  </a:lnTo>
                  <a:cubicBezTo>
                    <a:pt x="40006" y="1997"/>
                    <a:pt x="40132" y="1868"/>
                    <a:pt x="40129" y="1710"/>
                  </a:cubicBezTo>
                  <a:lnTo>
                    <a:pt x="40109" y="283"/>
                  </a:lnTo>
                  <a:cubicBezTo>
                    <a:pt x="40108" y="206"/>
                    <a:pt x="40076" y="135"/>
                    <a:pt x="40023" y="81"/>
                  </a:cubicBezTo>
                  <a:cubicBezTo>
                    <a:pt x="39969" y="29"/>
                    <a:pt x="39885" y="12"/>
                    <a:pt x="398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724;p44">
              <a:extLst>
                <a:ext uri="{FF2B5EF4-FFF2-40B4-BE49-F238E27FC236}">
                  <a16:creationId xmlns:a16="http://schemas.microsoft.com/office/drawing/2014/main" id="{5F3ECEB3-1747-4E39-A2B3-3D5332FA3E25}"/>
                </a:ext>
              </a:extLst>
            </p:cNvPr>
            <p:cNvSpPr/>
            <p:nvPr/>
          </p:nvSpPr>
          <p:spPr>
            <a:xfrm>
              <a:off x="1176655" y="3120281"/>
              <a:ext cx="393483" cy="304422"/>
            </a:xfrm>
            <a:custGeom>
              <a:avLst/>
              <a:gdLst/>
              <a:ahLst/>
              <a:cxnLst/>
              <a:rect l="l" t="t" r="r" b="b"/>
              <a:pathLst>
                <a:path w="26690" h="20649" extrusionOk="0">
                  <a:moveTo>
                    <a:pt x="26689" y="1"/>
                  </a:moveTo>
                  <a:lnTo>
                    <a:pt x="5138" y="305"/>
                  </a:lnTo>
                  <a:lnTo>
                    <a:pt x="0" y="20649"/>
                  </a:lnTo>
                  <a:lnTo>
                    <a:pt x="21552" y="20345"/>
                  </a:lnTo>
                  <a:lnTo>
                    <a:pt x="266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725;p44">
              <a:extLst>
                <a:ext uri="{FF2B5EF4-FFF2-40B4-BE49-F238E27FC236}">
                  <a16:creationId xmlns:a16="http://schemas.microsoft.com/office/drawing/2014/main" id="{3E6B8776-5A92-4ACD-AB12-B5109740211D}"/>
                </a:ext>
              </a:extLst>
            </p:cNvPr>
            <p:cNvSpPr/>
            <p:nvPr/>
          </p:nvSpPr>
          <p:spPr>
            <a:xfrm>
              <a:off x="1171893" y="3116065"/>
              <a:ext cx="403007" cy="312855"/>
            </a:xfrm>
            <a:custGeom>
              <a:avLst/>
              <a:gdLst/>
              <a:ahLst/>
              <a:cxnLst/>
              <a:rect l="l" t="t" r="r" b="b"/>
              <a:pathLst>
                <a:path w="27336" h="21221" extrusionOk="0">
                  <a:moveTo>
                    <a:pt x="26644" y="577"/>
                  </a:moveTo>
                  <a:lnTo>
                    <a:pt x="21652" y="20349"/>
                  </a:lnTo>
                  <a:lnTo>
                    <a:pt x="691" y="20644"/>
                  </a:lnTo>
                  <a:lnTo>
                    <a:pt x="5684" y="873"/>
                  </a:lnTo>
                  <a:lnTo>
                    <a:pt x="26644" y="577"/>
                  </a:lnTo>
                  <a:close/>
                  <a:moveTo>
                    <a:pt x="27012" y="1"/>
                  </a:moveTo>
                  <a:cubicBezTo>
                    <a:pt x="27010" y="1"/>
                    <a:pt x="27009" y="1"/>
                    <a:pt x="27008" y="1"/>
                  </a:cubicBezTo>
                  <a:lnTo>
                    <a:pt x="5457" y="305"/>
                  </a:lnTo>
                  <a:cubicBezTo>
                    <a:pt x="5327" y="306"/>
                    <a:pt x="5215" y="396"/>
                    <a:pt x="5184" y="521"/>
                  </a:cubicBezTo>
                  <a:lnTo>
                    <a:pt x="46" y="20865"/>
                  </a:lnTo>
                  <a:cubicBezTo>
                    <a:pt x="0" y="21045"/>
                    <a:pt x="136" y="21221"/>
                    <a:pt x="322" y="21221"/>
                  </a:cubicBezTo>
                  <a:lnTo>
                    <a:pt x="326" y="21221"/>
                  </a:lnTo>
                  <a:lnTo>
                    <a:pt x="21879" y="20916"/>
                  </a:lnTo>
                  <a:cubicBezTo>
                    <a:pt x="22008" y="20914"/>
                    <a:pt x="22120" y="20826"/>
                    <a:pt x="22152" y="20701"/>
                  </a:cubicBezTo>
                  <a:lnTo>
                    <a:pt x="27289" y="356"/>
                  </a:lnTo>
                  <a:cubicBezTo>
                    <a:pt x="27335" y="176"/>
                    <a:pt x="27198" y="1"/>
                    <a:pt x="270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726;p44">
              <a:extLst>
                <a:ext uri="{FF2B5EF4-FFF2-40B4-BE49-F238E27FC236}">
                  <a16:creationId xmlns:a16="http://schemas.microsoft.com/office/drawing/2014/main" id="{A1E0B2D3-21DD-458C-B675-F1140B649E93}"/>
                </a:ext>
              </a:extLst>
            </p:cNvPr>
            <p:cNvSpPr/>
            <p:nvPr/>
          </p:nvSpPr>
          <p:spPr>
            <a:xfrm>
              <a:off x="797797" y="3598432"/>
              <a:ext cx="72991" cy="49447"/>
            </a:xfrm>
            <a:custGeom>
              <a:avLst/>
              <a:gdLst/>
              <a:ahLst/>
              <a:cxnLst/>
              <a:rect l="l" t="t" r="r" b="b"/>
              <a:pathLst>
                <a:path w="4951" h="3354" extrusionOk="0">
                  <a:moveTo>
                    <a:pt x="4950" y="1"/>
                  </a:moveTo>
                  <a:lnTo>
                    <a:pt x="99" y="211"/>
                  </a:lnTo>
                  <a:lnTo>
                    <a:pt x="0" y="3353"/>
                  </a:lnTo>
                  <a:lnTo>
                    <a:pt x="4853" y="3286"/>
                  </a:lnTo>
                  <a:lnTo>
                    <a:pt x="4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727;p44">
              <a:extLst>
                <a:ext uri="{FF2B5EF4-FFF2-40B4-BE49-F238E27FC236}">
                  <a16:creationId xmlns:a16="http://schemas.microsoft.com/office/drawing/2014/main" id="{47D5CE4F-7C08-466B-9E50-361C2429C50E}"/>
                </a:ext>
              </a:extLst>
            </p:cNvPr>
            <p:cNvSpPr/>
            <p:nvPr/>
          </p:nvSpPr>
          <p:spPr>
            <a:xfrm>
              <a:off x="793521" y="3594215"/>
              <a:ext cx="81512" cy="57880"/>
            </a:xfrm>
            <a:custGeom>
              <a:avLst/>
              <a:gdLst/>
              <a:ahLst/>
              <a:cxnLst/>
              <a:rect l="l" t="t" r="r" b="b"/>
              <a:pathLst>
                <a:path w="5529" h="3926" extrusionOk="0">
                  <a:moveTo>
                    <a:pt x="4944" y="586"/>
                  </a:moveTo>
                  <a:lnTo>
                    <a:pt x="4865" y="3290"/>
                  </a:lnTo>
                  <a:lnTo>
                    <a:pt x="585" y="3350"/>
                  </a:lnTo>
                  <a:lnTo>
                    <a:pt x="667" y="773"/>
                  </a:lnTo>
                  <a:lnTo>
                    <a:pt x="4944" y="586"/>
                  </a:lnTo>
                  <a:close/>
                  <a:moveTo>
                    <a:pt x="5228" y="1"/>
                  </a:moveTo>
                  <a:lnTo>
                    <a:pt x="376" y="213"/>
                  </a:lnTo>
                  <a:cubicBezTo>
                    <a:pt x="227" y="219"/>
                    <a:pt x="108" y="340"/>
                    <a:pt x="103" y="489"/>
                  </a:cubicBezTo>
                  <a:lnTo>
                    <a:pt x="6" y="3631"/>
                  </a:lnTo>
                  <a:cubicBezTo>
                    <a:pt x="0" y="3793"/>
                    <a:pt x="129" y="3925"/>
                    <a:pt x="290" y="3925"/>
                  </a:cubicBezTo>
                  <a:lnTo>
                    <a:pt x="295" y="3924"/>
                  </a:lnTo>
                  <a:lnTo>
                    <a:pt x="5148" y="3857"/>
                  </a:lnTo>
                  <a:cubicBezTo>
                    <a:pt x="5301" y="3855"/>
                    <a:pt x="5425" y="3732"/>
                    <a:pt x="5429" y="3580"/>
                  </a:cubicBezTo>
                  <a:lnTo>
                    <a:pt x="5526" y="294"/>
                  </a:lnTo>
                  <a:cubicBezTo>
                    <a:pt x="5528" y="215"/>
                    <a:pt x="5498" y="139"/>
                    <a:pt x="5441" y="82"/>
                  </a:cubicBezTo>
                  <a:cubicBezTo>
                    <a:pt x="5385" y="28"/>
                    <a:pt x="5310" y="3"/>
                    <a:pt x="52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728;p44">
              <a:extLst>
                <a:ext uri="{FF2B5EF4-FFF2-40B4-BE49-F238E27FC236}">
                  <a16:creationId xmlns:a16="http://schemas.microsoft.com/office/drawing/2014/main" id="{70E094C2-1919-4A62-BC1A-5DF2CEE916F4}"/>
                </a:ext>
              </a:extLst>
            </p:cNvPr>
            <p:cNvSpPr/>
            <p:nvPr/>
          </p:nvSpPr>
          <p:spPr>
            <a:xfrm>
              <a:off x="556974" y="4717256"/>
              <a:ext cx="169571" cy="214816"/>
            </a:xfrm>
            <a:custGeom>
              <a:avLst/>
              <a:gdLst/>
              <a:ahLst/>
              <a:cxnLst/>
              <a:rect l="l" t="t" r="r" b="b"/>
              <a:pathLst>
                <a:path w="11502" h="14571" extrusionOk="0">
                  <a:moveTo>
                    <a:pt x="9022" y="1"/>
                  </a:moveTo>
                  <a:lnTo>
                    <a:pt x="2873" y="607"/>
                  </a:lnTo>
                  <a:cubicBezTo>
                    <a:pt x="2873" y="607"/>
                    <a:pt x="2224" y="5022"/>
                    <a:pt x="2039" y="7445"/>
                  </a:cubicBezTo>
                  <a:cubicBezTo>
                    <a:pt x="1855" y="9870"/>
                    <a:pt x="0" y="12550"/>
                    <a:pt x="1407" y="13716"/>
                  </a:cubicBezTo>
                  <a:cubicBezTo>
                    <a:pt x="2142" y="14325"/>
                    <a:pt x="3608" y="14571"/>
                    <a:pt x="5169" y="14571"/>
                  </a:cubicBezTo>
                  <a:cubicBezTo>
                    <a:pt x="6599" y="14571"/>
                    <a:pt x="8108" y="14364"/>
                    <a:pt x="9206" y="14042"/>
                  </a:cubicBezTo>
                  <a:cubicBezTo>
                    <a:pt x="11502" y="13368"/>
                    <a:pt x="9868" y="8820"/>
                    <a:pt x="9893" y="7392"/>
                  </a:cubicBezTo>
                  <a:cubicBezTo>
                    <a:pt x="9918" y="5965"/>
                    <a:pt x="9679" y="3296"/>
                    <a:pt x="9416" y="2006"/>
                  </a:cubicBezTo>
                  <a:cubicBezTo>
                    <a:pt x="9153" y="717"/>
                    <a:pt x="9022" y="1"/>
                    <a:pt x="90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729;p44">
              <a:extLst>
                <a:ext uri="{FF2B5EF4-FFF2-40B4-BE49-F238E27FC236}">
                  <a16:creationId xmlns:a16="http://schemas.microsoft.com/office/drawing/2014/main" id="{C8FBC4E7-4A63-49DD-9CC4-8C8E30E83AED}"/>
                </a:ext>
              </a:extLst>
            </p:cNvPr>
            <p:cNvSpPr/>
            <p:nvPr/>
          </p:nvSpPr>
          <p:spPr>
            <a:xfrm>
              <a:off x="559628" y="4713069"/>
              <a:ext cx="163143" cy="223234"/>
            </a:xfrm>
            <a:custGeom>
              <a:avLst/>
              <a:gdLst/>
              <a:ahLst/>
              <a:cxnLst/>
              <a:rect l="l" t="t" r="r" b="b"/>
              <a:pathLst>
                <a:path w="11066" h="15142" extrusionOk="0">
                  <a:moveTo>
                    <a:pt x="8610" y="595"/>
                  </a:moveTo>
                  <a:cubicBezTo>
                    <a:pt x="8669" y="911"/>
                    <a:pt x="8785" y="1508"/>
                    <a:pt x="8956" y="2347"/>
                  </a:cubicBezTo>
                  <a:cubicBezTo>
                    <a:pt x="9218" y="3635"/>
                    <a:pt x="9452" y="6273"/>
                    <a:pt x="9427" y="7671"/>
                  </a:cubicBezTo>
                  <a:cubicBezTo>
                    <a:pt x="9421" y="8061"/>
                    <a:pt x="9523" y="8636"/>
                    <a:pt x="9641" y="9301"/>
                  </a:cubicBezTo>
                  <a:cubicBezTo>
                    <a:pt x="9967" y="11126"/>
                    <a:pt x="10413" y="13622"/>
                    <a:pt x="8945" y="14052"/>
                  </a:cubicBezTo>
                  <a:cubicBezTo>
                    <a:pt x="7823" y="14381"/>
                    <a:pt x="6377" y="14565"/>
                    <a:pt x="5029" y="14565"/>
                  </a:cubicBezTo>
                  <a:cubicBezTo>
                    <a:pt x="3482" y="14565"/>
                    <a:pt x="2064" y="14323"/>
                    <a:pt x="1409" y="13781"/>
                  </a:cubicBezTo>
                  <a:cubicBezTo>
                    <a:pt x="660" y="13160"/>
                    <a:pt x="1053" y="11915"/>
                    <a:pt x="1506" y="10473"/>
                  </a:cubicBezTo>
                  <a:cubicBezTo>
                    <a:pt x="1786" y="9584"/>
                    <a:pt x="2075" y="8664"/>
                    <a:pt x="2144" y="7751"/>
                  </a:cubicBezTo>
                  <a:cubicBezTo>
                    <a:pt x="2303" y="5674"/>
                    <a:pt x="2811" y="2077"/>
                    <a:pt x="2943" y="1153"/>
                  </a:cubicBezTo>
                  <a:lnTo>
                    <a:pt x="8610" y="595"/>
                  </a:lnTo>
                  <a:close/>
                  <a:moveTo>
                    <a:pt x="8833" y="0"/>
                  </a:moveTo>
                  <a:cubicBezTo>
                    <a:pt x="8826" y="0"/>
                    <a:pt x="8820" y="1"/>
                    <a:pt x="8814" y="1"/>
                  </a:cubicBezTo>
                  <a:lnTo>
                    <a:pt x="2665" y="608"/>
                  </a:lnTo>
                  <a:cubicBezTo>
                    <a:pt x="2535" y="621"/>
                    <a:pt x="2429" y="721"/>
                    <a:pt x="2411" y="850"/>
                  </a:cubicBezTo>
                  <a:cubicBezTo>
                    <a:pt x="2404" y="895"/>
                    <a:pt x="1758" y="5302"/>
                    <a:pt x="1575" y="7708"/>
                  </a:cubicBezTo>
                  <a:cubicBezTo>
                    <a:pt x="1511" y="8556"/>
                    <a:pt x="1231" y="9443"/>
                    <a:pt x="962" y="10302"/>
                  </a:cubicBezTo>
                  <a:cubicBezTo>
                    <a:pt x="467" y="11871"/>
                    <a:pt x="0" y="13354"/>
                    <a:pt x="1045" y="14220"/>
                  </a:cubicBezTo>
                  <a:cubicBezTo>
                    <a:pt x="1841" y="14880"/>
                    <a:pt x="3376" y="15142"/>
                    <a:pt x="4996" y="15142"/>
                  </a:cubicBezTo>
                  <a:cubicBezTo>
                    <a:pt x="6460" y="15142"/>
                    <a:pt x="7992" y="14927"/>
                    <a:pt x="9106" y="14600"/>
                  </a:cubicBezTo>
                  <a:cubicBezTo>
                    <a:pt x="11065" y="14026"/>
                    <a:pt x="10567" y="11238"/>
                    <a:pt x="10204" y="9201"/>
                  </a:cubicBezTo>
                  <a:cubicBezTo>
                    <a:pt x="10090" y="8565"/>
                    <a:pt x="9992" y="8015"/>
                    <a:pt x="9998" y="7682"/>
                  </a:cubicBezTo>
                  <a:cubicBezTo>
                    <a:pt x="10023" y="6251"/>
                    <a:pt x="9784" y="3552"/>
                    <a:pt x="9515" y="2234"/>
                  </a:cubicBezTo>
                  <a:cubicBezTo>
                    <a:pt x="9253" y="949"/>
                    <a:pt x="9123" y="236"/>
                    <a:pt x="9123" y="234"/>
                  </a:cubicBezTo>
                  <a:cubicBezTo>
                    <a:pt x="9098" y="94"/>
                    <a:pt x="8973" y="0"/>
                    <a:pt x="883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730;p44">
              <a:extLst>
                <a:ext uri="{FF2B5EF4-FFF2-40B4-BE49-F238E27FC236}">
                  <a16:creationId xmlns:a16="http://schemas.microsoft.com/office/drawing/2014/main" id="{04F153D5-FCA1-4509-AC6A-43B7C72A7B0F}"/>
                </a:ext>
              </a:extLst>
            </p:cNvPr>
            <p:cNvSpPr/>
            <p:nvPr/>
          </p:nvSpPr>
          <p:spPr>
            <a:xfrm>
              <a:off x="610505" y="4743498"/>
              <a:ext cx="58499" cy="95872"/>
            </a:xfrm>
            <a:custGeom>
              <a:avLst/>
              <a:gdLst/>
              <a:ahLst/>
              <a:cxnLst/>
              <a:rect l="l" t="t" r="r" b="b"/>
              <a:pathLst>
                <a:path w="3968" h="6503" extrusionOk="0">
                  <a:moveTo>
                    <a:pt x="3521" y="0"/>
                  </a:moveTo>
                  <a:lnTo>
                    <a:pt x="1238" y="32"/>
                  </a:lnTo>
                  <a:cubicBezTo>
                    <a:pt x="1238" y="32"/>
                    <a:pt x="0" y="6503"/>
                    <a:pt x="1324" y="6503"/>
                  </a:cubicBezTo>
                  <a:cubicBezTo>
                    <a:pt x="1326" y="6503"/>
                    <a:pt x="1328" y="6503"/>
                    <a:pt x="1330" y="6503"/>
                  </a:cubicBezTo>
                  <a:cubicBezTo>
                    <a:pt x="2661" y="6484"/>
                    <a:pt x="3613" y="6470"/>
                    <a:pt x="3790" y="5517"/>
                  </a:cubicBezTo>
                  <a:cubicBezTo>
                    <a:pt x="3967" y="4562"/>
                    <a:pt x="3521" y="0"/>
                    <a:pt x="35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731;p44">
              <a:extLst>
                <a:ext uri="{FF2B5EF4-FFF2-40B4-BE49-F238E27FC236}">
                  <a16:creationId xmlns:a16="http://schemas.microsoft.com/office/drawing/2014/main" id="{C3AF4FE0-4779-4256-A608-977B18F13E77}"/>
                </a:ext>
              </a:extLst>
            </p:cNvPr>
            <p:cNvSpPr/>
            <p:nvPr/>
          </p:nvSpPr>
          <p:spPr>
            <a:xfrm>
              <a:off x="609783" y="4739267"/>
              <a:ext cx="63408" cy="104319"/>
            </a:xfrm>
            <a:custGeom>
              <a:avLst/>
              <a:gdLst/>
              <a:ahLst/>
              <a:cxnLst/>
              <a:rect l="l" t="t" r="r" b="b"/>
              <a:pathLst>
                <a:path w="4301" h="7076" extrusionOk="0">
                  <a:moveTo>
                    <a:pt x="3312" y="577"/>
                  </a:moveTo>
                  <a:cubicBezTo>
                    <a:pt x="3444" y="1993"/>
                    <a:pt x="3689" y="5048"/>
                    <a:pt x="3558" y="5751"/>
                  </a:cubicBezTo>
                  <a:cubicBezTo>
                    <a:pt x="3430" y="6445"/>
                    <a:pt x="2758" y="6485"/>
                    <a:pt x="1374" y="6505"/>
                  </a:cubicBezTo>
                  <a:cubicBezTo>
                    <a:pt x="1360" y="6505"/>
                    <a:pt x="1332" y="6505"/>
                    <a:pt x="1293" y="6457"/>
                  </a:cubicBezTo>
                  <a:cubicBezTo>
                    <a:pt x="785" y="5852"/>
                    <a:pt x="1153" y="2641"/>
                    <a:pt x="1525" y="602"/>
                  </a:cubicBezTo>
                  <a:lnTo>
                    <a:pt x="3312" y="577"/>
                  </a:lnTo>
                  <a:close/>
                  <a:moveTo>
                    <a:pt x="3584" y="1"/>
                  </a:moveTo>
                  <a:cubicBezTo>
                    <a:pt x="3578" y="1"/>
                    <a:pt x="3572" y="1"/>
                    <a:pt x="3566" y="1"/>
                  </a:cubicBezTo>
                  <a:lnTo>
                    <a:pt x="1283" y="34"/>
                  </a:lnTo>
                  <a:cubicBezTo>
                    <a:pt x="1147" y="36"/>
                    <a:pt x="1032" y="133"/>
                    <a:pt x="1007" y="266"/>
                  </a:cubicBezTo>
                  <a:cubicBezTo>
                    <a:pt x="832" y="1182"/>
                    <a:pt x="0" y="5806"/>
                    <a:pt x="856" y="6824"/>
                  </a:cubicBezTo>
                  <a:cubicBezTo>
                    <a:pt x="993" y="6989"/>
                    <a:pt x="1172" y="7075"/>
                    <a:pt x="1373" y="7075"/>
                  </a:cubicBezTo>
                  <a:lnTo>
                    <a:pt x="1382" y="7075"/>
                  </a:lnTo>
                  <a:cubicBezTo>
                    <a:pt x="2733" y="7056"/>
                    <a:pt x="3900" y="7040"/>
                    <a:pt x="4119" y="5856"/>
                  </a:cubicBezTo>
                  <a:cubicBezTo>
                    <a:pt x="4301" y="4872"/>
                    <a:pt x="3873" y="447"/>
                    <a:pt x="3854" y="259"/>
                  </a:cubicBezTo>
                  <a:cubicBezTo>
                    <a:pt x="3841" y="118"/>
                    <a:pt x="3709" y="1"/>
                    <a:pt x="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732;p44">
              <a:extLst>
                <a:ext uri="{FF2B5EF4-FFF2-40B4-BE49-F238E27FC236}">
                  <a16:creationId xmlns:a16="http://schemas.microsoft.com/office/drawing/2014/main" id="{443FFAC8-D92F-47E7-87A0-062D20CBE317}"/>
                </a:ext>
              </a:extLst>
            </p:cNvPr>
            <p:cNvSpPr/>
            <p:nvPr/>
          </p:nvSpPr>
          <p:spPr>
            <a:xfrm>
              <a:off x="570228" y="4896660"/>
              <a:ext cx="140233" cy="35412"/>
            </a:xfrm>
            <a:custGeom>
              <a:avLst/>
              <a:gdLst/>
              <a:ahLst/>
              <a:cxnLst/>
              <a:rect l="l" t="t" r="r" b="b"/>
              <a:pathLst>
                <a:path w="9512" h="2402" extrusionOk="0">
                  <a:moveTo>
                    <a:pt x="9511" y="0"/>
                  </a:moveTo>
                  <a:lnTo>
                    <a:pt x="9511" y="0"/>
                  </a:lnTo>
                  <a:cubicBezTo>
                    <a:pt x="8468" y="545"/>
                    <a:pt x="6728" y="835"/>
                    <a:pt x="3747" y="876"/>
                  </a:cubicBezTo>
                  <a:cubicBezTo>
                    <a:pt x="3609" y="878"/>
                    <a:pt x="3474" y="879"/>
                    <a:pt x="3344" y="879"/>
                  </a:cubicBezTo>
                  <a:cubicBezTo>
                    <a:pt x="1606" y="879"/>
                    <a:pt x="594" y="710"/>
                    <a:pt x="0" y="519"/>
                  </a:cubicBezTo>
                  <a:lnTo>
                    <a:pt x="0" y="519"/>
                  </a:lnTo>
                  <a:cubicBezTo>
                    <a:pt x="38" y="926"/>
                    <a:pt x="184" y="1279"/>
                    <a:pt x="508" y="1547"/>
                  </a:cubicBezTo>
                  <a:cubicBezTo>
                    <a:pt x="1243" y="2156"/>
                    <a:pt x="2709" y="2402"/>
                    <a:pt x="4270" y="2402"/>
                  </a:cubicBezTo>
                  <a:cubicBezTo>
                    <a:pt x="5700" y="2402"/>
                    <a:pt x="7209" y="2195"/>
                    <a:pt x="8307" y="1873"/>
                  </a:cubicBezTo>
                  <a:cubicBezTo>
                    <a:pt x="9122" y="1634"/>
                    <a:pt x="9436" y="904"/>
                    <a:pt x="95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733;p44">
              <a:extLst>
                <a:ext uri="{FF2B5EF4-FFF2-40B4-BE49-F238E27FC236}">
                  <a16:creationId xmlns:a16="http://schemas.microsoft.com/office/drawing/2014/main" id="{8EB3FB02-92FE-4C33-91FB-EE3DD2C8B44F}"/>
                </a:ext>
              </a:extLst>
            </p:cNvPr>
            <p:cNvSpPr/>
            <p:nvPr/>
          </p:nvSpPr>
          <p:spPr>
            <a:xfrm>
              <a:off x="565894" y="4892429"/>
              <a:ext cx="148975" cy="43874"/>
            </a:xfrm>
            <a:custGeom>
              <a:avLst/>
              <a:gdLst/>
              <a:ahLst/>
              <a:cxnLst/>
              <a:rect l="l" t="t" r="r" b="b"/>
              <a:pathLst>
                <a:path w="10105" h="2976" extrusionOk="0">
                  <a:moveTo>
                    <a:pt x="9448" y="759"/>
                  </a:moveTo>
                  <a:cubicBezTo>
                    <a:pt x="9310" y="1381"/>
                    <a:pt x="9009" y="1743"/>
                    <a:pt x="8520" y="1886"/>
                  </a:cubicBezTo>
                  <a:cubicBezTo>
                    <a:pt x="7398" y="2215"/>
                    <a:pt x="5952" y="2399"/>
                    <a:pt x="4604" y="2399"/>
                  </a:cubicBezTo>
                  <a:cubicBezTo>
                    <a:pt x="3057" y="2399"/>
                    <a:pt x="1639" y="2157"/>
                    <a:pt x="984" y="1615"/>
                  </a:cubicBezTo>
                  <a:cubicBezTo>
                    <a:pt x="850" y="1505"/>
                    <a:pt x="744" y="1364"/>
                    <a:pt x="678" y="1204"/>
                  </a:cubicBezTo>
                  <a:lnTo>
                    <a:pt x="678" y="1204"/>
                  </a:lnTo>
                  <a:cubicBezTo>
                    <a:pt x="1427" y="1371"/>
                    <a:pt x="2430" y="1451"/>
                    <a:pt x="3669" y="1451"/>
                  </a:cubicBezTo>
                  <a:cubicBezTo>
                    <a:pt x="3792" y="1451"/>
                    <a:pt x="3918" y="1450"/>
                    <a:pt x="4046" y="1448"/>
                  </a:cubicBezTo>
                  <a:cubicBezTo>
                    <a:pt x="6602" y="1413"/>
                    <a:pt x="8306" y="1198"/>
                    <a:pt x="9448" y="759"/>
                  </a:cubicBezTo>
                  <a:close/>
                  <a:moveTo>
                    <a:pt x="9805" y="1"/>
                  </a:moveTo>
                  <a:cubicBezTo>
                    <a:pt x="9762" y="1"/>
                    <a:pt x="9716" y="11"/>
                    <a:pt x="9673" y="34"/>
                  </a:cubicBezTo>
                  <a:cubicBezTo>
                    <a:pt x="8647" y="571"/>
                    <a:pt x="6855" y="838"/>
                    <a:pt x="4038" y="879"/>
                  </a:cubicBezTo>
                  <a:cubicBezTo>
                    <a:pt x="3917" y="880"/>
                    <a:pt x="3798" y="881"/>
                    <a:pt x="3681" y="881"/>
                  </a:cubicBezTo>
                  <a:cubicBezTo>
                    <a:pt x="2212" y="881"/>
                    <a:pt x="1106" y="767"/>
                    <a:pt x="381" y="534"/>
                  </a:cubicBezTo>
                  <a:cubicBezTo>
                    <a:pt x="352" y="525"/>
                    <a:pt x="323" y="520"/>
                    <a:pt x="294" y="520"/>
                  </a:cubicBezTo>
                  <a:cubicBezTo>
                    <a:pt x="230" y="520"/>
                    <a:pt x="167" y="542"/>
                    <a:pt x="116" y="583"/>
                  </a:cubicBezTo>
                  <a:cubicBezTo>
                    <a:pt x="41" y="644"/>
                    <a:pt x="1" y="737"/>
                    <a:pt x="9" y="833"/>
                  </a:cubicBezTo>
                  <a:cubicBezTo>
                    <a:pt x="58" y="1355"/>
                    <a:pt x="258" y="1755"/>
                    <a:pt x="620" y="2054"/>
                  </a:cubicBezTo>
                  <a:cubicBezTo>
                    <a:pt x="1416" y="2714"/>
                    <a:pt x="2951" y="2976"/>
                    <a:pt x="4571" y="2976"/>
                  </a:cubicBezTo>
                  <a:cubicBezTo>
                    <a:pt x="6035" y="2976"/>
                    <a:pt x="7567" y="2761"/>
                    <a:pt x="8681" y="2434"/>
                  </a:cubicBezTo>
                  <a:cubicBezTo>
                    <a:pt x="9520" y="2189"/>
                    <a:pt x="9994" y="1473"/>
                    <a:pt x="10090" y="310"/>
                  </a:cubicBezTo>
                  <a:cubicBezTo>
                    <a:pt x="10105" y="135"/>
                    <a:pt x="9963" y="1"/>
                    <a:pt x="98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1734;p44">
              <a:extLst>
                <a:ext uri="{FF2B5EF4-FFF2-40B4-BE49-F238E27FC236}">
                  <a16:creationId xmlns:a16="http://schemas.microsoft.com/office/drawing/2014/main" id="{5BA14199-EEFC-4D41-BC93-65BF624266A5}"/>
                </a:ext>
              </a:extLst>
            </p:cNvPr>
            <p:cNvSpPr/>
            <p:nvPr/>
          </p:nvSpPr>
          <p:spPr>
            <a:xfrm>
              <a:off x="574916" y="4664728"/>
              <a:ext cx="131918" cy="88442"/>
            </a:xfrm>
            <a:custGeom>
              <a:avLst/>
              <a:gdLst/>
              <a:ahLst/>
              <a:cxnLst/>
              <a:rect l="l" t="t" r="r" b="b"/>
              <a:pathLst>
                <a:path w="8948" h="5999" extrusionOk="0">
                  <a:moveTo>
                    <a:pt x="8285" y="0"/>
                  </a:moveTo>
                  <a:cubicBezTo>
                    <a:pt x="8261" y="0"/>
                    <a:pt x="8237" y="2"/>
                    <a:pt x="8212" y="4"/>
                  </a:cubicBezTo>
                  <a:lnTo>
                    <a:pt x="620" y="835"/>
                  </a:lnTo>
                  <a:cubicBezTo>
                    <a:pt x="262" y="875"/>
                    <a:pt x="1" y="1196"/>
                    <a:pt x="35" y="1556"/>
                  </a:cubicBezTo>
                  <a:lnTo>
                    <a:pt x="412" y="5403"/>
                  </a:lnTo>
                  <a:cubicBezTo>
                    <a:pt x="444" y="5743"/>
                    <a:pt x="729" y="5998"/>
                    <a:pt x="1066" y="5998"/>
                  </a:cubicBezTo>
                  <a:cubicBezTo>
                    <a:pt x="1081" y="5998"/>
                    <a:pt x="1096" y="5998"/>
                    <a:pt x="1111" y="5997"/>
                  </a:cubicBezTo>
                  <a:lnTo>
                    <a:pt x="8278" y="5531"/>
                  </a:lnTo>
                  <a:cubicBezTo>
                    <a:pt x="8623" y="5509"/>
                    <a:pt x="8891" y="5225"/>
                    <a:pt x="8896" y="4880"/>
                  </a:cubicBezTo>
                  <a:lnTo>
                    <a:pt x="8943" y="668"/>
                  </a:lnTo>
                  <a:cubicBezTo>
                    <a:pt x="8948" y="297"/>
                    <a:pt x="8647" y="0"/>
                    <a:pt x="82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1735;p44">
              <a:extLst>
                <a:ext uri="{FF2B5EF4-FFF2-40B4-BE49-F238E27FC236}">
                  <a16:creationId xmlns:a16="http://schemas.microsoft.com/office/drawing/2014/main" id="{D708EC4D-04A7-4F1C-BB28-BDDCD684C582}"/>
                </a:ext>
              </a:extLst>
            </p:cNvPr>
            <p:cNvSpPr/>
            <p:nvPr/>
          </p:nvSpPr>
          <p:spPr>
            <a:xfrm>
              <a:off x="570538" y="4660496"/>
              <a:ext cx="140557" cy="96874"/>
            </a:xfrm>
            <a:custGeom>
              <a:avLst/>
              <a:gdLst/>
              <a:ahLst/>
              <a:cxnLst/>
              <a:rect l="l" t="t" r="r" b="b"/>
              <a:pathLst>
                <a:path w="9534" h="6571" extrusionOk="0">
                  <a:moveTo>
                    <a:pt x="8582" y="572"/>
                  </a:moveTo>
                  <a:lnTo>
                    <a:pt x="8583" y="573"/>
                  </a:lnTo>
                  <a:cubicBezTo>
                    <a:pt x="8790" y="573"/>
                    <a:pt x="8958" y="743"/>
                    <a:pt x="8956" y="951"/>
                  </a:cubicBezTo>
                  <a:lnTo>
                    <a:pt x="8907" y="5164"/>
                  </a:lnTo>
                  <a:cubicBezTo>
                    <a:pt x="8903" y="5360"/>
                    <a:pt x="8752" y="5521"/>
                    <a:pt x="8557" y="5534"/>
                  </a:cubicBezTo>
                  <a:lnTo>
                    <a:pt x="1389" y="5999"/>
                  </a:lnTo>
                  <a:cubicBezTo>
                    <a:pt x="1380" y="6000"/>
                    <a:pt x="1370" y="6000"/>
                    <a:pt x="1361" y="6000"/>
                  </a:cubicBezTo>
                  <a:cubicBezTo>
                    <a:pt x="1171" y="6000"/>
                    <a:pt x="1009" y="5855"/>
                    <a:pt x="992" y="5662"/>
                  </a:cubicBezTo>
                  <a:lnTo>
                    <a:pt x="617" y="1815"/>
                  </a:lnTo>
                  <a:cubicBezTo>
                    <a:pt x="598" y="1611"/>
                    <a:pt x="746" y="1430"/>
                    <a:pt x="949" y="1407"/>
                  </a:cubicBezTo>
                  <a:lnTo>
                    <a:pt x="8540" y="574"/>
                  </a:lnTo>
                  <a:cubicBezTo>
                    <a:pt x="8553" y="573"/>
                    <a:pt x="8567" y="572"/>
                    <a:pt x="8582" y="572"/>
                  </a:cubicBezTo>
                  <a:close/>
                  <a:moveTo>
                    <a:pt x="8583" y="1"/>
                  </a:moveTo>
                  <a:cubicBezTo>
                    <a:pt x="8549" y="1"/>
                    <a:pt x="8514" y="3"/>
                    <a:pt x="8478" y="7"/>
                  </a:cubicBezTo>
                  <a:lnTo>
                    <a:pt x="887" y="838"/>
                  </a:lnTo>
                  <a:cubicBezTo>
                    <a:pt x="374" y="896"/>
                    <a:pt x="1" y="1355"/>
                    <a:pt x="50" y="1870"/>
                  </a:cubicBezTo>
                  <a:lnTo>
                    <a:pt x="425" y="5717"/>
                  </a:lnTo>
                  <a:cubicBezTo>
                    <a:pt x="469" y="6201"/>
                    <a:pt x="876" y="6571"/>
                    <a:pt x="1362" y="6571"/>
                  </a:cubicBezTo>
                  <a:cubicBezTo>
                    <a:pt x="1384" y="6571"/>
                    <a:pt x="1404" y="6571"/>
                    <a:pt x="1426" y="6570"/>
                  </a:cubicBezTo>
                  <a:lnTo>
                    <a:pt x="8594" y="6103"/>
                  </a:lnTo>
                  <a:cubicBezTo>
                    <a:pt x="9086" y="6070"/>
                    <a:pt x="9471" y="5664"/>
                    <a:pt x="9479" y="5171"/>
                  </a:cubicBezTo>
                  <a:lnTo>
                    <a:pt x="9526" y="958"/>
                  </a:lnTo>
                  <a:cubicBezTo>
                    <a:pt x="9533" y="426"/>
                    <a:pt x="9102" y="1"/>
                    <a:pt x="8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1736;p44">
              <a:extLst>
                <a:ext uri="{FF2B5EF4-FFF2-40B4-BE49-F238E27FC236}">
                  <a16:creationId xmlns:a16="http://schemas.microsoft.com/office/drawing/2014/main" id="{08924875-FF1B-4AD0-9BFB-359829965AD0}"/>
                </a:ext>
              </a:extLst>
            </p:cNvPr>
            <p:cNvSpPr/>
            <p:nvPr/>
          </p:nvSpPr>
          <p:spPr>
            <a:xfrm>
              <a:off x="754261" y="4629109"/>
              <a:ext cx="163703" cy="113725"/>
            </a:xfrm>
            <a:custGeom>
              <a:avLst/>
              <a:gdLst/>
              <a:ahLst/>
              <a:cxnLst/>
              <a:rect l="l" t="t" r="r" b="b"/>
              <a:pathLst>
                <a:path w="11104" h="7714" extrusionOk="0">
                  <a:moveTo>
                    <a:pt x="10095" y="1"/>
                  </a:moveTo>
                  <a:cubicBezTo>
                    <a:pt x="10009" y="1"/>
                    <a:pt x="9922" y="15"/>
                    <a:pt x="9835" y="45"/>
                  </a:cubicBezTo>
                  <a:lnTo>
                    <a:pt x="602" y="3237"/>
                  </a:lnTo>
                  <a:cubicBezTo>
                    <a:pt x="206" y="3374"/>
                    <a:pt x="1" y="3793"/>
                    <a:pt x="140" y="4183"/>
                  </a:cubicBezTo>
                  <a:lnTo>
                    <a:pt x="1210" y="7194"/>
                  </a:lnTo>
                  <a:cubicBezTo>
                    <a:pt x="1323" y="7511"/>
                    <a:pt x="1630" y="7714"/>
                    <a:pt x="1958" y="7714"/>
                  </a:cubicBezTo>
                  <a:cubicBezTo>
                    <a:pt x="2033" y="7714"/>
                    <a:pt x="2108" y="7703"/>
                    <a:pt x="2183" y="7681"/>
                  </a:cubicBezTo>
                  <a:lnTo>
                    <a:pt x="10546" y="5222"/>
                  </a:lnTo>
                  <a:cubicBezTo>
                    <a:pt x="10882" y="5123"/>
                    <a:pt x="11104" y="4816"/>
                    <a:pt x="11085" y="4474"/>
                  </a:cubicBezTo>
                  <a:lnTo>
                    <a:pt x="10885" y="730"/>
                  </a:lnTo>
                  <a:cubicBezTo>
                    <a:pt x="10863" y="310"/>
                    <a:pt x="10498" y="1"/>
                    <a:pt x="100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1737;p44">
              <a:extLst>
                <a:ext uri="{FF2B5EF4-FFF2-40B4-BE49-F238E27FC236}">
                  <a16:creationId xmlns:a16="http://schemas.microsoft.com/office/drawing/2014/main" id="{4FC4F26C-E226-40D1-A403-90DDE6801B86}"/>
                </a:ext>
              </a:extLst>
            </p:cNvPr>
            <p:cNvSpPr/>
            <p:nvPr/>
          </p:nvSpPr>
          <p:spPr>
            <a:xfrm>
              <a:off x="750974" y="4624908"/>
              <a:ext cx="171310" cy="122158"/>
            </a:xfrm>
            <a:custGeom>
              <a:avLst/>
              <a:gdLst/>
              <a:ahLst/>
              <a:cxnLst/>
              <a:rect l="l" t="t" r="r" b="b"/>
              <a:pathLst>
                <a:path w="11620" h="8286" extrusionOk="0">
                  <a:moveTo>
                    <a:pt x="10320" y="571"/>
                  </a:moveTo>
                  <a:cubicBezTo>
                    <a:pt x="10422" y="572"/>
                    <a:pt x="10522" y="603"/>
                    <a:pt x="10607" y="660"/>
                  </a:cubicBezTo>
                  <a:cubicBezTo>
                    <a:pt x="10733" y="743"/>
                    <a:pt x="10814" y="880"/>
                    <a:pt x="10822" y="1030"/>
                  </a:cubicBezTo>
                  <a:lnTo>
                    <a:pt x="11023" y="4775"/>
                  </a:lnTo>
                  <a:cubicBezTo>
                    <a:pt x="11034" y="4984"/>
                    <a:pt x="10896" y="5172"/>
                    <a:pt x="10689" y="5234"/>
                  </a:cubicBezTo>
                  <a:lnTo>
                    <a:pt x="2325" y="7693"/>
                  </a:lnTo>
                  <a:cubicBezTo>
                    <a:pt x="2277" y="7707"/>
                    <a:pt x="2229" y="7714"/>
                    <a:pt x="2181" y="7714"/>
                  </a:cubicBezTo>
                  <a:cubicBezTo>
                    <a:pt x="1971" y="7714"/>
                    <a:pt x="1773" y="7584"/>
                    <a:pt x="1701" y="7383"/>
                  </a:cubicBezTo>
                  <a:lnTo>
                    <a:pt x="631" y="4372"/>
                  </a:lnTo>
                  <a:cubicBezTo>
                    <a:pt x="591" y="4260"/>
                    <a:pt x="597" y="4136"/>
                    <a:pt x="649" y="4028"/>
                  </a:cubicBezTo>
                  <a:cubicBezTo>
                    <a:pt x="703" y="3916"/>
                    <a:pt x="801" y="3832"/>
                    <a:pt x="918" y="3793"/>
                  </a:cubicBezTo>
                  <a:lnTo>
                    <a:pt x="10151" y="601"/>
                  </a:lnTo>
                  <a:cubicBezTo>
                    <a:pt x="10206" y="581"/>
                    <a:pt x="10262" y="571"/>
                    <a:pt x="10320" y="571"/>
                  </a:cubicBezTo>
                  <a:close/>
                  <a:moveTo>
                    <a:pt x="10320" y="1"/>
                  </a:moveTo>
                  <a:cubicBezTo>
                    <a:pt x="10200" y="1"/>
                    <a:pt x="10080" y="20"/>
                    <a:pt x="9964" y="60"/>
                  </a:cubicBezTo>
                  <a:lnTo>
                    <a:pt x="732" y="3252"/>
                  </a:lnTo>
                  <a:cubicBezTo>
                    <a:pt x="469" y="3341"/>
                    <a:pt x="254" y="3532"/>
                    <a:pt x="135" y="3782"/>
                  </a:cubicBezTo>
                  <a:cubicBezTo>
                    <a:pt x="16" y="4025"/>
                    <a:pt x="1" y="4308"/>
                    <a:pt x="93" y="4563"/>
                  </a:cubicBezTo>
                  <a:lnTo>
                    <a:pt x="1163" y="7575"/>
                  </a:lnTo>
                  <a:cubicBezTo>
                    <a:pt x="1318" y="8011"/>
                    <a:pt x="1732" y="8286"/>
                    <a:pt x="2177" y="8286"/>
                  </a:cubicBezTo>
                  <a:cubicBezTo>
                    <a:pt x="2282" y="8286"/>
                    <a:pt x="2386" y="8270"/>
                    <a:pt x="2486" y="8241"/>
                  </a:cubicBezTo>
                  <a:lnTo>
                    <a:pt x="10849" y="5781"/>
                  </a:lnTo>
                  <a:cubicBezTo>
                    <a:pt x="11313" y="5645"/>
                    <a:pt x="11619" y="5219"/>
                    <a:pt x="11593" y="4745"/>
                  </a:cubicBezTo>
                  <a:lnTo>
                    <a:pt x="11393" y="1000"/>
                  </a:lnTo>
                  <a:cubicBezTo>
                    <a:pt x="11375" y="671"/>
                    <a:pt x="11205" y="375"/>
                    <a:pt x="10927" y="187"/>
                  </a:cubicBezTo>
                  <a:cubicBezTo>
                    <a:pt x="10745" y="64"/>
                    <a:pt x="10534" y="1"/>
                    <a:pt x="103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1754;p44">
              <a:extLst>
                <a:ext uri="{FF2B5EF4-FFF2-40B4-BE49-F238E27FC236}">
                  <a16:creationId xmlns:a16="http://schemas.microsoft.com/office/drawing/2014/main" id="{00B8B397-A52E-4938-A140-A71FB623FDCF}"/>
                </a:ext>
              </a:extLst>
            </p:cNvPr>
            <p:cNvSpPr/>
            <p:nvPr/>
          </p:nvSpPr>
          <p:spPr>
            <a:xfrm>
              <a:off x="1604341" y="3258347"/>
              <a:ext cx="72593" cy="8433"/>
            </a:xfrm>
            <a:custGeom>
              <a:avLst/>
              <a:gdLst/>
              <a:ahLst/>
              <a:cxnLst/>
              <a:rect l="l" t="t" r="r" b="b"/>
              <a:pathLst>
                <a:path w="4924" h="572" extrusionOk="0">
                  <a:moveTo>
                    <a:pt x="1" y="0"/>
                  </a:moveTo>
                  <a:lnTo>
                    <a:pt x="1" y="571"/>
                  </a:lnTo>
                  <a:lnTo>
                    <a:pt x="1642" y="571"/>
                  </a:lnTo>
                  <a:lnTo>
                    <a:pt x="1642" y="0"/>
                  </a:lnTo>
                  <a:close/>
                  <a:moveTo>
                    <a:pt x="3283" y="0"/>
                  </a:moveTo>
                  <a:lnTo>
                    <a:pt x="3283" y="571"/>
                  </a:lnTo>
                  <a:lnTo>
                    <a:pt x="4923" y="571"/>
                  </a:lnTo>
                  <a:lnTo>
                    <a:pt x="49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1755;p44">
              <a:extLst>
                <a:ext uri="{FF2B5EF4-FFF2-40B4-BE49-F238E27FC236}">
                  <a16:creationId xmlns:a16="http://schemas.microsoft.com/office/drawing/2014/main" id="{1933938A-19C9-47B2-9FCC-F7B9F7DD0516}"/>
                </a:ext>
              </a:extLst>
            </p:cNvPr>
            <p:cNvSpPr/>
            <p:nvPr/>
          </p:nvSpPr>
          <p:spPr>
            <a:xfrm>
              <a:off x="1567514" y="3258347"/>
              <a:ext cx="12635" cy="8433"/>
            </a:xfrm>
            <a:custGeom>
              <a:avLst/>
              <a:gdLst/>
              <a:ahLst/>
              <a:cxnLst/>
              <a:rect l="l" t="t" r="r" b="b"/>
              <a:pathLst>
                <a:path w="857" h="572" extrusionOk="0">
                  <a:moveTo>
                    <a:pt x="0" y="0"/>
                  </a:moveTo>
                  <a:lnTo>
                    <a:pt x="0" y="571"/>
                  </a:lnTo>
                  <a:lnTo>
                    <a:pt x="857" y="571"/>
                  </a:lnTo>
                  <a:lnTo>
                    <a:pt x="857"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756;p44">
              <a:extLst>
                <a:ext uri="{FF2B5EF4-FFF2-40B4-BE49-F238E27FC236}">
                  <a16:creationId xmlns:a16="http://schemas.microsoft.com/office/drawing/2014/main" id="{7CBDB2B8-D537-4BC1-9CF7-483948E0772D}"/>
                </a:ext>
              </a:extLst>
            </p:cNvPr>
            <p:cNvSpPr/>
            <p:nvPr/>
          </p:nvSpPr>
          <p:spPr>
            <a:xfrm>
              <a:off x="1539178" y="3231928"/>
              <a:ext cx="52101" cy="60150"/>
            </a:xfrm>
            <a:custGeom>
              <a:avLst/>
              <a:gdLst/>
              <a:ahLst/>
              <a:cxnLst/>
              <a:rect l="l" t="t" r="r" b="b"/>
              <a:pathLst>
                <a:path w="3534" h="4080" extrusionOk="0">
                  <a:moveTo>
                    <a:pt x="3533" y="1"/>
                  </a:moveTo>
                  <a:lnTo>
                    <a:pt x="0" y="2040"/>
                  </a:lnTo>
                  <a:lnTo>
                    <a:pt x="3533" y="4080"/>
                  </a:lnTo>
                  <a:lnTo>
                    <a:pt x="35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89135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6105"/>
            <a:ext cx="9144000" cy="11847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65DF84A7-E508-4464-88CA-96BA48065141}"/>
              </a:ext>
            </a:extLst>
          </p:cNvPr>
          <p:cNvSpPr txBox="1"/>
          <p:nvPr/>
        </p:nvSpPr>
        <p:spPr>
          <a:xfrm>
            <a:off x="445195" y="1251437"/>
            <a:ext cx="7813287" cy="954107"/>
          </a:xfrm>
          <a:prstGeom prst="rect">
            <a:avLst/>
          </a:prstGeom>
          <a:noFill/>
        </p:spPr>
        <p:txBody>
          <a:bodyPr wrap="square">
            <a:spAutoFit/>
          </a:bodyPr>
          <a:lstStyle/>
          <a:p>
            <a:r>
              <a:rPr lang="ru-RU" dirty="0">
                <a:solidFill>
                  <a:schemeClr val="tx1"/>
                </a:solidFill>
                <a:latin typeface="+mn-lt"/>
              </a:rPr>
              <a:t>Регулярное выражение – это специальная последовательность символов, предназначенная для сопоставления и поиска строк или наборов строк, представляющая собой шаблон, задаваемый в соответствии с определенным синтаксисом (более подробно можно прочитать здесь: </a:t>
            </a:r>
            <a:r>
              <a:rPr lang="en-US" dirty="0">
                <a:solidFill>
                  <a:schemeClr val="tx1"/>
                </a:solidFill>
                <a:latin typeface="+mn-lt"/>
                <a:hlinkClick r:id="rId3">
                  <a:extLst>
                    <a:ext uri="{A12FA001-AC4F-418D-AE19-62706E023703}">
                      <ahyp:hlinkClr xmlns:ahyp="http://schemas.microsoft.com/office/drawing/2018/hyperlinkcolor" val="tx"/>
                    </a:ext>
                  </a:extLst>
                </a:hlinkClick>
              </a:rPr>
              <a:t>https://habr.com/post/349860/</a:t>
            </a:r>
            <a:r>
              <a:rPr lang="ru-RU" dirty="0">
                <a:solidFill>
                  <a:schemeClr val="tx1"/>
                </a:solidFill>
                <a:latin typeface="+mn-lt"/>
              </a:rPr>
              <a:t>)</a:t>
            </a:r>
          </a:p>
        </p:txBody>
      </p:sp>
      <p:sp>
        <p:nvSpPr>
          <p:cNvPr id="14" name="TextBox 13">
            <a:extLst>
              <a:ext uri="{FF2B5EF4-FFF2-40B4-BE49-F238E27FC236}">
                <a16:creationId xmlns:a16="http://schemas.microsoft.com/office/drawing/2014/main" id="{9C1A722A-F0AD-486A-A6E9-674A9FE991C6}"/>
              </a:ext>
            </a:extLst>
          </p:cNvPr>
          <p:cNvSpPr txBox="1"/>
          <p:nvPr/>
        </p:nvSpPr>
        <p:spPr>
          <a:xfrm>
            <a:off x="445195" y="2390276"/>
            <a:ext cx="7813287" cy="1200329"/>
          </a:xfrm>
          <a:prstGeom prst="rect">
            <a:avLst/>
          </a:prstGeom>
          <a:noFill/>
        </p:spPr>
        <p:txBody>
          <a:bodyPr wrap="square">
            <a:spAutoFit/>
          </a:bodyPr>
          <a:lstStyle/>
          <a:p>
            <a:pPr eaLnBrk="1" hangingPunct="1">
              <a:spcBef>
                <a:spcPct val="0"/>
              </a:spcBef>
              <a:buNone/>
            </a:pPr>
            <a:r>
              <a:rPr lang="ru-RU" sz="1200" dirty="0">
                <a:solidFill>
                  <a:schemeClr val="tx1"/>
                </a:solidFill>
                <a:latin typeface="+mn-lt"/>
              </a:rPr>
              <a:t>Модуль </a:t>
            </a:r>
            <a:r>
              <a:rPr lang="en-US" sz="1200" dirty="0">
                <a:solidFill>
                  <a:schemeClr val="tx1"/>
                </a:solidFill>
                <a:latin typeface="+mn-lt"/>
              </a:rPr>
              <a:t>re </a:t>
            </a:r>
            <a:r>
              <a:rPr lang="ru-RU" sz="1200" dirty="0">
                <a:solidFill>
                  <a:schemeClr val="tx1"/>
                </a:solidFill>
                <a:latin typeface="+mn-lt"/>
              </a:rPr>
              <a:t>обеспечивает полную поддержку </a:t>
            </a:r>
            <a:r>
              <a:rPr lang="en-US" sz="1200" dirty="0">
                <a:solidFill>
                  <a:schemeClr val="tx1"/>
                </a:solidFill>
                <a:latin typeface="+mn-lt"/>
              </a:rPr>
              <a:t>Perl-</a:t>
            </a:r>
            <a:r>
              <a:rPr lang="ru-RU" sz="1200" dirty="0">
                <a:solidFill>
                  <a:schemeClr val="tx1"/>
                </a:solidFill>
                <a:latin typeface="+mn-lt"/>
              </a:rPr>
              <a:t>подобных регулярных выражений в </a:t>
            </a:r>
            <a:r>
              <a:rPr lang="en-US" sz="1200" dirty="0">
                <a:solidFill>
                  <a:schemeClr val="tx1"/>
                </a:solidFill>
                <a:latin typeface="+mn-lt"/>
              </a:rPr>
              <a:t>Python. </a:t>
            </a:r>
            <a:r>
              <a:rPr lang="ru-RU" sz="1200" dirty="0">
                <a:solidFill>
                  <a:schemeClr val="tx1"/>
                </a:solidFill>
                <a:latin typeface="+mn-lt"/>
              </a:rPr>
              <a:t>Модуль выбрасывает исключение</a:t>
            </a:r>
            <a:r>
              <a:rPr lang="en-US" sz="1200" dirty="0">
                <a:solidFill>
                  <a:schemeClr val="tx1"/>
                </a:solidFill>
                <a:latin typeface="+mn-lt"/>
              </a:rPr>
              <a:t> re.error </a:t>
            </a:r>
            <a:r>
              <a:rPr lang="ru-RU" sz="1200" dirty="0">
                <a:solidFill>
                  <a:schemeClr val="tx1"/>
                </a:solidFill>
                <a:latin typeface="+mn-lt"/>
              </a:rPr>
              <a:t>если ошибка происходит при компиляции или использовании регулярных выражений</a:t>
            </a:r>
            <a:r>
              <a:rPr lang="en-US" sz="1200" dirty="0">
                <a:solidFill>
                  <a:schemeClr val="tx1"/>
                </a:solidFill>
                <a:latin typeface="+mn-lt"/>
              </a:rPr>
              <a:t>.</a:t>
            </a:r>
          </a:p>
          <a:p>
            <a:pPr eaLnBrk="1" hangingPunct="1">
              <a:spcBef>
                <a:spcPct val="0"/>
              </a:spcBef>
              <a:buNone/>
            </a:pPr>
            <a:r>
              <a:rPr lang="ru-RU" sz="1200" dirty="0">
                <a:solidFill>
                  <a:schemeClr val="tx1"/>
                </a:solidFill>
                <a:latin typeface="+mn-lt"/>
              </a:rPr>
              <a:t>Пример задачи, где нужно использовать модуль </a:t>
            </a:r>
            <a:r>
              <a:rPr lang="en-US" sz="1200" dirty="0">
                <a:solidFill>
                  <a:schemeClr val="tx1"/>
                </a:solidFill>
                <a:latin typeface="+mn-lt"/>
              </a:rPr>
              <a:t>re</a:t>
            </a:r>
            <a:r>
              <a:rPr lang="ru-RU" sz="1200" dirty="0">
                <a:solidFill>
                  <a:schemeClr val="tx1"/>
                </a:solidFill>
                <a:latin typeface="+mn-lt"/>
              </a:rPr>
              <a:t>. Есть лог-файл, в котором хранятся записи об </a:t>
            </a:r>
            <a:r>
              <a:rPr lang="en-US" sz="1200" dirty="0">
                <a:solidFill>
                  <a:schemeClr val="tx1"/>
                </a:solidFill>
                <a:latin typeface="+mn-lt"/>
              </a:rPr>
              <a:t>http </a:t>
            </a:r>
            <a:r>
              <a:rPr lang="ru-RU" sz="1200" dirty="0">
                <a:solidFill>
                  <a:schemeClr val="tx1"/>
                </a:solidFill>
                <a:latin typeface="+mn-lt"/>
              </a:rPr>
              <a:t>запросах к различным серверам, прошедших через данный узел.</a:t>
            </a:r>
            <a:r>
              <a:rPr lang="en-US" sz="1200" dirty="0">
                <a:solidFill>
                  <a:schemeClr val="tx1"/>
                </a:solidFill>
                <a:latin typeface="+mn-lt"/>
              </a:rPr>
              <a:t> </a:t>
            </a:r>
            <a:r>
              <a:rPr lang="ru-RU" sz="1200" dirty="0">
                <a:solidFill>
                  <a:schemeClr val="tx1"/>
                </a:solidFill>
                <a:latin typeface="+mn-lt"/>
              </a:rPr>
              <a:t>Для каждого сервера надо вывести количество посещений и самую свежую дату и время</a:t>
            </a: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6" name="TextBox 15">
            <a:extLst>
              <a:ext uri="{FF2B5EF4-FFF2-40B4-BE49-F238E27FC236}">
                <a16:creationId xmlns:a16="http://schemas.microsoft.com/office/drawing/2014/main" id="{30DA673E-D385-46CD-97E4-BCF1112F70C1}"/>
              </a:ext>
            </a:extLst>
          </p:cNvPr>
          <p:cNvSpPr txBox="1"/>
          <p:nvPr/>
        </p:nvSpPr>
        <p:spPr>
          <a:xfrm>
            <a:off x="445195" y="3623492"/>
            <a:ext cx="4679794" cy="276999"/>
          </a:xfrm>
          <a:prstGeom prst="rect">
            <a:avLst/>
          </a:prstGeom>
          <a:noFill/>
        </p:spPr>
        <p:txBody>
          <a:bodyPr wrap="square">
            <a:spAutoFit/>
          </a:bodyPr>
          <a:lstStyle/>
          <a:p>
            <a:r>
              <a:rPr lang="ru-RU" sz="1200" dirty="0">
                <a:solidFill>
                  <a:schemeClr val="tx1"/>
                </a:solidFill>
                <a:latin typeface="+mn-lt"/>
              </a:rPr>
              <a:t>Содержимое лог-файла выглядит так:</a:t>
            </a:r>
          </a:p>
        </p:txBody>
      </p:sp>
      <p:sp>
        <p:nvSpPr>
          <p:cNvPr id="17" name="Rectangle 4">
            <a:extLst>
              <a:ext uri="{FF2B5EF4-FFF2-40B4-BE49-F238E27FC236}">
                <a16:creationId xmlns:a16="http://schemas.microsoft.com/office/drawing/2014/main" id="{BFA9791C-D8A2-4E5C-9AB7-52B66637856D}"/>
              </a:ext>
            </a:extLst>
          </p:cNvPr>
          <p:cNvSpPr/>
          <p:nvPr/>
        </p:nvSpPr>
        <p:spPr>
          <a:xfrm>
            <a:off x="445196" y="4071873"/>
            <a:ext cx="8655262" cy="1015663"/>
          </a:xfrm>
          <a:prstGeom prst="rect">
            <a:avLst/>
          </a:prstGeom>
        </p:spPr>
        <p:txBody>
          <a:bodyPr wrap="square">
            <a:spAutoFit/>
          </a:bodyPr>
          <a:lstStyle/>
          <a:p>
            <a:r>
              <a:rPr lang="en-US" sz="1000" dirty="0">
                <a:solidFill>
                  <a:schemeClr val="bg1"/>
                </a:solidFill>
                <a:latin typeface="+mn-lt"/>
              </a:rPr>
              <a:t>netops.microsoft.com - - [01/Jul/1995:07:43:07 -0400] "GET /history/gemini/gemini.html HTTP/1.0" 200 2522</a:t>
            </a:r>
          </a:p>
          <a:p>
            <a:r>
              <a:rPr lang="en-US" sz="1000" dirty="0">
                <a:solidFill>
                  <a:schemeClr val="bg1"/>
                </a:solidFill>
                <a:latin typeface="+mn-lt"/>
              </a:rPr>
              <a:t>mcdiala09.it.luc.edu - - [01/Jul/1995:07:43:08 -0400] "GET /shuttle/countdown/ HTTP/1.0" 200 3985</a:t>
            </a:r>
          </a:p>
          <a:p>
            <a:r>
              <a:rPr lang="en-US" sz="1000" dirty="0">
                <a:solidFill>
                  <a:schemeClr val="bg1"/>
                </a:solidFill>
                <a:latin typeface="+mn-lt"/>
              </a:rPr>
              <a:t>pm2_9.digital.net - - [01/Jul/1995:07:43:08 -0400] "GET /shuttle/sts-71/sts-71-patch-small.gif HTTP/1.0" 200 12054</a:t>
            </a:r>
          </a:p>
          <a:p>
            <a:r>
              <a:rPr lang="en-US" sz="1000" dirty="0">
                <a:solidFill>
                  <a:schemeClr val="bg1"/>
                </a:solidFill>
                <a:latin typeface="+mn-lt"/>
              </a:rPr>
              <a:t>p1107.pip.dknet.dk - - [01/Jul/1995:07:43:08 -0400] "GET /cgi-bin/imagemap/countdown?333,188 HTTP/1.0" 302 97</a:t>
            </a:r>
          </a:p>
          <a:p>
            <a:r>
              <a:rPr lang="en-US" sz="1000" dirty="0">
                <a:solidFill>
                  <a:schemeClr val="bg1"/>
                </a:solidFill>
                <a:latin typeface="+mn-lt"/>
              </a:rPr>
              <a:t>netops.microsoft.com - - [01/Jul/1995:07:43:09 -0400] "GET /images/gemini-logo.gif HTTP/1.0" 200 4452</a:t>
            </a:r>
          </a:p>
          <a:p>
            <a:r>
              <a:rPr lang="en-US" sz="1000" dirty="0">
                <a:solidFill>
                  <a:schemeClr val="bg1"/>
                </a:solidFill>
                <a:latin typeface="+mn-lt"/>
              </a:rPr>
              <a:t>p1107.pip.dknet.dk - - [01/Jul/1995:07:43:10 -0400] "GET /shuttle/countdown/lps/fr.html HTTP/1.0" 200 1879</a:t>
            </a:r>
            <a:endParaRPr lang="ru-RU" sz="1000" dirty="0">
              <a:solidFill>
                <a:schemeClr val="bg1"/>
              </a:solidFill>
              <a:latin typeface="+mn-lt"/>
            </a:endParaRPr>
          </a:p>
        </p:txBody>
      </p:sp>
    </p:spTree>
    <p:extLst>
      <p:ext uri="{BB962C8B-B14F-4D97-AF65-F5344CB8AC3E}">
        <p14:creationId xmlns:p14="http://schemas.microsoft.com/office/powerpoint/2010/main" val="3076828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51428"/>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BD505742-AFCD-4FF3-B2C3-C9C0731B6BE4}"/>
              </a:ext>
            </a:extLst>
          </p:cNvPr>
          <p:cNvSpPr txBox="1"/>
          <p:nvPr/>
        </p:nvSpPr>
        <p:spPr>
          <a:xfrm>
            <a:off x="445195" y="1400331"/>
            <a:ext cx="8133810" cy="646331"/>
          </a:xfrm>
          <a:prstGeom prst="rect">
            <a:avLst/>
          </a:prstGeom>
          <a:noFill/>
        </p:spPr>
        <p:txBody>
          <a:bodyPr wrap="square">
            <a:spAutoFit/>
          </a:bodyPr>
          <a:lstStyle/>
          <a:p>
            <a:pPr eaLnBrk="1" hangingPunct="1">
              <a:spcBef>
                <a:spcPct val="0"/>
              </a:spcBef>
              <a:buNone/>
            </a:pPr>
            <a:r>
              <a:rPr lang="en-US" sz="1200" b="1" dirty="0">
                <a:solidFill>
                  <a:schemeClr val="tx1"/>
                </a:solidFill>
                <a:latin typeface="+mn-lt"/>
              </a:rPr>
              <a:t>re.match(pattern, string, flags=0)</a:t>
            </a:r>
            <a:r>
              <a:rPr lang="ru-RU" sz="1200" b="1" dirty="0">
                <a:solidFill>
                  <a:schemeClr val="tx1"/>
                </a:solidFill>
                <a:latin typeface="+mn-lt"/>
              </a:rPr>
              <a:t> </a:t>
            </a:r>
            <a:r>
              <a:rPr lang="ru-RU" sz="1200" dirty="0">
                <a:solidFill>
                  <a:schemeClr val="tx1"/>
                </a:solidFill>
                <a:latin typeface="+mn-lt"/>
              </a:rPr>
              <a:t>– сравнение по шаблону.</a:t>
            </a:r>
            <a:endParaRPr lang="en-US" sz="1200" dirty="0">
              <a:solidFill>
                <a:schemeClr val="tx1"/>
              </a:solidFill>
              <a:latin typeface="+mn-lt"/>
            </a:endParaRPr>
          </a:p>
          <a:p>
            <a:pPr eaLnBrk="1" hangingPunct="1">
              <a:spcBef>
                <a:spcPct val="0"/>
              </a:spcBef>
              <a:buNone/>
            </a:pPr>
            <a:r>
              <a:rPr lang="ru-RU" sz="1200" dirty="0">
                <a:solidFill>
                  <a:schemeClr val="tx1"/>
                </a:solidFill>
                <a:latin typeface="+mn-lt"/>
              </a:rPr>
              <a:t>Функция</a:t>
            </a:r>
            <a:r>
              <a:rPr lang="en-US" sz="1200" dirty="0">
                <a:solidFill>
                  <a:schemeClr val="tx1"/>
                </a:solidFill>
                <a:latin typeface="+mn-lt"/>
              </a:rPr>
              <a:t> re.match </a:t>
            </a:r>
            <a:r>
              <a:rPr lang="ru-RU" sz="1200" dirty="0">
                <a:solidFill>
                  <a:schemeClr val="tx1"/>
                </a:solidFill>
                <a:latin typeface="+mn-lt"/>
              </a:rPr>
              <a:t>возвращает </a:t>
            </a:r>
            <a:r>
              <a:rPr lang="en-US" sz="1200" dirty="0">
                <a:solidFill>
                  <a:schemeClr val="tx1"/>
                </a:solidFill>
                <a:latin typeface="+mn-lt"/>
              </a:rPr>
              <a:t>match-</a:t>
            </a:r>
            <a:r>
              <a:rPr lang="ru-RU" sz="1200" dirty="0">
                <a:solidFill>
                  <a:schemeClr val="tx1"/>
                </a:solidFill>
                <a:latin typeface="+mn-lt"/>
              </a:rPr>
              <a:t>объект в случае успеха и </a:t>
            </a:r>
            <a:r>
              <a:rPr lang="en-US" sz="1200" dirty="0">
                <a:solidFill>
                  <a:schemeClr val="tx1"/>
                </a:solidFill>
                <a:latin typeface="+mn-lt"/>
              </a:rPr>
              <a:t>None </a:t>
            </a:r>
            <a:r>
              <a:rPr lang="ru-RU" sz="1200" dirty="0">
                <a:solidFill>
                  <a:schemeClr val="tx1"/>
                </a:solidFill>
                <a:latin typeface="+mn-lt"/>
              </a:rPr>
              <a:t>в противном случае</a:t>
            </a:r>
            <a:r>
              <a:rPr lang="en-US" sz="1200" dirty="0">
                <a:solidFill>
                  <a:schemeClr val="tx1"/>
                </a:solidFill>
                <a:latin typeface="+mn-lt"/>
              </a:rPr>
              <a:t>. </a:t>
            </a:r>
            <a:r>
              <a:rPr lang="ru-RU" sz="1200" dirty="0">
                <a:solidFill>
                  <a:schemeClr val="tx1"/>
                </a:solidFill>
                <a:latin typeface="+mn-lt"/>
              </a:rPr>
              <a:t>Мы можем использовать функции</a:t>
            </a:r>
            <a:r>
              <a:rPr lang="en-US" sz="1200" dirty="0">
                <a:solidFill>
                  <a:schemeClr val="tx1"/>
                </a:solidFill>
                <a:latin typeface="+mn-lt"/>
              </a:rPr>
              <a:t> group(num) </a:t>
            </a:r>
            <a:r>
              <a:rPr lang="ru-RU" sz="1200" dirty="0">
                <a:solidFill>
                  <a:schemeClr val="tx1"/>
                </a:solidFill>
                <a:latin typeface="+mn-lt"/>
              </a:rPr>
              <a:t>или</a:t>
            </a:r>
            <a:r>
              <a:rPr lang="en-US" sz="1200" dirty="0">
                <a:solidFill>
                  <a:schemeClr val="tx1"/>
                </a:solidFill>
                <a:latin typeface="+mn-lt"/>
              </a:rPr>
              <a:t> groups() match-</a:t>
            </a:r>
            <a:r>
              <a:rPr lang="ru-RU" sz="1200" dirty="0">
                <a:solidFill>
                  <a:schemeClr val="tx1"/>
                </a:solidFill>
                <a:latin typeface="+mn-lt"/>
              </a:rPr>
              <a:t>объекта, чтоб получить совпавшее выражение</a:t>
            </a:r>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102821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pattern</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Регулярное</a:t>
                      </a:r>
                      <a:r>
                        <a:rPr lang="ru-RU" sz="1200" baseline="0" dirty="0">
                          <a:solidFill>
                            <a:schemeClr val="tx1"/>
                          </a:solidFill>
                          <a:latin typeface="+mn-lt"/>
                          <a:cs typeface="Times New Roman" panose="02020603050405020304" pitchFamily="18" charset="0"/>
                        </a:rPr>
                        <a:t> выражение для сравнения</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a:solidFill>
                            <a:schemeClr val="bg1"/>
                          </a:solidFill>
                          <a:latin typeface="+mn-lt"/>
                          <a:cs typeface="Times New Roman" panose="02020603050405020304" pitchFamily="18" charset="0"/>
                        </a:rPr>
                        <a:t>string</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Строка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 которой осуществляется</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поиск шаблона с начала строки</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flags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Можно указать различные флаги, используя</a:t>
                      </a:r>
                      <a:r>
                        <a:rPr lang="ru-RU" sz="1200" baseline="0" dirty="0">
                          <a:solidFill>
                            <a:schemeClr val="tx1"/>
                          </a:solidFill>
                          <a:latin typeface="+mn-lt"/>
                          <a:cs typeface="Times New Roman" panose="02020603050405020304" pitchFamily="18" charset="0"/>
                        </a:rPr>
                        <a:t> побитовое ИЛИ</a:t>
                      </a:r>
                      <a:r>
                        <a:rPr lang="en-US" sz="1200" dirty="0">
                          <a:solidFill>
                            <a:schemeClr val="tx1"/>
                          </a:solidFill>
                          <a:latin typeface="+mn-lt"/>
                          <a:cs typeface="Times New Roman" panose="02020603050405020304" pitchFamily="18" charset="0"/>
                        </a:rPr>
                        <a:t> (|). </a:t>
                      </a:r>
                      <a:r>
                        <a:rPr lang="ru-RU" sz="1200" dirty="0">
                          <a:solidFill>
                            <a:schemeClr val="tx1"/>
                          </a:solidFill>
                          <a:latin typeface="+mn-lt"/>
                          <a:cs typeface="Times New Roman" panose="02020603050405020304" pitchFamily="18" charset="0"/>
                        </a:rPr>
                        <a:t>Это т.н. модификаторы</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bl>
          </a:graphicData>
        </a:graphic>
      </p:graphicFrame>
      <p:graphicFrame>
        <p:nvGraphicFramePr>
          <p:cNvPr id="16" name="Table 4">
            <a:extLst>
              <a:ext uri="{FF2B5EF4-FFF2-40B4-BE49-F238E27FC236}">
                <a16:creationId xmlns:a16="http://schemas.microsoft.com/office/drawing/2014/main" id="{695A3CD3-ECCC-4984-A2B1-08F00DFF0BA7}"/>
              </a:ext>
            </a:extLst>
          </p:cNvPr>
          <p:cNvGraphicFramePr>
            <a:graphicFrameLocks noGrp="1"/>
          </p:cNvGraphicFramePr>
          <p:nvPr/>
        </p:nvGraphicFramePr>
        <p:xfrm>
          <a:off x="566737" y="3655774"/>
          <a:ext cx="8027135" cy="93677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Методы </a:t>
                      </a:r>
                      <a:r>
                        <a:rPr lang="en-US" sz="1000" b="1" i="0" u="none" strike="noStrike" kern="1200" cap="none" dirty="0">
                          <a:solidFill>
                            <a:schemeClr val="bg1"/>
                          </a:solidFill>
                          <a:latin typeface="+mn-lt"/>
                          <a:ea typeface="+mn-ea"/>
                          <a:cs typeface="+mn-cs"/>
                          <a:sym typeface="Arial"/>
                        </a:rPr>
                        <a:t>match-</a:t>
                      </a:r>
                      <a:r>
                        <a:rPr lang="ru-RU" sz="1000" b="1" i="0" u="none" strike="noStrike" kern="1200" cap="none" dirty="0">
                          <a:solidFill>
                            <a:schemeClr val="bg1"/>
                          </a:solidFill>
                          <a:latin typeface="+mn-lt"/>
                          <a:ea typeface="+mn-ea"/>
                          <a:cs typeface="+mn-cs"/>
                          <a:sym typeface="Arial"/>
                        </a:rPr>
                        <a:t>объекта</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p>
                      <a:pPr algn="ctr"/>
                      <a:r>
                        <a:rPr lang="en-US" sz="1200" kern="1200" dirty="0">
                          <a:solidFill>
                            <a:schemeClr val="bg1"/>
                          </a:solidFill>
                          <a:latin typeface="+mn-lt"/>
                          <a:ea typeface="+mn-ea"/>
                          <a:cs typeface="Times New Roman" panose="02020603050405020304" pitchFamily="18" charset="0"/>
                        </a:rPr>
                        <a:t>group(num=0)</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совпавшее </a:t>
                      </a:r>
                      <a:r>
                        <a:rPr lang="ru-RU" sz="1200" kern="1200" baseline="0" dirty="0">
                          <a:solidFill>
                            <a:schemeClr val="tx1"/>
                          </a:solidFill>
                          <a:latin typeface="+mn-lt"/>
                          <a:ea typeface="+mn-ea"/>
                          <a:cs typeface="Times New Roman" panose="02020603050405020304" pitchFamily="18" charset="0"/>
                        </a:rPr>
                        <a:t>выражение полностью</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либо</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его часть с индексом</a:t>
                      </a:r>
                      <a:r>
                        <a:rPr lang="ru-RU" sz="1200" kern="1200" baseline="0" dirty="0">
                          <a:solidFill>
                            <a:schemeClr val="tx1"/>
                          </a:solidFill>
                          <a:latin typeface="+mn-lt"/>
                          <a:ea typeface="+mn-ea"/>
                          <a:cs typeface="Times New Roman" panose="02020603050405020304" pitchFamily="18" charset="0"/>
                        </a:rPr>
                        <a:t> </a:t>
                      </a:r>
                      <a:r>
                        <a:rPr lang="en-US" sz="1200" kern="1200" dirty="0">
                          <a:solidFill>
                            <a:schemeClr val="tx1"/>
                          </a:solidFill>
                          <a:latin typeface="+mn-lt"/>
                          <a:ea typeface="+mn-ea"/>
                          <a:cs typeface="Times New Roman" panose="02020603050405020304" pitchFamily="18" charset="0"/>
                        </a:rPr>
                        <a:t>num)</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p>
                      <a:pPr algn="ctr"/>
                      <a:r>
                        <a:rPr lang="en-US" sz="1200" kern="1200" dirty="0">
                          <a:solidFill>
                            <a:schemeClr val="bg1"/>
                          </a:solidFill>
                          <a:latin typeface="+mn-lt"/>
                          <a:ea typeface="+mn-ea"/>
                          <a:cs typeface="Times New Roman" panose="02020603050405020304" pitchFamily="18" charset="0"/>
                        </a:rPr>
                        <a:t>groups()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кортеж из всех совпавших частей</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пустой кортеж, если совпадений не найдено</a:t>
                      </a:r>
                      <a:r>
                        <a:rPr lang="en-US" sz="12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bl>
          </a:graphicData>
        </a:graphic>
      </p:graphicFrame>
    </p:spTree>
    <p:extLst>
      <p:ext uri="{BB962C8B-B14F-4D97-AF65-F5344CB8AC3E}">
        <p14:creationId xmlns:p14="http://schemas.microsoft.com/office/powerpoint/2010/main" val="669593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857122"/>
          <a:ext cx="8027135" cy="3970488"/>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Начало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Конец</a:t>
                      </a:r>
                      <a:r>
                        <a:rPr lang="ru-RU" sz="1050" baseline="0" dirty="0">
                          <a:solidFill>
                            <a:schemeClr val="tx1"/>
                          </a:solidFill>
                          <a:latin typeface="+mn-lt"/>
                          <a:cs typeface="Times New Roman" panose="02020603050405020304" pitchFamily="18" charset="0"/>
                        </a:rPr>
                        <a:t>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Любой единичный символ кроме символа перевода строки</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Флаг</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позволяет включить также и символ новой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НЕ из указанных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05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en-US" sz="1050" dirty="0">
                          <a:solidFill>
                            <a:schemeClr val="tx1"/>
                          </a:solidFill>
                          <a:latin typeface="+mn-lt"/>
                          <a:cs typeface="Times New Roman" panose="02020603050405020304" pitchFamily="18" charset="0"/>
                        </a:rPr>
                        <a:t>1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1 </a:t>
                      </a:r>
                      <a:r>
                        <a:rPr lang="ru-RU" sz="1050" dirty="0">
                          <a:solidFill>
                            <a:schemeClr val="tx1"/>
                          </a:solidFill>
                          <a:latin typeface="+mn-lt"/>
                          <a:cs typeface="Times New Roman" panose="02020603050405020304" pitchFamily="18" charset="0"/>
                        </a:rPr>
                        <a:t>включение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050" dirty="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Ровно </a:t>
                      </a:r>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05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или больше 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050">
                          <a:solidFill>
                            <a:schemeClr val="bg1"/>
                          </a:solidFill>
                          <a:latin typeface="+mn-lt"/>
                          <a:cs typeface="Times New Roman" panose="02020603050405020304" pitchFamily="18" charset="0"/>
                        </a:rPr>
                        <a:t>re{ n, m}</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a:t>
                      </a:r>
                      <a:r>
                        <a:rPr lang="en-US" sz="1050" dirty="0">
                          <a:solidFill>
                            <a:schemeClr val="tx1"/>
                          </a:solidFill>
                          <a:latin typeface="+mn-lt"/>
                          <a:cs typeface="Times New Roman" panose="02020603050405020304" pitchFamily="18" charset="0"/>
                        </a:rPr>
                        <a:t> n </a:t>
                      </a:r>
                      <a:r>
                        <a:rPr lang="ru-RU" sz="1050" dirty="0">
                          <a:solidFill>
                            <a:schemeClr val="tx1"/>
                          </a:solidFill>
                          <a:latin typeface="+mn-lt"/>
                          <a:cs typeface="Times New Roman" panose="02020603050405020304" pitchFamily="18" charset="0"/>
                        </a:rPr>
                        <a:t>до</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050" dirty="0">
                          <a:solidFill>
                            <a:schemeClr val="bg1"/>
                          </a:solidFill>
                          <a:latin typeface="+mn-lt"/>
                          <a:cs typeface="Times New Roman" panose="02020603050405020304" pitchFamily="18" charset="0"/>
                        </a:rPr>
                        <a:t>a|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Либо </a:t>
                      </a:r>
                      <a:r>
                        <a:rPr lang="en-US" sz="1050" dirty="0">
                          <a:solidFill>
                            <a:schemeClr val="tx1"/>
                          </a:solidFill>
                          <a:latin typeface="+mn-lt"/>
                          <a:cs typeface="Times New Roman" panose="02020603050405020304" pitchFamily="18" charset="0"/>
                        </a:rPr>
                        <a:t>a</a:t>
                      </a:r>
                      <a:r>
                        <a:rPr lang="ru-RU" sz="1050" dirty="0">
                          <a:solidFill>
                            <a:schemeClr val="tx1"/>
                          </a:solidFill>
                          <a:latin typeface="+mn-lt"/>
                          <a:cs typeface="Times New Roman" panose="02020603050405020304" pitchFamily="18" charset="0"/>
                        </a:rPr>
                        <a:t>, либо</a:t>
                      </a:r>
                      <a:r>
                        <a:rPr lang="en-US" sz="1050" dirty="0">
                          <a:solidFill>
                            <a:schemeClr val="tx1"/>
                          </a:solidFill>
                          <a:latin typeface="+mn-lt"/>
                          <a:cs typeface="Times New Roman" panose="02020603050405020304" pitchFamily="18" charset="0"/>
                        </a:rPr>
                        <a:t>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и запоминает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marR="0" lvl="0" indent="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Отключает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r h="140582">
                <a:tc>
                  <a:txBody>
                    <a:bodyPr/>
                    <a:lstStyle/>
                    <a:p>
                      <a:pPr algn="ctr"/>
                      <a:r>
                        <a:rPr lang="en-US" sz="105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не запоминая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1998795"/>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ru-RU" sz="1050" baseline="0" dirty="0">
                          <a:solidFill>
                            <a:schemeClr val="tx1"/>
                          </a:solidFill>
                          <a:latin typeface="+mn-lt"/>
                          <a:cs typeface="Times New Roman" panose="02020603050405020304" pitchFamily="18" charset="0"/>
                        </a:rPr>
                        <a:t>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05929626"/>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Отключает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3217741"/>
                  </a:ext>
                </a:extLst>
              </a:tr>
            </a:tbl>
          </a:graphicData>
        </a:graphic>
      </p:graphicFrame>
      <p:sp>
        <p:nvSpPr>
          <p:cNvPr id="328" name="Google Shape;328;p32"/>
          <p:cNvSpPr txBox="1">
            <a:spLocks noGrp="1"/>
          </p:cNvSpPr>
          <p:nvPr>
            <p:ph type="title"/>
          </p:nvPr>
        </p:nvSpPr>
        <p:spPr>
          <a:xfrm>
            <a:off x="462440" y="72216"/>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3600" b="1" dirty="0">
              <a:solidFill>
                <a:schemeClr val="accent1"/>
              </a:solidFill>
              <a:latin typeface="+mn-lt"/>
            </a:endParaRPr>
          </a:p>
        </p:txBody>
      </p:sp>
    </p:spTree>
    <p:extLst>
      <p:ext uri="{BB962C8B-B14F-4D97-AF65-F5344CB8AC3E}">
        <p14:creationId xmlns:p14="http://schemas.microsoft.com/office/powerpoint/2010/main" val="2749947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1003066"/>
          <a:ext cx="8027135" cy="3854354"/>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20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Комментарий</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0005913"/>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шаблон</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69671667"/>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отрицание шаблона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en-US" sz="1200" dirty="0">
                          <a:solidFill>
                            <a:schemeClr val="bg1"/>
                          </a:solidFill>
                          <a:latin typeface="+mn-lt"/>
                          <a:cs typeface="Times New Roman" panose="02020603050405020304" pitchFamily="18" charset="0"/>
                        </a:rPr>
                        <a:t>(?&gt;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Независимый шаблон без предыстории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en-US" sz="1200" dirty="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Буквенные</a:t>
                      </a:r>
                      <a:r>
                        <a:rPr lang="ru-RU" sz="1200" baseline="0" dirty="0">
                          <a:solidFill>
                            <a:schemeClr val="tx1"/>
                          </a:solidFill>
                          <a:latin typeface="+mn-lt"/>
                          <a:cs typeface="Times New Roman" panose="02020603050405020304" pitchFamily="18" charset="0"/>
                        </a:rPr>
                        <a:t>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en-US" sz="120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Небуквенные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Пробелы. Эквивалентно</a:t>
                      </a:r>
                      <a:r>
                        <a:rPr lang="en-US" sz="1200" dirty="0">
                          <a:solidFill>
                            <a:schemeClr val="tx1"/>
                          </a:solidFill>
                          <a:latin typeface="+mn-lt"/>
                          <a:cs typeface="Times New Roman" panose="02020603050405020304" pitchFamily="18" charset="0"/>
                        </a:rPr>
                        <a:t> [\t\n\r\f]</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пробелы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Цифры</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Эквивалентно</a:t>
                      </a:r>
                      <a:r>
                        <a:rPr lang="en-US" sz="1200" dirty="0">
                          <a:solidFill>
                            <a:schemeClr val="tx1"/>
                          </a:solidFill>
                          <a:latin typeface="+mn-lt"/>
                          <a:cs typeface="Times New Roman" panose="02020603050405020304" pitchFamily="18" charset="0"/>
                        </a:rPr>
                        <a:t> [0-9]</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цифры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200">
                          <a:solidFill>
                            <a:schemeClr val="bg1"/>
                          </a:solidFill>
                          <a:latin typeface="+mn-lt"/>
                          <a:cs typeface="Times New Roman" panose="02020603050405020304" pitchFamily="18" charset="0"/>
                        </a:rPr>
                        <a:t>\A</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a:t>
                      </a:r>
                      <a:r>
                        <a:rPr lang="ru-RU" sz="1200" baseline="0" dirty="0">
                          <a:solidFill>
                            <a:schemeClr val="tx1"/>
                          </a:solidFill>
                          <a:latin typeface="+mn-lt"/>
                          <a:cs typeface="Times New Roman" panose="02020603050405020304" pitchFamily="18" charset="0"/>
                        </a:rPr>
                        <a:t> строки</a:t>
                      </a:r>
                      <a:r>
                        <a:rPr lang="ru-RU" sz="1200" dirty="0">
                          <a:solidFill>
                            <a:schemeClr val="tx1"/>
                          </a:solidFill>
                          <a:latin typeface="+mn-lt"/>
                          <a:cs typeface="Times New Roman" panose="02020603050405020304" pitchFamily="18" charset="0"/>
                        </a:rPr>
                        <a:t>, сам символ конца строки не включается</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200">
                          <a:solidFill>
                            <a:schemeClr val="bg1"/>
                          </a:solidFill>
                          <a:latin typeface="+mn-lt"/>
                          <a:cs typeface="Times New Roman" panose="02020603050405020304" pitchFamily="18" charset="0"/>
                        </a:rPr>
                        <a:t>\G</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Точка, где</a:t>
                      </a:r>
                      <a:r>
                        <a:rPr lang="ru-RU" sz="1200" baseline="0" dirty="0">
                          <a:solidFill>
                            <a:schemeClr val="tx1"/>
                          </a:solidFill>
                          <a:latin typeface="+mn-lt"/>
                          <a:cs typeface="Times New Roman" panose="02020603050405020304" pitchFamily="18" charset="0"/>
                        </a:rPr>
                        <a:t> закончился предыдущий поиск</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или конец слова (слева пусто или не-буква, справа буква и наоборот)</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граница слова: либо и слева, и справа буквы, либо и слева, и справа НЕ буквы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200" dirty="0">
                          <a:solidFill>
                            <a:schemeClr val="bg1"/>
                          </a:solidFill>
                          <a:latin typeface="+mn-lt"/>
                          <a:cs typeface="Times New Roman" panose="02020603050405020304" pitchFamily="18" charset="0"/>
                        </a:rPr>
                        <a:t>\n, \t, etc.</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Символ</a:t>
                      </a:r>
                      <a:r>
                        <a:rPr lang="ru-RU" sz="1200" baseline="0" dirty="0">
                          <a:solidFill>
                            <a:schemeClr val="tx1"/>
                          </a:solidFill>
                          <a:latin typeface="+mn-lt"/>
                          <a:cs typeface="Times New Roman" panose="02020603050405020304" pitchFamily="18" charset="0"/>
                        </a:rPr>
                        <a:t> перевода строки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возврата каретки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табуляции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и т.д.</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bl>
          </a:graphicData>
        </a:graphic>
      </p:graphicFrame>
      <p:sp>
        <p:nvSpPr>
          <p:cNvPr id="328" name="Google Shape;328;p32"/>
          <p:cNvSpPr txBox="1">
            <a:spLocks noGrp="1"/>
          </p:cNvSpPr>
          <p:nvPr>
            <p:ph type="title"/>
          </p:nvPr>
        </p:nvSpPr>
        <p:spPr>
          <a:xfrm>
            <a:off x="462440" y="265504"/>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4400" b="1" dirty="0">
              <a:solidFill>
                <a:schemeClr val="accent1"/>
              </a:solidFill>
              <a:latin typeface="+mn-lt"/>
            </a:endParaRPr>
          </a:p>
        </p:txBody>
      </p:sp>
    </p:spTree>
    <p:extLst>
      <p:ext uri="{BB962C8B-B14F-4D97-AF65-F5344CB8AC3E}">
        <p14:creationId xmlns:p14="http://schemas.microsoft.com/office/powerpoint/2010/main" val="425267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98483"/>
            <a:ext cx="9144000" cy="107371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243029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re.I</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Осуществляет сравнение без учета регистра</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re.L</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 слова в соответствии с текущей локализацией. Такая интерпретация</a:t>
                      </a:r>
                      <a:r>
                        <a:rPr lang="ru-RU" sz="1100" kern="1200" baseline="0" dirty="0">
                          <a:solidFill>
                            <a:schemeClr val="tx1"/>
                          </a:solidFill>
                          <a:latin typeface="+mn-lt"/>
                          <a:ea typeface="+mn-ea"/>
                          <a:cs typeface="Times New Roman" panose="02020603050405020304" pitchFamily="18" charset="0"/>
                        </a:rPr>
                        <a:t> влияет на определение алфавитных групп</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а также на определение границ</a:t>
                      </a:r>
                      <a:r>
                        <a:rPr lang="ru-RU" sz="1100" kern="1200" baseline="0" dirty="0">
                          <a:solidFill>
                            <a:schemeClr val="tx1"/>
                          </a:solidFill>
                          <a:latin typeface="+mn-lt"/>
                          <a:ea typeface="+mn-ea"/>
                          <a:cs typeface="Times New Roman" panose="02020603050405020304" pitchFamily="18" charset="0"/>
                        </a:rPr>
                        <a:t> слов</a:t>
                      </a:r>
                      <a:r>
                        <a:rPr lang="en-US" sz="1100" kern="1200" dirty="0">
                          <a:solidFill>
                            <a:schemeClr val="tx1"/>
                          </a:solidFill>
                          <a:latin typeface="+mn-lt"/>
                          <a:ea typeface="+mn-ea"/>
                          <a:cs typeface="Times New Roman" panose="02020603050405020304" pitchFamily="18" charset="0"/>
                        </a:rPr>
                        <a:t> (\b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re.M</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a:t>
                      </a:r>
                      <a:r>
                        <a:rPr lang="ru-RU" sz="1100" kern="1200" baseline="0" dirty="0">
                          <a:solidFill>
                            <a:schemeClr val="tx1"/>
                          </a:solidFill>
                          <a:latin typeface="+mn-lt"/>
                          <a:ea typeface="+mn-ea"/>
                          <a:cs typeface="Times New Roman" panose="02020603050405020304" pitchFamily="18" charset="0"/>
                        </a:rPr>
                        <a:t>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конец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конец текста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начало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начало текста</a:t>
                      </a:r>
                      <a:r>
                        <a:rPr lang="en-US" sz="11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 период</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точку)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соответствующим любому символу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включая перенос строки</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95810027"/>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re.U</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a:t>
                      </a:r>
                      <a:r>
                        <a:rPr lang="ru-RU" sz="1100" kern="1200" baseline="0" dirty="0">
                          <a:solidFill>
                            <a:schemeClr val="tx1"/>
                          </a:solidFill>
                          <a:latin typeface="+mn-lt"/>
                          <a:ea typeface="+mn-ea"/>
                          <a:cs typeface="Times New Roman" panose="02020603050405020304" pitchFamily="18" charset="0"/>
                        </a:rPr>
                        <a:t> буквы как символы</a:t>
                      </a:r>
                      <a:r>
                        <a:rPr lang="en-US" sz="1100" kern="1200" dirty="0">
                          <a:solidFill>
                            <a:schemeClr val="tx1"/>
                          </a:solidFill>
                          <a:latin typeface="+mn-lt"/>
                          <a:ea typeface="+mn-ea"/>
                          <a:cs typeface="Times New Roman" panose="02020603050405020304" pitchFamily="18" charset="0"/>
                        </a:rPr>
                        <a:t> Unicode. </a:t>
                      </a:r>
                      <a:r>
                        <a:rPr lang="ru-RU" sz="1100" kern="1200" dirty="0">
                          <a:solidFill>
                            <a:schemeClr val="tx1"/>
                          </a:solidFill>
                          <a:latin typeface="+mn-lt"/>
                          <a:ea typeface="+mn-ea"/>
                          <a:cs typeface="Times New Roman" panose="02020603050405020304" pitchFamily="18" charset="0"/>
                        </a:rPr>
                        <a:t>Этот флаг влияет</a:t>
                      </a:r>
                      <a:r>
                        <a:rPr lang="ru-RU" sz="1100" kern="1200" baseline="0" dirty="0">
                          <a:solidFill>
                            <a:schemeClr val="tx1"/>
                          </a:solidFill>
                          <a:latin typeface="+mn-lt"/>
                          <a:ea typeface="+mn-ea"/>
                          <a:cs typeface="Times New Roman" panose="02020603050405020304" pitchFamily="18" charset="0"/>
                        </a:rPr>
                        <a:t> на интерпретацию</a:t>
                      </a:r>
                      <a:r>
                        <a:rPr lang="en-US" sz="1100" kern="1200" dirty="0">
                          <a:solidFill>
                            <a:schemeClr val="tx1"/>
                          </a:solidFill>
                          <a:latin typeface="+mn-lt"/>
                          <a:ea typeface="+mn-ea"/>
                          <a:cs typeface="Times New Roman" panose="02020603050405020304" pitchFamily="18" charset="0"/>
                        </a:rPr>
                        <a:t> \w, \W, \b,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01687728"/>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re.X</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Разрешает</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более изящный синтаксис</a:t>
                      </a:r>
                      <a:r>
                        <a:rPr lang="ru-RU" sz="1100" kern="1200" baseline="0" dirty="0">
                          <a:solidFill>
                            <a:schemeClr val="tx1"/>
                          </a:solidFill>
                          <a:latin typeface="+mn-lt"/>
                          <a:ea typeface="+mn-ea"/>
                          <a:cs typeface="Times New Roman" panose="02020603050405020304" pitchFamily="18" charset="0"/>
                        </a:rPr>
                        <a:t> регулярных выражений</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Игнорирует пробелы</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если только они не указаны внутри</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или после обратного слеша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рассматривает </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без предваряющего слеша как маркер комментария</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33235"/>
                  </a:ext>
                </a:extLst>
              </a:tr>
            </a:tbl>
          </a:graphicData>
        </a:graphic>
      </p:graphicFrame>
      <p:sp>
        <p:nvSpPr>
          <p:cNvPr id="7" name="Text Box 10">
            <a:extLst>
              <a:ext uri="{FF2B5EF4-FFF2-40B4-BE49-F238E27FC236}">
                <a16:creationId xmlns:a16="http://schemas.microsoft.com/office/drawing/2014/main" id="{448AE8E3-B6E2-4D27-A68F-5E659078B3DD}"/>
              </a:ext>
            </a:extLst>
          </p:cNvPr>
          <p:cNvSpPr txBox="1">
            <a:spLocks noChangeArrowheads="1"/>
          </p:cNvSpPr>
          <p:nvPr/>
        </p:nvSpPr>
        <p:spPr bwMode="auto">
          <a:xfrm>
            <a:off x="566737" y="1173675"/>
            <a:ext cx="80271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200" dirty="0">
                <a:solidFill>
                  <a:schemeClr val="tx1"/>
                </a:solidFill>
                <a:latin typeface="+mn-lt"/>
              </a:rPr>
              <a:t>В функции для работы с регулярными выражениями можно передавать модификаторы для управления аспектами сравнения</a:t>
            </a:r>
            <a:r>
              <a:rPr lang="en-US" sz="1200" dirty="0">
                <a:solidFill>
                  <a:schemeClr val="tx1"/>
                </a:solidFill>
                <a:latin typeface="+mn-lt"/>
              </a:rPr>
              <a:t>.</a:t>
            </a:r>
            <a:endParaRPr lang="ru-RU" sz="1200" dirty="0">
              <a:solidFill>
                <a:schemeClr val="tx1"/>
              </a:solidFill>
              <a:latin typeface="+mn-lt"/>
            </a:endParaRPr>
          </a:p>
          <a:p>
            <a:pPr eaLnBrk="1" hangingPunct="1">
              <a:spcBef>
                <a:spcPct val="0"/>
              </a:spcBef>
              <a:buNone/>
            </a:pPr>
            <a:endParaRPr lang="ru-RU" sz="600" dirty="0">
              <a:solidFill>
                <a:schemeClr val="tx1"/>
              </a:solidFill>
              <a:latin typeface="+mn-lt"/>
            </a:endParaRPr>
          </a:p>
          <a:p>
            <a:pPr eaLnBrk="1" hangingPunct="1">
              <a:spcBef>
                <a:spcPct val="0"/>
              </a:spcBef>
              <a:buNone/>
            </a:pPr>
            <a:r>
              <a:rPr lang="ru-RU" sz="1200" dirty="0">
                <a:solidFill>
                  <a:schemeClr val="tx1"/>
                </a:solidFill>
                <a:latin typeface="+mn-lt"/>
              </a:rPr>
              <a:t>Модификаторы указываются как опциональный флаг, можно указать несколько модификаторов используя знак оператора ИЛИ </a:t>
            </a:r>
            <a:r>
              <a:rPr lang="en-US" sz="1200" dirty="0">
                <a:solidFill>
                  <a:schemeClr val="tx1"/>
                </a:solidFill>
                <a:latin typeface="+mn-lt"/>
              </a:rPr>
              <a:t>(|)</a:t>
            </a:r>
          </a:p>
        </p:txBody>
      </p:sp>
    </p:spTree>
    <p:extLst>
      <p:ext uri="{BB962C8B-B14F-4D97-AF65-F5344CB8AC3E}">
        <p14:creationId xmlns:p14="http://schemas.microsoft.com/office/powerpoint/2010/main" val="1666147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124467"/>
            <a:ext cx="8424936" cy="2462213"/>
          </a:xfrm>
          <a:prstGeom prst="rect">
            <a:avLst/>
          </a:prstGeom>
        </p:spPr>
        <p:txBody>
          <a:bodyPr wrap="square">
            <a:spAutoFit/>
          </a:bodyPr>
          <a:lstStyle/>
          <a:p>
            <a:r>
              <a:rPr lang="en-US" sz="1400" b="1" dirty="0">
                <a:solidFill>
                  <a:srgbClr val="0000FF"/>
                </a:solidFill>
                <a:latin typeface="+mn-lt"/>
              </a:rPr>
              <a:t>import</a:t>
            </a:r>
            <a:r>
              <a:rPr lang="en-US" sz="1400" dirty="0">
                <a:solidFill>
                  <a:srgbClr val="000000"/>
                </a:solidFill>
                <a:latin typeface="+mn-lt"/>
              </a:rPr>
              <a:t> re </a:t>
            </a:r>
          </a:p>
          <a:p>
            <a:endParaRPr lang="en-US" sz="1400" dirty="0">
              <a:solidFill>
                <a:srgbClr val="000000"/>
              </a:solidFill>
              <a:latin typeface="+mn-lt"/>
            </a:endParaRPr>
          </a:p>
          <a:p>
            <a:r>
              <a:rPr lang="en-US" sz="1400" dirty="0">
                <a:solidFill>
                  <a:srgbClr val="000000"/>
                </a:solidFill>
                <a:latin typeface="+mn-lt"/>
              </a:rPr>
              <a:t>line </a:t>
            </a:r>
            <a:r>
              <a:rPr lang="en-US" sz="1400" b="1" dirty="0">
                <a:solidFill>
                  <a:srgbClr val="000080"/>
                </a:solidFill>
                <a:latin typeface="+mn-lt"/>
              </a:rPr>
              <a:t>=</a:t>
            </a:r>
            <a:r>
              <a:rPr lang="en-US" sz="1400" dirty="0">
                <a:solidFill>
                  <a:srgbClr val="000000"/>
                </a:solidFill>
                <a:latin typeface="+mn-lt"/>
              </a:rPr>
              <a:t> </a:t>
            </a:r>
            <a:r>
              <a:rPr lang="en-US" sz="1400" dirty="0">
                <a:solidFill>
                  <a:srgbClr val="808080"/>
                </a:solidFill>
                <a:latin typeface="+mn-lt"/>
              </a:rPr>
              <a:t>"Cats are smarter than dogs"</a:t>
            </a:r>
            <a:r>
              <a:rPr lang="en-US" sz="1400" dirty="0">
                <a:solidFill>
                  <a:srgbClr val="000000"/>
                </a:solidFill>
                <a:latin typeface="+mn-lt"/>
              </a:rPr>
              <a:t> </a:t>
            </a:r>
          </a:p>
          <a:p>
            <a:r>
              <a:rPr lang="en-US" sz="1400" dirty="0">
                <a:solidFill>
                  <a:srgbClr val="000000"/>
                </a:solidFill>
                <a:latin typeface="+mn-lt"/>
              </a:rPr>
              <a:t>matchObj </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match</a:t>
            </a:r>
            <a:r>
              <a:rPr lang="en-US" sz="1400" b="1" dirty="0">
                <a:solidFill>
                  <a:srgbClr val="000080"/>
                </a:solidFill>
                <a:latin typeface="+mn-lt"/>
              </a:rPr>
              <a:t>(</a:t>
            </a:r>
            <a:r>
              <a:rPr lang="en-US" sz="1400" dirty="0">
                <a:solidFill>
                  <a:srgbClr val="808080"/>
                </a:solidFill>
                <a:latin typeface="+mn-lt"/>
              </a:rPr>
              <a:t>r'(.*) are (.*?) .*'</a:t>
            </a:r>
            <a:r>
              <a:rPr lang="en-US" sz="1400" b="1" dirty="0">
                <a:solidFill>
                  <a:srgbClr val="000080"/>
                </a:solidFill>
                <a:latin typeface="+mn-lt"/>
              </a:rPr>
              <a:t>,</a:t>
            </a:r>
            <a:r>
              <a:rPr lang="en-US" sz="1400" dirty="0">
                <a:solidFill>
                  <a:srgbClr val="000000"/>
                </a:solidFill>
                <a:latin typeface="+mn-lt"/>
              </a:rPr>
              <a:t> line</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
            </a:r>
            <a:r>
              <a:rPr lang="en-US" sz="1400" b="1" dirty="0">
                <a:solidFill>
                  <a:srgbClr val="000080"/>
                </a:solidFill>
                <a:latin typeface="+mn-lt"/>
              </a:rPr>
              <a:t>|</a:t>
            </a:r>
            <a:r>
              <a:rPr lang="en-US" sz="1400" dirty="0">
                <a:solidFill>
                  <a:srgbClr val="000000"/>
                </a:solidFill>
                <a:latin typeface="+mn-lt"/>
              </a:rPr>
              <a:t>re</a:t>
            </a:r>
            <a:r>
              <a:rPr lang="en-US" sz="1400" b="1" dirty="0">
                <a:solidFill>
                  <a:srgbClr val="000080"/>
                </a:solidFill>
                <a:latin typeface="+mn-lt"/>
              </a:rPr>
              <a:t>.</a:t>
            </a:r>
            <a:r>
              <a:rPr lang="en-US" sz="1400" dirty="0">
                <a:solidFill>
                  <a:srgbClr val="000000"/>
                </a:solidFill>
                <a:latin typeface="+mn-lt"/>
              </a:rPr>
              <a:t>I</a:t>
            </a:r>
            <a:r>
              <a:rPr lang="en-US" sz="1400" b="1" dirty="0">
                <a:solidFill>
                  <a:srgbClr val="000080"/>
                </a:solidFill>
                <a:latin typeface="+mn-lt"/>
              </a:rPr>
              <a:t>)</a:t>
            </a:r>
            <a:r>
              <a:rPr lang="en-US" sz="1400" dirty="0">
                <a:solidFill>
                  <a:srgbClr val="000000"/>
                </a:solidFill>
                <a:latin typeface="+mn-lt"/>
              </a:rPr>
              <a:t> </a:t>
            </a:r>
          </a:p>
          <a:p>
            <a:endParaRPr lang="en-US" sz="1400" b="1" dirty="0">
              <a:solidFill>
                <a:srgbClr val="000000"/>
              </a:solidFill>
              <a:latin typeface="+mn-lt"/>
            </a:endParaRPr>
          </a:p>
          <a:p>
            <a:r>
              <a:rPr lang="en-US" sz="1400" b="1" dirty="0">
                <a:solidFill>
                  <a:srgbClr val="0000FF"/>
                </a:solidFill>
                <a:latin typeface="+mn-lt"/>
              </a:rPr>
              <a:t>if</a:t>
            </a:r>
            <a:r>
              <a:rPr lang="en-US" sz="1400" dirty="0">
                <a:solidFill>
                  <a:srgbClr val="000000"/>
                </a:solidFill>
                <a:latin typeface="+mn-lt"/>
              </a:rPr>
              <a:t> matchObj</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f"matchObj.group(1):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1</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f"matchObj.group(2):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2</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FF"/>
                </a:solidFill>
                <a:latin typeface="+mn-lt"/>
              </a:rPr>
              <a:t>else</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"No match!"</a:t>
            </a:r>
            <a:r>
              <a:rPr lang="en-US" sz="1400" b="1" dirty="0">
                <a:solidFill>
                  <a:srgbClr val="000080"/>
                </a:solidFill>
                <a:latin typeface="+mn-lt"/>
              </a:rPr>
              <a:t>)</a:t>
            </a:r>
            <a:r>
              <a:rPr lang="en-US" sz="1400" dirty="0">
                <a:solidFill>
                  <a:srgbClr val="000000"/>
                </a:solidFill>
                <a:latin typeface="+mn-lt"/>
              </a:rPr>
              <a:t> </a:t>
            </a:r>
            <a:endParaRPr lang="en-US" sz="1400" dirty="0">
              <a:effectLst/>
              <a:latin typeface="+mn-lt"/>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4210373"/>
            <a:ext cx="8401082" cy="738664"/>
          </a:xfrm>
          <a:prstGeom prst="rect">
            <a:avLst/>
          </a:prstGeom>
          <a:ln>
            <a:solidFill>
              <a:schemeClr val="bg1"/>
            </a:solidFill>
          </a:ln>
        </p:spPr>
        <p:txBody>
          <a:bodyPr wrap="square">
            <a:spAutoFit/>
          </a:bodyPr>
          <a:lstStyle/>
          <a:p>
            <a:r>
              <a:rPr lang="en-US" sz="1400" dirty="0">
                <a:solidFill>
                  <a:schemeClr val="bg1"/>
                </a:solidFill>
                <a:latin typeface="Courier New" panose="02070309020205020404" pitchFamily="49" charset="0"/>
                <a:cs typeface="Courier New" panose="02070309020205020404" pitchFamily="49" charset="0"/>
              </a:rPr>
              <a:t>matchObj.group(): Cats are smarter than dogs</a:t>
            </a:r>
          </a:p>
          <a:p>
            <a:r>
              <a:rPr lang="en-US" sz="1400" dirty="0">
                <a:solidFill>
                  <a:schemeClr val="bg1"/>
                </a:solidFill>
                <a:latin typeface="Courier New" panose="02070309020205020404" pitchFamily="49" charset="0"/>
                <a:cs typeface="Courier New" panose="02070309020205020404" pitchFamily="49" charset="0"/>
              </a:rPr>
              <a:t>matchObj.group(1): Cats</a:t>
            </a:r>
          </a:p>
          <a:p>
            <a:r>
              <a:rPr lang="en-US" sz="1400" dirty="0">
                <a:solidFill>
                  <a:schemeClr val="bg1"/>
                </a:solidFill>
                <a:latin typeface="Courier New" panose="02070309020205020404" pitchFamily="49" charset="0"/>
                <a:cs typeface="Courier New" panose="02070309020205020404" pitchFamily="49" charset="0"/>
              </a:rPr>
              <a:t>matchObj.group(2): smarter</a:t>
            </a:r>
            <a:endParaRPr lang="ru-RU" sz="1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68816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3" name="Прямоугольник 12"/>
          <p:cNvSpPr/>
          <p:nvPr/>
        </p:nvSpPr>
        <p:spPr>
          <a:xfrm>
            <a:off x="-1" y="1263875"/>
            <a:ext cx="4641011" cy="3424686"/>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183729"/>
            <a:ext cx="733583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p>
        </p:txBody>
      </p:sp>
      <p:sp>
        <p:nvSpPr>
          <p:cNvPr id="8" name="Text Box 10">
            <a:extLst>
              <a:ext uri="{FF2B5EF4-FFF2-40B4-BE49-F238E27FC236}">
                <a16:creationId xmlns:a16="http://schemas.microsoft.com/office/drawing/2014/main" id="{7188170F-ED0D-4A34-9ADE-D73EE0ED9D74}"/>
              </a:ext>
            </a:extLst>
          </p:cNvPr>
          <p:cNvSpPr txBox="1">
            <a:spLocks noChangeArrowheads="1"/>
          </p:cNvSpPr>
          <p:nvPr/>
        </p:nvSpPr>
        <p:spPr bwMode="auto">
          <a:xfrm>
            <a:off x="445196" y="1545057"/>
            <a:ext cx="4025448"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re.search(pattern, string, flags=0)</a:t>
            </a:r>
            <a:r>
              <a:rPr lang="ru-RU" sz="1800" b="1" dirty="0">
                <a:solidFill>
                  <a:schemeClr val="tx1"/>
                </a:solidFill>
                <a:latin typeface="+mn-lt"/>
              </a:rPr>
              <a:t> </a:t>
            </a:r>
            <a:r>
              <a:rPr lang="ru-RU" sz="1800" dirty="0">
                <a:solidFill>
                  <a:schemeClr val="tx1"/>
                </a:solidFill>
                <a:latin typeface="+mn-lt"/>
              </a:rPr>
              <a:t>– поиск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search </a:t>
            </a:r>
            <a:r>
              <a:rPr lang="ru-RU" sz="1800" dirty="0">
                <a:solidFill>
                  <a:schemeClr val="tx1"/>
                </a:solidFill>
                <a:latin typeface="+mn-lt"/>
              </a:rPr>
              <a:t>ищет первое вхождение паттерна</a:t>
            </a:r>
            <a:r>
              <a:rPr lang="en-US" sz="1800" dirty="0">
                <a:solidFill>
                  <a:schemeClr val="tx1"/>
                </a:solidFill>
                <a:latin typeface="+mn-lt"/>
              </a:rPr>
              <a:t> RE </a:t>
            </a:r>
            <a:r>
              <a:rPr lang="ru-RU" sz="1800" dirty="0">
                <a:solidFill>
                  <a:schemeClr val="tx1"/>
                </a:solidFill>
                <a:latin typeface="+mn-lt"/>
              </a:rPr>
              <a:t>внутри строки и возвращает</a:t>
            </a:r>
            <a:r>
              <a:rPr lang="en-US" sz="1800" dirty="0">
                <a:solidFill>
                  <a:schemeClr val="tx1"/>
                </a:solidFill>
                <a:latin typeface="+mn-lt"/>
              </a:rPr>
              <a:t> match</a:t>
            </a:r>
            <a:r>
              <a:rPr lang="ru-RU" sz="1800" dirty="0">
                <a:solidFill>
                  <a:schemeClr val="tx1"/>
                </a:solidFill>
                <a:latin typeface="+mn-lt"/>
              </a:rPr>
              <a:t>-объект</a:t>
            </a:r>
            <a:r>
              <a:rPr lang="en-US" sz="1800" dirty="0">
                <a:solidFill>
                  <a:schemeClr val="tx1"/>
                </a:solidFill>
                <a:latin typeface="+mn-lt"/>
              </a:rPr>
              <a:t> </a:t>
            </a:r>
            <a:r>
              <a:rPr lang="ru-RU" sz="1800" dirty="0">
                <a:solidFill>
                  <a:schemeClr val="tx1"/>
                </a:solidFill>
                <a:latin typeface="+mn-lt"/>
              </a:rPr>
              <a:t>в случае успеха и</a:t>
            </a:r>
            <a:r>
              <a:rPr lang="en-US" sz="1800" dirty="0">
                <a:solidFill>
                  <a:schemeClr val="tx1"/>
                </a:solidFill>
                <a:latin typeface="+mn-lt"/>
              </a:rPr>
              <a:t> None </a:t>
            </a:r>
            <a:r>
              <a:rPr lang="ru-RU" sz="1800" dirty="0">
                <a:solidFill>
                  <a:schemeClr val="tx1"/>
                </a:solidFill>
                <a:latin typeface="+mn-lt"/>
              </a:rPr>
              <a:t>в противном случае</a:t>
            </a:r>
            <a:r>
              <a:rPr lang="en-US" sz="1800" dirty="0">
                <a:solidFill>
                  <a:schemeClr val="tx1"/>
                </a:solidFill>
                <a:latin typeface="+mn-lt"/>
              </a:rPr>
              <a:t>. </a:t>
            </a:r>
            <a:r>
              <a:rPr lang="ru-RU" sz="1800" dirty="0">
                <a:solidFill>
                  <a:schemeClr val="tx1"/>
                </a:solidFill>
                <a:latin typeface="+mn-lt"/>
              </a:rPr>
              <a:t>Мы можем использовать функции</a:t>
            </a:r>
            <a:r>
              <a:rPr lang="en-US" sz="1800" dirty="0">
                <a:solidFill>
                  <a:schemeClr val="tx1"/>
                </a:solidFill>
                <a:latin typeface="+mn-lt"/>
              </a:rPr>
              <a:t> group(num) </a:t>
            </a:r>
            <a:r>
              <a:rPr lang="ru-RU" sz="1800" dirty="0">
                <a:solidFill>
                  <a:schemeClr val="tx1"/>
                </a:solidFill>
                <a:latin typeface="+mn-lt"/>
              </a:rPr>
              <a:t>или</a:t>
            </a:r>
            <a:r>
              <a:rPr lang="en-US" sz="1800" dirty="0">
                <a:solidFill>
                  <a:schemeClr val="tx1"/>
                </a:solidFill>
                <a:latin typeface="+mn-lt"/>
              </a:rPr>
              <a:t> groups() match-</a:t>
            </a:r>
            <a:r>
              <a:rPr lang="ru-RU" sz="1800" dirty="0">
                <a:solidFill>
                  <a:schemeClr val="tx1"/>
                </a:solidFill>
                <a:latin typeface="+mn-lt"/>
              </a:rPr>
              <a:t>объекта, чтоб получить совпавшее выражение</a:t>
            </a:r>
            <a:endParaRPr lang="en-US" sz="1800" dirty="0">
              <a:solidFill>
                <a:schemeClr val="tx1"/>
              </a:solidFill>
              <a:latin typeface="+mn-lt"/>
            </a:endParaRPr>
          </a:p>
        </p:txBody>
      </p:sp>
      <p:sp>
        <p:nvSpPr>
          <p:cNvPr id="7" name="Прямоугольник 6">
            <a:extLst>
              <a:ext uri="{FF2B5EF4-FFF2-40B4-BE49-F238E27FC236}">
                <a16:creationId xmlns:a16="http://schemas.microsoft.com/office/drawing/2014/main" id="{04C6B9E1-9F02-49A1-9722-7DCC17685D39}"/>
              </a:ext>
            </a:extLst>
          </p:cNvPr>
          <p:cNvSpPr/>
          <p:nvPr/>
        </p:nvSpPr>
        <p:spPr>
          <a:xfrm>
            <a:off x="4641010" y="1263876"/>
            <a:ext cx="4502990" cy="3424686"/>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Rectangle 7">
            <a:extLst>
              <a:ext uri="{FF2B5EF4-FFF2-40B4-BE49-F238E27FC236}">
                <a16:creationId xmlns:a16="http://schemas.microsoft.com/office/drawing/2014/main" id="{D4A8CB2E-2B3E-4FD1-99CB-601D30E9B362}"/>
              </a:ext>
            </a:extLst>
          </p:cNvPr>
          <p:cNvSpPr/>
          <p:nvPr/>
        </p:nvSpPr>
        <p:spPr>
          <a:xfrm>
            <a:off x="4807246" y="1526572"/>
            <a:ext cx="4146254" cy="2123658"/>
          </a:xfrm>
          <a:prstGeom prst="rect">
            <a:avLst/>
          </a:prstGeom>
        </p:spPr>
        <p:txBody>
          <a:bodyPr wrap="square">
            <a:spAutoFit/>
          </a:bodyPr>
          <a:lstStyle/>
          <a:p>
            <a:r>
              <a:rPr lang="en-US" sz="1200" b="1" dirty="0">
                <a:solidFill>
                  <a:srgbClr val="0000FF"/>
                </a:solidFill>
                <a:latin typeface="+mn-lt"/>
              </a:rPr>
              <a:t>import</a:t>
            </a:r>
            <a:r>
              <a:rPr lang="en-US" sz="1200" dirty="0">
                <a:solidFill>
                  <a:srgbClr val="000000"/>
                </a:solidFill>
                <a:latin typeface="+mn-lt"/>
              </a:rPr>
              <a:t> re </a:t>
            </a:r>
          </a:p>
          <a:p>
            <a:endParaRPr lang="en-US" sz="1200" dirty="0">
              <a:solidFill>
                <a:srgbClr val="000000"/>
              </a:solidFill>
              <a:latin typeface="+mn-lt"/>
            </a:endParaRPr>
          </a:p>
          <a:p>
            <a:r>
              <a:rPr lang="en-US" sz="1200" dirty="0">
                <a:solidFill>
                  <a:srgbClr val="000000"/>
                </a:solidFill>
                <a:latin typeface="+mn-lt"/>
              </a:rPr>
              <a:t>line </a:t>
            </a:r>
            <a:r>
              <a:rPr lang="en-US" sz="1200" b="1" dirty="0">
                <a:solidFill>
                  <a:srgbClr val="000080"/>
                </a:solidFill>
                <a:latin typeface="+mn-lt"/>
              </a:rPr>
              <a:t>=</a:t>
            </a:r>
            <a:r>
              <a:rPr lang="en-US" sz="1200" dirty="0">
                <a:solidFill>
                  <a:srgbClr val="000000"/>
                </a:solidFill>
                <a:latin typeface="+mn-lt"/>
              </a:rPr>
              <a:t> </a:t>
            </a:r>
            <a:r>
              <a:rPr lang="en-US" sz="1200" dirty="0">
                <a:solidFill>
                  <a:srgbClr val="808080"/>
                </a:solidFill>
                <a:latin typeface="+mn-lt"/>
              </a:rPr>
              <a:t>"Cats are smarter than dogs"</a:t>
            </a:r>
            <a:r>
              <a:rPr lang="en-US" sz="1200" dirty="0">
                <a:solidFill>
                  <a:srgbClr val="000000"/>
                </a:solidFill>
                <a:latin typeface="+mn-lt"/>
              </a:rPr>
              <a:t> </a:t>
            </a:r>
          </a:p>
          <a:p>
            <a:r>
              <a:rPr lang="en-US" sz="1200" dirty="0">
                <a:solidFill>
                  <a:srgbClr val="000000"/>
                </a:solidFill>
                <a:latin typeface="+mn-lt"/>
              </a:rPr>
              <a:t>matchObj </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search</a:t>
            </a:r>
            <a:r>
              <a:rPr lang="en-US" sz="1200" b="1" dirty="0">
                <a:solidFill>
                  <a:srgbClr val="000080"/>
                </a:solidFill>
                <a:latin typeface="+mn-lt"/>
              </a:rPr>
              <a:t>(</a:t>
            </a:r>
            <a:r>
              <a:rPr lang="en-US" sz="1200" dirty="0">
                <a:solidFill>
                  <a:srgbClr val="808080"/>
                </a:solidFill>
                <a:latin typeface="+mn-lt"/>
              </a:rPr>
              <a:t>r'(.*) are (.*?) .*'</a:t>
            </a:r>
            <a:r>
              <a:rPr lang="en-US" sz="1200" b="1" dirty="0">
                <a:solidFill>
                  <a:srgbClr val="000080"/>
                </a:solidFill>
                <a:latin typeface="+mn-lt"/>
              </a:rPr>
              <a:t>,</a:t>
            </a:r>
            <a:r>
              <a:rPr lang="en-US" sz="1200" dirty="0">
                <a:solidFill>
                  <a:srgbClr val="000000"/>
                </a:solidFill>
                <a:latin typeface="+mn-lt"/>
              </a:rPr>
              <a:t> line</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M</a:t>
            </a:r>
            <a:r>
              <a:rPr lang="en-US" sz="1200" b="1" dirty="0">
                <a:solidFill>
                  <a:srgbClr val="000080"/>
                </a:solidFill>
                <a:latin typeface="+mn-lt"/>
              </a:rPr>
              <a:t>|</a:t>
            </a:r>
            <a:r>
              <a:rPr lang="en-US" sz="1200" dirty="0">
                <a:solidFill>
                  <a:srgbClr val="000000"/>
                </a:solidFill>
                <a:latin typeface="+mn-lt"/>
              </a:rPr>
              <a:t>re</a:t>
            </a:r>
            <a:r>
              <a:rPr lang="en-US" sz="1200" b="1" dirty="0">
                <a:solidFill>
                  <a:srgbClr val="000080"/>
                </a:solidFill>
                <a:latin typeface="+mn-lt"/>
              </a:rPr>
              <a:t>.</a:t>
            </a:r>
            <a:r>
              <a:rPr lang="en-US" sz="1200" dirty="0">
                <a:solidFill>
                  <a:srgbClr val="000000"/>
                </a:solidFill>
                <a:latin typeface="+mn-lt"/>
              </a:rPr>
              <a:t>I</a:t>
            </a:r>
            <a:r>
              <a:rPr lang="en-US" sz="1200" b="1" dirty="0">
                <a:solidFill>
                  <a:srgbClr val="000080"/>
                </a:solidFill>
                <a:latin typeface="+mn-lt"/>
              </a:rPr>
              <a:t>)</a:t>
            </a:r>
            <a:r>
              <a:rPr lang="en-US" sz="1200" dirty="0">
                <a:solidFill>
                  <a:srgbClr val="000000"/>
                </a:solidFill>
                <a:latin typeface="+mn-lt"/>
              </a:rPr>
              <a:t> </a:t>
            </a:r>
          </a:p>
          <a:p>
            <a:endParaRPr lang="en-US" sz="1200" b="1" dirty="0">
              <a:solidFill>
                <a:srgbClr val="000000"/>
              </a:solidFill>
              <a:latin typeface="+mn-lt"/>
            </a:endParaRPr>
          </a:p>
          <a:p>
            <a:r>
              <a:rPr lang="en-US" sz="1200" b="1" dirty="0">
                <a:solidFill>
                  <a:srgbClr val="0000FF"/>
                </a:solidFill>
                <a:latin typeface="+mn-lt"/>
              </a:rPr>
              <a:t>if</a:t>
            </a:r>
            <a:r>
              <a:rPr lang="en-US" sz="1200" dirty="0">
                <a:solidFill>
                  <a:srgbClr val="000000"/>
                </a:solidFill>
                <a:latin typeface="+mn-lt"/>
              </a:rPr>
              <a:t> matchObj</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f"matchObj.group(1):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1</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f"matchObj.group(2):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2</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FF"/>
                </a:solidFill>
                <a:latin typeface="+mn-lt"/>
              </a:rPr>
              <a:t>else</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"Nothing found!"</a:t>
            </a:r>
            <a:r>
              <a:rPr lang="en-US" sz="1200" b="1" dirty="0">
                <a:solidFill>
                  <a:srgbClr val="000080"/>
                </a:solidFill>
                <a:latin typeface="+mn-lt"/>
              </a:rPr>
              <a:t>)</a:t>
            </a:r>
            <a:r>
              <a:rPr lang="en-US" sz="1200" dirty="0">
                <a:solidFill>
                  <a:srgbClr val="000000"/>
                </a:solidFill>
                <a:latin typeface="+mn-lt"/>
              </a:rPr>
              <a:t> </a:t>
            </a:r>
            <a:endParaRPr lang="en-US" sz="1200" dirty="0">
              <a:effectLst/>
              <a:latin typeface="+mn-lt"/>
            </a:endParaRPr>
          </a:p>
        </p:txBody>
      </p:sp>
      <p:sp>
        <p:nvSpPr>
          <p:cNvPr id="12" name="Rectangle 8">
            <a:extLst>
              <a:ext uri="{FF2B5EF4-FFF2-40B4-BE49-F238E27FC236}">
                <a16:creationId xmlns:a16="http://schemas.microsoft.com/office/drawing/2014/main" id="{112DDB45-3D7B-40CF-9F3F-901B5E5BE193}"/>
              </a:ext>
            </a:extLst>
          </p:cNvPr>
          <p:cNvSpPr/>
          <p:nvPr/>
        </p:nvSpPr>
        <p:spPr>
          <a:xfrm>
            <a:off x="4807246" y="3751625"/>
            <a:ext cx="3251966" cy="646331"/>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matchObj.group(): Cats are smarter than dogs</a:t>
            </a:r>
          </a:p>
          <a:p>
            <a:r>
              <a:rPr lang="en-US" sz="1200" dirty="0">
                <a:latin typeface="+mn-lt"/>
                <a:cs typeface="Courier New" panose="02070309020205020404" pitchFamily="49" charset="0"/>
              </a:rPr>
              <a:t>matchObj.group(1): Cats</a:t>
            </a:r>
          </a:p>
          <a:p>
            <a:r>
              <a:rPr lang="en-US" sz="1200" dirty="0">
                <a:latin typeface="+mn-lt"/>
                <a:cs typeface="Courier New" panose="02070309020205020404" pitchFamily="49" charset="0"/>
              </a:rPr>
              <a:t>matchObj.group(2): smarter</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3878646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80DA0D3C-DD2D-436A-9882-6554B3EED865}"/>
              </a:ext>
            </a:extLst>
          </p:cNvPr>
          <p:cNvSpPr txBox="1">
            <a:spLocks noChangeArrowheads="1"/>
          </p:cNvSpPr>
          <p:nvPr/>
        </p:nvSpPr>
        <p:spPr bwMode="auto">
          <a:xfrm>
            <a:off x="445196" y="1924688"/>
            <a:ext cx="3874043" cy="265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2400" b="1" dirty="0">
                <a:solidFill>
                  <a:schemeClr val="accent1"/>
                </a:solidFill>
                <a:latin typeface="+mn-lt"/>
              </a:rPr>
              <a:t>В чем разница между </a:t>
            </a:r>
            <a:r>
              <a:rPr lang="en-US" sz="2400" b="1" dirty="0">
                <a:solidFill>
                  <a:schemeClr val="accent1"/>
                </a:solidFill>
                <a:latin typeface="+mn-lt"/>
              </a:rPr>
              <a:t>re.match </a:t>
            </a:r>
            <a:r>
              <a:rPr lang="ru-RU" sz="2400" b="1" dirty="0">
                <a:solidFill>
                  <a:schemeClr val="accent1"/>
                </a:solidFill>
                <a:latin typeface="+mn-lt"/>
              </a:rPr>
              <a:t>и </a:t>
            </a:r>
            <a:r>
              <a:rPr lang="en-US" sz="2400" b="1" dirty="0">
                <a:solidFill>
                  <a:schemeClr val="accent1"/>
                </a:solidFill>
                <a:latin typeface="+mn-lt"/>
              </a:rPr>
              <a:t>re.search</a:t>
            </a:r>
            <a:r>
              <a:rPr lang="ru-RU" sz="2400" b="1" dirty="0">
                <a:solidFill>
                  <a:schemeClr val="accent1"/>
                </a:solidFill>
                <a:latin typeface="+mn-lt"/>
              </a:rPr>
              <a:t>?</a:t>
            </a:r>
          </a:p>
          <a:p>
            <a:pPr eaLnBrk="1" hangingPunct="1">
              <a:spcBef>
                <a:spcPct val="0"/>
              </a:spcBef>
              <a:buNone/>
            </a:pPr>
            <a:endParaRPr lang="en-US" sz="1050" b="1" dirty="0">
              <a:solidFill>
                <a:schemeClr val="accent1"/>
              </a:solidFill>
              <a:latin typeface="+mn-lt"/>
            </a:endParaRPr>
          </a:p>
          <a:p>
            <a:pPr eaLnBrk="1" hangingPunct="1">
              <a:spcBef>
                <a:spcPct val="0"/>
              </a:spcBef>
              <a:buNone/>
            </a:pPr>
            <a:r>
              <a:rPr lang="en-US" sz="1800" dirty="0">
                <a:solidFill>
                  <a:schemeClr val="tx1"/>
                </a:solidFill>
                <a:latin typeface="+mn-lt"/>
              </a:rPr>
              <a:t>re.match </a:t>
            </a:r>
            <a:r>
              <a:rPr lang="ru-RU" sz="1800" dirty="0">
                <a:solidFill>
                  <a:schemeClr val="tx1"/>
                </a:solidFill>
                <a:latin typeface="+mn-lt"/>
              </a:rPr>
              <a:t>проверяет совпадение</a:t>
            </a:r>
            <a:r>
              <a:rPr lang="en-US" sz="1800" dirty="0">
                <a:solidFill>
                  <a:schemeClr val="tx1"/>
                </a:solidFill>
                <a:latin typeface="+mn-lt"/>
              </a:rPr>
              <a:t> </a:t>
            </a:r>
            <a:r>
              <a:rPr lang="ru-RU" sz="1800" dirty="0">
                <a:solidFill>
                  <a:schemeClr val="tx1"/>
                </a:solidFill>
                <a:latin typeface="+mn-lt"/>
              </a:rPr>
              <a:t>только от начала строки</a:t>
            </a:r>
            <a:r>
              <a:rPr lang="en-US" sz="1800" dirty="0">
                <a:solidFill>
                  <a:schemeClr val="tx1"/>
                </a:solidFill>
                <a:latin typeface="+mn-lt"/>
              </a:rPr>
              <a:t>, </a:t>
            </a:r>
            <a:r>
              <a:rPr lang="ru-RU" sz="1800" dirty="0">
                <a:solidFill>
                  <a:schemeClr val="tx1"/>
                </a:solidFill>
                <a:latin typeface="+mn-lt"/>
              </a:rPr>
              <a:t>тогда как </a:t>
            </a:r>
            <a:r>
              <a:rPr lang="en-US" sz="1800" dirty="0">
                <a:solidFill>
                  <a:schemeClr val="tx1"/>
                </a:solidFill>
                <a:latin typeface="+mn-lt"/>
              </a:rPr>
              <a:t>re.search </a:t>
            </a:r>
            <a:r>
              <a:rPr lang="ru-RU" sz="1800" dirty="0">
                <a:solidFill>
                  <a:schemeClr val="tx1"/>
                </a:solidFill>
                <a:latin typeface="+mn-lt"/>
              </a:rPr>
              <a:t>выполняет поиск совпадений по всей строке</a:t>
            </a:r>
            <a:r>
              <a:rPr lang="en-US" sz="1800" dirty="0">
                <a:solidFill>
                  <a:schemeClr val="tx1"/>
                </a:solidFill>
                <a:latin typeface="+mn-lt"/>
              </a:rPr>
              <a:t> (</a:t>
            </a:r>
            <a:r>
              <a:rPr lang="ru-RU" sz="1800" dirty="0">
                <a:solidFill>
                  <a:schemeClr val="tx1"/>
                </a:solidFill>
                <a:latin typeface="+mn-lt"/>
              </a:rPr>
              <a:t>как раз то, что</a:t>
            </a:r>
            <a:r>
              <a:rPr lang="en-US" sz="1800" dirty="0">
                <a:solidFill>
                  <a:schemeClr val="tx1"/>
                </a:solidFill>
                <a:latin typeface="+mn-lt"/>
              </a:rPr>
              <a:t> Perl </a:t>
            </a:r>
            <a:r>
              <a:rPr lang="ru-RU" sz="1800" dirty="0">
                <a:solidFill>
                  <a:schemeClr val="tx1"/>
                </a:solidFill>
                <a:latin typeface="+mn-lt"/>
              </a:rPr>
              <a:t>делает по умолчанию</a:t>
            </a:r>
            <a:r>
              <a:rPr lang="en-US" sz="1800" dirty="0">
                <a:solidFill>
                  <a:schemeClr val="tx1"/>
                </a:solidFill>
                <a:latin typeface="+mn-lt"/>
              </a:rPr>
              <a:t>)</a:t>
            </a:r>
          </a:p>
        </p:txBody>
      </p:sp>
      <p:grpSp>
        <p:nvGrpSpPr>
          <p:cNvPr id="2" name="Группа 1">
            <a:extLst>
              <a:ext uri="{FF2B5EF4-FFF2-40B4-BE49-F238E27FC236}">
                <a16:creationId xmlns:a16="http://schemas.microsoft.com/office/drawing/2014/main" id="{353B886B-5A45-443A-9AC5-3F98781606F3}"/>
              </a:ext>
            </a:extLst>
          </p:cNvPr>
          <p:cNvGrpSpPr/>
          <p:nvPr/>
        </p:nvGrpSpPr>
        <p:grpSpPr>
          <a:xfrm>
            <a:off x="4727691" y="1672632"/>
            <a:ext cx="4327838" cy="3158685"/>
            <a:chOff x="4727691" y="1680351"/>
            <a:chExt cx="4327838" cy="3158685"/>
          </a:xfrm>
        </p:grpSpPr>
        <p:sp>
          <p:nvSpPr>
            <p:cNvPr id="15" name="Rectangle 1">
              <a:extLst>
                <a:ext uri="{FF2B5EF4-FFF2-40B4-BE49-F238E27FC236}">
                  <a16:creationId xmlns:a16="http://schemas.microsoft.com/office/drawing/2014/main" id="{1BB5D22E-ECDB-4BF0-A286-A1B95A162C08}"/>
                </a:ext>
              </a:extLst>
            </p:cNvPr>
            <p:cNvSpPr/>
            <p:nvPr/>
          </p:nvSpPr>
          <p:spPr>
            <a:xfrm>
              <a:off x="4727691" y="1680351"/>
              <a:ext cx="4327838" cy="2631490"/>
            </a:xfrm>
            <a:prstGeom prst="rect">
              <a:avLst/>
            </a:prstGeom>
          </p:spPr>
          <p:txBody>
            <a:bodyPr wrap="square">
              <a:spAutoFit/>
            </a:bodyPr>
            <a:lstStyle/>
            <a:p>
              <a:r>
                <a:rPr lang="en-US" sz="1100" b="1" dirty="0">
                  <a:solidFill>
                    <a:srgbClr val="0000FF"/>
                  </a:solidFill>
                  <a:latin typeface="+mn-lt"/>
                </a:rPr>
                <a:t>import</a:t>
              </a:r>
              <a:r>
                <a:rPr lang="en-US" sz="1100" dirty="0">
                  <a:solidFill>
                    <a:srgbClr val="000000"/>
                  </a:solidFill>
                  <a:latin typeface="+mn-lt"/>
                </a:rPr>
                <a:t> re </a:t>
              </a:r>
            </a:p>
            <a:p>
              <a:endParaRPr lang="en-US" sz="1100" dirty="0">
                <a:solidFill>
                  <a:srgbClr val="000000"/>
                </a:solidFill>
                <a:latin typeface="+mn-lt"/>
              </a:endParaRPr>
            </a:p>
            <a:p>
              <a:r>
                <a:rPr lang="en-US" sz="1100" dirty="0">
                  <a:solidFill>
                    <a:srgbClr val="000000"/>
                  </a:solidFill>
                  <a:latin typeface="+mn-lt"/>
                </a:rPr>
                <a:t>line </a:t>
              </a:r>
              <a:r>
                <a:rPr lang="en-US" sz="1100" b="1" dirty="0">
                  <a:solidFill>
                    <a:srgbClr val="000080"/>
                  </a:solidFill>
                  <a:latin typeface="+mn-lt"/>
                </a:rPr>
                <a:t>=</a:t>
              </a:r>
              <a:r>
                <a:rPr lang="en-US" sz="1100" dirty="0">
                  <a:solidFill>
                    <a:srgbClr val="000000"/>
                  </a:solidFill>
                  <a:latin typeface="+mn-lt"/>
                </a:rPr>
                <a:t> </a:t>
              </a:r>
              <a:r>
                <a:rPr lang="en-US" sz="1100" dirty="0">
                  <a:solidFill>
                    <a:srgbClr val="808080"/>
                  </a:solidFill>
                  <a:latin typeface="+mn-lt"/>
                </a:rPr>
                <a:t>"Cats are smarter than dogs"</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matchObj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matchObj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f"match --&gt; matchObj.group(): </a:t>
              </a:r>
              <a:r>
                <a:rPr lang="en-US" sz="1100" b="1" dirty="0">
                  <a:solidFill>
                    <a:srgbClr val="000080"/>
                  </a:solidFill>
                  <a:latin typeface="+mn-lt"/>
                </a:rPr>
                <a:t>{</a:t>
              </a:r>
              <a:r>
                <a:rPr lang="en-US" sz="1100" dirty="0">
                  <a:solidFill>
                    <a:srgbClr val="000000"/>
                  </a:solidFill>
                  <a:latin typeface="+mn-lt"/>
                </a:rPr>
                <a:t>matchObj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 match!"</a:t>
              </a:r>
              <a:r>
                <a:rPr lang="en-US" sz="1100" b="1" dirty="0">
                  <a:solidFill>
                    <a:srgbClr val="000080"/>
                  </a:solidFill>
                  <a:latin typeface="+mn-lt"/>
                </a:rPr>
                <a:t>)</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searchObj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search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searchObj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f"search --&gt; searchObj.group(): </a:t>
              </a:r>
              <a:r>
                <a:rPr lang="en-US" sz="1100" b="1" dirty="0">
                  <a:solidFill>
                    <a:srgbClr val="000080"/>
                  </a:solidFill>
                  <a:latin typeface="+mn-lt"/>
                </a:rPr>
                <a:t>{</a:t>
              </a:r>
              <a:r>
                <a:rPr lang="en-US" sz="1100" dirty="0">
                  <a:solidFill>
                    <a:srgbClr val="000000"/>
                  </a:solidFill>
                  <a:latin typeface="+mn-lt"/>
                </a:rPr>
                <a:t>searchObj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"Nothing found!"</a:t>
              </a:r>
              <a:r>
                <a:rPr lang="en-US" sz="1100" b="1" dirty="0">
                  <a:solidFill>
                    <a:srgbClr val="000080"/>
                  </a:solidFill>
                  <a:latin typeface="+mn-lt"/>
                </a:rPr>
                <a:t>)</a:t>
              </a:r>
              <a:endParaRPr lang="en-US" sz="1100" dirty="0">
                <a:effectLst/>
                <a:latin typeface="+mn-lt"/>
              </a:endParaRPr>
            </a:p>
          </p:txBody>
        </p:sp>
        <p:sp>
          <p:nvSpPr>
            <p:cNvPr id="16" name="Rectangle 3">
              <a:extLst>
                <a:ext uri="{FF2B5EF4-FFF2-40B4-BE49-F238E27FC236}">
                  <a16:creationId xmlns:a16="http://schemas.microsoft.com/office/drawing/2014/main" id="{97E8979C-7640-4D0A-BB55-C00DF3F7D7CD}"/>
                </a:ext>
              </a:extLst>
            </p:cNvPr>
            <p:cNvSpPr/>
            <p:nvPr/>
          </p:nvSpPr>
          <p:spPr>
            <a:xfrm>
              <a:off x="4727691" y="4408149"/>
              <a:ext cx="3830446" cy="430887"/>
            </a:xfrm>
            <a:prstGeom prst="rect">
              <a:avLst/>
            </a:prstGeom>
            <a:ln>
              <a:solidFill>
                <a:srgbClr val="000000"/>
              </a:solidFill>
            </a:ln>
          </p:spPr>
          <p:txBody>
            <a:bodyPr wrap="square">
              <a:spAutoFit/>
            </a:bodyPr>
            <a:lstStyle/>
            <a:p>
              <a:r>
                <a:rPr lang="ru-RU" sz="1100" dirty="0">
                  <a:latin typeface="+mn-lt"/>
                  <a:cs typeface="Courier New" panose="02070309020205020404" pitchFamily="49" charset="0"/>
                </a:rPr>
                <a:t>No match!</a:t>
              </a:r>
            </a:p>
            <a:p>
              <a:r>
                <a:rPr lang="ru-RU" sz="1100" dirty="0">
                  <a:latin typeface="+mn-lt"/>
                  <a:cs typeface="Courier New" panose="02070309020205020404" pitchFamily="49" charset="0"/>
                </a:rPr>
                <a:t>search --&gt; searchObj.group(): dogs</a:t>
              </a:r>
            </a:p>
          </p:txBody>
        </p:sp>
      </p:grpSp>
    </p:spTree>
    <p:extLst>
      <p:ext uri="{BB962C8B-B14F-4D97-AF65-F5344CB8AC3E}">
        <p14:creationId xmlns:p14="http://schemas.microsoft.com/office/powerpoint/2010/main" val="2587790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445196" y="1820813"/>
            <a:ext cx="362128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re.sub(pattern, repl, string, count=0) </a:t>
            </a:r>
            <a:r>
              <a:rPr lang="en-US" sz="1800" dirty="0">
                <a:solidFill>
                  <a:schemeClr val="tx1"/>
                </a:solidFill>
                <a:latin typeface="+mn-lt"/>
              </a:rPr>
              <a:t>– </a:t>
            </a:r>
            <a:r>
              <a:rPr lang="ru-RU" sz="1800" dirty="0">
                <a:solidFill>
                  <a:schemeClr val="tx1"/>
                </a:solidFill>
                <a:latin typeface="+mn-lt"/>
              </a:rPr>
              <a:t>поиск и замена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Одна из самых важных функций</a:t>
            </a:r>
            <a:r>
              <a:rPr lang="en-US" sz="1800" dirty="0">
                <a:solidFill>
                  <a:schemeClr val="tx1"/>
                </a:solidFill>
                <a:latin typeface="+mn-lt"/>
              </a:rPr>
              <a:t> re </a:t>
            </a:r>
            <a:r>
              <a:rPr lang="ru-RU" sz="1800" dirty="0">
                <a:solidFill>
                  <a:schemeClr val="tx1"/>
                </a:solidFill>
                <a:latin typeface="+mn-lt"/>
              </a:rPr>
              <a:t>- это</a:t>
            </a:r>
            <a:r>
              <a:rPr lang="en-US" sz="1800" dirty="0">
                <a:solidFill>
                  <a:schemeClr val="tx1"/>
                </a:solidFill>
                <a:latin typeface="+mn-lt"/>
              </a:rPr>
              <a:t> sub.</a:t>
            </a:r>
            <a:r>
              <a:rPr lang="ru-RU" sz="1800" dirty="0">
                <a:solidFill>
                  <a:schemeClr val="tx1"/>
                </a:solidFill>
                <a:latin typeface="+mn-lt"/>
              </a:rPr>
              <a:t> Этот метод заменяет либо все включения шаблона</a:t>
            </a:r>
            <a:r>
              <a:rPr lang="en-US" sz="1800" dirty="0">
                <a:solidFill>
                  <a:schemeClr val="tx1"/>
                </a:solidFill>
                <a:latin typeface="+mn-lt"/>
              </a:rPr>
              <a:t> RE </a:t>
            </a:r>
            <a:r>
              <a:rPr lang="ru-RU" sz="1800" dirty="0">
                <a:solidFill>
                  <a:schemeClr val="tx1"/>
                </a:solidFill>
                <a:latin typeface="+mn-lt"/>
              </a:rPr>
              <a:t>в строке </a:t>
            </a:r>
            <a:r>
              <a:rPr lang="en-US" sz="1800" dirty="0">
                <a:solidFill>
                  <a:schemeClr val="tx1"/>
                </a:solidFill>
                <a:latin typeface="+mn-lt"/>
              </a:rPr>
              <a:t>string </a:t>
            </a:r>
            <a:r>
              <a:rPr lang="ru-RU" sz="1800" dirty="0">
                <a:solidFill>
                  <a:schemeClr val="tx1"/>
                </a:solidFill>
                <a:latin typeface="+mn-lt"/>
              </a:rPr>
              <a:t>строкой, либо не больше </a:t>
            </a:r>
            <a:r>
              <a:rPr lang="en-US" sz="1800" dirty="0">
                <a:solidFill>
                  <a:schemeClr val="tx1"/>
                </a:solidFill>
                <a:latin typeface="+mn-lt"/>
              </a:rPr>
              <a:t>max </a:t>
            </a:r>
            <a:r>
              <a:rPr lang="ru-RU" sz="1800" dirty="0">
                <a:solidFill>
                  <a:schemeClr val="tx1"/>
                </a:solidFill>
                <a:latin typeface="+mn-lt"/>
              </a:rPr>
              <a:t>первых включений</a:t>
            </a:r>
            <a:r>
              <a:rPr lang="en-US" sz="1800" dirty="0">
                <a:solidFill>
                  <a:schemeClr val="tx1"/>
                </a:solidFill>
                <a:latin typeface="+mn-lt"/>
              </a:rPr>
              <a:t>. </a:t>
            </a:r>
            <a:r>
              <a:rPr lang="ru-RU" sz="1800" dirty="0">
                <a:solidFill>
                  <a:schemeClr val="tx1"/>
                </a:solidFill>
                <a:latin typeface="+mn-lt"/>
              </a:rPr>
              <a:t>Функция возвращает новую строку</a:t>
            </a:r>
            <a:endParaRPr lang="en-US" sz="1800" dirty="0">
              <a:solidFill>
                <a:schemeClr val="tx1"/>
              </a:solidFill>
              <a:latin typeface="+mn-lt"/>
            </a:endParaRP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4764008" y="1535790"/>
            <a:ext cx="4112514" cy="3328293"/>
            <a:chOff x="4764009" y="1549421"/>
            <a:chExt cx="3568010" cy="3328293"/>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461665"/>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Phone number: 2004-959-559 </a:t>
              </a:r>
            </a:p>
            <a:p>
              <a:r>
                <a:rPr lang="en-US" sz="1200" dirty="0">
                  <a:latin typeface="+mn-lt"/>
                  <a:cs typeface="Courier New" panose="02070309020205020404" pitchFamily="49" charset="0"/>
                </a:rPr>
                <a:t>Phone number: 2004959559</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2462213"/>
            </a:xfrm>
            <a:prstGeom prst="rect">
              <a:avLst/>
            </a:prstGeom>
          </p:spPr>
          <p:txBody>
            <a:bodyPr wrap="square">
              <a:spAutoFit/>
            </a:bodyPr>
            <a:lstStyle/>
            <a:p>
              <a:r>
                <a:rPr lang="en-US" b="1" dirty="0">
                  <a:solidFill>
                    <a:srgbClr val="0000FF"/>
                  </a:solidFill>
                  <a:latin typeface="+mn-lt"/>
                </a:rPr>
                <a:t>import</a:t>
              </a:r>
              <a:r>
                <a:rPr lang="en-US" dirty="0">
                  <a:solidFill>
                    <a:srgbClr val="000000"/>
                  </a:solidFill>
                  <a:latin typeface="+mn-lt"/>
                </a:rPr>
                <a:t> re </a:t>
              </a:r>
            </a:p>
            <a:p>
              <a:endParaRPr lang="en-US" dirty="0">
                <a:solidFill>
                  <a:srgbClr val="000000"/>
                </a:solidFill>
                <a:latin typeface="+mn-lt"/>
              </a:endParaRPr>
            </a:p>
            <a:p>
              <a:r>
                <a:rPr lang="en-US" dirty="0">
                  <a:solidFill>
                    <a:srgbClr val="000000"/>
                  </a:solidFill>
                  <a:latin typeface="+mn-lt"/>
                </a:rPr>
                <a:t>phone </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"2004-959-559'' </a:t>
              </a:r>
              <a:r>
                <a:rPr lang="en-US" dirty="0">
                  <a:solidFill>
                    <a:srgbClr val="008000"/>
                  </a:solidFill>
                  <a:latin typeface="+mn-lt"/>
                </a:rPr>
                <a:t># This is Phone Number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комментариев</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всех символов кроме цифр</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r'\D'</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endParaRPr lang="en-US" dirty="0">
                <a:effectLst/>
                <a:latin typeface="+mn-lt"/>
              </a:endParaRPr>
            </a:p>
          </p:txBody>
        </p:sp>
      </p:grpSp>
    </p:spTree>
    <p:extLst>
      <p:ext uri="{BB962C8B-B14F-4D97-AF65-F5344CB8AC3E}">
        <p14:creationId xmlns:p14="http://schemas.microsoft.com/office/powerpoint/2010/main" val="3449710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3626499" y="1360449"/>
            <a:ext cx="5517502"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1" y="1360449"/>
            <a:ext cx="3626498"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199052" y="1820813"/>
            <a:ext cx="3215951"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re.findall(pattern, string, flags=0) </a:t>
            </a:r>
            <a:r>
              <a:rPr lang="en-US" sz="1800" dirty="0">
                <a:solidFill>
                  <a:schemeClr val="tx1"/>
                </a:solidFill>
                <a:latin typeface="+mn-lt"/>
              </a:rPr>
              <a:t>– </a:t>
            </a:r>
            <a:r>
              <a:rPr lang="ru-RU" sz="1800" dirty="0">
                <a:solidFill>
                  <a:schemeClr val="tx1"/>
                </a:solidFill>
                <a:latin typeface="+mn-lt"/>
              </a:rPr>
              <a:t>поиск по шаблону.</a:t>
            </a: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findall </a:t>
            </a:r>
            <a:r>
              <a:rPr lang="ru-RU" sz="1800" dirty="0">
                <a:solidFill>
                  <a:schemeClr val="tx1"/>
                </a:solidFill>
                <a:latin typeface="+mn-lt"/>
              </a:rPr>
              <a:t>ищет первое вхождение паттерна </a:t>
            </a:r>
            <a:r>
              <a:rPr lang="en-US" sz="1800" dirty="0">
                <a:solidFill>
                  <a:schemeClr val="tx1"/>
                </a:solidFill>
                <a:latin typeface="+mn-lt"/>
              </a:rPr>
              <a:t>pattern </a:t>
            </a:r>
            <a:r>
              <a:rPr lang="ru-RU" sz="1800" dirty="0">
                <a:solidFill>
                  <a:schemeClr val="tx1"/>
                </a:solidFill>
                <a:latin typeface="+mn-lt"/>
              </a:rPr>
              <a:t>внутри строки и возвращает список совпавших выражений.</a:t>
            </a: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3719804" y="1535790"/>
            <a:ext cx="5290382" cy="3328293"/>
            <a:chOff x="4764009" y="1549421"/>
            <a:chExt cx="3568010" cy="3328293"/>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461665"/>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Phone number: 2004-959-559 </a:t>
              </a:r>
            </a:p>
            <a:p>
              <a:r>
                <a:rPr lang="en-US" sz="1200" dirty="0">
                  <a:latin typeface="+mn-lt"/>
                  <a:cs typeface="Courier New" panose="02070309020205020404" pitchFamily="49" charset="0"/>
                </a:rPr>
                <a:t>Phone number: 2004959559</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line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"Cats are smarter than dogs"</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findall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 are (.*?)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line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p:txBody>
        </p:sp>
      </p:grpSp>
    </p:spTree>
    <p:extLst>
      <p:ext uri="{BB962C8B-B14F-4D97-AF65-F5344CB8AC3E}">
        <p14:creationId xmlns:p14="http://schemas.microsoft.com/office/powerpoint/2010/main" val="547163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6" y="132993"/>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A8184D05-E3B6-4261-8D4F-6B499C2D86ED}"/>
              </a:ext>
            </a:extLst>
          </p:cNvPr>
          <p:cNvSpPr txBox="1">
            <a:spLocks noChangeArrowheads="1"/>
          </p:cNvSpPr>
          <p:nvPr/>
        </p:nvSpPr>
        <p:spPr bwMode="auto">
          <a:xfrm>
            <a:off x="445196" y="967839"/>
            <a:ext cx="84963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b="1" dirty="0">
                <a:solidFill>
                  <a:schemeClr val="accent1"/>
                </a:solidFill>
                <a:latin typeface="+mn-lt"/>
              </a:rPr>
              <a:t>Решение для задачи с анализом лог-файла</a:t>
            </a:r>
            <a:r>
              <a:rPr lang="en-US" sz="1600" b="1" dirty="0">
                <a:solidFill>
                  <a:schemeClr val="accent1"/>
                </a:solidFill>
                <a:latin typeface="+mn-lt"/>
              </a:rPr>
              <a:t>:</a:t>
            </a:r>
          </a:p>
        </p:txBody>
      </p:sp>
      <p:sp>
        <p:nvSpPr>
          <p:cNvPr id="15" name="Rectangle 1">
            <a:extLst>
              <a:ext uri="{FF2B5EF4-FFF2-40B4-BE49-F238E27FC236}">
                <a16:creationId xmlns:a16="http://schemas.microsoft.com/office/drawing/2014/main" id="{2DD34707-9A83-4343-9FB9-39A4CB9E7DCF}"/>
              </a:ext>
            </a:extLst>
          </p:cNvPr>
          <p:cNvSpPr/>
          <p:nvPr/>
        </p:nvSpPr>
        <p:spPr>
          <a:xfrm>
            <a:off x="445196" y="1447093"/>
            <a:ext cx="5360872" cy="3477875"/>
          </a:xfrm>
          <a:prstGeom prst="rect">
            <a:avLst/>
          </a:prstGeom>
        </p:spPr>
        <p:txBody>
          <a:bodyPr wrap="square">
            <a:spAutoFit/>
          </a:bodyPr>
          <a:lstStyle/>
          <a:p>
            <a:r>
              <a:rPr lang="en-US" sz="1000" b="1" dirty="0">
                <a:solidFill>
                  <a:srgbClr val="0000FF"/>
                </a:solidFill>
                <a:latin typeface="+mn-lt"/>
              </a:rPr>
              <a:t>import</a:t>
            </a:r>
            <a:r>
              <a:rPr lang="en-US" sz="1000" dirty="0">
                <a:solidFill>
                  <a:srgbClr val="000000"/>
                </a:solidFill>
                <a:latin typeface="+mn-lt"/>
              </a:rPr>
              <a:t> os </a:t>
            </a:r>
          </a:p>
          <a:p>
            <a:r>
              <a:rPr lang="en-US" sz="1000" b="1" dirty="0">
                <a:solidFill>
                  <a:srgbClr val="0000FF"/>
                </a:solidFill>
                <a:latin typeface="+mn-lt"/>
              </a:rPr>
              <a:t>import</a:t>
            </a:r>
            <a:r>
              <a:rPr lang="en-US" sz="1000" dirty="0">
                <a:solidFill>
                  <a:srgbClr val="000000"/>
                </a:solidFill>
                <a:latin typeface="+mn-lt"/>
              </a:rPr>
              <a:t> datetime </a:t>
            </a:r>
          </a:p>
          <a:p>
            <a:r>
              <a:rPr lang="en-US" sz="1000" b="1" dirty="0">
                <a:solidFill>
                  <a:srgbClr val="0000FF"/>
                </a:solidFill>
                <a:latin typeface="+mn-lt"/>
              </a:rPr>
              <a:t>import</a:t>
            </a:r>
            <a:r>
              <a:rPr lang="en-US" sz="1000" dirty="0">
                <a:solidFill>
                  <a:srgbClr val="000000"/>
                </a:solidFill>
                <a:latin typeface="+mn-lt"/>
              </a:rPr>
              <a:t> re </a:t>
            </a:r>
          </a:p>
          <a:p>
            <a:endParaRPr lang="en-US" sz="1000" b="1" dirty="0">
              <a:solidFill>
                <a:srgbClr val="000000"/>
              </a:solidFill>
              <a:latin typeface="+mn-lt"/>
            </a:endParaRPr>
          </a:p>
          <a:p>
            <a:r>
              <a:rPr lang="en-US" sz="1000" b="1" dirty="0">
                <a:solidFill>
                  <a:srgbClr val="0000FF"/>
                </a:solidFill>
                <a:latin typeface="+mn-lt"/>
              </a:rPr>
              <a:t>if</a:t>
            </a:r>
            <a:r>
              <a:rPr lang="en-US" sz="1000" dirty="0">
                <a:solidFill>
                  <a:srgbClr val="000000"/>
                </a:solidFill>
                <a:latin typeface="+mn-lt"/>
              </a:rPr>
              <a:t> __name__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"__main__"</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filepath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"logfile"</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isfile</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with</a:t>
            </a:r>
            <a:r>
              <a:rPr lang="en-US" sz="1000" dirty="0">
                <a:solidFill>
                  <a:srgbClr val="000000"/>
                </a:solidFill>
                <a:latin typeface="+mn-lt"/>
              </a:rPr>
              <a:t> open</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as</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 </a:t>
            </a:r>
            <a:r>
              <a:rPr lang="en-US" sz="1000" b="1" dirty="0">
                <a:solidFill>
                  <a:srgbClr val="000080"/>
                </a:solidFill>
                <a:latin typeface="+mn-lt"/>
              </a:rPr>
              <a:t>=</a:t>
            </a:r>
            <a:r>
              <a:rPr lang="en-US" sz="1000" dirty="0">
                <a:solidFill>
                  <a:srgbClr val="000000"/>
                </a:solidFill>
                <a:latin typeface="+mn-lt"/>
              </a:rPr>
              <a:t> dict</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for</a:t>
            </a:r>
            <a:r>
              <a:rPr lang="en-US" sz="1000" dirty="0">
                <a:solidFill>
                  <a:srgbClr val="000000"/>
                </a:solidFill>
                <a:latin typeface="+mn-lt"/>
              </a:rPr>
              <a:t> line </a:t>
            </a:r>
            <a:r>
              <a:rPr lang="en-US" sz="1000" b="1" dirty="0">
                <a:solidFill>
                  <a:srgbClr val="0000FF"/>
                </a:solidFill>
                <a:latin typeface="+mn-lt"/>
              </a:rPr>
              <a:t>in</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result </a:t>
            </a:r>
            <a:r>
              <a:rPr lang="en-US" sz="1000" b="1" dirty="0">
                <a:solidFill>
                  <a:srgbClr val="000080"/>
                </a:solidFill>
                <a:latin typeface="+mn-lt"/>
              </a:rPr>
              <a:t>=</a:t>
            </a:r>
            <a:r>
              <a:rPr lang="en-US" sz="1000" dirty="0">
                <a:solidFill>
                  <a:srgbClr val="000000"/>
                </a:solidFill>
                <a:latin typeface="+mn-lt"/>
              </a:rPr>
              <a:t> re</a:t>
            </a:r>
            <a:r>
              <a:rPr lang="en-US" sz="1000" b="1" dirty="0">
                <a:solidFill>
                  <a:srgbClr val="000080"/>
                </a:solidFill>
                <a:latin typeface="+mn-lt"/>
              </a:rPr>
              <a:t>.</a:t>
            </a:r>
            <a:r>
              <a:rPr lang="en-US" sz="1000" dirty="0">
                <a:solidFill>
                  <a:srgbClr val="000000"/>
                </a:solidFill>
                <a:latin typeface="+mn-lt"/>
              </a:rPr>
              <a:t>search</a:t>
            </a:r>
            <a:r>
              <a:rPr lang="en-US" sz="1000" b="1" dirty="0">
                <a:solidFill>
                  <a:srgbClr val="000080"/>
                </a:solidFill>
                <a:latin typeface="+mn-lt"/>
              </a:rPr>
              <a:t>(</a:t>
            </a:r>
            <a:r>
              <a:rPr lang="en-US" sz="1000" dirty="0">
                <a:solidFill>
                  <a:srgbClr val="808080"/>
                </a:solidFill>
                <a:latin typeface="+mn-lt"/>
              </a:rPr>
              <a:t>r'(?P&lt;addr&gt;(.)*) - - \[(?P&lt;time&gt;(.)*)\]'</a:t>
            </a:r>
            <a:r>
              <a:rPr lang="en-US" sz="1000" b="1" dirty="0">
                <a:solidFill>
                  <a:srgbClr val="000080"/>
                </a:solidFill>
                <a:latin typeface="+mn-lt"/>
              </a:rPr>
              <a:t>,</a:t>
            </a:r>
            <a:r>
              <a:rPr lang="en-US" sz="1000" dirty="0">
                <a:solidFill>
                  <a:srgbClr val="000000"/>
                </a:solidFill>
                <a:latin typeface="+mn-lt"/>
              </a:rPr>
              <a:t> line</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grdict </a:t>
            </a:r>
            <a:r>
              <a:rPr lang="en-US" sz="1000" b="1" dirty="0">
                <a:solidFill>
                  <a:srgbClr val="000080"/>
                </a:solidFill>
                <a:latin typeface="+mn-lt"/>
              </a:rPr>
              <a:t>=</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groupdict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dt </a:t>
            </a:r>
            <a:r>
              <a:rPr lang="en-US" sz="1000" b="1" dirty="0">
                <a:solidFill>
                  <a:srgbClr val="000080"/>
                </a:solidFill>
                <a:latin typeface="+mn-lt"/>
              </a:rPr>
              <a:t>=</a:t>
            </a:r>
            <a:r>
              <a:rPr lang="en-US" sz="1000" dirty="0">
                <a:solidFill>
                  <a:srgbClr val="000000"/>
                </a:solidFill>
                <a:latin typeface="+mn-lt"/>
              </a:rPr>
              <a:t> datetime</a:t>
            </a:r>
            <a:r>
              <a:rPr lang="en-US" sz="1000" b="1" dirty="0">
                <a:solidFill>
                  <a:srgbClr val="000080"/>
                </a:solidFill>
                <a:latin typeface="+mn-lt"/>
              </a:rPr>
              <a:t>.</a:t>
            </a:r>
            <a:r>
              <a:rPr lang="en-US" sz="1000" dirty="0">
                <a:solidFill>
                  <a:srgbClr val="000000"/>
                </a:solidFill>
                <a:latin typeface="+mn-lt"/>
              </a:rPr>
              <a:t>datetime</a:t>
            </a:r>
            <a:r>
              <a:rPr lang="en-US" sz="1000" b="1" dirty="0">
                <a:solidFill>
                  <a:srgbClr val="000080"/>
                </a:solidFill>
                <a:latin typeface="+mn-lt"/>
              </a:rPr>
              <a:t>.</a:t>
            </a:r>
            <a:r>
              <a:rPr lang="en-US" sz="1000" dirty="0">
                <a:solidFill>
                  <a:srgbClr val="000000"/>
                </a:solidFill>
                <a:latin typeface="+mn-lt"/>
              </a:rPr>
              <a:t>strptime</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'time'</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"%d/%b/%Y:%H:%M:%S -%f"</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keys</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dirty="0">
                <a:solidFill>
                  <a:srgbClr val="FF0000"/>
                </a:solidFill>
                <a:latin typeface="+mn-lt"/>
              </a:rPr>
              <a:t>1</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dt </a:t>
            </a:r>
          </a:p>
          <a:p>
            <a:r>
              <a:rPr lang="en-US" sz="1000" b="1" dirty="0">
                <a:solidFill>
                  <a:srgbClr val="000000"/>
                </a:solidFill>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dt</a:t>
            </a:r>
            <a:r>
              <a:rPr lang="en-US" sz="1000" b="1" dirty="0">
                <a:solidFill>
                  <a:srgbClr val="000080"/>
                </a:solidFill>
                <a:latin typeface="+mn-lt"/>
              </a:rPr>
              <a:t>]</a:t>
            </a:r>
            <a:r>
              <a:rPr lang="en-US" sz="1000" dirty="0">
                <a:solidFill>
                  <a:srgbClr val="000000"/>
                </a:solidFill>
                <a:latin typeface="+mn-lt"/>
              </a:rPr>
              <a:t> </a:t>
            </a:r>
          </a:p>
          <a:p>
            <a:endParaRPr lang="en-US" sz="1000" dirty="0">
              <a:solidFill>
                <a:srgbClr val="000000"/>
              </a:solidFill>
              <a:latin typeface="+mn-lt"/>
            </a:endParaRPr>
          </a:p>
          <a:p>
            <a:r>
              <a:rPr lang="en-US" sz="1000" b="1" dirty="0">
                <a:solidFill>
                  <a:srgbClr val="0000FF"/>
                </a:solidFill>
                <a:latin typeface="+mn-lt"/>
              </a:rPr>
              <a:t>            for</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value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items</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print</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strftime</a:t>
            </a:r>
            <a:r>
              <a:rPr lang="en-US" sz="1000" b="1" dirty="0">
                <a:solidFill>
                  <a:srgbClr val="000080"/>
                </a:solidFill>
                <a:latin typeface="+mn-lt"/>
              </a:rPr>
              <a:t>(</a:t>
            </a:r>
            <a:r>
              <a:rPr lang="en-US" sz="1000" dirty="0">
                <a:solidFill>
                  <a:srgbClr val="808080"/>
                </a:solidFill>
                <a:latin typeface="+mn-lt"/>
              </a:rPr>
              <a:t>"%d/%b/%Y:%H:%M:%S"</a:t>
            </a:r>
            <a:r>
              <a:rPr lang="en-US" sz="1000" b="1" dirty="0">
                <a:solidFill>
                  <a:srgbClr val="000080"/>
                </a:solidFill>
                <a:latin typeface="+mn-lt"/>
              </a:rPr>
              <a:t>)</a:t>
            </a:r>
            <a:r>
              <a:rPr lang="en-US" sz="1000" dirty="0">
                <a:solidFill>
                  <a:srgbClr val="000000"/>
                </a:solidFill>
                <a:latin typeface="+mn-lt"/>
              </a:rPr>
              <a:t> </a:t>
            </a:r>
            <a:endParaRPr lang="en-US" sz="1000" dirty="0">
              <a:effectLst/>
              <a:latin typeface="+mn-lt"/>
            </a:endParaRPr>
          </a:p>
        </p:txBody>
      </p:sp>
    </p:spTree>
    <p:extLst>
      <p:ext uri="{BB962C8B-B14F-4D97-AF65-F5344CB8AC3E}">
        <p14:creationId xmlns:p14="http://schemas.microsoft.com/office/powerpoint/2010/main" val="3578216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4031873"/>
          </a:xfrm>
          <a:prstGeom prst="rect">
            <a:avLst/>
          </a:prstGeom>
          <a:noFill/>
        </p:spPr>
        <p:txBody>
          <a:bodyPr wrap="square">
            <a:spAutoFit/>
          </a:bodyPr>
          <a:lstStyle/>
          <a:p>
            <a:pPr algn="just">
              <a:spcBef>
                <a:spcPct val="0"/>
              </a:spcBef>
              <a:defRPr/>
            </a:pPr>
            <a:r>
              <a:rPr lang="ru-RU" sz="1600" dirty="0">
                <a:latin typeface="proxima nova rg"/>
              </a:rPr>
              <a:t>Декораторы позволяют применять однократно написанные полезные решения в различных функциях, не меняя код этих функций, но эффективно его дополняя. Некоторые из таких решений (кэширование результата, подстановка предопределенных аргументов, «прозрачное» декорирование, и т.д.) оказались настолько востребованными, что попали в стандартную библиотеку в модуль </a:t>
            </a:r>
            <a:r>
              <a:rPr lang="en-US" sz="1600" dirty="0">
                <a:latin typeface="proxima nova rg"/>
              </a:rPr>
              <a:t>functools.</a:t>
            </a:r>
            <a:endParaRPr lang="ru-RU" sz="1600" dirty="0">
              <a:latin typeface="proxima nova rg"/>
            </a:endParaRPr>
          </a:p>
          <a:p>
            <a:pPr algn="just">
              <a:spcBef>
                <a:spcPct val="0"/>
              </a:spcBef>
              <a:defRPr/>
            </a:pPr>
            <a:r>
              <a:rPr lang="en-US" sz="1600" b="1" dirty="0">
                <a:latin typeface="proxima nova rg"/>
              </a:rPr>
              <a:t>functools.lru_cache</a:t>
            </a:r>
            <a:r>
              <a:rPr lang="en-US" sz="1600" dirty="0">
                <a:latin typeface="proxima nova rg"/>
              </a:rPr>
              <a:t>(maxsize=128, typed=False) </a:t>
            </a:r>
            <a:r>
              <a:rPr lang="ru-RU" sz="1600" dirty="0">
                <a:latin typeface="proxima nova rg"/>
              </a:rPr>
              <a:t>позволяет сохранять до </a:t>
            </a:r>
            <a:r>
              <a:rPr lang="en-US" sz="1600" dirty="0">
                <a:latin typeface="proxima nova rg"/>
              </a:rPr>
              <a:t>maxsize </a:t>
            </a:r>
            <a:r>
              <a:rPr lang="ru-RU" sz="1600" dirty="0">
                <a:latin typeface="proxima nova rg"/>
              </a:rPr>
              <a:t>предыдущих результатов вызова функции, экономя время при повторных обращениях к этой функции с одними и теми же аргументами. Параметр </a:t>
            </a:r>
            <a:r>
              <a:rPr lang="en-US" sz="1600" dirty="0">
                <a:latin typeface="proxima nova rg"/>
              </a:rPr>
              <a:t>typed</a:t>
            </a:r>
            <a:r>
              <a:rPr lang="ru-RU" sz="1600" dirty="0">
                <a:latin typeface="proxima nova rg"/>
              </a:rPr>
              <a:t>, выставленный в </a:t>
            </a:r>
            <a:r>
              <a:rPr lang="en-US" sz="1600" dirty="0">
                <a:latin typeface="proxima nova rg"/>
              </a:rPr>
              <a:t>True, </a:t>
            </a:r>
            <a:r>
              <a:rPr lang="ru-RU" sz="1600" dirty="0">
                <a:latin typeface="proxima nova rg"/>
              </a:rPr>
              <a:t>позволяет учитывать тип аргументов при кэшировании результатов (например, вызов </a:t>
            </a:r>
            <a:r>
              <a:rPr lang="en-US" sz="1600" dirty="0">
                <a:latin typeface="proxima nova rg"/>
              </a:rPr>
              <a:t>f(</a:t>
            </a:r>
            <a:r>
              <a:rPr lang="ru-RU" sz="1600" dirty="0">
                <a:latin typeface="proxima nova rg"/>
              </a:rPr>
              <a:t>3</a:t>
            </a:r>
            <a:r>
              <a:rPr lang="en-US" sz="1600" dirty="0">
                <a:latin typeface="proxima nova rg"/>
              </a:rPr>
              <a:t>)</a:t>
            </a:r>
            <a:r>
              <a:rPr lang="ru-RU" sz="1600" dirty="0">
                <a:latin typeface="proxima nova rg"/>
              </a:rPr>
              <a:t> после </a:t>
            </a:r>
            <a:r>
              <a:rPr lang="en-US" sz="1600" dirty="0">
                <a:latin typeface="proxima nova rg"/>
              </a:rPr>
              <a:t>f(</a:t>
            </a:r>
            <a:r>
              <a:rPr lang="ru-RU" sz="1600" dirty="0">
                <a:latin typeface="proxima nova rg"/>
              </a:rPr>
              <a:t>3.0</a:t>
            </a:r>
            <a:r>
              <a:rPr lang="en-US" sz="1600" dirty="0">
                <a:latin typeface="proxima nova rg"/>
              </a:rPr>
              <a:t>) </a:t>
            </a:r>
            <a:r>
              <a:rPr lang="ru-RU" sz="1600" dirty="0">
                <a:latin typeface="proxima nova rg"/>
              </a:rPr>
              <a:t>не будет считаться повторным).</a:t>
            </a:r>
          </a:p>
          <a:p>
            <a:pPr algn="just">
              <a:spcBef>
                <a:spcPct val="0"/>
              </a:spcBef>
              <a:defRPr/>
            </a:pPr>
            <a:r>
              <a:rPr lang="ru-RU" sz="1600" dirty="0">
                <a:latin typeface="proxima nova rg"/>
              </a:rPr>
              <a:t>Если </a:t>
            </a:r>
            <a:r>
              <a:rPr lang="en-US" sz="1600" dirty="0">
                <a:latin typeface="proxima nova rg"/>
              </a:rPr>
              <a:t>maxsize=None</a:t>
            </a:r>
            <a:r>
              <a:rPr lang="ru-RU" sz="1600" dirty="0">
                <a:latin typeface="proxima nova rg"/>
              </a:rPr>
              <a:t>, </a:t>
            </a:r>
            <a:r>
              <a:rPr lang="en-US" sz="1600" dirty="0">
                <a:latin typeface="proxima nova rg"/>
              </a:rPr>
              <a:t>LRU</a:t>
            </a:r>
            <a:r>
              <a:rPr lang="ru-RU" sz="1600" dirty="0">
                <a:latin typeface="proxima nova rg"/>
              </a:rPr>
              <a:t> (т.е. </a:t>
            </a:r>
            <a:r>
              <a:rPr lang="en-US" sz="1600" dirty="0">
                <a:latin typeface="proxima nova rg"/>
              </a:rPr>
              <a:t>Least Recently Used</a:t>
            </a:r>
            <a:r>
              <a:rPr lang="ru-RU" sz="1600" dirty="0">
                <a:latin typeface="proxima nova rg"/>
              </a:rPr>
              <a:t>)</a:t>
            </a:r>
            <a:r>
              <a:rPr lang="en-US" sz="1600" dirty="0">
                <a:latin typeface="proxima nova rg"/>
              </a:rPr>
              <a:t> </a:t>
            </a:r>
            <a:r>
              <a:rPr lang="ru-RU" sz="1600" dirty="0">
                <a:latin typeface="proxima nova rg"/>
              </a:rPr>
              <a:t>механизм отключается, и кэш может расти безразмерно, что далеко не всегда является эффективным решением.</a:t>
            </a:r>
          </a:p>
          <a:p>
            <a:pPr algn="just">
              <a:spcBef>
                <a:spcPct val="0"/>
              </a:spcBef>
              <a:defRPr/>
            </a:pPr>
            <a:r>
              <a:rPr lang="ru-RU" sz="1600" dirty="0">
                <a:latin typeface="proxima nova rg"/>
              </a:rPr>
              <a:t>В </a:t>
            </a:r>
            <a:r>
              <a:rPr lang="en-US" sz="1600" dirty="0">
                <a:latin typeface="proxima nova rg"/>
              </a:rPr>
              <a:t>Python 3.8 </a:t>
            </a:r>
            <a:r>
              <a:rPr lang="ru-RU" sz="1600" dirty="0">
                <a:latin typeface="proxima nova rg"/>
              </a:rPr>
              <a:t>добавлена реализация </a:t>
            </a:r>
            <a:r>
              <a:rPr lang="en-US" sz="1600" b="1" dirty="0">
                <a:latin typeface="proxima nova rg"/>
              </a:rPr>
              <a:t>functools.lru_cache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позволяющая применять этот декоратор, не указывая </a:t>
            </a:r>
            <a:r>
              <a:rPr lang="en-US" sz="1600" dirty="0">
                <a:latin typeface="proxima nova rg"/>
              </a:rPr>
              <a:t>maxsize </a:t>
            </a:r>
            <a:r>
              <a:rPr lang="ru-RU" sz="1600" dirty="0">
                <a:latin typeface="proxima nova rg"/>
              </a:rPr>
              <a:t>(по умолчанию будет </a:t>
            </a:r>
            <a:r>
              <a:rPr lang="en-US" sz="1600" dirty="0">
                <a:latin typeface="proxima nova rg"/>
              </a:rPr>
              <a:t>maxsize</a:t>
            </a:r>
            <a:r>
              <a:rPr lang="ru-RU" sz="1600" dirty="0">
                <a:latin typeface="proxima nova rg"/>
              </a:rPr>
              <a:t>=128). </a:t>
            </a:r>
          </a:p>
          <a:p>
            <a:pPr algn="just">
              <a:spcBef>
                <a:spcPct val="0"/>
              </a:spcBef>
              <a:defRPr/>
            </a:pPr>
            <a:r>
              <a:rPr lang="ru-RU" sz="1600" dirty="0">
                <a:latin typeface="proxima nova rg"/>
              </a:rPr>
              <a:t>В </a:t>
            </a:r>
            <a:r>
              <a:rPr lang="en-US" sz="1600" dirty="0">
                <a:latin typeface="proxima nova rg"/>
              </a:rPr>
              <a:t>Python 3.</a:t>
            </a:r>
            <a:r>
              <a:rPr lang="ru-RU" sz="1600" dirty="0">
                <a:latin typeface="proxima nova rg"/>
              </a:rPr>
              <a:t>9</a:t>
            </a:r>
            <a:r>
              <a:rPr lang="en-US" sz="1600" dirty="0">
                <a:latin typeface="proxima nova rg"/>
              </a:rPr>
              <a:t> </a:t>
            </a:r>
            <a:r>
              <a:rPr lang="ru-RU" sz="1600" dirty="0">
                <a:latin typeface="proxima nova rg"/>
              </a:rPr>
              <a:t>добавлен декоратор </a:t>
            </a:r>
            <a:r>
              <a:rPr lang="en-US" sz="1600" b="1" dirty="0">
                <a:latin typeface="proxima nova rg"/>
              </a:rPr>
              <a:t>functools.cache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представляющий более компактную и быструю реализацию </a:t>
            </a:r>
            <a:r>
              <a:rPr lang="en-US" sz="1600" dirty="0">
                <a:latin typeface="proxima nova rg"/>
              </a:rPr>
              <a:t>functools.lru_cache</a:t>
            </a:r>
            <a:r>
              <a:rPr lang="ru-RU" sz="1600" dirty="0">
                <a:latin typeface="proxima nova rg"/>
              </a:rPr>
              <a:t> со значением </a:t>
            </a:r>
            <a:r>
              <a:rPr lang="en-US" sz="1600" dirty="0">
                <a:latin typeface="proxima nova rg"/>
              </a:rPr>
              <a:t>maxsize</a:t>
            </a:r>
            <a:r>
              <a:rPr lang="ru-RU" sz="1600" dirty="0">
                <a:latin typeface="proxima nova rg"/>
              </a:rPr>
              <a:t>=</a:t>
            </a:r>
            <a:r>
              <a:rPr lang="en-US" sz="1600" dirty="0">
                <a:latin typeface="proxima nova rg"/>
              </a:rPr>
              <a:t>None</a:t>
            </a:r>
            <a:r>
              <a:rPr lang="ru-RU" sz="1600" dirty="0">
                <a:latin typeface="proxima nova rg"/>
              </a:rPr>
              <a:t>. </a:t>
            </a:r>
          </a:p>
        </p:txBody>
      </p:sp>
    </p:spTree>
    <p:extLst>
      <p:ext uri="{BB962C8B-B14F-4D97-AF65-F5344CB8AC3E}">
        <p14:creationId xmlns:p14="http://schemas.microsoft.com/office/powerpoint/2010/main" val="3347670973"/>
      </p:ext>
    </p:extLst>
  </p:cSld>
  <p:clrMapOvr>
    <a:overrideClrMapping bg1="lt1" tx1="dk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functools</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3551853"/>
            <a:ext cx="9144000" cy="159164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056047"/>
            <a:ext cx="8424936" cy="2492990"/>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lang="ru-RU" sz="1200" dirty="0">
              <a:solidFill>
                <a:srgbClr val="000000"/>
              </a:solidFill>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FF8000"/>
                </a:solidFill>
                <a:effectLst/>
                <a:uLnTx/>
                <a:uFillTx/>
                <a:latin typeface="Courier New" panose="02070309020205020404" pitchFamily="49" charset="0"/>
                <a:ea typeface="+mn-ea"/>
                <a:cs typeface="Courier New" panose="02070309020205020404" pitchFamily="49" charset="0"/>
              </a:rPr>
              <a:t>@functools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lru_cache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maxsize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None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def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f'factorial called for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return</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else</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eaLnBrk="0" fontAlgn="base" hangingPunct="0">
              <a:spcBef>
                <a:spcPct val="0"/>
              </a:spcBef>
              <a:spcAft>
                <a:spcPct val="0"/>
              </a:spcAft>
              <a:buClrTx/>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первый вызов, результат еще не кэшировался</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3</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просто возвращается результат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factorial(2),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вычисленный ранее</a:t>
            </a: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3675419"/>
            <a:ext cx="8401082" cy="1384995"/>
          </a:xfrm>
          <a:prstGeom prst="rect">
            <a:avLst/>
          </a:prstGeom>
          <a:ln>
            <a:solidFill>
              <a:schemeClr val="bg1"/>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6</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2</a:t>
            </a:r>
            <a:endParaRPr kumimoji="0" lang="ru-RU" sz="1400" b="0" i="0" u="none" strike="noStrike" kern="1200" cap="none" spc="0" normalizeH="0" baseline="0" noProof="0" dirty="0">
              <a:ln>
                <a:noFill/>
              </a:ln>
              <a:solidFill>
                <a:srgbClr val="002060"/>
              </a:solidFill>
              <a:effectLst/>
              <a:uLnTx/>
              <a:uFillTx/>
              <a:latin typeface="+mn-lt"/>
              <a:ea typeface="+mn-ea"/>
              <a:cs typeface="+mn-cs"/>
            </a:endParaRPr>
          </a:p>
        </p:txBody>
      </p:sp>
    </p:spTree>
    <p:extLst>
      <p:ext uri="{BB962C8B-B14F-4D97-AF65-F5344CB8AC3E}">
        <p14:creationId xmlns:p14="http://schemas.microsoft.com/office/powerpoint/2010/main" val="1335716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3877985"/>
          </a:xfrm>
          <a:prstGeom prst="rect">
            <a:avLst/>
          </a:prstGeom>
          <a:noFill/>
        </p:spPr>
        <p:txBody>
          <a:bodyPr wrap="square">
            <a:spAutoFit/>
          </a:bodyPr>
          <a:lstStyle/>
          <a:p>
            <a:pPr algn="just">
              <a:spcBef>
                <a:spcPct val="0"/>
              </a:spcBef>
              <a:defRPr/>
            </a:pPr>
            <a:r>
              <a:rPr lang="ru-RU" sz="1600" b="1" dirty="0">
                <a:latin typeface="proxima nova rg"/>
              </a:rPr>
              <a:t>functools.partial</a:t>
            </a:r>
            <a:r>
              <a:rPr lang="ru-RU" sz="1600" dirty="0">
                <a:latin typeface="proxima nova rg"/>
              </a:rPr>
              <a:t>(func, *args, **keywords) позволяет менять сигнатуру функции, как бы «замораживая» часть ее аргументов на определенных значениях. </a:t>
            </a:r>
          </a:p>
          <a:p>
            <a:pPr algn="just">
              <a:spcBef>
                <a:spcPct val="0"/>
              </a:spcBef>
              <a:defRPr/>
            </a:pPr>
            <a:r>
              <a:rPr lang="ru-RU" sz="1600" dirty="0">
                <a:latin typeface="proxima nova rg"/>
              </a:rPr>
              <a:t>Подобного эффекта можно добиться и с использование lambda-функций. Однако, partial предоставляет больше вариантов передачи аргументов и работает чуть быстрее, т.к. lambda — это, по сути, новая функция, а partial — ссылка на уже имеющуюся.</a:t>
            </a:r>
          </a:p>
          <a:p>
            <a:pPr algn="just">
              <a:spcBef>
                <a:spcPct val="0"/>
              </a:spcBef>
              <a:defRPr/>
            </a:pPr>
            <a:r>
              <a:rPr lang="ru-RU" sz="1600" dirty="0">
                <a:latin typeface="proxima nova rg"/>
              </a:rPr>
              <a:t>Пример ниже демонстрирует создание новой функции на основе стандартной функции int путем фиксирования одного из ее аргументов на определенном значении. Таким образом, мы получаем  функцию для конвертирования двоичных чисел из строкового представления в числовое.</a:t>
            </a:r>
            <a:endParaRPr lang="en-US" sz="1600" dirty="0">
              <a:latin typeface="proxima nova rg"/>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partial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base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ru-RU"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__doc__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'Convert base 2 string to an int.'</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'10010'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4710918"/>
            <a:ext cx="3342668" cy="276999"/>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18</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859977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180392" y="1109932"/>
            <a:ext cx="8814318" cy="3816429"/>
          </a:xfrm>
          <a:prstGeom prst="rect">
            <a:avLst/>
          </a:prstGeom>
          <a:noFill/>
        </p:spPr>
        <p:txBody>
          <a:bodyPr wrap="square">
            <a:spAutoFit/>
          </a:bodyPr>
          <a:lstStyle/>
          <a:p>
            <a:pPr algn="just">
              <a:spcBef>
                <a:spcPct val="0"/>
              </a:spcBef>
              <a:defRPr/>
            </a:pPr>
            <a:r>
              <a:rPr lang="ru-RU" sz="1600" b="1" dirty="0">
                <a:latin typeface="proxima nova rg"/>
              </a:rPr>
              <a:t>functools.wraps</a:t>
            </a:r>
            <a:r>
              <a:rPr lang="ru-RU" sz="1600" dirty="0">
                <a:latin typeface="proxima nova rg"/>
              </a:rPr>
              <a:t>(wrapped, assigned=WRAPPER_ASSIGNMENTS, updated=WRAPPER_UPDATES) позволяет при декорировании менять имя, сигнатуру и специальные атрибуты функции-обертки на соответствующие атрибуты оборачиваемой функции. Это позволяет сделать декорирование прозрачней и избежать неожиданного проявления особенностей функции-обертки в поведении оборачиваемой функции.</a:t>
            </a:r>
          </a:p>
          <a:p>
            <a:pPr algn="just">
              <a:spcBef>
                <a:spcPct val="0"/>
              </a:spcBef>
              <a:defRPr/>
            </a:pPr>
            <a:r>
              <a:rPr lang="ru-RU" sz="1600" dirty="0">
                <a:latin typeface="proxima nova rg"/>
              </a:rPr>
              <a:t>Рассмотрим обертывание функции example в декоратор my_decorator: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lgn="just" fontAlgn="base">
              <a:spcBef>
                <a:spcPct val="0"/>
              </a:spcBef>
              <a:spcAft>
                <a:spcPct val="0"/>
              </a:spcAft>
              <a:buNone/>
              <a:defRPr/>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my_decorator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wrapper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'Calling decorated function'</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wrapper</a:t>
            </a:r>
            <a:endParaRPr lang="en-US" sz="1200" dirty="0">
              <a:effectLst/>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ru-RU" sz="1200" dirty="0">
              <a:solidFill>
                <a:srgbClr val="002060"/>
              </a:solidFill>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en-US" sz="1200" dirty="0">
              <a:solidFill>
                <a:srgbClr val="002060"/>
              </a:solidFill>
              <a:latin typeface="Courier New" panose="02070309020205020404" pitchFamily="49" charset="0"/>
              <a:cs typeface="Courier New" panose="02070309020205020404" pitchFamily="49" charset="0"/>
            </a:endParaRPr>
          </a:p>
          <a:p>
            <a:pPr>
              <a:buNone/>
            </a:pPr>
            <a:r>
              <a:rPr lang="en-US" sz="1200" i="1" dirty="0">
                <a:solidFill>
                  <a:srgbClr val="FF8000"/>
                </a:solidFill>
                <a:effectLst/>
                <a:latin typeface="Courier New" panose="02070309020205020404" pitchFamily="49" charset="0"/>
                <a:cs typeface="Courier New" panose="02070309020205020404" pitchFamily="49" charset="0"/>
              </a:rPr>
              <a:t>@my_decorator</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ru-RU" sz="1200" dirty="0">
                <a:solidFill>
                  <a:srgbClr val="000000"/>
                </a:solidFill>
                <a:latin typeface="Courier New" panose="02070309020205020404" pitchFamily="49" charset="0"/>
                <a:cs typeface="Courier New" panose="02070309020205020404" pitchFamily="49" charset="0"/>
              </a:rPr>
              <a:t>    </a:t>
            </a:r>
            <a:r>
              <a:rPr lang="en-US" sz="1200" dirty="0">
                <a:solidFill>
                  <a:srgbClr val="FF8000"/>
                </a:solidFill>
                <a:effectLst/>
                <a:latin typeface="Courier New" panose="02070309020205020404" pitchFamily="49" charset="0"/>
                <a:cs typeface="Courier New" panose="02070309020205020404" pitchFamily="49" charset="0"/>
              </a:rPr>
              <a:t>"""Docstring"""</a:t>
            </a:r>
            <a:endParaRPr lang="ru-RU" sz="1200" dirty="0">
              <a:solidFill>
                <a:srgbClr val="000000"/>
              </a:solidFill>
              <a:latin typeface="Courier New" panose="02070309020205020404" pitchFamily="49" charset="0"/>
              <a:cs typeface="Courier New" panose="02070309020205020404" pitchFamily="49" charset="0"/>
            </a:endParaRPr>
          </a:p>
          <a:p>
            <a:pPr>
              <a:buNone/>
            </a:pPr>
            <a:r>
              <a:rPr lang="ru-RU" sz="1200" b="1"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'Called example function'</a:t>
            </a:r>
            <a:r>
              <a:rPr lang="en-US" sz="1200" b="1" dirty="0">
                <a:solidFill>
                  <a:srgbClr val="000080"/>
                </a:solidFill>
                <a:effectLst/>
                <a:latin typeface="Courier New" panose="02070309020205020404" pitchFamily="49" charset="0"/>
                <a:cs typeface="Courier New" panose="02070309020205020404" pitchFamily="49" charset="0"/>
              </a:rPr>
              <a:t>)</a:t>
            </a:r>
            <a:endParaRPr lang="en-US"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67646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1846659"/>
          </a:xfrm>
          <a:prstGeom prst="rect">
            <a:avLst/>
          </a:prstGeom>
          <a:noFill/>
        </p:spPr>
        <p:txBody>
          <a:bodyPr wrap="square">
            <a:spAutoFit/>
          </a:bodyPr>
          <a:lstStyle/>
          <a:p>
            <a:pPr algn="just">
              <a:spcBef>
                <a:spcPct val="0"/>
              </a:spcBef>
              <a:defRPr/>
            </a:pPr>
            <a:r>
              <a:rPr lang="ru-RU" sz="1600" dirty="0">
                <a:latin typeface="proxima nova rg"/>
              </a:rPr>
              <a:t>Из-за того, что имя example теперь связано с новой функцией wrapper, при попытке обратить к атрибутам исходной функции через имя example, вместо них возвращаются атрибуты функции wrapper.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__name__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00"/>
              </a:solidFill>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__doc__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8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help</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en-US" sz="1200" dirty="0">
              <a:effectLst/>
              <a:latin typeface="Courier New" panose="02070309020205020404" pitchFamily="49" charset="0"/>
              <a:cs typeface="Courier New" panose="02070309020205020404" pitchFamily="49" charset="0"/>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2956591"/>
            <a:ext cx="4307198" cy="138499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wrapper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wrapper(*args, **kwds)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874698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830997"/>
          </a:xfrm>
          <a:prstGeom prst="rect">
            <a:avLst/>
          </a:prstGeom>
          <a:noFill/>
        </p:spPr>
        <p:txBody>
          <a:bodyPr wrap="square">
            <a:spAutoFit/>
          </a:bodyPr>
          <a:lstStyle/>
          <a:p>
            <a:pPr algn="just">
              <a:spcBef>
                <a:spcPct val="0"/>
              </a:spcBef>
              <a:defRPr/>
            </a:pPr>
            <a:r>
              <a:rPr lang="ru-RU" sz="1600" dirty="0">
                <a:latin typeface="proxima nova rg"/>
              </a:rPr>
              <a:t>functools.wraps (реализованная на основе functools.partial) переопределяет атрибуты обертки атрибутами исходной функции нивелируя побочные эффекты декорирования.</a:t>
            </a:r>
          </a:p>
        </p:txBody>
      </p:sp>
      <p:sp>
        <p:nvSpPr>
          <p:cNvPr id="5" name="Прямоугольник 4">
            <a:extLst>
              <a:ext uri="{FF2B5EF4-FFF2-40B4-BE49-F238E27FC236}">
                <a16:creationId xmlns:a16="http://schemas.microsoft.com/office/drawing/2014/main" id="{9A562794-654C-4E24-A547-F065DA8C244A}"/>
              </a:ext>
            </a:extLst>
          </p:cNvPr>
          <p:cNvSpPr/>
          <p:nvPr/>
        </p:nvSpPr>
        <p:spPr>
          <a:xfrm>
            <a:off x="4476751" y="2114780"/>
            <a:ext cx="4667249" cy="302872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6" name="Прямоугольник 5">
            <a:extLst>
              <a:ext uri="{FF2B5EF4-FFF2-40B4-BE49-F238E27FC236}">
                <a16:creationId xmlns:a16="http://schemas.microsoft.com/office/drawing/2014/main" id="{5BBBAC1E-C500-46D4-B365-71E0A44C8516}"/>
              </a:ext>
            </a:extLst>
          </p:cNvPr>
          <p:cNvSpPr/>
          <p:nvPr/>
        </p:nvSpPr>
        <p:spPr>
          <a:xfrm>
            <a:off x="-9333" y="2119646"/>
            <a:ext cx="4486084" cy="30238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Box 6">
            <a:extLst>
              <a:ext uri="{FF2B5EF4-FFF2-40B4-BE49-F238E27FC236}">
                <a16:creationId xmlns:a16="http://schemas.microsoft.com/office/drawing/2014/main" id="{79E91672-25FA-480B-9198-40651BBEE008}"/>
              </a:ext>
            </a:extLst>
          </p:cNvPr>
          <p:cNvSpPr txBox="1"/>
          <p:nvPr/>
        </p:nvSpPr>
        <p:spPr>
          <a:xfrm>
            <a:off x="234217" y="2404289"/>
            <a:ext cx="4172685" cy="2308324"/>
          </a:xfrm>
          <a:prstGeom prst="rect">
            <a:avLst/>
          </a:prstGeom>
          <a:noFill/>
        </p:spPr>
        <p:txBody>
          <a:bodyPr wrap="square">
            <a:spAutoFit/>
          </a:bodyPr>
          <a:lstStyle/>
          <a:p>
            <a:pPr>
              <a:buNone/>
            </a:pPr>
            <a:r>
              <a:rPr lang="en-US" sz="1200" b="1" dirty="0">
                <a:solidFill>
                  <a:srgbClr val="0000FF"/>
                </a:solidFill>
                <a:effectLst/>
                <a:latin typeface="Courier New" panose="02070309020205020404" pitchFamily="49" charset="0"/>
              </a:rPr>
              <a:t>from</a:t>
            </a:r>
            <a:r>
              <a:rPr lang="en-US" sz="1200" dirty="0">
                <a:solidFill>
                  <a:srgbClr val="000000"/>
                </a:solidFill>
                <a:effectLst/>
                <a:latin typeface="Courier New" panose="02070309020205020404" pitchFamily="49" charset="0"/>
              </a:rPr>
              <a:t> functools </a:t>
            </a: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wraps </a:t>
            </a:r>
            <a:endParaRPr lang="ru-RU" sz="1200" dirty="0">
              <a:solidFill>
                <a:srgbClr val="000000"/>
              </a:solidFill>
              <a:effectLst/>
              <a:latin typeface="Courier New" panose="02070309020205020404" pitchFamily="49" charset="0"/>
            </a:endParaRPr>
          </a:p>
          <a:p>
            <a:pPr>
              <a:buNone/>
            </a:pPr>
            <a:endParaRPr lang="ru-RU" sz="1200" b="1"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my_decorator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i="1" dirty="0">
                <a:solidFill>
                  <a:srgbClr val="000000"/>
                </a:solidFill>
                <a:latin typeface="Courier New" panose="02070309020205020404" pitchFamily="49" charset="0"/>
              </a:rPr>
              <a:t>    </a:t>
            </a:r>
            <a:r>
              <a:rPr lang="en-US" sz="1200" i="1" dirty="0">
                <a:solidFill>
                  <a:srgbClr val="FF8000"/>
                </a:solidFill>
                <a:effectLst/>
                <a:latin typeface="Courier New" panose="02070309020205020404" pitchFamily="49" charset="0"/>
              </a:rPr>
              <a:t>@wraps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wrapper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'Calling decorated function'</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FF"/>
                </a:solidFill>
                <a:effectLst/>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wrapper</a:t>
            </a:r>
            <a:endParaRPr lang="ru-RU" sz="1200" dirty="0">
              <a:solidFill>
                <a:srgbClr val="000000"/>
              </a:solidFill>
              <a:effectLst/>
              <a:latin typeface="Courier New" panose="02070309020205020404" pitchFamily="49" charset="0"/>
            </a:endParaRPr>
          </a:p>
          <a:p>
            <a:pPr>
              <a:buNone/>
            </a:pPr>
            <a:endParaRPr lang="ru-RU" sz="1200" b="1" dirty="0">
              <a:solidFill>
                <a:srgbClr val="0000FF"/>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__name__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__doc__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help</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endParaRPr lang="en-US" sz="1200" dirty="0">
              <a:effectLst/>
            </a:endParaRPr>
          </a:p>
        </p:txBody>
      </p:sp>
      <p:sp>
        <p:nvSpPr>
          <p:cNvPr id="8" name="Rectangle 3">
            <a:extLst>
              <a:ext uri="{FF2B5EF4-FFF2-40B4-BE49-F238E27FC236}">
                <a16:creationId xmlns:a16="http://schemas.microsoft.com/office/drawing/2014/main" id="{66D36F95-FF7D-4F4F-B41C-BEDCB05225AF}"/>
              </a:ext>
            </a:extLst>
          </p:cNvPr>
          <p:cNvSpPr/>
          <p:nvPr/>
        </p:nvSpPr>
        <p:spPr>
          <a:xfrm>
            <a:off x="4650451" y="2279242"/>
            <a:ext cx="4312383" cy="1569660"/>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Docstring</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example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Docstring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529444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62462"/>
            <a:ext cx="9144000" cy="5847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2DDC06D3-B044-4656-9134-F4DFCD79E13C}"/>
              </a:ext>
            </a:extLst>
          </p:cNvPr>
          <p:cNvSpPr txBox="1">
            <a:spLocks noChangeArrowheads="1"/>
          </p:cNvSpPr>
          <p:nvPr/>
        </p:nvSpPr>
        <p:spPr bwMode="auto">
          <a:xfrm>
            <a:off x="445194" y="1062462"/>
            <a:ext cx="855910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Для примитивной работы со временем, организации задержек (sleep) и расчета скорости выполнения кода существует библиотека </a:t>
            </a:r>
            <a:r>
              <a:rPr lang="ru-RU" sz="1600" b="1" dirty="0">
                <a:solidFill>
                  <a:schemeClr val="tx1"/>
                </a:solidFill>
                <a:latin typeface="+mn-lt"/>
              </a:rPr>
              <a:t>time</a:t>
            </a:r>
            <a:r>
              <a:rPr lang="ru-RU" sz="1600" dirty="0">
                <a:solidFill>
                  <a:schemeClr val="tx1"/>
                </a:solidFill>
                <a:latin typeface="+mn-lt"/>
              </a:rPr>
              <a:t>.</a:t>
            </a:r>
          </a:p>
        </p:txBody>
      </p:sp>
      <p:sp>
        <p:nvSpPr>
          <p:cNvPr id="10" name="Rectangle 1">
            <a:extLst>
              <a:ext uri="{FF2B5EF4-FFF2-40B4-BE49-F238E27FC236}">
                <a16:creationId xmlns:a16="http://schemas.microsoft.com/office/drawing/2014/main" id="{C6332D84-B33E-4725-8460-59CDF4FC83F3}"/>
              </a:ext>
            </a:extLst>
          </p:cNvPr>
          <p:cNvSpPr/>
          <p:nvPr/>
        </p:nvSpPr>
        <p:spPr>
          <a:xfrm>
            <a:off x="445194" y="1778484"/>
            <a:ext cx="8425755" cy="2400657"/>
          </a:xfrm>
          <a:prstGeom prst="rect">
            <a:avLst/>
          </a:prstGeom>
        </p:spPr>
        <p:txBody>
          <a:bodyPr wrap="square">
            <a:spAutoFit/>
          </a:bodyPr>
          <a:lstStyle/>
          <a:p>
            <a:pPr>
              <a:buNone/>
            </a:pPr>
            <a:r>
              <a:rPr lang="en-US" sz="1000" b="1" dirty="0">
                <a:solidFill>
                  <a:srgbClr val="0000FF"/>
                </a:solidFill>
                <a:effectLst/>
                <a:latin typeface="Courier New" panose="02070309020205020404" pitchFamily="49" charset="0"/>
                <a:cs typeface="Courier New" panose="02070309020205020404" pitchFamily="49" charset="0"/>
              </a:rPr>
              <a:t>import</a:t>
            </a:r>
            <a:r>
              <a:rPr lang="en-US" sz="1000" dirty="0">
                <a:solidFill>
                  <a:srgbClr val="000000"/>
                </a:solidFill>
                <a:effectLst/>
                <a:latin typeface="Courier New" panose="02070309020205020404" pitchFamily="49" charset="0"/>
                <a:cs typeface="Courier New" panose="02070309020205020404" pitchFamily="49" charset="0"/>
              </a:rPr>
              <a:t> time </a:t>
            </a: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f"time.timezone: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timezone</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текущий часовой пояс</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endParaRPr lang="en-US" sz="1000" dirty="0">
              <a:solidFill>
                <a:srgbClr val="000000"/>
              </a:solidFill>
              <a:latin typeface="Courier New" panose="02070309020205020404" pitchFamily="49" charset="0"/>
              <a:cs typeface="Courier New" panose="02070309020205020404" pitchFamily="49" charset="0"/>
            </a:endParaRPr>
          </a:p>
          <a:p>
            <a:pPr>
              <a:buNone/>
            </a:pPr>
            <a:r>
              <a:rPr lang="ru-RU" sz="1000" dirty="0">
                <a:solidFill>
                  <a:srgbClr val="008000"/>
                </a:solidFill>
                <a:effectLst/>
                <a:latin typeface="Courier New" panose="02070309020205020404" pitchFamily="49" charset="0"/>
                <a:cs typeface="Courier New" panose="02070309020205020404" pitchFamily="49" charset="0"/>
              </a:rPr>
              <a:t># вычисляем время выполнения кода с учетом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засекаем время</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f"perf_counter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вычисляем время выполнения кода текущего процесса без учета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8000"/>
              </a:solidFill>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f"process_time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endParaRPr lang="en-US" sz="1000" dirty="0">
              <a:effectLst/>
              <a:latin typeface="Courier New" panose="02070309020205020404" pitchFamily="49" charset="0"/>
              <a:cs typeface="Courier New" panose="02070309020205020404" pitchFamily="49" charset="0"/>
            </a:endParaRPr>
          </a:p>
        </p:txBody>
      </p:sp>
      <p:sp>
        <p:nvSpPr>
          <p:cNvPr id="6" name="Rectangle 3">
            <a:extLst>
              <a:ext uri="{FF2B5EF4-FFF2-40B4-BE49-F238E27FC236}">
                <a16:creationId xmlns:a16="http://schemas.microsoft.com/office/drawing/2014/main" id="{10134A02-C8BB-45A6-A56B-AF18C3B418DC}"/>
              </a:ext>
            </a:extLst>
          </p:cNvPr>
          <p:cNvSpPr/>
          <p:nvPr/>
        </p:nvSpPr>
        <p:spPr>
          <a:xfrm>
            <a:off x="510251" y="4312503"/>
            <a:ext cx="4312383" cy="707886"/>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 1625414300.9058113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time.timezone: -10800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perf_counter after sleep: 5.0063827</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process_time after sleep: 0.0</a:t>
            </a:r>
            <a:endParaRPr lang="ru-RU" sz="10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6223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TextBox 13">
            <a:extLst>
              <a:ext uri="{FF2B5EF4-FFF2-40B4-BE49-F238E27FC236}">
                <a16:creationId xmlns:a16="http://schemas.microsoft.com/office/drawing/2014/main" id="{D7BD58E7-4211-4CB2-B4BA-0DD9BE6BE10E}"/>
              </a:ext>
            </a:extLst>
          </p:cNvPr>
          <p:cNvSpPr txBox="1"/>
          <p:nvPr/>
        </p:nvSpPr>
        <p:spPr>
          <a:xfrm>
            <a:off x="445195" y="2702745"/>
            <a:ext cx="8096639" cy="2148665"/>
          </a:xfrm>
          <a:prstGeom prst="rect">
            <a:avLst/>
          </a:prstGeom>
          <a:noFill/>
        </p:spPr>
        <p:txBody>
          <a:bodyPr wrap="square">
            <a:spAutoFit/>
          </a:bodyPr>
          <a:lstStyle/>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argv — </a:t>
            </a:r>
            <a:r>
              <a:rPr lang="ru-RU" sz="1400" dirty="0">
                <a:solidFill>
                  <a:schemeClr val="tx1"/>
                </a:solidFill>
                <a:latin typeface="+mn-lt"/>
              </a:rPr>
              <a:t>аргументы командной строки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byteorder — </a:t>
            </a:r>
            <a:r>
              <a:rPr lang="ru-RU" sz="1400" dirty="0">
                <a:solidFill>
                  <a:schemeClr val="tx1"/>
                </a:solidFill>
                <a:latin typeface="+mn-lt"/>
              </a:rPr>
              <a:t>порядок байтов платформы, '</a:t>
            </a:r>
            <a:r>
              <a:rPr lang="en-US" sz="1400" dirty="0">
                <a:solidFill>
                  <a:schemeClr val="tx1"/>
                </a:solidFill>
                <a:latin typeface="+mn-lt"/>
              </a:rPr>
              <a:t>little' </a:t>
            </a:r>
            <a:r>
              <a:rPr lang="ru-RU" sz="1400" dirty="0">
                <a:solidFill>
                  <a:schemeClr val="tx1"/>
                </a:solidFill>
                <a:latin typeface="+mn-lt"/>
              </a:rPr>
              <a:t>или '</a:t>
            </a:r>
            <a:r>
              <a:rPr lang="en-US" sz="1400" dirty="0">
                <a:solidFill>
                  <a:schemeClr val="tx1"/>
                </a:solidFill>
                <a:latin typeface="+mn-lt"/>
              </a:rPr>
              <a:t>big‘</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flags — </a:t>
            </a:r>
            <a:r>
              <a:rPr lang="ru-RU" sz="1400" dirty="0">
                <a:solidFill>
                  <a:schemeClr val="tx1"/>
                </a:solidFill>
                <a:latin typeface="+mn-lt"/>
              </a:rPr>
              <a:t>объект, предоставляющий в виде атрибутов информацию о флагах, данных интерпретатору. Например, </a:t>
            </a:r>
            <a:r>
              <a:rPr lang="en-US" sz="1400" dirty="0">
                <a:solidFill>
                  <a:schemeClr val="tx1"/>
                </a:solidFill>
                <a:latin typeface="+mn-lt"/>
              </a:rPr>
              <a:t>sys.flags.debug </a:t>
            </a:r>
            <a:r>
              <a:rPr lang="ru-RU" sz="1400" dirty="0">
                <a:solidFill>
                  <a:schemeClr val="tx1"/>
                </a:solidFill>
                <a:latin typeface="+mn-lt"/>
              </a:rPr>
              <a:t>говорит о режиме отладки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maxsize — </a:t>
            </a:r>
            <a:r>
              <a:rPr lang="ru-RU" sz="1400" dirty="0">
                <a:solidFill>
                  <a:schemeClr val="tx1"/>
                </a:solidFill>
                <a:latin typeface="+mn-lt"/>
              </a:rPr>
              <a:t>максимальное целое</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platform — </a:t>
            </a:r>
            <a:r>
              <a:rPr lang="ru-RU" sz="1400" dirty="0">
                <a:solidFill>
                  <a:schemeClr val="tx1"/>
                </a:solidFill>
                <a:latin typeface="+mn-lt"/>
              </a:rPr>
              <a:t>идентификатор платформы, например, '</a:t>
            </a:r>
            <a:r>
              <a:rPr lang="en-US" sz="1400" dirty="0">
                <a:solidFill>
                  <a:schemeClr val="tx1"/>
                </a:solidFill>
                <a:latin typeface="+mn-lt"/>
              </a:rPr>
              <a:t>linux-i386‘</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stdin, stdout, stderr — </a:t>
            </a:r>
            <a:r>
              <a:rPr lang="ru-RU" sz="1400" dirty="0">
                <a:solidFill>
                  <a:schemeClr val="tx1"/>
                </a:solidFill>
                <a:latin typeface="+mn-lt"/>
              </a:rPr>
              <a:t>стандартные потоки ввода, вывода и вывода ошибок</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version — </a:t>
            </a:r>
            <a:r>
              <a:rPr lang="ru-RU" sz="1400" dirty="0">
                <a:solidFill>
                  <a:schemeClr val="tx1"/>
                </a:solidFill>
                <a:latin typeface="+mn-lt"/>
              </a:rPr>
              <a:t>строка с версией</a:t>
            </a:r>
            <a:endParaRPr lang="ru-RU" dirty="0">
              <a:solidFill>
                <a:schemeClr val="tx1"/>
              </a:solidFill>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384012"/>
            <a:ext cx="8029732"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этом модуле содержатся функции и константы для взаимодействия </a:t>
            </a:r>
          </a:p>
          <a:p>
            <a:pPr eaLnBrk="1" hangingPunct="1">
              <a:spcBef>
                <a:spcPct val="0"/>
              </a:spcBef>
              <a:buNone/>
            </a:pPr>
            <a:r>
              <a:rPr lang="ru-RU" sz="1600" dirty="0">
                <a:solidFill>
                  <a:schemeClr val="tx1"/>
                </a:solidFill>
                <a:latin typeface="+mn-lt"/>
              </a:rPr>
              <a:t>с интерпретатором Python</a:t>
            </a:r>
          </a:p>
        </p:txBody>
      </p:sp>
      <p:sp>
        <p:nvSpPr>
          <p:cNvPr id="11" name="TextBox 10">
            <a:extLst>
              <a:ext uri="{FF2B5EF4-FFF2-40B4-BE49-F238E27FC236}">
                <a16:creationId xmlns:a16="http://schemas.microsoft.com/office/drawing/2014/main" id="{6CC6E551-9481-44C7-9469-6FEBDE3C82DB}"/>
              </a:ext>
            </a:extLst>
          </p:cNvPr>
          <p:cNvSpPr txBox="1"/>
          <p:nvPr/>
        </p:nvSpPr>
        <p:spPr>
          <a:xfrm>
            <a:off x="445195" y="2351931"/>
            <a:ext cx="7211976" cy="307777"/>
          </a:xfrm>
          <a:prstGeom prst="rect">
            <a:avLst/>
          </a:prstGeom>
          <a:noFill/>
        </p:spPr>
        <p:txBody>
          <a:bodyPr wrap="square">
            <a:spAutoFit/>
          </a:bodyPr>
          <a:lstStyle/>
          <a:p>
            <a:r>
              <a:rPr lang="ru-RU" sz="1400" b="1" dirty="0">
                <a:solidFill>
                  <a:schemeClr val="accent1"/>
                </a:solidFill>
                <a:latin typeface="+mn-lt"/>
              </a:rPr>
              <a:t>В этом модуле, в том числе, содержатся следующие переменные</a:t>
            </a:r>
            <a:r>
              <a:rPr lang="en-US" sz="1400" b="1" dirty="0">
                <a:solidFill>
                  <a:schemeClr val="accent1"/>
                </a:solidFill>
                <a:latin typeface="+mn-lt"/>
              </a:rPr>
              <a:t>:</a:t>
            </a:r>
            <a:endParaRPr lang="ru-RU" b="1" dirty="0">
              <a:solidFill>
                <a:schemeClr val="accent1"/>
              </a:solidFill>
              <a:latin typeface="+mn-lt"/>
            </a:endParaRPr>
          </a:p>
        </p:txBody>
      </p:sp>
    </p:spTree>
    <p:extLst>
      <p:ext uri="{BB962C8B-B14F-4D97-AF65-F5344CB8AC3E}">
        <p14:creationId xmlns:p14="http://schemas.microsoft.com/office/powerpoint/2010/main" val="21628639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2432"/>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551D03A2-54B8-4E5B-88D0-37E77BFFB76D}"/>
              </a:ext>
            </a:extLst>
          </p:cNvPr>
          <p:cNvSpPr txBox="1">
            <a:spLocks noChangeArrowheads="1"/>
          </p:cNvSpPr>
          <p:nvPr/>
        </p:nvSpPr>
        <p:spPr bwMode="auto">
          <a:xfrm>
            <a:off x="445195" y="1217895"/>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Одно из самых частых применений </a:t>
            </a:r>
            <a:r>
              <a:rPr lang="en-US" dirty="0">
                <a:solidFill>
                  <a:schemeClr val="tx1"/>
                </a:solidFill>
                <a:latin typeface="+mn-lt"/>
              </a:rPr>
              <a:t>sys – </a:t>
            </a:r>
            <a:r>
              <a:rPr lang="ru-RU" dirty="0">
                <a:solidFill>
                  <a:schemeClr val="tx1"/>
                </a:solidFill>
                <a:latin typeface="+mn-lt"/>
              </a:rPr>
              <a:t>чтение параметров переданных в программу при ее запуске</a:t>
            </a:r>
            <a:r>
              <a:rPr lang="en-US" dirty="0">
                <a:solidFill>
                  <a:schemeClr val="tx1"/>
                </a:solidFill>
                <a:latin typeface="+mn-lt"/>
              </a:rPr>
              <a:t>.</a:t>
            </a:r>
            <a:endParaRPr lang="ru-RU" dirty="0">
              <a:solidFill>
                <a:schemeClr val="tx1"/>
              </a:solidFill>
              <a:latin typeface="+mn-lt"/>
            </a:endParaRPr>
          </a:p>
        </p:txBody>
      </p:sp>
      <p:sp>
        <p:nvSpPr>
          <p:cNvPr id="10" name="Rectangle 1">
            <a:extLst>
              <a:ext uri="{FF2B5EF4-FFF2-40B4-BE49-F238E27FC236}">
                <a16:creationId xmlns:a16="http://schemas.microsoft.com/office/drawing/2014/main" id="{4A2C2ABE-444A-441B-A171-4435AE3444F3}"/>
              </a:ext>
            </a:extLst>
          </p:cNvPr>
          <p:cNvSpPr/>
          <p:nvPr/>
        </p:nvSpPr>
        <p:spPr>
          <a:xfrm>
            <a:off x="445195" y="1912042"/>
            <a:ext cx="6092454" cy="1631216"/>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sys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f'Program started with arguments: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__name__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'__main__'</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'This is main 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sys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argv</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p:txBody>
      </p:sp>
      <p:sp>
        <p:nvSpPr>
          <p:cNvPr id="6" name="Rectangle 3">
            <a:extLst>
              <a:ext uri="{FF2B5EF4-FFF2-40B4-BE49-F238E27FC236}">
                <a16:creationId xmlns:a16="http://schemas.microsoft.com/office/drawing/2014/main" id="{D1D00D11-80C2-4514-B621-E48698341132}"/>
              </a:ext>
            </a:extLst>
          </p:cNvPr>
          <p:cNvSpPr/>
          <p:nvPr/>
        </p:nvSpPr>
        <p:spPr>
          <a:xfrm>
            <a:off x="445195" y="3715527"/>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python3 test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py first second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This is main program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Program started with arguments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'test.py'</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'first'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'second'</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0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7" name="Прямоугольник 6">
            <a:extLst>
              <a:ext uri="{FF2B5EF4-FFF2-40B4-BE49-F238E27FC236}">
                <a16:creationId xmlns:a16="http://schemas.microsoft.com/office/drawing/2014/main" id="{6A6211B3-CBBE-4176-9BBC-2C9C134E5676}"/>
              </a:ext>
            </a:extLst>
          </p:cNvPr>
          <p:cNvSpPr/>
          <p:nvPr/>
        </p:nvSpPr>
        <p:spPr>
          <a:xfrm>
            <a:off x="0" y="4449353"/>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 Box 10">
            <a:extLst>
              <a:ext uri="{FF2B5EF4-FFF2-40B4-BE49-F238E27FC236}">
                <a16:creationId xmlns:a16="http://schemas.microsoft.com/office/drawing/2014/main" id="{BE86E9DA-6A78-4F28-B796-84D5CD912051}"/>
              </a:ext>
            </a:extLst>
          </p:cNvPr>
          <p:cNvSpPr txBox="1">
            <a:spLocks noChangeArrowheads="1"/>
          </p:cNvSpPr>
          <p:nvPr/>
        </p:nvSpPr>
        <p:spPr bwMode="auto">
          <a:xfrm>
            <a:off x="445195" y="4534816"/>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Также часто используется sys.path для указания специфических путей для поиска импортируемых библиотек</a:t>
            </a:r>
            <a:r>
              <a:rPr lang="en-US" dirty="0">
                <a:solidFill>
                  <a:schemeClr val="tx1"/>
                </a:solidFill>
                <a:latin typeface="+mn-lt"/>
              </a:rPr>
              <a:t>: </a:t>
            </a:r>
            <a:r>
              <a:rPr lang="ru-RU" b="1" dirty="0">
                <a:solidFill>
                  <a:schemeClr val="tx1"/>
                </a:solidFill>
                <a:latin typeface="+mn-lt"/>
              </a:rPr>
              <a:t>sys.path.append</a:t>
            </a:r>
            <a:r>
              <a:rPr lang="ru-RU" dirty="0">
                <a:solidFill>
                  <a:schemeClr val="tx1"/>
                </a:solidFill>
                <a:latin typeface="+mn-lt"/>
              </a:rPr>
              <a:t>('../some_nested_directory')</a:t>
            </a:r>
          </a:p>
        </p:txBody>
      </p:sp>
    </p:spTree>
    <p:extLst>
      <p:ext uri="{BB962C8B-B14F-4D97-AF65-F5344CB8AC3E}">
        <p14:creationId xmlns:p14="http://schemas.microsoft.com/office/powerpoint/2010/main" val="1592699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Rectangle 1">
            <a:extLst>
              <a:ext uri="{FF2B5EF4-FFF2-40B4-BE49-F238E27FC236}">
                <a16:creationId xmlns:a16="http://schemas.microsoft.com/office/drawing/2014/main" id="{0D511B1B-0756-4001-871F-607119448E74}"/>
              </a:ext>
            </a:extLst>
          </p:cNvPr>
          <p:cNvSpPr/>
          <p:nvPr/>
        </p:nvSpPr>
        <p:spPr>
          <a:xfrm>
            <a:off x="445195" y="2444218"/>
            <a:ext cx="8712324" cy="2554545"/>
          </a:xfrm>
          <a:prstGeom prst="rect">
            <a:avLst/>
          </a:prstGeom>
        </p:spPr>
        <p:txBody>
          <a:bodyPr wrap="square">
            <a:spAutoFit/>
          </a:bodyPr>
          <a:lstStyle/>
          <a:p>
            <a:r>
              <a:rPr lang="en-US" sz="1000" b="1" dirty="0">
                <a:solidFill>
                  <a:srgbClr val="000080"/>
                </a:solidFill>
                <a:latin typeface="+mn-lt"/>
              </a:rPr>
              <a:t>&gt;&gt;&gt;</a:t>
            </a:r>
            <a:r>
              <a:rPr lang="en-US" sz="1000" dirty="0">
                <a:solidFill>
                  <a:srgbClr val="000000"/>
                </a:solidFill>
                <a:latin typeface="+mn-lt"/>
              </a:rPr>
              <a:t> </a:t>
            </a:r>
            <a:r>
              <a:rPr lang="en-US" sz="1000" b="1" dirty="0">
                <a:solidFill>
                  <a:srgbClr val="0000FF"/>
                </a:solidFill>
                <a:latin typeface="+mn-lt"/>
              </a:rPr>
              <a:t>import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endParaRPr lang="en-US" sz="1000" dirty="0">
              <a:latin typeface="+mn-lt"/>
            </a:endParaRP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join</a:t>
            </a:r>
            <a:r>
              <a:rPr lang="en-US" sz="1000" b="1" dirty="0">
                <a:solidFill>
                  <a:srgbClr val="000080"/>
                </a:solidFill>
                <a:latin typeface="+mn-lt"/>
              </a:rPr>
              <a:t>(</a:t>
            </a:r>
            <a:r>
              <a:rPr lang="en-US" sz="1000" dirty="0">
                <a:solidFill>
                  <a:srgbClr val="808080"/>
                </a:solidFill>
                <a:latin typeface="+mn-lt"/>
              </a:rPr>
              <a:t>"/tmp/1"</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конкатенация путей</a:t>
            </a:r>
            <a:r>
              <a:rPr lang="ru-RU" sz="1000" dirty="0">
                <a:solidFill>
                  <a:srgbClr val="000000"/>
                </a:solidFill>
                <a:latin typeface="+mn-lt"/>
              </a:rPr>
              <a:t> </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dirname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каталога по заданному полному пути</a:t>
            </a:r>
          </a:p>
          <a:p>
            <a:r>
              <a:rPr lang="ru-RU" sz="1000" dirty="0">
                <a:solidFill>
                  <a:srgbClr val="808080"/>
                </a:solidFill>
                <a:latin typeface="+mn-lt"/>
              </a:rPr>
              <a:t>'/</a:t>
            </a:r>
            <a:r>
              <a:rPr lang="en-US" sz="1000" dirty="0">
                <a:solidFill>
                  <a:srgbClr val="808080"/>
                </a:solidFill>
                <a:latin typeface="+mn-lt"/>
              </a:rPr>
              <a:t>tmp/1'</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basename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файла по заданному полному пути</a:t>
            </a:r>
          </a:p>
          <a:p>
            <a:r>
              <a:rPr lang="ru-RU" sz="1000" dirty="0">
                <a:solidFill>
                  <a:srgbClr val="808080"/>
                </a:solidFill>
                <a:latin typeface="+mn-lt"/>
              </a:rPr>
              <a:t>'</a:t>
            </a:r>
            <a:r>
              <a:rPr lang="en-US" sz="1000" dirty="0">
                <a:solidFill>
                  <a:srgbClr val="808080"/>
                </a:solidFill>
                <a:latin typeface="+mn-lt"/>
              </a:rPr>
              <a:t>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normpath</a:t>
            </a:r>
            <a:r>
              <a:rPr lang="en-US" sz="1000" b="1" dirty="0">
                <a:solidFill>
                  <a:srgbClr val="000080"/>
                </a:solidFill>
                <a:latin typeface="+mn-lt"/>
              </a:rPr>
              <a:t>(</a:t>
            </a:r>
            <a:r>
              <a:rPr lang="en-US" sz="1000" dirty="0">
                <a:solidFill>
                  <a:srgbClr val="808080"/>
                </a:solidFill>
                <a:latin typeface="+mn-lt"/>
              </a:rPr>
              <a:t>"/tmp//2/../1/temp.file"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нормализация пути</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exists</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существует ли путь?</a:t>
            </a:r>
            <a:r>
              <a:rPr lang="ru-RU" sz="1000" dirty="0">
                <a:solidFill>
                  <a:srgbClr val="000000"/>
                </a:solidFill>
                <a:latin typeface="+mn-lt"/>
              </a:rPr>
              <a:t> </a:t>
            </a:r>
          </a:p>
          <a:p>
            <a:r>
              <a:rPr lang="en-US" sz="1000" b="1" dirty="0">
                <a:solidFill>
                  <a:srgbClr val="0000FF"/>
                </a:solidFill>
                <a:latin typeface="+mn-lt"/>
              </a:rPr>
              <a:t>False</a:t>
            </a:r>
            <a:endParaRPr lang="en-US" sz="1000" dirty="0">
              <a:effectLst/>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os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01472"/>
            <a:ext cx="9144000" cy="11522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39010"/>
            <a:ext cx="8133810"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предоставляет функции переносимого интерфейса к основным сервисам операционной системы, определяет некоторые переменные (например, environ - для доступа </a:t>
            </a:r>
            <a:endParaRPr lang="en-US" dirty="0">
              <a:solidFill>
                <a:schemeClr val="tx1"/>
              </a:solidFill>
              <a:latin typeface="+mn-lt"/>
            </a:endParaRPr>
          </a:p>
          <a:p>
            <a:pPr eaLnBrk="1" hangingPunct="1">
              <a:spcBef>
                <a:spcPct val="0"/>
              </a:spcBef>
              <a:buNone/>
            </a:pPr>
            <a:r>
              <a:rPr lang="ru-RU" dirty="0">
                <a:solidFill>
                  <a:schemeClr val="tx1"/>
                </a:solidFill>
                <a:latin typeface="+mn-lt"/>
              </a:rPr>
              <a:t>к переменным окружения)</a:t>
            </a:r>
            <a:r>
              <a:rPr lang="en-US" dirty="0">
                <a:solidFill>
                  <a:schemeClr val="tx1"/>
                </a:solidFill>
                <a:latin typeface="+mn-lt"/>
              </a:rPr>
              <a:t>.</a:t>
            </a:r>
            <a:endParaRPr lang="ru-RU" dirty="0">
              <a:solidFill>
                <a:schemeClr val="tx1"/>
              </a:solidFill>
              <a:latin typeface="+mn-lt"/>
            </a:endParaRPr>
          </a:p>
          <a:p>
            <a:pPr eaLnBrk="1" hangingPunct="1">
              <a:spcBef>
                <a:spcPct val="0"/>
              </a:spcBef>
              <a:buNone/>
            </a:pPr>
            <a:endParaRPr lang="en-US" sz="600" dirty="0">
              <a:solidFill>
                <a:schemeClr val="tx1"/>
              </a:solidFill>
              <a:latin typeface="+mn-lt"/>
            </a:endParaRPr>
          </a:p>
          <a:p>
            <a:pPr eaLnBrk="1" hangingPunct="1">
              <a:spcBef>
                <a:spcPct val="0"/>
              </a:spcBef>
              <a:buNone/>
            </a:pPr>
            <a:r>
              <a:rPr lang="ru-RU" dirty="0">
                <a:solidFill>
                  <a:schemeClr val="tx1"/>
                </a:solidFill>
                <a:latin typeface="+mn-lt"/>
              </a:rPr>
              <a:t>Модуль os.path служит для манипуляций с путями к файлам в независимом от платформы виде</a:t>
            </a:r>
            <a:r>
              <a:rPr lang="en-US" dirty="0">
                <a:solidFill>
                  <a:schemeClr val="tx1"/>
                </a:solidFill>
                <a:latin typeface="+mn-lt"/>
              </a:rPr>
              <a:t>.</a:t>
            </a:r>
            <a:endParaRPr lang="ru-RU" dirty="0">
              <a:solidFill>
                <a:schemeClr val="tx1"/>
              </a:solidFill>
              <a:latin typeface="+mn-lt"/>
            </a:endParaRPr>
          </a:p>
        </p:txBody>
      </p:sp>
    </p:spTree>
    <p:extLst>
      <p:ext uri="{BB962C8B-B14F-4D97-AF65-F5344CB8AC3E}">
        <p14:creationId xmlns:p14="http://schemas.microsoft.com/office/powerpoint/2010/main" val="2678052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Rectangle 1">
            <a:extLst>
              <a:ext uri="{FF2B5EF4-FFF2-40B4-BE49-F238E27FC236}">
                <a16:creationId xmlns:a16="http://schemas.microsoft.com/office/drawing/2014/main" id="{AB3C8D0F-345D-403B-938A-69DE9A05CF62}"/>
              </a:ext>
            </a:extLst>
          </p:cNvPr>
          <p:cNvSpPr/>
          <p:nvPr/>
        </p:nvSpPr>
        <p:spPr>
          <a:xfrm>
            <a:off x="445195" y="2553001"/>
            <a:ext cx="8424936" cy="2308324"/>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from</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subprocess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PIPE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'/tmp'</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stdout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stderr</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wait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дождаться выполнения</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communicate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получить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tuple('stdout', 'stderr')</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returncode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'result:'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subprocess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3"/>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2199"/>
            <a:ext cx="813381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subprocess отвечает за выполнение следующих действий: порождение новых процессов, соединение c потоками стандартного ввода, стандартного вывода, стандартного вывода сообщений об ошибках и получение кодов возврата от этих процессов</a:t>
            </a:r>
          </a:p>
        </p:txBody>
      </p:sp>
    </p:spTree>
    <p:extLst>
      <p:ext uri="{BB962C8B-B14F-4D97-AF65-F5344CB8AC3E}">
        <p14:creationId xmlns:p14="http://schemas.microsoft.com/office/powerpoint/2010/main" val="2964555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datetime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11811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0647"/>
            <a:ext cx="8029732" cy="97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lnSpc>
                <a:spcPct val="120000"/>
              </a:lnSpc>
              <a:spcBef>
                <a:spcPct val="0"/>
              </a:spcBef>
              <a:buNone/>
            </a:pPr>
            <a:r>
              <a:rPr lang="ru-RU" sz="1600" dirty="0">
                <a:solidFill>
                  <a:schemeClr val="tx1"/>
                </a:solidFill>
                <a:latin typeface="+mn-lt"/>
              </a:rPr>
              <a:t>Модуль datetime предоставляет классы для управления датами и временем</a:t>
            </a:r>
          </a:p>
          <a:p>
            <a:pPr eaLnBrk="1" hangingPunct="1">
              <a:lnSpc>
                <a:spcPct val="120000"/>
              </a:lnSpc>
              <a:spcBef>
                <a:spcPct val="0"/>
              </a:spcBef>
              <a:buNone/>
            </a:pPr>
            <a:r>
              <a:rPr lang="ru-RU" sz="1600" dirty="0">
                <a:solidFill>
                  <a:schemeClr val="tx1"/>
                </a:solidFill>
                <a:latin typeface="+mn-lt"/>
              </a:rPr>
              <a:t>Главный объект - это datetime, который является абстракцией момента времени Также может пригодиться объект timedelta для работы с разницей</a:t>
            </a:r>
          </a:p>
        </p:txBody>
      </p:sp>
      <p:sp>
        <p:nvSpPr>
          <p:cNvPr id="11" name="Rectangle 1">
            <a:extLst>
              <a:ext uri="{FF2B5EF4-FFF2-40B4-BE49-F238E27FC236}">
                <a16:creationId xmlns:a16="http://schemas.microsoft.com/office/drawing/2014/main" id="{65B2478B-407F-4B33-9B88-EECC5E01804A}"/>
              </a:ext>
            </a:extLst>
          </p:cNvPr>
          <p:cNvSpPr/>
          <p:nvPr/>
        </p:nvSpPr>
        <p:spPr>
          <a:xfrm>
            <a:off x="445196" y="2469655"/>
            <a:ext cx="8356682" cy="1754326"/>
          </a:xfrm>
          <a:prstGeom prst="rect">
            <a:avLst/>
          </a:prstGeom>
        </p:spPr>
        <p:txBody>
          <a:bodyPr wrap="square">
            <a:spAutoFit/>
          </a:bodyPr>
          <a:lstStyle/>
          <a:p>
            <a:pPr>
              <a:buNone/>
            </a:pP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datetime </a:t>
            </a:r>
            <a:r>
              <a:rPr lang="en-US" sz="1200" b="1" dirty="0">
                <a:solidFill>
                  <a:srgbClr val="0000FF"/>
                </a:solidFill>
                <a:effectLst/>
                <a:latin typeface="Courier New" panose="02070309020205020404" pitchFamily="49" charset="0"/>
              </a:rPr>
              <a:t>as</a:t>
            </a:r>
            <a:r>
              <a:rPr lang="en-US" sz="1200" dirty="0">
                <a:solidFill>
                  <a:srgbClr val="000000"/>
                </a:solidFill>
                <a:effectLst/>
                <a:latin typeface="Courier New" panose="02070309020205020404" pitchFamily="49" charset="0"/>
              </a:rPr>
              <a:t> dt  </a:t>
            </a:r>
            <a:r>
              <a:rPr lang="en-US" sz="1200" dirty="0">
                <a:solidFill>
                  <a:srgbClr val="008000"/>
                </a:solidFill>
                <a:effectLst/>
                <a:latin typeface="Courier New" panose="02070309020205020404" pitchFamily="49" charset="0"/>
              </a:rPr>
              <a:t># </a:t>
            </a:r>
            <a:r>
              <a:rPr lang="ru-RU" sz="1200" dirty="0">
                <a:solidFill>
                  <a:srgbClr val="008000"/>
                </a:solidFill>
                <a:effectLst/>
                <a:latin typeface="Courier New" panose="02070309020205020404" pitchFamily="49" charset="0"/>
              </a:rPr>
              <a:t>оптимальный способ импорта </a:t>
            </a:r>
            <a:r>
              <a:rPr lang="en-US" sz="1200" dirty="0">
                <a:solidFill>
                  <a:srgbClr val="008000"/>
                </a:solidFill>
                <a:effectLst/>
                <a:latin typeface="Courier New" panose="02070309020205020404" pitchFamily="49" charset="0"/>
              </a:rPr>
              <a:t>datetime</a:t>
            </a:r>
            <a:r>
              <a:rPr lang="en-US" sz="1200" dirty="0">
                <a:solidFill>
                  <a:srgbClr val="000000"/>
                </a:solidFill>
                <a:effectLst/>
                <a:latin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a:buNone/>
            </a:pPr>
            <a:endParaRPr lang="en-US" sz="1200"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datetime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now</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timedelta</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days</a:t>
            </a:r>
            <a:r>
              <a:rPr lang="en-US" sz="1200" b="1" dirty="0">
                <a:solidFill>
                  <a:srgbClr val="000080"/>
                </a:solidFill>
                <a:effectLst/>
                <a:latin typeface="Courier New" panose="02070309020205020404" pitchFamily="49" charset="0"/>
              </a:rPr>
              <a:t>=</a:t>
            </a:r>
            <a:r>
              <a:rPr lang="en-US" sz="1200" dirty="0">
                <a:solidFill>
                  <a:srgbClr val="FF0000"/>
                </a:solidFill>
                <a:effectLst/>
                <a:latin typeface="Courier New" panose="02070309020205020404" pitchFamily="49" charset="0"/>
              </a:rPr>
              <a:t>1</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&gt;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&gt;</a:t>
            </a:r>
            <a:r>
              <a:rPr lang="en-US" sz="1200" dirty="0">
                <a:solidFill>
                  <a:srgbClr val="000000"/>
                </a:solidFill>
                <a:effectLst/>
                <a:latin typeface="Courier New" panose="02070309020205020404" pitchFamily="49" charset="0"/>
              </a:rPr>
              <a:t> curr_time</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p>
          <a:p>
            <a:pPr>
              <a:buNone/>
            </a:pPr>
            <a:r>
              <a:rPr lang="en-US" sz="1200" dirty="0">
                <a:solidFill>
                  <a:srgbClr val="000000"/>
                </a:solidFill>
                <a:effectLst/>
                <a:latin typeface="Courier New" panose="02070309020205020404" pitchFamily="49" charset="0"/>
              </a:rPr>
              <a:t>diff </a:t>
            </a:r>
            <a:r>
              <a:rPr lang="en-US" sz="1200" b="1" dirty="0">
                <a:solidFill>
                  <a:srgbClr val="000080"/>
                </a:solidFill>
                <a:effectLst/>
                <a:latin typeface="Courier New" panose="02070309020205020404" pitchFamily="49" charset="0"/>
              </a:rPr>
              <a:t>= </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total_seconds</a:t>
            </a:r>
            <a:r>
              <a:rPr lang="en-US" sz="1200" b="1" dirty="0">
                <a:solidFill>
                  <a:srgbClr val="000080"/>
                </a:solidFill>
                <a:effectLst/>
                <a:latin typeface="Courier New" panose="02070309020205020404" pitchFamily="49" charset="0"/>
              </a:rPr>
              <a:t>()</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 in seconds'</a:t>
            </a:r>
            <a:r>
              <a:rPr lang="en-US" sz="1200" b="1" dirty="0">
                <a:solidFill>
                  <a:srgbClr val="000080"/>
                </a:solidFill>
                <a:effectLst/>
                <a:latin typeface="Courier New" panose="02070309020205020404" pitchFamily="49" charset="0"/>
              </a:rPr>
              <a:t>)</a:t>
            </a:r>
          </a:p>
        </p:txBody>
      </p:sp>
      <p:sp>
        <p:nvSpPr>
          <p:cNvPr id="6" name="Rectangle 3">
            <a:extLst>
              <a:ext uri="{FF2B5EF4-FFF2-40B4-BE49-F238E27FC236}">
                <a16:creationId xmlns:a16="http://schemas.microsoft.com/office/drawing/2014/main" id="{C826A53F-E2FE-4B28-8F9F-6B924B6C584C}"/>
              </a:ext>
            </a:extLst>
          </p:cNvPr>
          <p:cNvSpPr/>
          <p:nvPr/>
        </p:nvSpPr>
        <p:spPr>
          <a:xfrm>
            <a:off x="532280" y="4352433"/>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&gt; curr_time: True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1 day, 0:00:00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86400.0 in seconds</a:t>
            </a:r>
          </a:p>
        </p:txBody>
      </p:sp>
    </p:spTree>
    <p:extLst>
      <p:ext uri="{BB962C8B-B14F-4D97-AF65-F5344CB8AC3E}">
        <p14:creationId xmlns:p14="http://schemas.microsoft.com/office/powerpoint/2010/main" val="1897334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531434"/>
            <a:ext cx="4572000" cy="3634368"/>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531434"/>
            <a:ext cx="4572000" cy="363436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34860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ZipFile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03EBDECD-1F73-4A54-986B-EE6888394C97}"/>
              </a:ext>
            </a:extLst>
          </p:cNvPr>
          <p:cNvSpPr txBox="1">
            <a:spLocks noChangeArrowheads="1"/>
          </p:cNvSpPr>
          <p:nvPr/>
        </p:nvSpPr>
        <p:spPr bwMode="auto">
          <a:xfrm>
            <a:off x="445196" y="1955295"/>
            <a:ext cx="368075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следующем примере в файле archive.zip будет заархивирован файл file.txt, содержащий текст «</a:t>
            </a:r>
            <a:r>
              <a:rPr lang="ru-RU" sz="1600" dirty="0" err="1">
                <a:solidFill>
                  <a:schemeClr val="tx1"/>
                </a:solidFill>
                <a:latin typeface="+mn-lt"/>
              </a:rPr>
              <a:t>text</a:t>
            </a:r>
            <a:r>
              <a:rPr lang="ru-RU" sz="1600" dirty="0">
                <a:solidFill>
                  <a:schemeClr val="tx1"/>
                </a:solidFill>
                <a:latin typeface="+mn-lt"/>
              </a:rPr>
              <a:t> </a:t>
            </a:r>
            <a:r>
              <a:rPr lang="ru-RU" sz="1600" dirty="0" err="1">
                <a:solidFill>
                  <a:schemeClr val="tx1"/>
                </a:solidFill>
                <a:latin typeface="+mn-lt"/>
              </a:rPr>
              <a:t>in</a:t>
            </a:r>
            <a:r>
              <a:rPr lang="ru-RU" sz="1600" dirty="0">
                <a:solidFill>
                  <a:schemeClr val="tx1"/>
                </a:solidFill>
                <a:latin typeface="+mn-lt"/>
              </a:rPr>
              <a:t> </a:t>
            </a:r>
            <a:r>
              <a:rPr lang="ru-RU" sz="1600" dirty="0" err="1">
                <a:solidFill>
                  <a:schemeClr val="tx1"/>
                </a:solidFill>
                <a:latin typeface="+mn-lt"/>
              </a:rPr>
              <a:t>the</a:t>
            </a:r>
            <a:r>
              <a:rPr lang="ru-RU" sz="1600" dirty="0">
                <a:solidFill>
                  <a:schemeClr val="tx1"/>
                </a:solidFill>
                <a:latin typeface="+mn-lt"/>
              </a:rPr>
              <a:t> </a:t>
            </a:r>
            <a:r>
              <a:rPr lang="ru-RU" sz="1600" dirty="0" err="1">
                <a:solidFill>
                  <a:schemeClr val="tx1"/>
                </a:solidFill>
                <a:latin typeface="+mn-lt"/>
              </a:rPr>
              <a:t>file</a:t>
            </a:r>
            <a:r>
              <a:rPr lang="ru-RU" sz="1600" dirty="0">
                <a:solidFill>
                  <a:schemeClr val="tx1"/>
                </a:solidFill>
                <a:latin typeface="+mn-lt"/>
              </a:rPr>
              <a:t>». Это ещё один пример использования менеджера контекста</a:t>
            </a:r>
          </a:p>
        </p:txBody>
      </p:sp>
      <p:sp>
        <p:nvSpPr>
          <p:cNvPr id="15" name="Rectangle 4">
            <a:extLst>
              <a:ext uri="{FF2B5EF4-FFF2-40B4-BE49-F238E27FC236}">
                <a16:creationId xmlns:a16="http://schemas.microsoft.com/office/drawing/2014/main" id="{F80F083D-7B90-487A-8425-A9FB48720AC6}"/>
              </a:ext>
            </a:extLst>
          </p:cNvPr>
          <p:cNvSpPr/>
          <p:nvPr/>
        </p:nvSpPr>
        <p:spPr>
          <a:xfrm>
            <a:off x="445196" y="3783838"/>
            <a:ext cx="3998971" cy="954107"/>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'w'</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writestr</a:t>
            </a:r>
            <a:r>
              <a:rPr lang="en-US" b="1" dirty="0">
                <a:solidFill>
                  <a:srgbClr val="000080"/>
                </a:solidFill>
                <a:latin typeface="+mn-lt"/>
              </a:rPr>
              <a:t>(</a:t>
            </a:r>
            <a:r>
              <a:rPr lang="en-US" dirty="0">
                <a:solidFill>
                  <a:srgbClr val="808080"/>
                </a:solidFill>
                <a:latin typeface="+mn-lt"/>
              </a:rPr>
              <a:t>'file.txt'</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'text in the file'</a:t>
            </a:r>
            <a:r>
              <a:rPr lang="en-US" b="1" dirty="0">
                <a:solidFill>
                  <a:srgbClr val="000080"/>
                </a:solidFill>
                <a:latin typeface="+mn-lt"/>
              </a:rPr>
              <a:t>)</a:t>
            </a:r>
            <a:r>
              <a:rPr lang="en-US" dirty="0">
                <a:solidFill>
                  <a:srgbClr val="000000"/>
                </a:solidFill>
                <a:latin typeface="+mn-lt"/>
              </a:rPr>
              <a:t> </a:t>
            </a:r>
            <a:endParaRPr lang="en-US" dirty="0">
              <a:effectLst/>
              <a:latin typeface="+mn-lt"/>
            </a:endParaRPr>
          </a:p>
        </p:txBody>
      </p:sp>
      <p:grpSp>
        <p:nvGrpSpPr>
          <p:cNvPr id="2" name="Группа 1"/>
          <p:cNvGrpSpPr/>
          <p:nvPr/>
        </p:nvGrpSpPr>
        <p:grpSpPr>
          <a:xfrm>
            <a:off x="5017196" y="2079408"/>
            <a:ext cx="4254637" cy="2538420"/>
            <a:chOff x="5017196" y="2156352"/>
            <a:chExt cx="4254637" cy="2538420"/>
          </a:xfrm>
        </p:grpSpPr>
        <p:sp>
          <p:nvSpPr>
            <p:cNvPr id="16" name="Text Box 10">
              <a:extLst>
                <a:ext uri="{FF2B5EF4-FFF2-40B4-BE49-F238E27FC236}">
                  <a16:creationId xmlns:a16="http://schemas.microsoft.com/office/drawing/2014/main" id="{E7C5B175-090D-49BE-8880-D08025262BDE}"/>
                </a:ext>
              </a:extLst>
            </p:cNvPr>
            <p:cNvSpPr txBox="1">
              <a:spLocks noChangeArrowheads="1"/>
            </p:cNvSpPr>
            <p:nvPr/>
          </p:nvSpPr>
          <p:spPr bwMode="auto">
            <a:xfrm>
              <a:off x="5017196" y="2156352"/>
              <a:ext cx="3762531"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Чтение архива происходит аналогично. В следующем примере будут напечатаны имена файлов, содержащиеся в архиве:</a:t>
              </a:r>
            </a:p>
          </p:txBody>
        </p:sp>
        <p:sp>
          <p:nvSpPr>
            <p:cNvPr id="18" name="Rectangle 5">
              <a:extLst>
                <a:ext uri="{FF2B5EF4-FFF2-40B4-BE49-F238E27FC236}">
                  <a16:creationId xmlns:a16="http://schemas.microsoft.com/office/drawing/2014/main" id="{082F4035-72C9-43EC-BA24-708628D7F038}"/>
                </a:ext>
              </a:extLst>
            </p:cNvPr>
            <p:cNvSpPr/>
            <p:nvPr/>
          </p:nvSpPr>
          <p:spPr>
            <a:xfrm>
              <a:off x="5072591" y="3525221"/>
              <a:ext cx="4199242" cy="1169551"/>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for</a:t>
              </a:r>
              <a:r>
                <a:rPr lang="en-US" dirty="0">
                  <a:solidFill>
                    <a:srgbClr val="000000"/>
                  </a:solidFill>
                  <a:latin typeface="+mn-lt"/>
                </a:rPr>
                <a:t> </a:t>
              </a:r>
              <a:r>
                <a:rPr lang="en-US" dirty="0" err="1">
                  <a:solidFill>
                    <a:srgbClr val="000000"/>
                  </a:solidFill>
                  <a:latin typeface="+mn-lt"/>
                </a:rPr>
                <a:t>fileinfo</a:t>
              </a:r>
              <a:r>
                <a:rPr lang="en-US" dirty="0">
                  <a:solidFill>
                    <a:srgbClr val="000000"/>
                  </a:solidFill>
                  <a:latin typeface="+mn-lt"/>
                </a:rPr>
                <a:t> </a:t>
              </a:r>
              <a:r>
                <a:rPr lang="en-US" b="1" dirty="0">
                  <a:solidFill>
                    <a:srgbClr val="0000FF"/>
                  </a:solidFill>
                  <a:latin typeface="+mn-lt"/>
                </a:rPr>
                <a:t>in</a:t>
              </a:r>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filelist</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err="1">
                  <a:solidFill>
                    <a:srgbClr val="000000"/>
                  </a:solidFill>
                  <a:latin typeface="+mn-lt"/>
                </a:rPr>
                <a:t>fileinfo</a:t>
              </a:r>
              <a:r>
                <a:rPr lang="en-US" b="1" dirty="0" err="1">
                  <a:solidFill>
                    <a:srgbClr val="000080"/>
                  </a:solidFill>
                  <a:latin typeface="+mn-lt"/>
                </a:rPr>
                <a:t>.</a:t>
              </a:r>
              <a:r>
                <a:rPr lang="en-US" dirty="0" err="1">
                  <a:solidFill>
                    <a:srgbClr val="000000"/>
                  </a:solidFill>
                  <a:latin typeface="+mn-lt"/>
                </a:rPr>
                <a:t>filename</a:t>
              </a:r>
              <a:r>
                <a:rPr lang="en-US" b="1" dirty="0">
                  <a:solidFill>
                    <a:srgbClr val="000080"/>
                  </a:solidFill>
                  <a:latin typeface="+mn-lt"/>
                </a:rPr>
                <a:t>)</a:t>
              </a:r>
            </a:p>
          </p:txBody>
        </p:sp>
      </p:grpSp>
    </p:spTree>
    <p:extLst>
      <p:ext uri="{BB962C8B-B14F-4D97-AF65-F5344CB8AC3E}">
        <p14:creationId xmlns:p14="http://schemas.microsoft.com/office/powerpoint/2010/main" val="13197598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grpSp>
        <p:nvGrpSpPr>
          <p:cNvPr id="2" name="Группа 1">
            <a:extLst>
              <a:ext uri="{FF2B5EF4-FFF2-40B4-BE49-F238E27FC236}">
                <a16:creationId xmlns:a16="http://schemas.microsoft.com/office/drawing/2014/main" id="{B8EEF2D4-C325-465F-80E0-5E60F2B14660}"/>
              </a:ext>
            </a:extLst>
          </p:cNvPr>
          <p:cNvGrpSpPr/>
          <p:nvPr/>
        </p:nvGrpSpPr>
        <p:grpSpPr>
          <a:xfrm>
            <a:off x="567360" y="1432242"/>
            <a:ext cx="8009280" cy="2709334"/>
            <a:chOff x="567360" y="1328164"/>
            <a:chExt cx="8009280" cy="2709334"/>
          </a:xfrm>
        </p:grpSpPr>
        <p:sp>
          <p:nvSpPr>
            <p:cNvPr id="5" name="Text Box 10">
              <a:extLst>
                <a:ext uri="{FF2B5EF4-FFF2-40B4-BE49-F238E27FC236}">
                  <a16:creationId xmlns:a16="http://schemas.microsoft.com/office/drawing/2014/main" id="{87F6D522-839D-42C3-910E-F02DA6E3DA30}"/>
                </a:ext>
              </a:extLst>
            </p:cNvPr>
            <p:cNvSpPr txBox="1">
              <a:spLocks noChangeArrowheads="1"/>
            </p:cNvSpPr>
            <p:nvPr/>
          </p:nvSpPr>
          <p:spPr bwMode="auto">
            <a:xfrm>
              <a:off x="1002757" y="1359842"/>
              <a:ext cx="7573883"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a:t>
              </a:r>
              <a:r>
                <a:rPr lang="en-US" dirty="0">
                  <a:solidFill>
                    <a:schemeClr val="tx1"/>
                  </a:solidFill>
                  <a:latin typeface="+mn-lt"/>
                </a:rPr>
                <a:t> pickle </a:t>
              </a:r>
              <a:r>
                <a:rPr lang="ru-RU" dirty="0">
                  <a:solidFill>
                    <a:schemeClr val="tx1"/>
                  </a:solidFill>
                  <a:latin typeface="+mn-lt"/>
                </a:rPr>
                <a:t>реализует базовый</a:t>
              </a:r>
              <a:r>
                <a:rPr lang="en-US" dirty="0">
                  <a:solidFill>
                    <a:schemeClr val="tx1"/>
                  </a:solidFill>
                  <a:latin typeface="+mn-lt"/>
                </a:rPr>
                <a:t>, </a:t>
              </a:r>
              <a:r>
                <a:rPr lang="ru-RU" dirty="0">
                  <a:solidFill>
                    <a:schemeClr val="tx1"/>
                  </a:solidFill>
                  <a:latin typeface="+mn-lt"/>
                </a:rPr>
                <a:t>но эффективный алгоритм</a:t>
              </a:r>
              <a:r>
                <a:rPr lang="en-US" dirty="0">
                  <a:solidFill>
                    <a:schemeClr val="tx1"/>
                  </a:solidFill>
                  <a:latin typeface="+mn-lt"/>
                </a:rPr>
                <a:t> </a:t>
              </a:r>
              <a:r>
                <a:rPr lang="ru-RU" dirty="0">
                  <a:solidFill>
                    <a:schemeClr val="tx1"/>
                  </a:solidFill>
                  <a:latin typeface="+mn-lt"/>
                </a:rPr>
                <a:t>для</a:t>
              </a:r>
              <a:r>
                <a:rPr lang="en-US" dirty="0">
                  <a:solidFill>
                    <a:schemeClr val="tx1"/>
                  </a:solidFill>
                  <a:latin typeface="+mn-lt"/>
                </a:rPr>
                <a:t> </a:t>
              </a:r>
              <a:r>
                <a:rPr lang="ru-RU" dirty="0">
                  <a:solidFill>
                    <a:schemeClr val="tx1"/>
                  </a:solidFill>
                  <a:latin typeface="+mn-lt"/>
                </a:rPr>
                <a:t>сериализации </a:t>
              </a:r>
            </a:p>
            <a:p>
              <a:pPr eaLnBrk="1" hangingPunct="1">
                <a:spcBef>
                  <a:spcPct val="0"/>
                </a:spcBef>
                <a:buNone/>
              </a:pPr>
              <a:r>
                <a:rPr lang="ru-RU" dirty="0">
                  <a:solidFill>
                    <a:schemeClr val="tx1"/>
                  </a:solidFill>
                  <a:latin typeface="+mn-lt"/>
                </a:rPr>
                <a:t>и десериализации</a:t>
              </a:r>
              <a:r>
                <a:rPr lang="en-US" dirty="0">
                  <a:solidFill>
                    <a:schemeClr val="tx1"/>
                  </a:solidFill>
                  <a:latin typeface="+mn-lt"/>
                </a:rPr>
                <a:t> </a:t>
              </a:r>
              <a:r>
                <a:rPr lang="ru-RU" dirty="0">
                  <a:solidFill>
                    <a:schemeClr val="tx1"/>
                  </a:solidFill>
                  <a:latin typeface="+mn-lt"/>
                </a:rPr>
                <a:t>объектов</a:t>
              </a:r>
              <a:r>
                <a:rPr lang="en-US" dirty="0">
                  <a:solidFill>
                    <a:schemeClr val="tx1"/>
                  </a:solidFill>
                  <a:latin typeface="+mn-lt"/>
                </a:rPr>
                <a:t> Python</a:t>
              </a:r>
              <a:endParaRPr lang="ru-RU" dirty="0">
                <a:solidFill>
                  <a:schemeClr val="tx1"/>
                </a:solidFill>
                <a:latin typeface="+mn-lt"/>
              </a:endParaRPr>
            </a:p>
            <a:p>
              <a:pPr eaLnBrk="1" hangingPunct="1">
                <a:spcBef>
                  <a:spcPct val="0"/>
                </a:spcBef>
                <a:buNone/>
              </a:pPr>
              <a:endParaRPr lang="ru-RU" dirty="0">
                <a:solidFill>
                  <a:schemeClr val="tx1"/>
                </a:solidFill>
                <a:latin typeface="+mn-lt"/>
              </a:endParaRPr>
            </a:p>
            <a:p>
              <a:pPr eaLnBrk="1" hangingPunct="1">
                <a:spcBef>
                  <a:spcPct val="0"/>
                </a:spcBef>
                <a:buNone/>
              </a:pPr>
              <a:r>
                <a:rPr lang="ru-RU" dirty="0">
                  <a:solidFill>
                    <a:schemeClr val="tx1"/>
                  </a:solidFill>
                  <a:latin typeface="+mn-lt"/>
                </a:rPr>
                <a:t>«</a:t>
              </a:r>
              <a:r>
                <a:rPr lang="en-US" dirty="0">
                  <a:solidFill>
                    <a:schemeClr val="tx1"/>
                  </a:solidFill>
                  <a:latin typeface="+mn-lt"/>
                </a:rPr>
                <a:t>Pickling</a:t>
              </a:r>
              <a:r>
                <a:rPr lang="ru-RU" dirty="0">
                  <a:solidFill>
                    <a:schemeClr val="tx1"/>
                  </a:solidFill>
                  <a:latin typeface="+mn-lt"/>
                </a:rPr>
                <a:t>» </a:t>
              </a:r>
              <a:r>
                <a:rPr lang="en-US" dirty="0">
                  <a:solidFill>
                    <a:schemeClr val="tx1"/>
                  </a:solidFill>
                  <a:latin typeface="+mn-lt"/>
                </a:rPr>
                <a:t>(</a:t>
              </a:r>
              <a:r>
                <a:rPr lang="ru-RU" dirty="0">
                  <a:solidFill>
                    <a:schemeClr val="tx1"/>
                  </a:solidFill>
                  <a:latin typeface="+mn-lt"/>
                </a:rPr>
                <a:t>консервирование</a:t>
              </a:r>
              <a:r>
                <a:rPr lang="en-US" dirty="0">
                  <a:solidFill>
                    <a:schemeClr val="tx1"/>
                  </a:solidFill>
                  <a:latin typeface="+mn-lt"/>
                </a:rPr>
                <a:t>) </a:t>
              </a:r>
              <a:r>
                <a:rPr lang="ru-RU" dirty="0">
                  <a:solidFill>
                    <a:schemeClr val="tx1"/>
                  </a:solidFill>
                  <a:latin typeface="+mn-lt"/>
                </a:rPr>
                <a:t>– это процесс конвертирования иерархии объекта</a:t>
              </a:r>
              <a:r>
                <a:rPr lang="en-US" dirty="0">
                  <a:solidFill>
                    <a:schemeClr val="tx1"/>
                  </a:solidFill>
                  <a:latin typeface="+mn-lt"/>
                </a:rPr>
                <a:t> </a:t>
              </a:r>
              <a:r>
                <a:rPr lang="ru-RU" dirty="0">
                  <a:solidFill>
                    <a:schemeClr val="tx1"/>
                  </a:solidFill>
                  <a:latin typeface="+mn-lt"/>
                </a:rPr>
                <a:t>в поток байтов</a:t>
              </a:r>
              <a:r>
                <a:rPr lang="en-US" dirty="0">
                  <a:solidFill>
                    <a:schemeClr val="tx1"/>
                  </a:solidFill>
                  <a:latin typeface="+mn-lt"/>
                </a:rPr>
                <a:t>, </a:t>
              </a:r>
              <a:r>
                <a:rPr lang="ru-RU" dirty="0">
                  <a:solidFill>
                    <a:schemeClr val="tx1"/>
                  </a:solidFill>
                  <a:latin typeface="+mn-lt"/>
                </a:rPr>
                <a:t>тогда как </a:t>
              </a:r>
              <a:r>
                <a:rPr lang="en-US" dirty="0">
                  <a:solidFill>
                    <a:schemeClr val="tx1"/>
                  </a:solidFill>
                  <a:latin typeface="+mn-lt"/>
                </a:rPr>
                <a:t> </a:t>
              </a:r>
              <a:r>
                <a:rPr lang="ru-RU" dirty="0">
                  <a:solidFill>
                    <a:schemeClr val="tx1"/>
                  </a:solidFill>
                  <a:latin typeface="+mn-lt"/>
                </a:rPr>
                <a:t>«</a:t>
              </a:r>
              <a:r>
                <a:rPr lang="en-US" dirty="0">
                  <a:solidFill>
                    <a:schemeClr val="tx1"/>
                  </a:solidFill>
                  <a:latin typeface="+mn-lt"/>
                </a:rPr>
                <a:t>unpickling</a:t>
              </a:r>
              <a:r>
                <a:rPr lang="ru-RU" dirty="0">
                  <a:solidFill>
                    <a:schemeClr val="tx1"/>
                  </a:solidFill>
                  <a:latin typeface="+mn-lt"/>
                </a:rPr>
                <a:t>»</a:t>
              </a:r>
              <a:r>
                <a:rPr lang="en-US" dirty="0">
                  <a:solidFill>
                    <a:schemeClr val="tx1"/>
                  </a:solidFill>
                  <a:latin typeface="+mn-lt"/>
                </a:rPr>
                <a:t> – </a:t>
              </a:r>
              <a:r>
                <a:rPr lang="ru-RU" dirty="0">
                  <a:solidFill>
                    <a:schemeClr val="tx1"/>
                  </a:solidFill>
                  <a:latin typeface="+mn-lt"/>
                </a:rPr>
                <a:t>это</a:t>
              </a:r>
              <a:r>
                <a:rPr lang="en-US" dirty="0">
                  <a:solidFill>
                    <a:schemeClr val="tx1"/>
                  </a:solidFill>
                  <a:latin typeface="+mn-lt"/>
                </a:rPr>
                <a:t> </a:t>
              </a:r>
              <a:r>
                <a:rPr lang="ru-RU" dirty="0">
                  <a:solidFill>
                    <a:schemeClr val="tx1"/>
                  </a:solidFill>
                  <a:latin typeface="+mn-lt"/>
                </a:rPr>
                <a:t>обратная операция – получение из потока байтов</a:t>
              </a:r>
              <a:r>
                <a:rPr lang="en-US" dirty="0">
                  <a:solidFill>
                    <a:schemeClr val="tx1"/>
                  </a:solidFill>
                  <a:latin typeface="+mn-lt"/>
                </a:rPr>
                <a:t> </a:t>
              </a:r>
              <a:r>
                <a:rPr lang="ru-RU" dirty="0">
                  <a:solidFill>
                    <a:schemeClr val="tx1"/>
                  </a:solidFill>
                  <a:latin typeface="+mn-lt"/>
                </a:rPr>
                <a:t>иерархии объекта</a:t>
              </a:r>
              <a:r>
                <a:rPr lang="en-US" dirty="0">
                  <a:solidFill>
                    <a:schemeClr val="tx1"/>
                  </a:solidFill>
                  <a:latin typeface="+mn-lt"/>
                </a:rPr>
                <a:t>. Pickling (</a:t>
              </a:r>
              <a:r>
                <a:rPr lang="ru-RU" dirty="0">
                  <a:solidFill>
                    <a:schemeClr val="tx1"/>
                  </a:solidFill>
                  <a:latin typeface="+mn-lt"/>
                </a:rPr>
                <a:t>и</a:t>
              </a:r>
              <a:r>
                <a:rPr lang="en-US" dirty="0">
                  <a:solidFill>
                    <a:schemeClr val="tx1"/>
                  </a:solidFill>
                  <a:latin typeface="+mn-lt"/>
                </a:rPr>
                <a:t> unpickling) </a:t>
              </a:r>
              <a:r>
                <a:rPr lang="ru-RU" dirty="0">
                  <a:solidFill>
                    <a:schemeClr val="tx1"/>
                  </a:solidFill>
                  <a:latin typeface="+mn-lt"/>
                </a:rPr>
                <a:t>также известны как</a:t>
              </a:r>
              <a:r>
                <a:rPr lang="en-US" dirty="0">
                  <a:solidFill>
                    <a:schemeClr val="tx1"/>
                  </a:solidFill>
                  <a:latin typeface="+mn-lt"/>
                </a:rPr>
                <a:t> </a:t>
              </a:r>
              <a:r>
                <a:rPr lang="ru-RU" dirty="0">
                  <a:solidFill>
                    <a:schemeClr val="tx1"/>
                  </a:solidFill>
                  <a:latin typeface="+mn-lt"/>
                </a:rPr>
                <a:t>«сериализация»</a:t>
              </a:r>
              <a:r>
                <a:rPr lang="en-US" dirty="0">
                  <a:solidFill>
                    <a:schemeClr val="tx1"/>
                  </a:solidFill>
                  <a:latin typeface="+mn-lt"/>
                </a:rPr>
                <a:t>, </a:t>
              </a:r>
              <a:r>
                <a:rPr lang="ru-RU" dirty="0">
                  <a:solidFill>
                    <a:schemeClr val="tx1"/>
                  </a:solidFill>
                  <a:latin typeface="+mn-lt"/>
                </a:rPr>
                <a:t>«маршаллинг»</a:t>
              </a:r>
              <a:r>
                <a:rPr lang="en-US" dirty="0">
                  <a:solidFill>
                    <a:schemeClr val="tx1"/>
                  </a:solidFill>
                  <a:latin typeface="+mn-lt"/>
                </a:rPr>
                <a:t> </a:t>
              </a:r>
              <a:r>
                <a:rPr lang="ru-RU" dirty="0">
                  <a:solidFill>
                    <a:schemeClr val="tx1"/>
                  </a:solidFill>
                  <a:latin typeface="+mn-lt"/>
                </a:rPr>
                <a:t>или</a:t>
              </a:r>
              <a:r>
                <a:rPr lang="en-US" dirty="0">
                  <a:solidFill>
                    <a:schemeClr val="tx1"/>
                  </a:solidFill>
                  <a:latin typeface="+mn-lt"/>
                </a:rPr>
                <a:t> </a:t>
              </a:r>
              <a:r>
                <a:rPr lang="ru-RU" dirty="0">
                  <a:solidFill>
                    <a:schemeClr val="tx1"/>
                  </a:solidFill>
                  <a:latin typeface="+mn-lt"/>
                </a:rPr>
                <a:t>«флаттеринг»</a:t>
              </a: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Python2 </a:t>
              </a:r>
              <a:r>
                <a:rPr lang="ru-RU" dirty="0">
                  <a:solidFill>
                    <a:schemeClr val="tx1"/>
                  </a:solidFill>
                  <a:latin typeface="+mn-lt"/>
                </a:rPr>
                <a:t>cуществует также аналог модуля</a:t>
              </a:r>
              <a:r>
                <a:rPr lang="en-US" dirty="0">
                  <a:solidFill>
                    <a:schemeClr val="tx1"/>
                  </a:solidFill>
                  <a:latin typeface="+mn-lt"/>
                </a:rPr>
                <a:t> pickle </a:t>
              </a:r>
              <a:r>
                <a:rPr lang="ru-RU" dirty="0">
                  <a:solidFill>
                    <a:schemeClr val="tx1"/>
                  </a:solidFill>
                  <a:latin typeface="+mn-lt"/>
                </a:rPr>
                <a:t>–</a:t>
              </a:r>
              <a:r>
                <a:rPr lang="en-US" dirty="0">
                  <a:solidFill>
                    <a:schemeClr val="tx1"/>
                  </a:solidFill>
                  <a:latin typeface="+mn-lt"/>
                </a:rPr>
                <a:t> cPickle</a:t>
              </a:r>
              <a:r>
                <a:rPr lang="ru-RU" dirty="0">
                  <a:solidFill>
                    <a:schemeClr val="tx1"/>
                  </a:solidFill>
                  <a:latin typeface="+mn-lt"/>
                </a:rPr>
                <a:t>, написанный на С и потому </a:t>
              </a:r>
            </a:p>
            <a:p>
              <a:pPr eaLnBrk="1" hangingPunct="1">
                <a:spcBef>
                  <a:spcPct val="0"/>
                </a:spcBef>
                <a:buNone/>
              </a:pPr>
              <a:r>
                <a:rPr lang="ru-RU" dirty="0">
                  <a:solidFill>
                    <a:schemeClr val="tx1"/>
                  </a:solidFill>
                  <a:latin typeface="+mn-lt"/>
                </a:rPr>
                <a:t>в</a:t>
              </a:r>
              <a:r>
                <a:rPr lang="en-US" dirty="0">
                  <a:solidFill>
                    <a:schemeClr val="tx1"/>
                  </a:solidFill>
                  <a:latin typeface="+mn-lt"/>
                </a:rPr>
                <a:t> 1000 </a:t>
              </a:r>
              <a:r>
                <a:rPr lang="ru-RU" dirty="0">
                  <a:solidFill>
                    <a:schemeClr val="tx1"/>
                  </a:solidFill>
                  <a:latin typeface="+mn-lt"/>
                </a:rPr>
                <a:t>раз более быстрый, чем</a:t>
              </a:r>
              <a:r>
                <a:rPr lang="en-US" dirty="0">
                  <a:solidFill>
                    <a:schemeClr val="tx1"/>
                  </a:solidFill>
                  <a:latin typeface="+mn-lt"/>
                </a:rPr>
                <a:t> pickle</a:t>
              </a:r>
              <a:endParaRPr lang="ru-RU" dirty="0">
                <a:solidFill>
                  <a:schemeClr val="tx1"/>
                </a:solidFill>
                <a:latin typeface="+mn-lt"/>
              </a:endParaRP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Python3 </a:t>
              </a:r>
              <a:r>
                <a:rPr lang="ru-RU" dirty="0">
                  <a:solidFill>
                    <a:schemeClr val="tx1"/>
                  </a:solidFill>
                  <a:latin typeface="+mn-lt"/>
                </a:rPr>
                <a:t>модуль </a:t>
              </a:r>
              <a:r>
                <a:rPr lang="en-US" dirty="0">
                  <a:solidFill>
                    <a:schemeClr val="tx1"/>
                  </a:solidFill>
                  <a:latin typeface="+mn-lt"/>
                </a:rPr>
                <a:t>pickle </a:t>
              </a:r>
              <a:r>
                <a:rPr lang="ru-RU" dirty="0">
                  <a:solidFill>
                    <a:schemeClr val="tx1"/>
                  </a:solidFill>
                  <a:latin typeface="+mn-lt"/>
                </a:rPr>
                <a:t>уже сделан на основе </a:t>
              </a:r>
              <a:r>
                <a:rPr lang="en-US" dirty="0">
                  <a:solidFill>
                    <a:schemeClr val="tx1"/>
                  </a:solidFill>
                  <a:latin typeface="+mn-lt"/>
                </a:rPr>
                <a:t>cPickle</a:t>
              </a:r>
            </a:p>
          </p:txBody>
        </p:sp>
        <p:pic>
          <p:nvPicPr>
            <p:cNvPr id="6" name="Рисунок 5">
              <a:extLst>
                <a:ext uri="{FF2B5EF4-FFF2-40B4-BE49-F238E27FC236}">
                  <a16:creationId xmlns:a16="http://schemas.microsoft.com/office/drawing/2014/main" id="{51E5F88B-FBDF-40E5-AE2D-E1A838A11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328164"/>
              <a:ext cx="364793" cy="364793"/>
            </a:xfrm>
            <a:prstGeom prst="rect">
              <a:avLst/>
            </a:prstGeom>
          </p:spPr>
        </p:pic>
        <p:pic>
          <p:nvPicPr>
            <p:cNvPr id="7" name="Рисунок 6">
              <a:extLst>
                <a:ext uri="{FF2B5EF4-FFF2-40B4-BE49-F238E27FC236}">
                  <a16:creationId xmlns:a16="http://schemas.microsoft.com/office/drawing/2014/main" id="{28DDC136-B471-4E9D-8DCC-8C925F0EB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969442"/>
              <a:ext cx="364793" cy="364793"/>
            </a:xfrm>
            <a:prstGeom prst="rect">
              <a:avLst/>
            </a:prstGeom>
          </p:spPr>
        </p:pic>
        <p:pic>
          <p:nvPicPr>
            <p:cNvPr id="8" name="Рисунок 7">
              <a:extLst>
                <a:ext uri="{FF2B5EF4-FFF2-40B4-BE49-F238E27FC236}">
                  <a16:creationId xmlns:a16="http://schemas.microsoft.com/office/drawing/2014/main" id="{B92A9C65-1D17-4D15-9D33-8D61EE1C89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017657"/>
              <a:ext cx="364793" cy="364793"/>
            </a:xfrm>
            <a:prstGeom prst="rect">
              <a:avLst/>
            </a:prstGeom>
          </p:spPr>
        </p:pic>
        <p:pic>
          <p:nvPicPr>
            <p:cNvPr id="9" name="Рисунок 8">
              <a:extLst>
                <a:ext uri="{FF2B5EF4-FFF2-40B4-BE49-F238E27FC236}">
                  <a16:creationId xmlns:a16="http://schemas.microsoft.com/office/drawing/2014/main" id="{ABF6BB67-6A18-4F91-9D65-ED895693D2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672705"/>
              <a:ext cx="364793" cy="364793"/>
            </a:xfrm>
            <a:prstGeom prst="rect">
              <a:avLst/>
            </a:prstGeom>
          </p:spPr>
        </p:pic>
      </p:grpSp>
    </p:spTree>
    <p:extLst>
      <p:ext uri="{BB962C8B-B14F-4D97-AF65-F5344CB8AC3E}">
        <p14:creationId xmlns:p14="http://schemas.microsoft.com/office/powerpoint/2010/main" val="344447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10" name="Rectangle 1">
            <a:extLst>
              <a:ext uri="{FF2B5EF4-FFF2-40B4-BE49-F238E27FC236}">
                <a16:creationId xmlns:a16="http://schemas.microsoft.com/office/drawing/2014/main" id="{93E5635A-B814-4635-AFDA-DA2FB43D1AA2}"/>
              </a:ext>
            </a:extLst>
          </p:cNvPr>
          <p:cNvSpPr/>
          <p:nvPr/>
        </p:nvSpPr>
        <p:spPr>
          <a:xfrm>
            <a:off x="455165" y="1097938"/>
            <a:ext cx="8280920" cy="410881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class</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__init__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__repr__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return</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'&lt;A(a={}) at 0x{:x}&gt;'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id</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'onetwothree'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 =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p0:\n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p1:\n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p2:\n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def:\n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HIGHEST_PROTOCOL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high:\n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десериализация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def: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high: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1494713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4" name="Rectangle 4">
            <a:extLst>
              <a:ext uri="{FF2B5EF4-FFF2-40B4-BE49-F238E27FC236}">
                <a16:creationId xmlns:a16="http://schemas.microsoft.com/office/drawing/2014/main" id="{5D4167D2-7C04-4A9F-8199-49A09D4D7A81}"/>
              </a:ext>
            </a:extLst>
          </p:cNvPr>
          <p:cNvSpPr/>
          <p:nvPr/>
        </p:nvSpPr>
        <p:spPr>
          <a:xfrm>
            <a:off x="251519" y="1287845"/>
            <a:ext cx="8622605" cy="347787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 = &lt;A(a=onetwothree) at 0x1de11736308&gt;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b'ccopy_reg\n_reconstructor\np0\n(c__main__\nA\np1\nc__builtin__\nobject\np2\nNtp3\nRp4\n(dp5\</a:t>
            </a:r>
            <a:r>
              <a:rPr kumimoji="0" lang="en-US" sz="1000" b="0" i="0" u="none" strike="noStrike" kern="1200" cap="none" spc="0" normalizeH="0" baseline="0" noProof="0" dirty="0" err="1">
                <a:ln>
                  <a:noFill/>
                </a:ln>
                <a:solidFill>
                  <a:srgbClr val="000000"/>
                </a:solidFill>
                <a:effectLst/>
                <a:uLnTx/>
                <a:uFillTx/>
                <a:latin typeface="Courier New" panose="02070309020205020404" pitchFamily="49" charset="0"/>
                <a:ea typeface="+mn-ea"/>
                <a:cs typeface="Courier New" panose="02070309020205020404" pitchFamily="49" charset="0"/>
              </a:rPr>
              <a:t>nVa</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\np6\nVonetwothree\np7\nsb.'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b'ccopy_reg\n_reconstructor\nq\x00(c__main__\nA\nq\x01c__builtin__\nobject\nq\x02Ntq\x03Rq\x04}q\x05X\x01\x00\x00\x00aq\x06X\x0b\x00\x00\x00onetwothreeq\x07sb.'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b'\x80\x02c__main__\nA\nq\x00)\x81q\x01}q\x02X\x01\x00\x00\x00aq\x03X\x0b\x00\x00\x00onetwothreeq\x04sb.'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def:</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b'\x80\x03c__main__\nA\nq\x00)\x81q\x01}q\x02X\x01\x00\x00\x00aq\x03X\x0b\x00\x00\x00onetwothreeq\x04sb.'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high:</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b'\x80\x04\x95+\x00\x00\x00\x00\x00\x00\x00\x8c\x08__main__\x94\x8c\x01A\x94\x93\x94)\x81\x94}\x94\x8c\x01a\x94\x8c\x0bonetwothree\x94sb.'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def: &lt;A(a=onetwothree) at 0x1de117369c8&gt;</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high: &lt;A(a=onetwothree) at 0x1de11736948&gt;</a:t>
            </a:r>
          </a:p>
        </p:txBody>
      </p:sp>
    </p:spTree>
    <p:extLst>
      <p:ext uri="{BB962C8B-B14F-4D97-AF65-F5344CB8AC3E}">
        <p14:creationId xmlns:p14="http://schemas.microsoft.com/office/powerpoint/2010/main" val="17641419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D4BB697A-5FAD-46FE-8788-32512D335E38}"/>
              </a:ext>
            </a:extLst>
          </p:cNvPr>
          <p:cNvSpPr txBox="1"/>
          <p:nvPr/>
        </p:nvSpPr>
        <p:spPr>
          <a:xfrm>
            <a:off x="445195" y="1307067"/>
            <a:ext cx="8141244" cy="738664"/>
          </a:xfrm>
          <a:prstGeom prst="rect">
            <a:avLst/>
          </a:prstGeom>
          <a:noFill/>
        </p:spPr>
        <p:txBody>
          <a:bodyPr wrap="square">
            <a:spAutoFit/>
          </a:bodyPr>
          <a:lstStyle/>
          <a:p>
            <a:r>
              <a:rPr lang="ru-RU" sz="1400" b="1" dirty="0">
                <a:solidFill>
                  <a:schemeClr val="tx1"/>
                </a:solidFill>
                <a:latin typeface="+mn-lt"/>
              </a:rPr>
              <a:t>JSON (JavaScript Object Notation) </a:t>
            </a:r>
            <a:r>
              <a:rPr lang="ru-RU" sz="1400" dirty="0">
                <a:solidFill>
                  <a:schemeClr val="tx1"/>
                </a:solidFill>
                <a:latin typeface="+mn-lt"/>
              </a:rPr>
              <a:t>- простой формат обмена данными, основанный на подмножестве синтаксиса JavaScript. Модуль json позволяет кодировать и декодировать данные в удобном формате</a:t>
            </a:r>
            <a:endParaRPr lang="ru-RU" dirty="0">
              <a:solidFill>
                <a:schemeClr val="tx1"/>
              </a:solidFill>
              <a:latin typeface="+mn-lt"/>
            </a:endParaRPr>
          </a:p>
        </p:txBody>
      </p:sp>
      <p:sp>
        <p:nvSpPr>
          <p:cNvPr id="12" name="Rectangle 1">
            <a:extLst>
              <a:ext uri="{FF2B5EF4-FFF2-40B4-BE49-F238E27FC236}">
                <a16:creationId xmlns:a16="http://schemas.microsoft.com/office/drawing/2014/main" id="{E95113AD-C5C5-4619-80B0-CE83E8776ED8}"/>
              </a:ext>
            </a:extLst>
          </p:cNvPr>
          <p:cNvSpPr/>
          <p:nvPr/>
        </p:nvSpPr>
        <p:spPr>
          <a:xfrm>
            <a:off x="445195" y="2280942"/>
            <a:ext cx="8510986" cy="280076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'foo'</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'baz'</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None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1.0</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f'my_json_str: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f'my_pretty_json_str:\n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'w'</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f'list_from_json_file: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794764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7" name="Rectangle 3">
            <a:extLst>
              <a:ext uri="{FF2B5EF4-FFF2-40B4-BE49-F238E27FC236}">
                <a16:creationId xmlns:a16="http://schemas.microsoft.com/office/drawing/2014/main" id="{2344D602-9F05-4485-9519-3B192BC80379}"/>
              </a:ext>
            </a:extLst>
          </p:cNvPr>
          <p:cNvSpPr/>
          <p:nvPr/>
        </p:nvSpPr>
        <p:spPr>
          <a:xfrm>
            <a:off x="445195" y="1320705"/>
            <a:ext cx="8136904" cy="3323987"/>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my_json_str: ["foo", {"bar": ["baz", null,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my_pretty_json_str: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"foo",</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"bar":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"baz",</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null,</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1.0,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 ['foo', {'bar': ['baz', None,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list_from_json_file: ['foo', {'bar': ['baz', None, 1.0, 2]}]</a:t>
            </a:r>
            <a:endParaRPr kumimoji="0" lang="ru-RU" sz="14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p:txBody>
      </p:sp>
    </p:spTree>
    <p:extLst>
      <p:ext uri="{BB962C8B-B14F-4D97-AF65-F5344CB8AC3E}">
        <p14:creationId xmlns:p14="http://schemas.microsoft.com/office/powerpoint/2010/main" val="33617129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5" name="Text Box 10">
            <a:extLst>
              <a:ext uri="{FF2B5EF4-FFF2-40B4-BE49-F238E27FC236}">
                <a16:creationId xmlns:a16="http://schemas.microsoft.com/office/drawing/2014/main" id="{16B54891-2D09-4DCD-81C4-6F03D3A0DC77}"/>
              </a:ext>
            </a:extLst>
          </p:cNvPr>
          <p:cNvSpPr txBox="1">
            <a:spLocks noChangeArrowheads="1"/>
          </p:cNvSpPr>
          <p:nvPr/>
        </p:nvSpPr>
        <p:spPr bwMode="auto">
          <a:xfrm>
            <a:off x="323528" y="1225580"/>
            <a:ext cx="8496300" cy="34470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6"/>
              </a:buClr>
              <a:buFont typeface="+mj-lt"/>
              <a:buAutoNum type="arabicPeriod"/>
            </a:pPr>
            <a:r>
              <a:rPr lang="ru-RU" sz="1600" dirty="0">
                <a:solidFill>
                  <a:schemeClr val="bg1"/>
                </a:solidFill>
                <a:latin typeface="+mn-lt"/>
              </a:rPr>
              <a:t>Написать функцию для подсчета количества рабочих дней между двумя датами (даты передаются в качестве параметров)</a:t>
            </a:r>
          </a:p>
          <a:p>
            <a:pPr marL="457200" indent="-457200" eaLnBrk="1" hangingPunct="1">
              <a:spcBef>
                <a:spcPct val="0"/>
              </a:spcBef>
              <a:buClr>
                <a:schemeClr val="accent6"/>
              </a:buClr>
              <a:buFont typeface="+mj-lt"/>
              <a:buAutoNum type="arabicPeriod"/>
            </a:pPr>
            <a:endParaRPr lang="ru-RU"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 помощью библиотеки subprocess прочитать содержимое произвольного файла  с использованием утилиты cat в </a:t>
            </a:r>
            <a:r>
              <a:rPr lang="en-US" sz="1600" dirty="0">
                <a:solidFill>
                  <a:schemeClr val="bg1"/>
                </a:solidFill>
                <a:latin typeface="+mn-lt"/>
              </a:rPr>
              <a:t>Linux </a:t>
            </a:r>
            <a:r>
              <a:rPr lang="ru-RU" sz="1600" dirty="0">
                <a:solidFill>
                  <a:schemeClr val="bg1"/>
                </a:solidFill>
                <a:latin typeface="+mn-lt"/>
              </a:rPr>
              <a:t>или </a:t>
            </a:r>
            <a:r>
              <a:rPr lang="en-US" sz="1600" dirty="0">
                <a:solidFill>
                  <a:schemeClr val="bg1"/>
                </a:solidFill>
                <a:latin typeface="+mn-lt"/>
              </a:rPr>
              <a:t>type </a:t>
            </a:r>
            <a:r>
              <a:rPr lang="ru-RU" sz="1600" dirty="0">
                <a:solidFill>
                  <a:schemeClr val="bg1"/>
                </a:solidFill>
                <a:latin typeface="+mn-lt"/>
              </a:rPr>
              <a:t>в </a:t>
            </a:r>
            <a:r>
              <a:rPr lang="en-US" sz="1600" dirty="0">
                <a:solidFill>
                  <a:schemeClr val="bg1"/>
                </a:solidFill>
                <a:latin typeface="+mn-lt"/>
              </a:rPr>
              <a:t>Windows (</a:t>
            </a:r>
            <a:r>
              <a:rPr lang="ru-RU" sz="1600" dirty="0">
                <a:solidFill>
                  <a:schemeClr val="bg1"/>
                </a:solidFill>
                <a:latin typeface="+mn-lt"/>
              </a:rPr>
              <a:t>имя файла должно передаваться как параметр в вашу функцию)</a:t>
            </a:r>
          </a:p>
          <a:p>
            <a:pPr marL="457200" indent="-457200" eaLnBrk="1" hangingPunct="1">
              <a:spcBef>
                <a:spcPct val="0"/>
              </a:spcBef>
              <a:buClr>
                <a:schemeClr val="accent6"/>
              </a:buClr>
              <a:buFont typeface="+mj-lt"/>
              <a:buAutoNum type="arabicPeriod"/>
            </a:pPr>
            <a:endParaRPr lang="en-US"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Создать класс Human с 5-10 атрибутами (имя, фамилия, возраст, ме</a:t>
            </a:r>
            <a:r>
              <a:rPr lang="en-US" sz="1600" dirty="0">
                <a:solidFill>
                  <a:schemeClr val="bg1"/>
                </a:solidFill>
                <a:latin typeface="+mn-lt"/>
              </a:rPr>
              <a:t>c</a:t>
            </a:r>
            <a:r>
              <a:rPr lang="ru-RU" sz="1600" dirty="0">
                <a:solidFill>
                  <a:schemeClr val="bg1"/>
                </a:solidFill>
                <a:latin typeface="+mn-lt"/>
              </a:rPr>
              <a:t>то жительства и т.д.). Написать функцию, которая создавала бы указанное количество экземпляров, сериализовывала их и сохраняла в файл human.data, и другую функцию, которая бы читала файл </a:t>
            </a:r>
            <a:r>
              <a:rPr lang="en-US" sz="1600" dirty="0">
                <a:solidFill>
                  <a:schemeClr val="bg1"/>
                </a:solidFill>
                <a:latin typeface="+mn-lt"/>
              </a:rPr>
              <a:t>human.data, </a:t>
            </a:r>
            <a:r>
              <a:rPr lang="ru-RU" sz="1600" dirty="0">
                <a:solidFill>
                  <a:schemeClr val="bg1"/>
                </a:solidFill>
                <a:latin typeface="+mn-lt"/>
              </a:rPr>
              <a:t>десериализовывала его содержимое и выводила результат на печать. Примечание: чтоб у экземпляров </a:t>
            </a:r>
            <a:r>
              <a:rPr lang="en-US" sz="1600" dirty="0">
                <a:solidFill>
                  <a:schemeClr val="bg1"/>
                </a:solidFill>
                <a:latin typeface="+mn-lt"/>
              </a:rPr>
              <a:t>Human </a:t>
            </a:r>
            <a:r>
              <a:rPr lang="ru-RU" sz="1600" dirty="0">
                <a:solidFill>
                  <a:schemeClr val="bg1"/>
                </a:solidFill>
                <a:latin typeface="+mn-lt"/>
              </a:rPr>
              <a:t>были разные значения атрибутов, можно воспользоваться функциями </a:t>
            </a:r>
            <a:r>
              <a:rPr lang="en-US" sz="1600" dirty="0">
                <a:solidFill>
                  <a:schemeClr val="bg1"/>
                </a:solidFill>
                <a:latin typeface="+mn-lt"/>
              </a:rPr>
              <a:t>random.randint() </a:t>
            </a:r>
            <a:r>
              <a:rPr lang="ru-RU" sz="1600" dirty="0">
                <a:solidFill>
                  <a:schemeClr val="bg1"/>
                </a:solidFill>
                <a:latin typeface="+mn-lt"/>
              </a:rPr>
              <a:t>и </a:t>
            </a:r>
            <a:r>
              <a:rPr lang="en-US" sz="1600" dirty="0">
                <a:solidFill>
                  <a:schemeClr val="bg1"/>
                </a:solidFill>
                <a:latin typeface="+mn-lt"/>
              </a:rPr>
              <a:t>random.choice()</a:t>
            </a:r>
            <a:endParaRPr lang="ru-RU" sz="1600" dirty="0">
              <a:solidFill>
                <a:schemeClr val="bg1"/>
              </a:solidFill>
              <a:latin typeface="+mn-lt"/>
            </a:endParaRPr>
          </a:p>
        </p:txBody>
      </p:sp>
    </p:spTree>
    <p:extLst>
      <p:ext uri="{BB962C8B-B14F-4D97-AF65-F5344CB8AC3E}">
        <p14:creationId xmlns:p14="http://schemas.microsoft.com/office/powerpoint/2010/main" val="41704210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6" name="Text Box 10">
            <a:extLst>
              <a:ext uri="{FF2B5EF4-FFF2-40B4-BE49-F238E27FC236}">
                <a16:creationId xmlns:a16="http://schemas.microsoft.com/office/drawing/2014/main" id="{517ED80A-9C99-4DFD-9DAD-FD43898C4958}"/>
              </a:ext>
            </a:extLst>
          </p:cNvPr>
          <p:cNvSpPr txBox="1">
            <a:spLocks noChangeArrowheads="1"/>
          </p:cNvSpPr>
          <p:nvPr/>
        </p:nvSpPr>
        <p:spPr bwMode="auto">
          <a:xfrm>
            <a:off x="447978" y="1168970"/>
            <a:ext cx="8248043"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342900" indent="-342900" eaLnBrk="1" hangingPunct="1">
              <a:spcBef>
                <a:spcPct val="0"/>
              </a:spcBef>
              <a:buClr>
                <a:schemeClr val="accent6"/>
              </a:buClr>
              <a:buFont typeface="+mj-lt"/>
              <a:buAutoNum type="arabicPeriod" startAt="4"/>
            </a:pPr>
            <a:r>
              <a:rPr lang="ru-RU" sz="1600" dirty="0">
                <a:solidFill>
                  <a:schemeClr val="bg1"/>
                </a:solidFill>
                <a:latin typeface="+mn-lt"/>
              </a:rPr>
              <a:t>Написать программу, которая уничтожает файлы и папки по истечении заданного времени. Вы указываете при запуске программы путь до директории, за которой нашему скрипту необходимо следить. После запуска программа не должна прекращать работать, пока вы не остановите ее работу с помощью Ctrl+C (подсказка: для постоянной работы программы необходим вечный цикл, например, "while True:", при нажатии Ctrl+C автоматически остановится любая программа). Программа следит за объектами внутри указанной при запуске папки и удаляет их тогда, когда время их существования становится больше одной минуты для файлов и больше двух минуты для папок (то есть дата создания отличается от текущего момента времени больше чем на одну/две минуты). Ваш скрипт должен смотреть вглубь указанной папки. Например, если пользователь создаст внутри нее папку, внутри нее еще одну, а внутри этой какой-то файл, то этот файл должен удалиться первым (так как файлу положено жить только одну минуту, а папкам две). Вам понадобятся библиотеки os   и shutil. Внимательно перечитайте задание и учтите возможные ошибки</a:t>
            </a:r>
            <a:endParaRPr lang="en-US" sz="1600" dirty="0">
              <a:solidFill>
                <a:schemeClr val="bg1"/>
              </a:solidFill>
              <a:latin typeface="+mn-lt"/>
            </a:endParaRPr>
          </a:p>
        </p:txBody>
      </p:sp>
    </p:spTree>
    <p:extLst>
      <p:ext uri="{BB962C8B-B14F-4D97-AF65-F5344CB8AC3E}">
        <p14:creationId xmlns:p14="http://schemas.microsoft.com/office/powerpoint/2010/main" val="824497571"/>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themeOverride>
</file>

<file path=docProps/app.xml><?xml version="1.0" encoding="utf-8"?>
<Properties xmlns="http://schemas.openxmlformats.org/officeDocument/2006/extended-properties" xmlns:vt="http://schemas.openxmlformats.org/officeDocument/2006/docPropsVTypes">
  <Template/>
  <TotalTime>1129</TotalTime>
  <Words>5290</Words>
  <Application>Microsoft Office PowerPoint</Application>
  <PresentationFormat>Экран (16:9)</PresentationFormat>
  <Paragraphs>580</Paragraphs>
  <Slides>37</Slides>
  <Notes>34</Notes>
  <HiddenSlides>0</HiddenSlides>
  <MMClips>0</MMClips>
  <ScaleCrop>false</ScaleCrop>
  <HeadingPairs>
    <vt:vector size="6" baseType="variant">
      <vt:variant>
        <vt:lpstr>Использованные шрифты</vt:lpstr>
      </vt:variant>
      <vt:variant>
        <vt:i4>8</vt:i4>
      </vt:variant>
      <vt:variant>
        <vt:lpstr>Тема</vt:lpstr>
      </vt:variant>
      <vt:variant>
        <vt:i4>1</vt:i4>
      </vt:variant>
      <vt:variant>
        <vt:lpstr>Заголовки слайдов</vt:lpstr>
      </vt:variant>
      <vt:variant>
        <vt:i4>37</vt:i4>
      </vt:variant>
    </vt:vector>
  </HeadingPairs>
  <TitlesOfParts>
    <vt:vector size="46" baseType="lpstr">
      <vt:lpstr>Arial</vt:lpstr>
      <vt:lpstr>Calibri</vt:lpstr>
      <vt:lpstr>proxima nova rg</vt:lpstr>
      <vt:lpstr>Viga</vt:lpstr>
      <vt:lpstr>Courier New</vt:lpstr>
      <vt:lpstr>proxima nova bold</vt:lpstr>
      <vt:lpstr>DM Sans</vt:lpstr>
      <vt:lpstr>Verdana</vt:lpstr>
      <vt:lpstr>Cyber Security Business Plan</vt:lpstr>
      <vt:lpstr>Программирование на языке Python</vt:lpstr>
      <vt:lpstr>Лекция №7</vt:lpstr>
      <vt:lpstr>Презентация PowerPoint</vt:lpstr>
      <vt:lpstr>Стандартная библиотека Python</vt:lpstr>
      <vt:lpstr>random</vt:lpstr>
      <vt:lpstr>random</vt:lpstr>
      <vt:lpstr>re</vt:lpstr>
      <vt:lpstr>re</vt:lpstr>
      <vt:lpstr>re</vt:lpstr>
      <vt:lpstr>re</vt:lpstr>
      <vt:lpstr>re</vt:lpstr>
      <vt:lpstr>re</vt:lpstr>
      <vt:lpstr>re</vt:lpstr>
      <vt:lpstr>re</vt:lpstr>
      <vt:lpstr>re</vt:lpstr>
      <vt:lpstr>re</vt:lpstr>
      <vt:lpstr>re</vt:lpstr>
      <vt:lpstr>functools</vt:lpstr>
      <vt:lpstr>functools</vt:lpstr>
      <vt:lpstr>functools</vt:lpstr>
      <vt:lpstr>functools</vt:lpstr>
      <vt:lpstr>functools</vt:lpstr>
      <vt:lpstr>functools</vt:lpstr>
      <vt:lpstr>time</vt:lpstr>
      <vt:lpstr>sys</vt:lpstr>
      <vt:lpstr>sys</vt:lpstr>
      <vt:lpstr>os</vt:lpstr>
      <vt:lpstr>subprocess</vt:lpstr>
      <vt:lpstr>datetime</vt:lpstr>
      <vt:lpstr>ZipFile</vt:lpstr>
      <vt:lpstr>pickle</vt:lpstr>
      <vt:lpstr>pickle</vt:lpstr>
      <vt:lpstr>pickle</vt:lpstr>
      <vt:lpstr>json</vt:lpstr>
      <vt:lpstr>json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94</cp:revision>
  <dcterms:modified xsi:type="dcterms:W3CDTF">2021-09-14T11:57:30Z</dcterms:modified>
</cp:coreProperties>
</file>